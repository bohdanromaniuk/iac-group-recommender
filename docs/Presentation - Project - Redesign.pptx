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16.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7" d="100"/>
          <a:sy n="157" d="100"/>
        </p:scale>
        <p:origin x="610"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DRGR</c:v>
                </c:pt>
              </c:strCache>
            </c:strRef>
          </c:tx>
          <c:spPr>
            <a:solidFill>
              <a:srgbClr val="5B9BD5"/>
            </a:solidFill>
            <a:effectLst/>
          </c:spPr>
          <c:invertIfNegative val="0"/>
          <c:dLbls>
            <c:numFmt formatCode="0.0000" sourceLinked="0"/>
            <c:spPr>
              <a:noFill/>
              <a:ln>
                <a:noFill/>
              </a:ln>
              <a:effectLst/>
            </c:spPr>
            <c:txPr>
              <a:bodyPr/>
              <a:lstStyle/>
              <a:p>
                <a:pPr>
                  <a:defRPr sz="700" b="0" i="0" u="none" strike="noStrike">
                    <a:solidFill>
                      <a:srgbClr val="0F1A35"/>
                    </a:solidFill>
                    <a:latin typeface="Arial"/>
                  </a:defRPr>
                </a:pPr>
                <a:endParaRPr lang="uk-U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k=5</c:v>
                </c:pt>
                <c:pt idx="1">
                  <c:v>k=10</c:v>
                </c:pt>
                <c:pt idx="2">
                  <c:v>k=15</c:v>
                </c:pt>
                <c:pt idx="3">
                  <c:v>k=20</c:v>
                </c:pt>
              </c:strCache>
            </c:strRef>
          </c:cat>
          <c:val>
            <c:numRef>
              <c:f>Sheet1!$B$2:$B$5</c:f>
              <c:numCache>
                <c:formatCode>General</c:formatCode>
                <c:ptCount val="4"/>
                <c:pt idx="0">
                  <c:v>8.5699999999999998E-2</c:v>
                </c:pt>
                <c:pt idx="1">
                  <c:v>0.15210000000000001</c:v>
                </c:pt>
                <c:pt idx="2">
                  <c:v>0.20979999999999999</c:v>
                </c:pt>
                <c:pt idx="3">
                  <c:v>0.25290000000000001</c:v>
                </c:pt>
              </c:numCache>
            </c:numRef>
          </c:val>
          <c:extLst>
            <c:ext xmlns:c16="http://schemas.microsoft.com/office/drawing/2014/chart" uri="{C3380CC4-5D6E-409C-BE32-E72D297353CC}">
              <c16:uniqueId val="{00000000-547D-480A-80DD-940587A58343}"/>
            </c:ext>
          </c:extLst>
        </c:ser>
        <c:ser>
          <c:idx val="1"/>
          <c:order val="1"/>
          <c:tx>
            <c:strRef>
              <c:f>Sheet1!$C$1</c:f>
              <c:strCache>
                <c:ptCount val="1"/>
                <c:pt idx="0">
                  <c:v>Запропонована</c:v>
                </c:pt>
              </c:strCache>
            </c:strRef>
          </c:tx>
          <c:spPr>
            <a:solidFill>
              <a:srgbClr val="70AD47"/>
            </a:solidFill>
            <a:effectLst/>
          </c:spPr>
          <c:invertIfNegative val="0"/>
          <c:dLbls>
            <c:numFmt formatCode="0.0000" sourceLinked="0"/>
            <c:spPr>
              <a:noFill/>
              <a:ln>
                <a:noFill/>
              </a:ln>
              <a:effectLst/>
            </c:spPr>
            <c:txPr>
              <a:bodyPr/>
              <a:lstStyle/>
              <a:p>
                <a:pPr>
                  <a:defRPr sz="700" b="0" i="0" u="none" strike="noStrike">
                    <a:solidFill>
                      <a:srgbClr val="0F1A35"/>
                    </a:solidFill>
                    <a:latin typeface="Arial"/>
                  </a:defRPr>
                </a:pPr>
                <a:endParaRPr lang="uk-U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k=5</c:v>
                </c:pt>
                <c:pt idx="1">
                  <c:v>k=10</c:v>
                </c:pt>
                <c:pt idx="2">
                  <c:v>k=15</c:v>
                </c:pt>
                <c:pt idx="3">
                  <c:v>k=20</c:v>
                </c:pt>
              </c:strCache>
            </c:strRef>
          </c:cat>
          <c:val>
            <c:numRef>
              <c:f>Sheet1!$C$2:$C$5</c:f>
              <c:numCache>
                <c:formatCode>General</c:formatCode>
                <c:ptCount val="4"/>
                <c:pt idx="0">
                  <c:v>0.20030000000000001</c:v>
                </c:pt>
                <c:pt idx="1">
                  <c:v>0.30830000000000002</c:v>
                </c:pt>
                <c:pt idx="2">
                  <c:v>0.3629</c:v>
                </c:pt>
                <c:pt idx="3">
                  <c:v>0.41010000000000002</c:v>
                </c:pt>
              </c:numCache>
            </c:numRef>
          </c:val>
          <c:extLst>
            <c:ext xmlns:c16="http://schemas.microsoft.com/office/drawing/2014/chart" uri="{C3380CC4-5D6E-409C-BE32-E72D297353CC}">
              <c16:uniqueId val="{00000001-547D-480A-80DD-940587A58343}"/>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8789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8789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687891"/>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DRGR</c:v>
                </c:pt>
              </c:strCache>
            </c:strRef>
          </c:tx>
          <c:spPr>
            <a:solidFill>
              <a:srgbClr val="5B9BD5"/>
            </a:solidFill>
            <a:effectLst/>
          </c:spPr>
          <c:invertIfNegative val="0"/>
          <c:dLbls>
            <c:numFmt formatCode="0.0000" sourceLinked="0"/>
            <c:spPr>
              <a:noFill/>
              <a:ln>
                <a:noFill/>
              </a:ln>
              <a:effectLst/>
            </c:spPr>
            <c:txPr>
              <a:bodyPr/>
              <a:lstStyle/>
              <a:p>
                <a:pPr>
                  <a:defRPr sz="700" b="0" i="0" u="none" strike="noStrike">
                    <a:solidFill>
                      <a:srgbClr val="0F1A35"/>
                    </a:solidFill>
                    <a:latin typeface="Arial"/>
                  </a:defRPr>
                </a:pPr>
                <a:endParaRPr lang="uk-U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k=5</c:v>
                </c:pt>
                <c:pt idx="1">
                  <c:v>k=10</c:v>
                </c:pt>
                <c:pt idx="2">
                  <c:v>k=15</c:v>
                </c:pt>
                <c:pt idx="3">
                  <c:v>k=20</c:v>
                </c:pt>
              </c:strCache>
            </c:strRef>
          </c:cat>
          <c:val>
            <c:numRef>
              <c:f>Sheet1!$B$2:$B$5</c:f>
              <c:numCache>
                <c:formatCode>General</c:formatCode>
                <c:ptCount val="4"/>
                <c:pt idx="0">
                  <c:v>5.33E-2</c:v>
                </c:pt>
                <c:pt idx="1">
                  <c:v>7.4399999999999994E-2</c:v>
                </c:pt>
                <c:pt idx="2">
                  <c:v>8.9599999999999999E-2</c:v>
                </c:pt>
                <c:pt idx="3">
                  <c:v>9.9900000000000003E-2</c:v>
                </c:pt>
              </c:numCache>
            </c:numRef>
          </c:val>
          <c:extLst>
            <c:ext xmlns:c16="http://schemas.microsoft.com/office/drawing/2014/chart" uri="{C3380CC4-5D6E-409C-BE32-E72D297353CC}">
              <c16:uniqueId val="{00000000-ABDD-4044-AFE5-F1AF01724E67}"/>
            </c:ext>
          </c:extLst>
        </c:ser>
        <c:ser>
          <c:idx val="1"/>
          <c:order val="1"/>
          <c:tx>
            <c:strRef>
              <c:f>Sheet1!$C$1</c:f>
              <c:strCache>
                <c:ptCount val="1"/>
                <c:pt idx="0">
                  <c:v>Запропонована</c:v>
                </c:pt>
              </c:strCache>
            </c:strRef>
          </c:tx>
          <c:spPr>
            <a:solidFill>
              <a:srgbClr val="70AD47"/>
            </a:solidFill>
            <a:effectLst/>
          </c:spPr>
          <c:invertIfNegative val="0"/>
          <c:dLbls>
            <c:numFmt formatCode="0.0000" sourceLinked="0"/>
            <c:spPr>
              <a:noFill/>
              <a:ln>
                <a:noFill/>
              </a:ln>
              <a:effectLst/>
            </c:spPr>
            <c:txPr>
              <a:bodyPr/>
              <a:lstStyle/>
              <a:p>
                <a:pPr>
                  <a:defRPr sz="700" b="0" i="0" u="none" strike="noStrike">
                    <a:solidFill>
                      <a:srgbClr val="0F1A35"/>
                    </a:solidFill>
                    <a:latin typeface="Arial"/>
                  </a:defRPr>
                </a:pPr>
                <a:endParaRPr lang="uk-U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k=5</c:v>
                </c:pt>
                <c:pt idx="1">
                  <c:v>k=10</c:v>
                </c:pt>
                <c:pt idx="2">
                  <c:v>k=15</c:v>
                </c:pt>
                <c:pt idx="3">
                  <c:v>k=20</c:v>
                </c:pt>
              </c:strCache>
            </c:strRef>
          </c:cat>
          <c:val>
            <c:numRef>
              <c:f>Sheet1!$C$2:$C$5</c:f>
              <c:numCache>
                <c:formatCode>General</c:formatCode>
                <c:ptCount val="4"/>
                <c:pt idx="0">
                  <c:v>0.124</c:v>
                </c:pt>
                <c:pt idx="1">
                  <c:v>0.15870000000000001</c:v>
                </c:pt>
                <c:pt idx="2">
                  <c:v>0.17269999999999999</c:v>
                </c:pt>
                <c:pt idx="3">
                  <c:v>0.18410000000000001</c:v>
                </c:pt>
              </c:numCache>
            </c:numRef>
          </c:val>
          <c:extLst>
            <c:ext xmlns:c16="http://schemas.microsoft.com/office/drawing/2014/chart" uri="{C3380CC4-5D6E-409C-BE32-E72D297353CC}">
              <c16:uniqueId val="{00000001-ABDD-4044-AFE5-F1AF01724E67}"/>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8789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8789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687891"/>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DRGR</c:v>
                </c:pt>
              </c:strCache>
            </c:strRef>
          </c:tx>
          <c:spPr>
            <a:solidFill>
              <a:srgbClr val="5B9BD5"/>
            </a:solidFill>
            <a:effectLst/>
          </c:spPr>
          <c:invertIfNegative val="0"/>
          <c:dLbls>
            <c:numFmt formatCode="0.0000" sourceLinked="0"/>
            <c:spPr>
              <a:noFill/>
              <a:ln>
                <a:noFill/>
              </a:ln>
              <a:effectLst/>
            </c:spPr>
            <c:txPr>
              <a:bodyPr/>
              <a:lstStyle/>
              <a:p>
                <a:pPr>
                  <a:defRPr sz="700" b="0" i="0" u="none" strike="noStrike">
                    <a:solidFill>
                      <a:srgbClr val="0F1A35"/>
                    </a:solidFill>
                    <a:latin typeface="Arial"/>
                  </a:defRPr>
                </a:pPr>
                <a:endParaRPr lang="uk-U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k=5</c:v>
                </c:pt>
                <c:pt idx="1">
                  <c:v>k=10</c:v>
                </c:pt>
                <c:pt idx="2">
                  <c:v>k=15</c:v>
                </c:pt>
                <c:pt idx="3">
                  <c:v>k=20</c:v>
                </c:pt>
              </c:strCache>
            </c:strRef>
          </c:cat>
          <c:val>
            <c:numRef>
              <c:f>Sheet1!$B$2:$B$5</c:f>
              <c:numCache>
                <c:formatCode>General</c:formatCode>
                <c:ptCount val="4"/>
                <c:pt idx="0">
                  <c:v>0.22969999999999999</c:v>
                </c:pt>
                <c:pt idx="1">
                  <c:v>0.33079999999999998</c:v>
                </c:pt>
                <c:pt idx="2">
                  <c:v>0.4254</c:v>
                </c:pt>
                <c:pt idx="3">
                  <c:v>0.50349999999999995</c:v>
                </c:pt>
              </c:numCache>
            </c:numRef>
          </c:val>
          <c:extLst>
            <c:ext xmlns:c16="http://schemas.microsoft.com/office/drawing/2014/chart" uri="{C3380CC4-5D6E-409C-BE32-E72D297353CC}">
              <c16:uniqueId val="{00000000-80DE-4A96-A432-8C016B9B72A6}"/>
            </c:ext>
          </c:extLst>
        </c:ser>
        <c:ser>
          <c:idx val="1"/>
          <c:order val="1"/>
          <c:tx>
            <c:strRef>
              <c:f>Sheet1!$C$1</c:f>
              <c:strCache>
                <c:ptCount val="1"/>
                <c:pt idx="0">
                  <c:v>Запропонована</c:v>
                </c:pt>
              </c:strCache>
            </c:strRef>
          </c:tx>
          <c:spPr>
            <a:solidFill>
              <a:srgbClr val="70AD47"/>
            </a:solidFill>
            <a:effectLst/>
          </c:spPr>
          <c:invertIfNegative val="0"/>
          <c:dLbls>
            <c:numFmt formatCode="0.0000" sourceLinked="0"/>
            <c:spPr>
              <a:noFill/>
              <a:ln>
                <a:noFill/>
              </a:ln>
              <a:effectLst/>
            </c:spPr>
            <c:txPr>
              <a:bodyPr/>
              <a:lstStyle/>
              <a:p>
                <a:pPr>
                  <a:defRPr sz="700" b="0" i="0" u="none" strike="noStrike">
                    <a:solidFill>
                      <a:srgbClr val="0F1A35"/>
                    </a:solidFill>
                    <a:latin typeface="Arial"/>
                  </a:defRPr>
                </a:pPr>
                <a:endParaRPr lang="uk-U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k=5</c:v>
                </c:pt>
                <c:pt idx="1">
                  <c:v>k=10</c:v>
                </c:pt>
                <c:pt idx="2">
                  <c:v>k=15</c:v>
                </c:pt>
                <c:pt idx="3">
                  <c:v>k=20</c:v>
                </c:pt>
              </c:strCache>
            </c:strRef>
          </c:cat>
          <c:val>
            <c:numRef>
              <c:f>Sheet1!$C$2:$C$5</c:f>
              <c:numCache>
                <c:formatCode>General</c:formatCode>
                <c:ptCount val="4"/>
                <c:pt idx="0">
                  <c:v>0.30249999999999999</c:v>
                </c:pt>
                <c:pt idx="1">
                  <c:v>0.42820000000000003</c:v>
                </c:pt>
                <c:pt idx="2">
                  <c:v>0.54700000000000004</c:v>
                </c:pt>
                <c:pt idx="3">
                  <c:v>0.63219999999999998</c:v>
                </c:pt>
              </c:numCache>
            </c:numRef>
          </c:val>
          <c:extLst>
            <c:ext xmlns:c16="http://schemas.microsoft.com/office/drawing/2014/chart" uri="{C3380CC4-5D6E-409C-BE32-E72D297353CC}">
              <c16:uniqueId val="{00000001-80DE-4A96-A432-8C016B9B72A6}"/>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8789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8789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687891"/>
              </a:solidFil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DRGR</c:v>
                </c:pt>
              </c:strCache>
            </c:strRef>
          </c:tx>
          <c:spPr>
            <a:solidFill>
              <a:srgbClr val="ED7D31"/>
            </a:solidFill>
            <a:effectLst/>
          </c:spPr>
          <c:invertIfNegative val="0"/>
          <c:dLbls>
            <c:numFmt formatCode="0.0000" sourceLinked="0"/>
            <c:spPr>
              <a:noFill/>
              <a:ln>
                <a:noFill/>
              </a:ln>
              <a:effectLst/>
            </c:spPr>
            <c:txPr>
              <a:bodyPr/>
              <a:lstStyle/>
              <a:p>
                <a:pPr>
                  <a:defRPr sz="700" b="0" i="0" u="none" strike="noStrike">
                    <a:solidFill>
                      <a:srgbClr val="0F1A35"/>
                    </a:solidFill>
                    <a:latin typeface="Arial"/>
                  </a:defRPr>
                </a:pPr>
                <a:endParaRPr lang="uk-U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k=5</c:v>
                </c:pt>
                <c:pt idx="1">
                  <c:v>k=10</c:v>
                </c:pt>
                <c:pt idx="2">
                  <c:v>k=15</c:v>
                </c:pt>
                <c:pt idx="3">
                  <c:v>k=20</c:v>
                </c:pt>
              </c:strCache>
            </c:strRef>
          </c:cat>
          <c:val>
            <c:numRef>
              <c:f>Sheet1!$B$2:$B$5</c:f>
              <c:numCache>
                <c:formatCode>General</c:formatCode>
                <c:ptCount val="4"/>
                <c:pt idx="0">
                  <c:v>6.8199999999999997E-2</c:v>
                </c:pt>
                <c:pt idx="1">
                  <c:v>0.129</c:v>
                </c:pt>
                <c:pt idx="2">
                  <c:v>0.18279999999999999</c:v>
                </c:pt>
                <c:pt idx="3">
                  <c:v>0.23530000000000001</c:v>
                </c:pt>
              </c:numCache>
            </c:numRef>
          </c:val>
          <c:extLst>
            <c:ext xmlns:c16="http://schemas.microsoft.com/office/drawing/2014/chart" uri="{C3380CC4-5D6E-409C-BE32-E72D297353CC}">
              <c16:uniqueId val="{00000000-5986-4EC5-843F-6E2A8717B240}"/>
            </c:ext>
          </c:extLst>
        </c:ser>
        <c:ser>
          <c:idx val="1"/>
          <c:order val="1"/>
          <c:tx>
            <c:strRef>
              <c:f>Sheet1!$C$1</c:f>
              <c:strCache>
                <c:ptCount val="1"/>
                <c:pt idx="0">
                  <c:v>Запропонована</c:v>
                </c:pt>
              </c:strCache>
            </c:strRef>
          </c:tx>
          <c:spPr>
            <a:solidFill>
              <a:srgbClr val="5B9BD5"/>
            </a:solidFill>
            <a:effectLst/>
          </c:spPr>
          <c:invertIfNegative val="0"/>
          <c:dLbls>
            <c:numFmt formatCode="0.0000" sourceLinked="0"/>
            <c:spPr>
              <a:noFill/>
              <a:ln>
                <a:noFill/>
              </a:ln>
              <a:effectLst/>
            </c:spPr>
            <c:txPr>
              <a:bodyPr/>
              <a:lstStyle/>
              <a:p>
                <a:pPr>
                  <a:defRPr sz="700" b="0" i="0" u="none" strike="noStrike">
                    <a:solidFill>
                      <a:srgbClr val="0F1A35"/>
                    </a:solidFill>
                    <a:latin typeface="Arial"/>
                  </a:defRPr>
                </a:pPr>
                <a:endParaRPr lang="uk-U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k=5</c:v>
                </c:pt>
                <c:pt idx="1">
                  <c:v>k=10</c:v>
                </c:pt>
                <c:pt idx="2">
                  <c:v>k=15</c:v>
                </c:pt>
                <c:pt idx="3">
                  <c:v>k=20</c:v>
                </c:pt>
              </c:strCache>
            </c:strRef>
          </c:cat>
          <c:val>
            <c:numRef>
              <c:f>Sheet1!$C$2:$C$5</c:f>
              <c:numCache>
                <c:formatCode>General</c:formatCode>
                <c:ptCount val="4"/>
                <c:pt idx="0">
                  <c:v>0.1361</c:v>
                </c:pt>
                <c:pt idx="1">
                  <c:v>0.21410000000000001</c:v>
                </c:pt>
                <c:pt idx="2">
                  <c:v>0.26329999999999998</c:v>
                </c:pt>
                <c:pt idx="3">
                  <c:v>0.30780000000000002</c:v>
                </c:pt>
              </c:numCache>
            </c:numRef>
          </c:val>
          <c:extLst>
            <c:ext xmlns:c16="http://schemas.microsoft.com/office/drawing/2014/chart" uri="{C3380CC4-5D6E-409C-BE32-E72D297353CC}">
              <c16:uniqueId val="{00000001-5986-4EC5-843F-6E2A8717B240}"/>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8789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8789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687891"/>
              </a:solidFill>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DRGR</c:v>
                </c:pt>
              </c:strCache>
            </c:strRef>
          </c:tx>
          <c:spPr>
            <a:solidFill>
              <a:srgbClr val="ED7D31"/>
            </a:solidFill>
            <a:effectLst/>
          </c:spPr>
          <c:invertIfNegative val="0"/>
          <c:dLbls>
            <c:numFmt formatCode="0.0000" sourceLinked="0"/>
            <c:spPr>
              <a:noFill/>
              <a:ln>
                <a:noFill/>
              </a:ln>
              <a:effectLst/>
            </c:spPr>
            <c:txPr>
              <a:bodyPr/>
              <a:lstStyle/>
              <a:p>
                <a:pPr>
                  <a:defRPr sz="700" b="0" i="0" u="none" strike="noStrike">
                    <a:solidFill>
                      <a:srgbClr val="0F1A35"/>
                    </a:solidFill>
                    <a:latin typeface="Arial"/>
                  </a:defRPr>
                </a:pPr>
                <a:endParaRPr lang="uk-U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k=5</c:v>
                </c:pt>
                <c:pt idx="1">
                  <c:v>k=10</c:v>
                </c:pt>
                <c:pt idx="2">
                  <c:v>k=15</c:v>
                </c:pt>
                <c:pt idx="3">
                  <c:v>k=20</c:v>
                </c:pt>
              </c:strCache>
            </c:strRef>
          </c:cat>
          <c:val>
            <c:numRef>
              <c:f>Sheet1!$B$2:$B$5</c:f>
              <c:numCache>
                <c:formatCode>General</c:formatCode>
                <c:ptCount val="4"/>
                <c:pt idx="0">
                  <c:v>4.1200000000000001E-2</c:v>
                </c:pt>
                <c:pt idx="1">
                  <c:v>6.0699999999999997E-2</c:v>
                </c:pt>
                <c:pt idx="2">
                  <c:v>7.4800000000000005E-2</c:v>
                </c:pt>
                <c:pt idx="3">
                  <c:v>8.72E-2</c:v>
                </c:pt>
              </c:numCache>
            </c:numRef>
          </c:val>
          <c:extLst>
            <c:ext xmlns:c16="http://schemas.microsoft.com/office/drawing/2014/chart" uri="{C3380CC4-5D6E-409C-BE32-E72D297353CC}">
              <c16:uniqueId val="{00000000-5A7B-4BD7-B3E0-3E9524A9C86A}"/>
            </c:ext>
          </c:extLst>
        </c:ser>
        <c:ser>
          <c:idx val="1"/>
          <c:order val="1"/>
          <c:tx>
            <c:strRef>
              <c:f>Sheet1!$C$1</c:f>
              <c:strCache>
                <c:ptCount val="1"/>
                <c:pt idx="0">
                  <c:v>Запропонована</c:v>
                </c:pt>
              </c:strCache>
            </c:strRef>
          </c:tx>
          <c:spPr>
            <a:solidFill>
              <a:srgbClr val="5B9BD5"/>
            </a:solidFill>
            <a:effectLst/>
          </c:spPr>
          <c:invertIfNegative val="0"/>
          <c:dLbls>
            <c:numFmt formatCode="0.0000" sourceLinked="0"/>
            <c:spPr>
              <a:noFill/>
              <a:ln>
                <a:noFill/>
              </a:ln>
              <a:effectLst/>
            </c:spPr>
            <c:txPr>
              <a:bodyPr/>
              <a:lstStyle/>
              <a:p>
                <a:pPr>
                  <a:defRPr sz="700" b="0" i="0" u="none" strike="noStrike">
                    <a:solidFill>
                      <a:srgbClr val="0F1A35"/>
                    </a:solidFill>
                    <a:latin typeface="Arial"/>
                  </a:defRPr>
                </a:pPr>
                <a:endParaRPr lang="uk-U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k=5</c:v>
                </c:pt>
                <c:pt idx="1">
                  <c:v>k=10</c:v>
                </c:pt>
                <c:pt idx="2">
                  <c:v>k=15</c:v>
                </c:pt>
                <c:pt idx="3">
                  <c:v>k=20</c:v>
                </c:pt>
              </c:strCache>
            </c:strRef>
          </c:cat>
          <c:val>
            <c:numRef>
              <c:f>Sheet1!$C$2:$C$5</c:f>
              <c:numCache>
                <c:formatCode>General</c:formatCode>
                <c:ptCount val="4"/>
                <c:pt idx="0">
                  <c:v>8.3299999999999999E-2</c:v>
                </c:pt>
                <c:pt idx="1">
                  <c:v>0.108</c:v>
                </c:pt>
                <c:pt idx="2">
                  <c:v>0.12130000000000001</c:v>
                </c:pt>
                <c:pt idx="3">
                  <c:v>0.1321</c:v>
                </c:pt>
              </c:numCache>
            </c:numRef>
          </c:val>
          <c:extLst>
            <c:ext xmlns:c16="http://schemas.microsoft.com/office/drawing/2014/chart" uri="{C3380CC4-5D6E-409C-BE32-E72D297353CC}">
              <c16:uniqueId val="{00000001-5A7B-4BD7-B3E0-3E9524A9C86A}"/>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8789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8789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687891"/>
              </a:solidFill>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DRGR</c:v>
                </c:pt>
              </c:strCache>
            </c:strRef>
          </c:tx>
          <c:spPr>
            <a:solidFill>
              <a:srgbClr val="ED7D31"/>
            </a:solidFill>
            <a:effectLst/>
          </c:spPr>
          <c:invertIfNegative val="0"/>
          <c:dLbls>
            <c:numFmt formatCode="0.0000" sourceLinked="0"/>
            <c:spPr>
              <a:noFill/>
              <a:ln>
                <a:noFill/>
              </a:ln>
              <a:effectLst/>
            </c:spPr>
            <c:txPr>
              <a:bodyPr/>
              <a:lstStyle/>
              <a:p>
                <a:pPr>
                  <a:defRPr sz="700" b="0" i="0" u="none" strike="noStrike">
                    <a:solidFill>
                      <a:srgbClr val="0F1A35"/>
                    </a:solidFill>
                    <a:latin typeface="Arial"/>
                  </a:defRPr>
                </a:pPr>
                <a:endParaRPr lang="uk-U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k=5</c:v>
                </c:pt>
                <c:pt idx="1">
                  <c:v>k=10</c:v>
                </c:pt>
                <c:pt idx="2">
                  <c:v>k=15</c:v>
                </c:pt>
                <c:pt idx="3">
                  <c:v>k=20</c:v>
                </c:pt>
              </c:strCache>
            </c:strRef>
          </c:cat>
          <c:val>
            <c:numRef>
              <c:f>Sheet1!$B$2:$B$5</c:f>
              <c:numCache>
                <c:formatCode>General</c:formatCode>
                <c:ptCount val="4"/>
                <c:pt idx="0">
                  <c:v>0.16070000000000001</c:v>
                </c:pt>
                <c:pt idx="1">
                  <c:v>0.24970000000000001</c:v>
                </c:pt>
                <c:pt idx="2">
                  <c:v>0.32779999999999998</c:v>
                </c:pt>
                <c:pt idx="3">
                  <c:v>0.40489999999999998</c:v>
                </c:pt>
              </c:numCache>
            </c:numRef>
          </c:val>
          <c:extLst>
            <c:ext xmlns:c16="http://schemas.microsoft.com/office/drawing/2014/chart" uri="{C3380CC4-5D6E-409C-BE32-E72D297353CC}">
              <c16:uniqueId val="{00000000-338F-49F5-80C4-6DD03ED16BE5}"/>
            </c:ext>
          </c:extLst>
        </c:ser>
        <c:ser>
          <c:idx val="1"/>
          <c:order val="1"/>
          <c:tx>
            <c:strRef>
              <c:f>Sheet1!$C$1</c:f>
              <c:strCache>
                <c:ptCount val="1"/>
                <c:pt idx="0">
                  <c:v>Запропонована</c:v>
                </c:pt>
              </c:strCache>
            </c:strRef>
          </c:tx>
          <c:spPr>
            <a:solidFill>
              <a:srgbClr val="5B9BD5"/>
            </a:solidFill>
            <a:effectLst/>
          </c:spPr>
          <c:invertIfNegative val="0"/>
          <c:dLbls>
            <c:numFmt formatCode="0.0000" sourceLinked="0"/>
            <c:spPr>
              <a:noFill/>
              <a:ln>
                <a:noFill/>
              </a:ln>
              <a:effectLst/>
            </c:spPr>
            <c:txPr>
              <a:bodyPr/>
              <a:lstStyle/>
              <a:p>
                <a:pPr>
                  <a:defRPr sz="700" b="0" i="0" u="none" strike="noStrike">
                    <a:solidFill>
                      <a:srgbClr val="0F1A35"/>
                    </a:solidFill>
                    <a:latin typeface="Arial"/>
                  </a:defRPr>
                </a:pPr>
                <a:endParaRPr lang="uk-U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k=5</c:v>
                </c:pt>
                <c:pt idx="1">
                  <c:v>k=10</c:v>
                </c:pt>
                <c:pt idx="2">
                  <c:v>k=15</c:v>
                </c:pt>
                <c:pt idx="3">
                  <c:v>k=20</c:v>
                </c:pt>
              </c:strCache>
            </c:strRef>
          </c:cat>
          <c:val>
            <c:numRef>
              <c:f>Sheet1!$C$2:$C$5</c:f>
              <c:numCache>
                <c:formatCode>General</c:formatCode>
                <c:ptCount val="4"/>
                <c:pt idx="0">
                  <c:v>0.20599999999999999</c:v>
                </c:pt>
                <c:pt idx="1">
                  <c:v>0.33710000000000001</c:v>
                </c:pt>
                <c:pt idx="2">
                  <c:v>0.43890000000000001</c:v>
                </c:pt>
                <c:pt idx="3">
                  <c:v>0.55189999999999995</c:v>
                </c:pt>
              </c:numCache>
            </c:numRef>
          </c:val>
          <c:extLst>
            <c:ext xmlns:c16="http://schemas.microsoft.com/office/drawing/2014/chart" uri="{C3380CC4-5D6E-409C-BE32-E72D297353CC}">
              <c16:uniqueId val="{00000001-338F-49F5-80C4-6DD03ED16BE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8789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8789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687891"/>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7744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Всіх вітаю, мене звати Богдан Романюк.
Я є аспірантом факультету прикладної математики та інформатики Львівського національного університету ім. Івана Франка і сьогодні ми поговоримо про розробку групової рекомендаційної системи з використанням машинного навчання з підкріпленням.</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Що таке рекомендація? Рекомендація — це процес підбору контенту або продуктів, які найкраще відповідають інтересам і потребам користувачів.
Актуальність застосування рекомендаційних систем зростає в умовах інформаційного перенасичення, адже обсяги доступної інформації постійно зростають, що ускладнює процес її ефективного пошуку та обробки. В багатьох випадках важливо не просто рекомендувати щось одній людині, а формувати рекомендації для групи користувачів. Наприклад в системах потокового медіа, електронної комерції або туристичних сервісах, де рішення часто приймаються спільно.
Перспективним підходом на сьогодні є використання машинного навчання з підкріпленням. Воно дозволяє розглядати рекомендації як задачу послідовного прийняття рішень, де система поступово навчається і оптимізує результат на основі довготривалої взаємодії з групою користувачів.</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 межах дослідження було проаналізовано чотири популярні моделі для групових рекомендацій. Кожна з них має як свої переваги так і недоліки. Наприклад, одні краще враховують взаємодію між користувачами, інші — використовують механізми уваги або навіть машинне навчання з підкріпленням. Проте більшість моделей працюють зі статичними профілями користувачів і фактично орієнтуються на короткотривалий результат — тобто “що порадити прямо зараз”, без урахування того, як інтереси змінюються з часом. Крім того, не всі підходи достатньо добре враховують вплив кожного учасника групи на спільне рішення — а це критично важливо, коли інтереси можуть відрізнятися.
Саме тому основна ідея роботи — це побудувати систему, яка одночасно враховує динаміку зміни вподобань, орієнтується на довгострокову взаємодію і при цьому коректно моделює внесок кожного користувача під час прийняття спільного рішення.</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Навчання з підкріпленням базується на процесі прийняття рішень Маркова, в якому система навчається приймати рішення крок за кроком.
У цій моделі рекомендаційна система виступає як агент, а середовище — це групи користувачів, елементи та історія взаємодій.
Агент отримує поточний стан групи, формує рекомендацію, і далі, в залежності від реакції користувачів — перегляд чи оцінка — отримує винагороду.
Цей процес повторюється багато разів, і за рахунок цього система поступово навчається давати кращі рекомендації.
Ключова ідея тут це максимізація сумарної винагороди, тобто орієнтація на довгострокову залученість користувачів, а не тільки на миттєвий результат. Такий підхід дозволяє враховувати зміну інтересів з часом, працювати з великими обсягами даних і адаптуватись до поведінки користувачів.</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Основною задачею дослідження є розробка групової рекомендаційної системи на основі машинного навчання з підкріпленням для підвищення ефективності та точності рекомендацій.
В цьому контексті були поставлені наступні задачі:
– підготовка набору даних та формування груп користувачів;
– розробка моделі на основі архітектури Актор–Критик;
– реалізація механізму врахування внеску кожного учасника групи;
– навчання та тестування моделі;
– порівняння отриманих результатів із базовим підходом.
Очікуваним результатом є модель, яка формує більш релевантні групові рекомендації, краще адаптується до змін у вподобаннях користувачів та враховує їхню поведінку в довгостроковій перспективі.</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Для навчання та тестування моделі було використано набір даних MovieLens, який містить велику кількість взаємодій користувачів з фільмами з однойменного сайту. На його основі було сформовано 1000 груп користувачів розміром від 2 до 4 осіб, при цьому кожна група має щонайменше 10 спільних взаємодій. Оцінки користувачів в цьому наборі від 0 до 5.
Для формування групової оцінки використовуються наступні правила: якщо всі учасники групи оцінили фільм на 4 або вище — вважається, що фільм оцінено позитивно і присвоюється групова оцінка 1. Якщо всі учасники групи оцінили певний фільм але принаймні половина учасників поставила менше 4 — це негативний випадок, оцінка 0.
Інші фільми відкидаються.
Статистика отриманого набору груп продемонстрована у таблиці 1.</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Схематично ідею побудови груп та формування групових оцінок відображено на рис. 2 та рис. 3.
На схемі видно, як індивідуальні оцінки користувачів (зелені — ≥ 4, червоні — &lt; 4) перетворюються у групові оцінки 1 або 0 для кожного елемента в межах сформованих груп g₁ та g₂.</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Запропонована архітектурна модель складається з трьох нейронних мереж: Інтегратора, Актора та Критика, як це зображено на рис. 4.
Інтегратор – формує векторне представлення стану групи на основі складу групи та історії її взаємодій. Модуль враховує внесок кожного учасника у спільне представлення. Результатом роботи є узагальнений вектор стану, який відображає поточні інтереси групи та контекст останніх взаємодій.
Актор – відповідає за формування рекомендаційної стратегії на основі поточного стану групи. Результатом є вектор, що задає наближене подання рекомендації, на основі якого в подальшому здійснюється рекомендація.
Критик – оцінює якість сформованої рекомендації. На основі стану групи та сформованої наближеної рекомендації він обчислює Q-значення, яке характеризує якість обраної рекомендації. Отримана оцінка використовується для коригування параметрів Актора.
Цю архітектуру реалізовано з використанням пакету PyTorch та мови програмування Python.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Інтегратор у запропонованій моделі відповідає за формування поточного стану групи. На його вхід подаються дві складові: сама група користувачів і історія їхніх попередніх взаємодій з елементами.
Спочатку кожен користувач перетворюється на векторне представлення. Після цього застосовується механізм самоуваги, який дає змогу врахувати взаємний вплив учасників групи один на одного. Тобто модель аналізує не лише те, хто входить до групи, а й те, як саме ці користувачі співвідносяться між собою в межах спільного вибору.
Далі початкові та оновлені користувацькі представлення об’єднуються, і на цій основі формується узагальнене представлення всієї групи.
Історія взаємодій опрацьовується окремо. Для цього беруться останні N елементів, кожен із яких також перетворюється у вектор ознак, після чого ці вектори об’єднуються в єдине представлення історії.
На завершальному етапі групове та історичне представлення конкатенуються. У результаті отримуємо вектор стану, який одночасно враховує склад групи, взаємозв’язки між її учасниками та послідовність попередніх взаємодій.</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Розглянемо детальніше архітектуру мереж Актор–Критик.
Актор відповідає за генерацію рекомендацій. Він отримує на вхід стан групи, сформований Інтегратором, і пропускає його через кілька повнозв’язних шарів з активаційною функцією ReLU. Для стабільності навчання також використовується механізм Dropout.
На виході Актор формує вектор наближеної рекомендації — це узагальнене представлення вподобань групи. Далі цей вектор порівнюється з векторними представленнями всіх елементів на основі метрики порівняння векторів, обчислюється релевантність, і формується список рекомендацій — top-k.
Критик, у свою чергу, оцінює якість цієї рекомендації. Він отримує і стан групи, і вектор наближеної рекомендації, сформований Актором, об’єднує їх і пропускає через нейронну мережу.
На виході Критик формує скалярне Q-значення, яке показує, наскільки хорошою є дана рекомендація з точки зору майбутньої винагороди.
Саме ця оцінка використовується для навчання Актора. Модель поступово вчиться генерувати такі рекомендації, які максимізують довгострокову винагороду.</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Навчання моделі відбувається з використанням алгоритму Градієнта Глибокої Детермінованої Стратегії (DDPG), який добре підходить для задач, де система має не просто один раз видати рекомендацію, а поступово вчитися приймати кращі рішення на основі зворотного зв’язку.
У цьому підході використовуються дві пари мереж: основні Актор і Критик та їхні цільові копії. Цільові мережі потрібні для того, щоб навчання було стабільнішим і модель не змінювала свої оцінки надто різко на кожному кроці.
Критик у цій архітектурі відповідає за оцінювання якості вибраної дії. Він порівнює передбачене Q-значення з цільовим значенням, яке обчислюється за рівнянням Беллмана, і таким чином вчиться точніше оцінювати, наскільки вдалою була рекомендація.
Актор, у свою чергу, навчається вже на основі оцінок Критика. Його задача — генерувати такі дії, які з найбільшою ймовірністю приведуть до високої винагороди. Тобто Актор поступово вчиться формувати кращі рекомендації, а Критик оцінює їхню якість і за рахунок цього допомагає Актору надалі обирати кращі дії.
Окремо варто зауважити, що цільові мережі оновлюються поступово, через механізм м’якого оновлення. Завдяки цьому процес навчання стає більш плавним і стійким.</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цьому слайді представлено формальний опис цільових функцій моделі Актор-Критик.
Формула (1) — функція втрат Критика, що мінімізує MSE між передбаченим та цільовим Q-значенням за рівнянням Беллмана.
Формула (2) — градієнт стратегії Актора, який визначається через теорему про градієнт детермінованої стратегії.
Формула (3) — функція втрат Актора як негативне очікуване значення Q-функції з поточною стратегією.
Формула (4) — м’яке оновлення цільових мереж, що забезпечує стабільність процесу навчання.</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Для навчання моделі було підібрано набір параметрів, який забезпечує достатньо стабільний процес навчання.
Навчання проводилось протягом 50 епох. Дані були розділені хронологічно: 70% використано для навчання, а 30% — для тестування, причому тестова вибірка містить новіші взаємодії.
Для векторного подання груп, користувачів та історії взаємодій використано базову розмірність 64, а для опису історії бралися останні 10 елементів. Усі три мережі — Інтегратор, Актор і Критик — оптимізувались за допомогою оптимізатора Ranger.
Що стосується реалізації, модель виконувалася у середовищі Ubuntu 24.04 у вигляді консольної аплікації з використанням мови програмування Python та пакетів PyTorch, scikit-learn та SciPy. Середовище взаємодії побудоване з використанням пакету gymnasium.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Для порівняння ефективності моделей у роботі використано три метрики: Recall@k, NDCG@k та Coverage@k.
Recall@k показує, наскільки добре система знаходить релевантні елементи серед перших k запропонованих. Тобто ця метрика відображає повноту рекомендаційного списку.
NDCG@k використовується для оцінювання якості ранжування. Вона враховує не лише наявність релевантних елементів у списку, а й те, на яких саме позиціях вони розташовані. Чим вище релевантні рекомендації знаходяться в списку, тим більшим є значення цієї метрики.
Coverage@k характеризує різноманітність рекомендацій. Вона показує, яку частину нових елементів система реально використовує при формуванні рекомендацій для різних груп.
Таким чином, Recall@k дозволяє оцінити повноту, NDCG@k — якість ранжування, а Coverage@k — широту охоплення елементів каталогу.
Важливо, що значення всіх трьох метрик лежать у межах від 0 до 1, і більше значення відповідає кращій якості рекомендацій.</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Порівняння проведено з моделлю DRGR, оскільки вона також використовує машинне навчання з підкріпленням.
Для оцінювання якості рекомендацій розглядалися значення k ∈ {5, 10, 15, 20}, що дало змогу проаналізувати роботу моделі як на коротких списках рекомендацій, де особливо важливі перші позиції, так і на ширших наборах, щоб перевірити стабільність її результатів у різних сценаріях.
Отримані результати показали, що запропонована модель має перевагу над базовим підходом за всіма трьома метриками — для всіх значень k. Це добре видно на діаграмах, де стовпчики запропонованої моделі в кожному випадку є вищими за відповідні стовпчики DRGR.
Варто зазначити, що наведені діаграми відображають результати саме на рівні групових рекомендацій.</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Водночас аналогічну перевагу запропонована модель продемонструвала і при оцінюванні рекомендацій на рівні окремих користувачів.</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Отже, у межах цієї роботи було підготовлено експериментальний набір даних, сформовано групи користувачів і розроблено модель групових рекомендацій на основі архітектури Інтегратор–Актор–Критик.
Проведені експерименти показали, що запропонований підхід має перевагу над базовою моделлю DRGR, зокрема краще враховує індивідуальні вподобання учасників групи, вплив кожного користувача на спільне рішення та формує більш релевантні рекомендації. Це також підтверджується покращенням основних метрик.
Отже, запропонована модель є перспективною для задач групового рекомендаційного вибору в сучасних інформаційних сервісах.
У подальшому перспективним є дослідження альтернативних методів агрегації та більш гнучкого, динамічного формування груп. Також окремим напрямом розвитку є застосування моделі для користувачів з обмеженою історією взаємодій або недостатньою кількістю індивідуальних даних.</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9.png"/><Relationship Id="rId7"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863840" y="-914400"/>
            <a:ext cx="2011680" cy="2011680"/>
          </a:xfrm>
          <a:prstGeom prst="ellipse">
            <a:avLst/>
          </a:prstGeom>
          <a:solidFill>
            <a:srgbClr val="E8F0FE"/>
          </a:solidFill>
          <a:ln w="12700">
            <a:solidFill>
              <a:srgbClr val="E8F0FE"/>
            </a:solidFill>
            <a:prstDash val="solid"/>
          </a:ln>
        </p:spPr>
        <p:txBody>
          <a:bodyPr/>
          <a:lstStyle/>
          <a:p>
            <a:endParaRPr lang="uk-UA"/>
          </a:p>
        </p:txBody>
      </p:sp>
      <p:sp>
        <p:nvSpPr>
          <p:cNvPr id="3" name="Shape 1"/>
          <p:cNvSpPr/>
          <p:nvPr/>
        </p:nvSpPr>
        <p:spPr>
          <a:xfrm>
            <a:off x="7315200" y="365760"/>
            <a:ext cx="1280160" cy="1280160"/>
          </a:xfrm>
          <a:prstGeom prst="ellipse">
            <a:avLst/>
          </a:prstGeom>
          <a:solidFill>
            <a:srgbClr val="D6F1F7"/>
          </a:solidFill>
          <a:ln w="12700">
            <a:solidFill>
              <a:srgbClr val="D6F1F7"/>
            </a:solidFill>
            <a:prstDash val="solid"/>
          </a:ln>
        </p:spPr>
        <p:txBody>
          <a:bodyPr/>
          <a:lstStyle/>
          <a:p>
            <a:endParaRPr lang="uk-UA"/>
          </a:p>
        </p:txBody>
      </p:sp>
      <p:sp>
        <p:nvSpPr>
          <p:cNvPr id="4" name="Shape 2"/>
          <p:cNvSpPr/>
          <p:nvPr/>
        </p:nvSpPr>
        <p:spPr>
          <a:xfrm>
            <a:off x="-365760" y="4206240"/>
            <a:ext cx="914400" cy="914400"/>
          </a:xfrm>
          <a:prstGeom prst="ellipse">
            <a:avLst/>
          </a:prstGeom>
          <a:solidFill>
            <a:srgbClr val="D6F1F7"/>
          </a:solidFill>
          <a:ln w="12700">
            <a:solidFill>
              <a:srgbClr val="D6F1F7"/>
            </a:solidFill>
            <a:prstDash val="solid"/>
          </a:ln>
        </p:spPr>
        <p:txBody>
          <a:bodyPr/>
          <a:lstStyle/>
          <a:p>
            <a:endParaRPr lang="uk-UA"/>
          </a:p>
        </p:txBody>
      </p:sp>
      <p:sp>
        <p:nvSpPr>
          <p:cNvPr id="5" name="Text 3"/>
          <p:cNvSpPr/>
          <p:nvPr/>
        </p:nvSpPr>
        <p:spPr>
          <a:xfrm>
            <a:off x="1371600" y="164592"/>
            <a:ext cx="6400800" cy="822960"/>
          </a:xfrm>
          <a:prstGeom prst="rect">
            <a:avLst/>
          </a:prstGeom>
          <a:noFill/>
          <a:ln/>
        </p:spPr>
        <p:txBody>
          <a:bodyPr wrap="square" lIns="0" tIns="0" rIns="0" bIns="0" rtlCol="0" anchor="ctr"/>
          <a:lstStyle/>
          <a:p>
            <a:pPr marL="0" indent="0" algn="ctr">
              <a:buNone/>
            </a:pPr>
            <a:r>
              <a:rPr lang="en-US" sz="1100" b="1" dirty="0">
                <a:solidFill>
                  <a:srgbClr val="0F1A35"/>
                </a:solidFill>
                <a:latin typeface="Calibri" pitchFamily="34" charset="0"/>
                <a:ea typeface="Calibri" pitchFamily="34" charset="-122"/>
                <a:cs typeface="Calibri" pitchFamily="34" charset="-120"/>
              </a:rPr>
              <a:t>МІНІСТЕРСТВО ОСВІТИ І НАУКИ УКРАЇНИ</a:t>
            </a:r>
            <a:endParaRPr lang="en-US" sz="1100" dirty="0"/>
          </a:p>
          <a:p>
            <a:pPr marL="0" indent="0" algn="ctr">
              <a:buNone/>
            </a:pPr>
            <a:r>
              <a:rPr lang="en-US" sz="1100" b="1" dirty="0">
                <a:solidFill>
                  <a:srgbClr val="0F1A35"/>
                </a:solidFill>
                <a:latin typeface="Calibri" pitchFamily="34" charset="0"/>
                <a:ea typeface="Calibri" pitchFamily="34" charset="-122"/>
                <a:cs typeface="Calibri" pitchFamily="34" charset="-120"/>
              </a:rPr>
              <a:t>ЛЬВІВСЬКИЙ НАЦІОНАЛЬНИЙ УНІВЕРСИТЕТ ІМЕНІ ІВАНА ФРАНКА</a:t>
            </a:r>
            <a:endParaRPr lang="en-US" sz="1100" dirty="0"/>
          </a:p>
          <a:p>
            <a:pPr marL="0" indent="0" algn="ctr">
              <a:buNone/>
            </a:pPr>
            <a:r>
              <a:rPr lang="en-US" sz="1100" dirty="0">
                <a:solidFill>
                  <a:srgbClr val="0F1A35"/>
                </a:solidFill>
                <a:latin typeface="Calibri" pitchFamily="34" charset="0"/>
                <a:ea typeface="Calibri" pitchFamily="34" charset="-122"/>
                <a:cs typeface="Calibri" pitchFamily="34" charset="-120"/>
              </a:rPr>
              <a:t>Факультет прикладної математики та інформатики</a:t>
            </a:r>
            <a:endParaRPr lang="en-US" sz="1100" dirty="0"/>
          </a:p>
          <a:p>
            <a:pPr marL="0" indent="0" algn="ctr">
              <a:buNone/>
            </a:pPr>
            <a:r>
              <a:rPr lang="en-US" sz="1100" dirty="0">
                <a:solidFill>
                  <a:srgbClr val="0F1A35"/>
                </a:solidFill>
                <a:latin typeface="Calibri" pitchFamily="34" charset="0"/>
                <a:ea typeface="Calibri" pitchFamily="34" charset="-122"/>
                <a:cs typeface="Calibri" pitchFamily="34" charset="-120"/>
              </a:rPr>
              <a:t>Кафедра дискретного аналізу та інформаційних систем</a:t>
            </a:r>
            <a:endParaRPr lang="en-US" sz="1100" dirty="0"/>
          </a:p>
        </p:txBody>
      </p:sp>
      <p:sp>
        <p:nvSpPr>
          <p:cNvPr id="6" name="Text 4"/>
          <p:cNvSpPr/>
          <p:nvPr/>
        </p:nvSpPr>
        <p:spPr>
          <a:xfrm>
            <a:off x="457200" y="1371600"/>
            <a:ext cx="8229600" cy="274320"/>
          </a:xfrm>
          <a:prstGeom prst="rect">
            <a:avLst/>
          </a:prstGeom>
          <a:noFill/>
          <a:ln/>
        </p:spPr>
        <p:txBody>
          <a:bodyPr wrap="square" lIns="0" tIns="0" rIns="0" bIns="0" rtlCol="0" anchor="ctr"/>
          <a:lstStyle/>
          <a:p>
            <a:pPr marL="0" indent="0">
              <a:buNone/>
            </a:pPr>
            <a:r>
              <a:rPr lang="en-US" sz="1200" dirty="0">
                <a:solidFill>
                  <a:srgbClr val="2C5BD8"/>
                </a:solidFill>
                <a:latin typeface="Calibri" pitchFamily="34" charset="0"/>
                <a:ea typeface="Calibri" pitchFamily="34" charset="-122"/>
                <a:cs typeface="Calibri" pitchFamily="34" charset="-120"/>
              </a:rPr>
              <a:t>Машинне </a:t>
            </a:r>
            <a:r>
              <a:rPr lang="en-US" sz="1200" dirty="0" err="1">
                <a:solidFill>
                  <a:srgbClr val="2C5BD8"/>
                </a:solidFill>
                <a:latin typeface="Calibri" pitchFamily="34" charset="0"/>
                <a:ea typeface="Calibri" pitchFamily="34" charset="-122"/>
                <a:cs typeface="Calibri" pitchFamily="34" charset="-120"/>
              </a:rPr>
              <a:t>навчання</a:t>
            </a:r>
            <a:r>
              <a:rPr lang="en-US" sz="1200" dirty="0">
                <a:solidFill>
                  <a:srgbClr val="2C5BD8"/>
                </a:solidFill>
                <a:latin typeface="Calibri" pitchFamily="34" charset="0"/>
                <a:ea typeface="Calibri" pitchFamily="34" charset="-122"/>
                <a:cs typeface="Calibri" pitchFamily="34" charset="-120"/>
              </a:rPr>
              <a:t> </a:t>
            </a:r>
            <a:r>
              <a:rPr lang="uk-UA" sz="1200" dirty="0">
                <a:solidFill>
                  <a:srgbClr val="2C5BD8"/>
                </a:solidFill>
                <a:latin typeface="Calibri" pitchFamily="34" charset="0"/>
                <a:ea typeface="Calibri" pitchFamily="34" charset="-122"/>
                <a:cs typeface="Calibri" pitchFamily="34" charset="-120"/>
              </a:rPr>
              <a:t>з підкріплення</a:t>
            </a:r>
            <a:endParaRPr lang="en-US" sz="1200" dirty="0"/>
          </a:p>
        </p:txBody>
      </p:sp>
      <p:sp>
        <p:nvSpPr>
          <p:cNvPr id="7" name="Text 5"/>
          <p:cNvSpPr/>
          <p:nvPr/>
        </p:nvSpPr>
        <p:spPr>
          <a:xfrm>
            <a:off x="457200" y="1691640"/>
            <a:ext cx="8229600" cy="1554480"/>
          </a:xfrm>
          <a:prstGeom prst="rect">
            <a:avLst/>
          </a:prstGeom>
          <a:noFill/>
          <a:ln/>
        </p:spPr>
        <p:txBody>
          <a:bodyPr wrap="square" lIns="0" tIns="0" rIns="0" bIns="0" rtlCol="0" anchor="ctr"/>
          <a:lstStyle/>
          <a:p>
            <a:pPr marL="0" indent="0">
              <a:lnSpc>
                <a:spcPct val="115000"/>
              </a:lnSpc>
              <a:buNone/>
            </a:pPr>
            <a:r>
              <a:rPr lang="en-US" sz="3000" b="1" dirty="0">
                <a:solidFill>
                  <a:srgbClr val="0F1A35"/>
                </a:solidFill>
                <a:latin typeface="Calibri" pitchFamily="34" charset="0"/>
                <a:ea typeface="Calibri" pitchFamily="34" charset="-122"/>
                <a:cs typeface="Calibri" pitchFamily="34" charset="-120"/>
              </a:rPr>
              <a:t>Розробка групової рекомендаційної</a:t>
            </a:r>
            <a:endParaRPr lang="en-US" sz="3000" dirty="0"/>
          </a:p>
          <a:p>
            <a:pPr marL="0" indent="0">
              <a:lnSpc>
                <a:spcPct val="115000"/>
              </a:lnSpc>
              <a:buNone/>
            </a:pPr>
            <a:r>
              <a:rPr lang="en-US" sz="3000" b="1" dirty="0">
                <a:solidFill>
                  <a:srgbClr val="0F1A35"/>
                </a:solidFill>
                <a:latin typeface="Calibri" pitchFamily="34" charset="0"/>
                <a:ea typeface="Calibri" pitchFamily="34" charset="-122"/>
                <a:cs typeface="Calibri" pitchFamily="34" charset="-120"/>
              </a:rPr>
              <a:t>системи на основі машинного навчання</a:t>
            </a:r>
            <a:endParaRPr lang="en-US" sz="3000" dirty="0"/>
          </a:p>
          <a:p>
            <a:pPr marL="0" indent="0">
              <a:lnSpc>
                <a:spcPct val="115000"/>
              </a:lnSpc>
              <a:buNone/>
            </a:pPr>
            <a:r>
              <a:rPr lang="en-US" sz="3000" b="1" dirty="0">
                <a:solidFill>
                  <a:srgbClr val="0F1A35"/>
                </a:solidFill>
                <a:latin typeface="Calibri" pitchFamily="34" charset="0"/>
                <a:ea typeface="Calibri" pitchFamily="34" charset="-122"/>
                <a:cs typeface="Calibri" pitchFamily="34" charset="-120"/>
              </a:rPr>
              <a:t>з підкріпленням</a:t>
            </a:r>
            <a:endParaRPr lang="en-US" sz="3000" dirty="0"/>
          </a:p>
        </p:txBody>
      </p:sp>
      <p:sp>
        <p:nvSpPr>
          <p:cNvPr id="8" name="Text 6"/>
          <p:cNvSpPr/>
          <p:nvPr/>
        </p:nvSpPr>
        <p:spPr>
          <a:xfrm>
            <a:off x="457200" y="3657600"/>
            <a:ext cx="3657600" cy="822960"/>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Доповідач:</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аспірант кафедри дискретного аналізу</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Романюк Богдан Ігорович</a:t>
            </a:r>
            <a:endParaRPr lang="en-US" sz="1200" dirty="0"/>
          </a:p>
        </p:txBody>
      </p:sp>
      <p:sp>
        <p:nvSpPr>
          <p:cNvPr id="9" name="Text 7"/>
          <p:cNvSpPr/>
          <p:nvPr/>
        </p:nvSpPr>
        <p:spPr>
          <a:xfrm>
            <a:off x="4114800" y="3657600"/>
            <a:ext cx="4114800" cy="822960"/>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Науковий керівник:</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канд. фіз.-мат. наук, доцент</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Пелюшкевич Ольга Володимирівна</a:t>
            </a:r>
            <a:endParaRPr lang="en-US" sz="1200" dirty="0"/>
          </a:p>
        </p:txBody>
      </p:sp>
      <p:sp>
        <p:nvSpPr>
          <p:cNvPr id="10" name="Text 8"/>
          <p:cNvSpPr/>
          <p:nvPr/>
        </p:nvSpPr>
        <p:spPr>
          <a:xfrm>
            <a:off x="457200" y="4663440"/>
            <a:ext cx="8229600" cy="274320"/>
          </a:xfrm>
          <a:prstGeom prst="rect">
            <a:avLst/>
          </a:prstGeom>
          <a:noFill/>
          <a:ln/>
        </p:spPr>
        <p:txBody>
          <a:bodyPr wrap="square" lIns="0" tIns="0" rIns="0" bIns="0" rtlCol="0" anchor="ctr"/>
          <a:lstStyle/>
          <a:p>
            <a:pPr marL="0" indent="0" algn="ctr">
              <a:buNone/>
            </a:pPr>
            <a:r>
              <a:rPr lang="en-US" sz="1100" dirty="0">
                <a:solidFill>
                  <a:srgbClr val="687891"/>
                </a:solidFill>
                <a:latin typeface="Calibri" pitchFamily="34" charset="0"/>
                <a:ea typeface="Calibri" pitchFamily="34" charset="-122"/>
                <a:cs typeface="Calibri" pitchFamily="34" charset="-120"/>
              </a:rPr>
              <a:t>м. Львів — 2026</a:t>
            </a:r>
            <a:endParaRPr lang="en-US" sz="1100" dirty="0"/>
          </a:p>
        </p:txBody>
      </p:sp>
      <p:sp>
        <p:nvSpPr>
          <p:cNvPr id="12" name="Text 9"/>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01 / 18</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АКТУАЛЬНІСТЬ</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Виклики сучасних групових рекомендаційних систем</a:t>
            </a:r>
            <a:endParaRPr lang="en-US" sz="2800" dirty="0"/>
          </a:p>
        </p:txBody>
      </p:sp>
      <p:sp>
        <p:nvSpPr>
          <p:cNvPr id="5" name="Shape 3"/>
          <p:cNvSpPr/>
          <p:nvPr/>
        </p:nvSpPr>
        <p:spPr>
          <a:xfrm>
            <a:off x="457200" y="1417320"/>
            <a:ext cx="4297680" cy="9601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417320"/>
            <a:ext cx="64008" cy="960120"/>
          </a:xfrm>
          <a:prstGeom prst="rect">
            <a:avLst/>
          </a:prstGeom>
          <a:solidFill>
            <a:srgbClr val="2C5BD8"/>
          </a:solidFill>
          <a:ln w="12700">
            <a:solidFill>
              <a:srgbClr val="2C5BD8"/>
            </a:solidFill>
            <a:prstDash val="solid"/>
          </a:ln>
        </p:spPr>
        <p:txBody>
          <a:bodyPr/>
          <a:lstStyle/>
          <a:p>
            <a:endParaRPr lang="uk-UA"/>
          </a:p>
        </p:txBody>
      </p:sp>
      <p:sp>
        <p:nvSpPr>
          <p:cNvPr id="7" name="Shape 5"/>
          <p:cNvSpPr/>
          <p:nvPr/>
        </p:nvSpPr>
        <p:spPr>
          <a:xfrm>
            <a:off x="713232" y="1664208"/>
            <a:ext cx="457200" cy="457200"/>
          </a:xfrm>
          <a:prstGeom prst="ellipse">
            <a:avLst/>
          </a:prstGeom>
          <a:solidFill>
            <a:srgbClr val="E8F0FE"/>
          </a:solidFill>
          <a:ln w="12700">
            <a:solidFill>
              <a:srgbClr val="E8F0FE"/>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827532" y="1778508"/>
            <a:ext cx="228600" cy="228600"/>
          </a:xfrm>
          <a:prstGeom prst="rect">
            <a:avLst/>
          </a:prstGeom>
        </p:spPr>
      </p:pic>
      <p:sp>
        <p:nvSpPr>
          <p:cNvPr id="9" name="Text 6"/>
          <p:cNvSpPr/>
          <p:nvPr/>
        </p:nvSpPr>
        <p:spPr>
          <a:xfrm>
            <a:off x="1325880" y="1554480"/>
            <a:ext cx="3291840" cy="292608"/>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Інформаційне перевантаження</a:t>
            </a:r>
            <a:endParaRPr lang="en-US" sz="1200" dirty="0"/>
          </a:p>
        </p:txBody>
      </p:sp>
      <p:sp>
        <p:nvSpPr>
          <p:cNvPr id="10" name="Text 7"/>
          <p:cNvSpPr/>
          <p:nvPr/>
        </p:nvSpPr>
        <p:spPr>
          <a:xfrm>
            <a:off x="1325880" y="1874520"/>
            <a:ext cx="3291840" cy="45720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Користувачі потребують фільтрації контенту в умовах експоненційного зростання обсягів даних</a:t>
            </a:r>
            <a:endParaRPr lang="en-US" sz="1000" dirty="0"/>
          </a:p>
        </p:txBody>
      </p:sp>
      <p:sp>
        <p:nvSpPr>
          <p:cNvPr id="11" name="Shape 8"/>
          <p:cNvSpPr/>
          <p:nvPr/>
        </p:nvSpPr>
        <p:spPr>
          <a:xfrm>
            <a:off x="457200" y="2514600"/>
            <a:ext cx="4297680" cy="9601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2" name="Shape 9"/>
          <p:cNvSpPr/>
          <p:nvPr/>
        </p:nvSpPr>
        <p:spPr>
          <a:xfrm>
            <a:off x="457200" y="2514600"/>
            <a:ext cx="64008" cy="960120"/>
          </a:xfrm>
          <a:prstGeom prst="rect">
            <a:avLst/>
          </a:prstGeom>
          <a:solidFill>
            <a:srgbClr val="20B7D1"/>
          </a:solidFill>
          <a:ln w="12700">
            <a:solidFill>
              <a:srgbClr val="20B7D1"/>
            </a:solidFill>
            <a:prstDash val="solid"/>
          </a:ln>
        </p:spPr>
        <p:txBody>
          <a:bodyPr/>
          <a:lstStyle/>
          <a:p>
            <a:endParaRPr lang="uk-UA"/>
          </a:p>
        </p:txBody>
      </p:sp>
      <p:sp>
        <p:nvSpPr>
          <p:cNvPr id="13" name="Shape 10"/>
          <p:cNvSpPr/>
          <p:nvPr/>
        </p:nvSpPr>
        <p:spPr>
          <a:xfrm>
            <a:off x="713232" y="2761488"/>
            <a:ext cx="457200" cy="457200"/>
          </a:xfrm>
          <a:prstGeom prst="ellipse">
            <a:avLst/>
          </a:prstGeom>
          <a:solidFill>
            <a:srgbClr val="D6F1F7"/>
          </a:solidFill>
          <a:ln w="12700">
            <a:solidFill>
              <a:srgbClr val="D6F1F7"/>
            </a:solidFill>
            <a:prstDash val="solid"/>
          </a:ln>
        </p:spPr>
        <p:txBody>
          <a:bodyPr/>
          <a:lstStyle/>
          <a:p>
            <a:endParaRPr lang="uk-UA"/>
          </a:p>
        </p:txBody>
      </p:sp>
      <p:pic>
        <p:nvPicPr>
          <p:cNvPr id="14" name="Image 1" descr="preencoded.png"/>
          <p:cNvPicPr>
            <a:picLocks noChangeAspect="1"/>
          </p:cNvPicPr>
          <p:nvPr/>
        </p:nvPicPr>
        <p:blipFill>
          <a:blip r:embed="rId4"/>
          <a:stretch>
            <a:fillRect/>
          </a:stretch>
        </p:blipFill>
        <p:spPr>
          <a:xfrm>
            <a:off x="827532" y="2875788"/>
            <a:ext cx="228600" cy="228600"/>
          </a:xfrm>
          <a:prstGeom prst="rect">
            <a:avLst/>
          </a:prstGeom>
        </p:spPr>
      </p:pic>
      <p:sp>
        <p:nvSpPr>
          <p:cNvPr id="15" name="Text 11"/>
          <p:cNvSpPr/>
          <p:nvPr/>
        </p:nvSpPr>
        <p:spPr>
          <a:xfrm>
            <a:off x="1325880" y="2651760"/>
            <a:ext cx="3291840" cy="292608"/>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Груповий контекст</a:t>
            </a:r>
            <a:endParaRPr lang="en-US" sz="1200" dirty="0"/>
          </a:p>
        </p:txBody>
      </p:sp>
      <p:sp>
        <p:nvSpPr>
          <p:cNvPr id="16" name="Text 12"/>
          <p:cNvSpPr/>
          <p:nvPr/>
        </p:nvSpPr>
        <p:spPr>
          <a:xfrm>
            <a:off x="1325880" y="2971800"/>
            <a:ext cx="3291840" cy="45720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Багато рішень приймаються колективно: спільний перегляд, сімейні покупки, командні рекомендації</a:t>
            </a:r>
            <a:endParaRPr lang="en-US" sz="1000" dirty="0"/>
          </a:p>
        </p:txBody>
      </p:sp>
      <p:sp>
        <p:nvSpPr>
          <p:cNvPr id="17" name="Shape 13"/>
          <p:cNvSpPr/>
          <p:nvPr/>
        </p:nvSpPr>
        <p:spPr>
          <a:xfrm>
            <a:off x="457200" y="3611880"/>
            <a:ext cx="4297680" cy="9601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8" name="Shape 14"/>
          <p:cNvSpPr/>
          <p:nvPr/>
        </p:nvSpPr>
        <p:spPr>
          <a:xfrm>
            <a:off x="457200" y="3611880"/>
            <a:ext cx="64008" cy="960120"/>
          </a:xfrm>
          <a:prstGeom prst="rect">
            <a:avLst/>
          </a:prstGeom>
          <a:solidFill>
            <a:srgbClr val="F0A93B"/>
          </a:solidFill>
          <a:ln w="12700">
            <a:solidFill>
              <a:srgbClr val="F0A93B"/>
            </a:solidFill>
            <a:prstDash val="solid"/>
          </a:ln>
        </p:spPr>
        <p:txBody>
          <a:bodyPr/>
          <a:lstStyle/>
          <a:p>
            <a:endParaRPr lang="uk-UA"/>
          </a:p>
        </p:txBody>
      </p:sp>
      <p:sp>
        <p:nvSpPr>
          <p:cNvPr id="19" name="Shape 15"/>
          <p:cNvSpPr/>
          <p:nvPr/>
        </p:nvSpPr>
        <p:spPr>
          <a:xfrm>
            <a:off x="713232" y="3858768"/>
            <a:ext cx="457200" cy="457200"/>
          </a:xfrm>
          <a:prstGeom prst="ellipse">
            <a:avLst/>
          </a:prstGeom>
          <a:solidFill>
            <a:srgbClr val="FBE9CD"/>
          </a:solidFill>
          <a:ln w="12700">
            <a:solidFill>
              <a:srgbClr val="FBE9CD"/>
            </a:solidFill>
            <a:prstDash val="solid"/>
          </a:ln>
        </p:spPr>
        <p:txBody>
          <a:bodyPr/>
          <a:lstStyle/>
          <a:p>
            <a:endParaRPr lang="uk-UA"/>
          </a:p>
        </p:txBody>
      </p:sp>
      <p:pic>
        <p:nvPicPr>
          <p:cNvPr id="20" name="Image 2" descr="preencoded.png"/>
          <p:cNvPicPr>
            <a:picLocks noChangeAspect="1"/>
          </p:cNvPicPr>
          <p:nvPr/>
        </p:nvPicPr>
        <p:blipFill>
          <a:blip r:embed="rId5"/>
          <a:stretch>
            <a:fillRect/>
          </a:stretch>
        </p:blipFill>
        <p:spPr>
          <a:xfrm>
            <a:off x="827532" y="3973068"/>
            <a:ext cx="228600" cy="228600"/>
          </a:xfrm>
          <a:prstGeom prst="rect">
            <a:avLst/>
          </a:prstGeom>
        </p:spPr>
      </p:pic>
      <p:sp>
        <p:nvSpPr>
          <p:cNvPr id="21" name="Text 16"/>
          <p:cNvSpPr/>
          <p:nvPr/>
        </p:nvSpPr>
        <p:spPr>
          <a:xfrm>
            <a:off x="1325880" y="3749040"/>
            <a:ext cx="3291840" cy="292608"/>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Конфлікт і динаміка</a:t>
            </a:r>
            <a:endParaRPr lang="en-US" sz="1200" dirty="0"/>
          </a:p>
        </p:txBody>
      </p:sp>
      <p:sp>
        <p:nvSpPr>
          <p:cNvPr id="22" name="Text 17"/>
          <p:cNvSpPr/>
          <p:nvPr/>
        </p:nvSpPr>
        <p:spPr>
          <a:xfrm>
            <a:off x="1325880" y="4069080"/>
            <a:ext cx="3291840" cy="45720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Інтереси в групі можуть не співпадати і швидко змінюватися з часом</a:t>
            </a:r>
            <a:endParaRPr lang="en-US" sz="1000" dirty="0"/>
          </a:p>
        </p:txBody>
      </p:sp>
      <p:sp>
        <p:nvSpPr>
          <p:cNvPr id="23" name="Shape 18"/>
          <p:cNvSpPr/>
          <p:nvPr/>
        </p:nvSpPr>
        <p:spPr>
          <a:xfrm>
            <a:off x="4937760" y="1417320"/>
            <a:ext cx="3749040" cy="320040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4" name="Shape 19"/>
          <p:cNvSpPr/>
          <p:nvPr/>
        </p:nvSpPr>
        <p:spPr>
          <a:xfrm>
            <a:off x="4937760" y="1417320"/>
            <a:ext cx="3749040" cy="54864"/>
          </a:xfrm>
          <a:prstGeom prst="rect">
            <a:avLst/>
          </a:prstGeom>
          <a:solidFill>
            <a:srgbClr val="2C5BD8"/>
          </a:solidFill>
          <a:ln w="12700">
            <a:solidFill>
              <a:srgbClr val="2C5BD8"/>
            </a:solidFill>
            <a:prstDash val="solid"/>
          </a:ln>
        </p:spPr>
        <p:txBody>
          <a:bodyPr/>
          <a:lstStyle/>
          <a:p>
            <a:endParaRPr lang="uk-UA"/>
          </a:p>
        </p:txBody>
      </p:sp>
      <p:sp>
        <p:nvSpPr>
          <p:cNvPr id="25" name="Shape 20"/>
          <p:cNvSpPr/>
          <p:nvPr/>
        </p:nvSpPr>
        <p:spPr>
          <a:xfrm>
            <a:off x="5120640" y="1645920"/>
            <a:ext cx="502920" cy="502920"/>
          </a:xfrm>
          <a:prstGeom prst="ellipse">
            <a:avLst/>
          </a:prstGeom>
          <a:solidFill>
            <a:srgbClr val="E8F0FE"/>
          </a:solidFill>
          <a:ln w="12700">
            <a:solidFill>
              <a:srgbClr val="E8F0FE"/>
            </a:solidFill>
            <a:prstDash val="solid"/>
          </a:ln>
        </p:spPr>
        <p:txBody>
          <a:bodyPr/>
          <a:lstStyle/>
          <a:p>
            <a:endParaRPr lang="uk-UA"/>
          </a:p>
        </p:txBody>
      </p:sp>
      <p:pic>
        <p:nvPicPr>
          <p:cNvPr id="26" name="Image 3" descr="preencoded.png"/>
          <p:cNvPicPr>
            <a:picLocks noChangeAspect="1"/>
          </p:cNvPicPr>
          <p:nvPr/>
        </p:nvPicPr>
        <p:blipFill>
          <a:blip r:embed="rId6"/>
          <a:stretch>
            <a:fillRect/>
          </a:stretch>
        </p:blipFill>
        <p:spPr>
          <a:xfrm>
            <a:off x="5246370" y="1771650"/>
            <a:ext cx="251460" cy="251460"/>
          </a:xfrm>
          <a:prstGeom prst="rect">
            <a:avLst/>
          </a:prstGeom>
        </p:spPr>
      </p:pic>
      <p:sp>
        <p:nvSpPr>
          <p:cNvPr id="27" name="Text 21"/>
          <p:cNvSpPr/>
          <p:nvPr/>
        </p:nvSpPr>
        <p:spPr>
          <a:xfrm>
            <a:off x="5715000" y="1600200"/>
            <a:ext cx="2834640" cy="594360"/>
          </a:xfrm>
          <a:prstGeom prst="rect">
            <a:avLst/>
          </a:prstGeom>
          <a:noFill/>
          <a:ln/>
        </p:spPr>
        <p:txBody>
          <a:bodyPr wrap="square" lIns="0" tIns="0" rIns="0" bIns="0" rtlCol="0" anchor="ctr"/>
          <a:lstStyle/>
          <a:p>
            <a:pPr marL="0" indent="0">
              <a:lnSpc>
                <a:spcPct val="105000"/>
              </a:lnSpc>
              <a:buNone/>
            </a:pPr>
            <a:r>
              <a:rPr lang="en-US" sz="1300" b="1" dirty="0">
                <a:solidFill>
                  <a:srgbClr val="0F1A35"/>
                </a:solidFill>
                <a:latin typeface="Calibri" pitchFamily="34" charset="0"/>
                <a:ea typeface="Calibri" pitchFamily="34" charset="-122"/>
                <a:cs typeface="Calibri" pitchFamily="34" charset="-120"/>
              </a:rPr>
              <a:t>Переваги навчання з підкріпленням</a:t>
            </a:r>
            <a:endParaRPr lang="en-US" sz="1300" dirty="0"/>
          </a:p>
        </p:txBody>
      </p:sp>
      <p:sp>
        <p:nvSpPr>
          <p:cNvPr id="28" name="Text 22"/>
          <p:cNvSpPr/>
          <p:nvPr/>
        </p:nvSpPr>
        <p:spPr>
          <a:xfrm>
            <a:off x="5715000" y="2194560"/>
            <a:ext cx="2834640" cy="228600"/>
          </a:xfrm>
          <a:prstGeom prst="rect">
            <a:avLst/>
          </a:prstGeom>
          <a:noFill/>
          <a:ln/>
        </p:spPr>
        <p:txBody>
          <a:bodyPr wrap="square" lIns="0" tIns="0" rIns="0" bIns="0" rtlCol="0" anchor="ctr"/>
          <a:lstStyle/>
          <a:p>
            <a:pPr marL="0" indent="0">
              <a:buNone/>
            </a:pPr>
            <a:r>
              <a:rPr lang="en-US" sz="1000" i="1" dirty="0">
                <a:solidFill>
                  <a:srgbClr val="2C5BD8"/>
                </a:solidFill>
                <a:latin typeface="Calibri" pitchFamily="34" charset="0"/>
                <a:ea typeface="Calibri" pitchFamily="34" charset="-122"/>
                <a:cs typeface="Calibri" pitchFamily="34" charset="-120"/>
              </a:rPr>
              <a:t>Чому саме RL для групових рекомендацій</a:t>
            </a:r>
            <a:endParaRPr lang="en-US" sz="1000" dirty="0"/>
          </a:p>
        </p:txBody>
      </p:sp>
      <p:pic>
        <p:nvPicPr>
          <p:cNvPr id="29" name="Image 4" descr="preencoded.png"/>
          <p:cNvPicPr>
            <a:picLocks noChangeAspect="1"/>
          </p:cNvPicPr>
          <p:nvPr/>
        </p:nvPicPr>
        <p:blipFill>
          <a:blip r:embed="rId7"/>
          <a:stretch>
            <a:fillRect/>
          </a:stretch>
        </p:blipFill>
        <p:spPr>
          <a:xfrm>
            <a:off x="5212080" y="2468880"/>
            <a:ext cx="201168" cy="201168"/>
          </a:xfrm>
          <a:prstGeom prst="rect">
            <a:avLst/>
          </a:prstGeom>
        </p:spPr>
      </p:pic>
      <p:sp>
        <p:nvSpPr>
          <p:cNvPr id="30" name="Text 23"/>
          <p:cNvSpPr/>
          <p:nvPr/>
        </p:nvSpPr>
        <p:spPr>
          <a:xfrm>
            <a:off x="5504688" y="2423160"/>
            <a:ext cx="3017520" cy="32004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Враховує послідовність поведінки груп користувачів</a:t>
            </a:r>
            <a:endParaRPr lang="en-US" sz="1100" dirty="0"/>
          </a:p>
        </p:txBody>
      </p:sp>
      <p:pic>
        <p:nvPicPr>
          <p:cNvPr id="31" name="Image 5" descr="preencoded.png"/>
          <p:cNvPicPr>
            <a:picLocks noChangeAspect="1"/>
          </p:cNvPicPr>
          <p:nvPr/>
        </p:nvPicPr>
        <p:blipFill>
          <a:blip r:embed="rId7"/>
          <a:stretch>
            <a:fillRect/>
          </a:stretch>
        </p:blipFill>
        <p:spPr>
          <a:xfrm>
            <a:off x="5212080" y="2852928"/>
            <a:ext cx="201168" cy="201168"/>
          </a:xfrm>
          <a:prstGeom prst="rect">
            <a:avLst/>
          </a:prstGeom>
        </p:spPr>
      </p:pic>
      <p:sp>
        <p:nvSpPr>
          <p:cNvPr id="32" name="Text 24"/>
          <p:cNvSpPr/>
          <p:nvPr/>
        </p:nvSpPr>
        <p:spPr>
          <a:xfrm>
            <a:off x="5504688" y="2807208"/>
            <a:ext cx="3017520" cy="32004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Орієнтований на довготривалу взаємодію</a:t>
            </a:r>
            <a:endParaRPr lang="en-US" sz="1100" dirty="0"/>
          </a:p>
        </p:txBody>
      </p:sp>
      <p:pic>
        <p:nvPicPr>
          <p:cNvPr id="33" name="Image 6" descr="preencoded.png"/>
          <p:cNvPicPr>
            <a:picLocks noChangeAspect="1"/>
          </p:cNvPicPr>
          <p:nvPr/>
        </p:nvPicPr>
        <p:blipFill>
          <a:blip r:embed="rId7"/>
          <a:stretch>
            <a:fillRect/>
          </a:stretch>
        </p:blipFill>
        <p:spPr>
          <a:xfrm>
            <a:off x="5212080" y="3236976"/>
            <a:ext cx="201168" cy="201168"/>
          </a:xfrm>
          <a:prstGeom prst="rect">
            <a:avLst/>
          </a:prstGeom>
        </p:spPr>
      </p:pic>
      <p:sp>
        <p:nvSpPr>
          <p:cNvPr id="34" name="Text 25"/>
          <p:cNvSpPr/>
          <p:nvPr/>
        </p:nvSpPr>
        <p:spPr>
          <a:xfrm>
            <a:off x="5504688" y="3191256"/>
            <a:ext cx="3017520" cy="32004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Активно розвивається в наукових і промислових рішеннях</a:t>
            </a:r>
            <a:endParaRPr lang="en-US" sz="1100" dirty="0"/>
          </a:p>
        </p:txBody>
      </p:sp>
      <p:pic>
        <p:nvPicPr>
          <p:cNvPr id="35" name="Image 7" descr="preencoded.png"/>
          <p:cNvPicPr>
            <a:picLocks noChangeAspect="1"/>
          </p:cNvPicPr>
          <p:nvPr/>
        </p:nvPicPr>
        <p:blipFill>
          <a:blip r:embed="rId7"/>
          <a:stretch>
            <a:fillRect/>
          </a:stretch>
        </p:blipFill>
        <p:spPr>
          <a:xfrm>
            <a:off x="5212080" y="3621024"/>
            <a:ext cx="201168" cy="201168"/>
          </a:xfrm>
          <a:prstGeom prst="rect">
            <a:avLst/>
          </a:prstGeom>
        </p:spPr>
      </p:pic>
      <p:sp>
        <p:nvSpPr>
          <p:cNvPr id="36" name="Text 26"/>
          <p:cNvSpPr/>
          <p:nvPr/>
        </p:nvSpPr>
        <p:spPr>
          <a:xfrm>
            <a:off x="5504688" y="3575304"/>
            <a:ext cx="3017520" cy="32004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Використовується Netflix, Google, TikTok, Spotify</a:t>
            </a:r>
            <a:endParaRPr lang="en-US" sz="1100" dirty="0"/>
          </a:p>
        </p:txBody>
      </p:sp>
      <p:sp>
        <p:nvSpPr>
          <p:cNvPr id="38" name="Shape 27"/>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39" name="Text 28"/>
          <p:cNvSpPr/>
          <p:nvPr/>
        </p:nvSpPr>
        <p:spPr>
          <a:xfrm>
            <a:off x="457200" y="4901184"/>
            <a:ext cx="6858000" cy="228600"/>
          </a:xfrm>
          <a:prstGeom prst="rect">
            <a:avLst/>
          </a:prstGeom>
          <a:noFill/>
          <a:ln/>
        </p:spPr>
        <p:txBody>
          <a:bodyPr wrap="square" lIns="0" tIns="0" rIns="0" bIns="0" rtlCol="0" anchor="ctr"/>
          <a:lstStyle/>
          <a:p>
            <a:pPr marL="0" indent="0">
              <a:buNone/>
            </a:pPr>
            <a:r>
              <a:rPr lang="en-US" sz="90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ML з підкріпленням</a:t>
            </a:r>
            <a:endParaRPr lang="en-US" sz="900" dirty="0"/>
          </a:p>
        </p:txBody>
      </p:sp>
      <p:sp>
        <p:nvSpPr>
          <p:cNvPr id="40" name="Text 29"/>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02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АНАЛІЗ ПІДХОДІВ</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Обмеження існуючих підходів</a:t>
            </a:r>
            <a:endParaRPr lang="en-US" sz="2800" dirty="0"/>
          </a:p>
        </p:txBody>
      </p:sp>
      <p:sp>
        <p:nvSpPr>
          <p:cNvPr id="5" name="Text 3"/>
          <p:cNvSpPr/>
          <p:nvPr/>
        </p:nvSpPr>
        <p:spPr>
          <a:xfrm>
            <a:off x="457200" y="1298448"/>
            <a:ext cx="8229600" cy="502920"/>
          </a:xfrm>
          <a:prstGeom prst="rect">
            <a:avLst/>
          </a:prstGeom>
          <a:noFill/>
          <a:ln/>
        </p:spPr>
        <p:txBody>
          <a:bodyPr wrap="square" lIns="0" tIns="0" rIns="0" bIns="0" rtlCol="0" anchor="ctr"/>
          <a:lstStyle/>
          <a:p>
            <a:pPr marL="0" indent="0">
              <a:buNone/>
            </a:pPr>
            <a:r>
              <a:rPr lang="en-US" sz="1100" i="1" dirty="0">
                <a:solidFill>
                  <a:srgbClr val="1F2937"/>
                </a:solidFill>
                <a:latin typeface="Calibri" pitchFamily="34" charset="0"/>
                <a:ea typeface="Calibri" pitchFamily="34" charset="-122"/>
                <a:cs typeface="Calibri" pitchFamily="34" charset="-120"/>
              </a:rPr>
              <a:t>Існуючі моделі для генерування групових рекомендацій фокусуються на статичних профілях, оптимізуючи лише миттєву винагороду. Мета — система, що враховує динаміку, довгостроковий ефект та історію взаємодій.</a:t>
            </a:r>
            <a:endParaRPr lang="en-US" sz="1100" dirty="0"/>
          </a:p>
        </p:txBody>
      </p:sp>
      <p:sp>
        <p:nvSpPr>
          <p:cNvPr id="6" name="Shape 4"/>
          <p:cNvSpPr/>
          <p:nvPr/>
        </p:nvSpPr>
        <p:spPr>
          <a:xfrm>
            <a:off x="457200" y="1920240"/>
            <a:ext cx="2011680" cy="27889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7" name="Shape 5"/>
          <p:cNvSpPr/>
          <p:nvPr/>
        </p:nvSpPr>
        <p:spPr>
          <a:xfrm>
            <a:off x="457200" y="1920240"/>
            <a:ext cx="2011680" cy="54864"/>
          </a:xfrm>
          <a:prstGeom prst="rect">
            <a:avLst/>
          </a:prstGeom>
          <a:solidFill>
            <a:srgbClr val="2C5BD8"/>
          </a:solidFill>
          <a:ln w="12700">
            <a:solidFill>
              <a:srgbClr val="2C5BD8"/>
            </a:solidFill>
            <a:prstDash val="solid"/>
          </a:ln>
        </p:spPr>
        <p:txBody>
          <a:bodyPr/>
          <a:lstStyle/>
          <a:p>
            <a:endParaRPr lang="uk-UA"/>
          </a:p>
        </p:txBody>
      </p:sp>
      <p:sp>
        <p:nvSpPr>
          <p:cNvPr id="8" name="Shape 6"/>
          <p:cNvSpPr/>
          <p:nvPr/>
        </p:nvSpPr>
        <p:spPr>
          <a:xfrm>
            <a:off x="1211580" y="2084832"/>
            <a:ext cx="502920" cy="502920"/>
          </a:xfrm>
          <a:prstGeom prst="ellipse">
            <a:avLst/>
          </a:prstGeom>
          <a:solidFill>
            <a:srgbClr val="E8F0FE"/>
          </a:solidFill>
          <a:ln w="12700">
            <a:solidFill>
              <a:srgbClr val="E8F0FE"/>
            </a:solidFill>
            <a:prstDash val="solid"/>
          </a:ln>
        </p:spPr>
        <p:txBody>
          <a:bodyPr/>
          <a:lstStyle/>
          <a:p>
            <a:endParaRPr lang="uk-UA"/>
          </a:p>
        </p:txBody>
      </p:sp>
      <p:pic>
        <p:nvPicPr>
          <p:cNvPr id="9" name="Image 0" descr="figs/icon_mosan.png"/>
          <p:cNvPicPr>
            <a:picLocks noChangeAspect="1"/>
          </p:cNvPicPr>
          <p:nvPr/>
        </p:nvPicPr>
        <p:blipFill>
          <a:blip r:embed="rId3"/>
          <a:stretch>
            <a:fillRect/>
          </a:stretch>
        </p:blipFill>
        <p:spPr>
          <a:xfrm>
            <a:off x="1302106" y="2175358"/>
            <a:ext cx="321869" cy="321869"/>
          </a:xfrm>
          <a:prstGeom prst="rect">
            <a:avLst/>
          </a:prstGeom>
        </p:spPr>
      </p:pic>
      <p:sp>
        <p:nvSpPr>
          <p:cNvPr id="10" name="Text 7"/>
          <p:cNvSpPr/>
          <p:nvPr/>
        </p:nvSpPr>
        <p:spPr>
          <a:xfrm>
            <a:off x="457200" y="2670048"/>
            <a:ext cx="2011680" cy="274320"/>
          </a:xfrm>
          <a:prstGeom prst="rect">
            <a:avLst/>
          </a:prstGeom>
          <a:noFill/>
          <a:ln/>
        </p:spPr>
        <p:txBody>
          <a:bodyPr wrap="square" lIns="0" tIns="0" rIns="0" bIns="0" rtlCol="0" anchor="ctr"/>
          <a:lstStyle/>
          <a:p>
            <a:pPr marL="0" indent="0" algn="ctr">
              <a:buNone/>
            </a:pPr>
            <a:r>
              <a:rPr lang="en-US" sz="1400" b="1" dirty="0">
                <a:solidFill>
                  <a:srgbClr val="0F1A35"/>
                </a:solidFill>
                <a:latin typeface="Calibri" pitchFamily="34" charset="0"/>
                <a:ea typeface="Calibri" pitchFamily="34" charset="-122"/>
                <a:cs typeface="Calibri" pitchFamily="34" charset="-120"/>
              </a:rPr>
              <a:t>MoSAN</a:t>
            </a:r>
            <a:endParaRPr lang="en-US" sz="1400" dirty="0"/>
          </a:p>
        </p:txBody>
      </p:sp>
      <p:sp>
        <p:nvSpPr>
          <p:cNvPr id="11" name="Text 8"/>
          <p:cNvSpPr/>
          <p:nvPr/>
        </p:nvSpPr>
        <p:spPr>
          <a:xfrm>
            <a:off x="594360" y="2999232"/>
            <a:ext cx="1737360" cy="182880"/>
          </a:xfrm>
          <a:prstGeom prst="rect">
            <a:avLst/>
          </a:prstGeom>
          <a:noFill/>
          <a:ln/>
        </p:spPr>
        <p:txBody>
          <a:bodyPr wrap="square" lIns="0" tIns="0" rIns="0" bIns="0" rtlCol="0" anchor="ctr"/>
          <a:lstStyle/>
          <a:p>
            <a:pPr marL="0" indent="0">
              <a:buNone/>
            </a:pPr>
            <a:r>
              <a:rPr lang="en-US" sz="800" b="1" kern="0" spc="300" dirty="0">
                <a:solidFill>
                  <a:srgbClr val="21C97A"/>
                </a:solidFill>
                <a:latin typeface="Calibri" pitchFamily="34" charset="0"/>
                <a:ea typeface="Calibri" pitchFamily="34" charset="-122"/>
                <a:cs typeface="Calibri" pitchFamily="34" charset="-120"/>
              </a:rPr>
              <a:t>ПЕРЕВАГИ</a:t>
            </a:r>
            <a:endParaRPr lang="en-US" sz="800" dirty="0"/>
          </a:p>
        </p:txBody>
      </p:sp>
      <p:sp>
        <p:nvSpPr>
          <p:cNvPr id="12" name="Text 9"/>
          <p:cNvSpPr/>
          <p:nvPr/>
        </p:nvSpPr>
        <p:spPr>
          <a:xfrm>
            <a:off x="594360" y="3163824"/>
            <a:ext cx="1737360" cy="777240"/>
          </a:xfrm>
          <a:prstGeom prst="rect">
            <a:avLst/>
          </a:prstGeom>
          <a:noFill/>
          <a:ln/>
        </p:spPr>
        <p:txBody>
          <a:bodyPr wrap="square" lIns="0" tIns="0" rIns="0" bIns="0" rtlCol="0" anchor="ctr"/>
          <a:lstStyle/>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Враховує взаємодії між учасниками</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Оцінює відносний внесок кожного</a:t>
            </a:r>
            <a:endParaRPr lang="en-US" sz="900" dirty="0"/>
          </a:p>
        </p:txBody>
      </p:sp>
      <p:sp>
        <p:nvSpPr>
          <p:cNvPr id="13" name="Text 10"/>
          <p:cNvSpPr/>
          <p:nvPr/>
        </p:nvSpPr>
        <p:spPr>
          <a:xfrm>
            <a:off x="594360" y="3931920"/>
            <a:ext cx="1737360" cy="182880"/>
          </a:xfrm>
          <a:prstGeom prst="rect">
            <a:avLst/>
          </a:prstGeom>
          <a:noFill/>
          <a:ln/>
        </p:spPr>
        <p:txBody>
          <a:bodyPr wrap="square" lIns="0" tIns="0" rIns="0" bIns="0" rtlCol="0" anchor="ctr"/>
          <a:lstStyle/>
          <a:p>
            <a:pPr marL="0" indent="0">
              <a:buNone/>
            </a:pPr>
            <a:r>
              <a:rPr lang="en-US" sz="800" b="1" kern="0" spc="300" dirty="0">
                <a:solidFill>
                  <a:srgbClr val="E84855"/>
                </a:solidFill>
                <a:latin typeface="Calibri" pitchFamily="34" charset="0"/>
                <a:ea typeface="Calibri" pitchFamily="34" charset="-122"/>
                <a:cs typeface="Calibri" pitchFamily="34" charset="-120"/>
              </a:rPr>
              <a:t>ОБМЕЖЕННЯ</a:t>
            </a:r>
            <a:endParaRPr lang="en-US" sz="800" dirty="0"/>
          </a:p>
        </p:txBody>
      </p:sp>
      <p:sp>
        <p:nvSpPr>
          <p:cNvPr id="14" name="Text 11"/>
          <p:cNvSpPr/>
          <p:nvPr/>
        </p:nvSpPr>
        <p:spPr>
          <a:xfrm>
            <a:off x="594360" y="4114800"/>
            <a:ext cx="1737360" cy="594360"/>
          </a:xfrm>
          <a:prstGeom prst="rect">
            <a:avLst/>
          </a:prstGeom>
          <a:noFill/>
          <a:ln/>
        </p:spPr>
        <p:txBody>
          <a:bodyPr wrap="square" lIns="0" tIns="0" rIns="0" bIns="0" rtlCol="0" anchor="ctr"/>
          <a:lstStyle/>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Не враховує часову динаміку</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Не моделює послідовних взаємодій</a:t>
            </a:r>
            <a:endParaRPr lang="en-US" sz="900" dirty="0"/>
          </a:p>
        </p:txBody>
      </p:sp>
      <p:sp>
        <p:nvSpPr>
          <p:cNvPr id="15" name="Shape 12"/>
          <p:cNvSpPr/>
          <p:nvPr/>
        </p:nvSpPr>
        <p:spPr>
          <a:xfrm>
            <a:off x="2587752" y="1920240"/>
            <a:ext cx="2011680" cy="27889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6" name="Shape 13"/>
          <p:cNvSpPr/>
          <p:nvPr/>
        </p:nvSpPr>
        <p:spPr>
          <a:xfrm>
            <a:off x="2587752" y="1920240"/>
            <a:ext cx="2011680" cy="54864"/>
          </a:xfrm>
          <a:prstGeom prst="rect">
            <a:avLst/>
          </a:prstGeom>
          <a:solidFill>
            <a:srgbClr val="20B7D1"/>
          </a:solidFill>
          <a:ln w="12700">
            <a:solidFill>
              <a:srgbClr val="20B7D1"/>
            </a:solidFill>
            <a:prstDash val="solid"/>
          </a:ln>
        </p:spPr>
        <p:txBody>
          <a:bodyPr/>
          <a:lstStyle/>
          <a:p>
            <a:endParaRPr lang="uk-UA"/>
          </a:p>
        </p:txBody>
      </p:sp>
      <p:sp>
        <p:nvSpPr>
          <p:cNvPr id="17" name="Shape 14"/>
          <p:cNvSpPr/>
          <p:nvPr/>
        </p:nvSpPr>
        <p:spPr>
          <a:xfrm>
            <a:off x="3342132" y="2084832"/>
            <a:ext cx="502920" cy="502920"/>
          </a:xfrm>
          <a:prstGeom prst="ellipse">
            <a:avLst/>
          </a:prstGeom>
          <a:solidFill>
            <a:srgbClr val="D6F1F7"/>
          </a:solidFill>
          <a:ln w="12700">
            <a:solidFill>
              <a:srgbClr val="D6F1F7"/>
            </a:solidFill>
            <a:prstDash val="solid"/>
          </a:ln>
        </p:spPr>
        <p:txBody>
          <a:bodyPr/>
          <a:lstStyle/>
          <a:p>
            <a:endParaRPr lang="uk-UA"/>
          </a:p>
        </p:txBody>
      </p:sp>
      <p:pic>
        <p:nvPicPr>
          <p:cNvPr id="18" name="Image 1" descr="figs/icon_agree.png"/>
          <p:cNvPicPr>
            <a:picLocks noChangeAspect="1"/>
          </p:cNvPicPr>
          <p:nvPr/>
        </p:nvPicPr>
        <p:blipFill>
          <a:blip r:embed="rId4"/>
          <a:stretch>
            <a:fillRect/>
          </a:stretch>
        </p:blipFill>
        <p:spPr>
          <a:xfrm>
            <a:off x="3432658" y="2175358"/>
            <a:ext cx="321869" cy="321869"/>
          </a:xfrm>
          <a:prstGeom prst="rect">
            <a:avLst/>
          </a:prstGeom>
        </p:spPr>
      </p:pic>
      <p:sp>
        <p:nvSpPr>
          <p:cNvPr id="19" name="Text 15"/>
          <p:cNvSpPr/>
          <p:nvPr/>
        </p:nvSpPr>
        <p:spPr>
          <a:xfrm>
            <a:off x="2587752" y="2670048"/>
            <a:ext cx="2011680" cy="274320"/>
          </a:xfrm>
          <a:prstGeom prst="rect">
            <a:avLst/>
          </a:prstGeom>
          <a:noFill/>
          <a:ln/>
        </p:spPr>
        <p:txBody>
          <a:bodyPr wrap="square" lIns="0" tIns="0" rIns="0" bIns="0" rtlCol="0" anchor="ctr"/>
          <a:lstStyle/>
          <a:p>
            <a:pPr marL="0" indent="0" algn="ctr">
              <a:buNone/>
            </a:pPr>
            <a:r>
              <a:rPr lang="en-US" sz="1400" b="1" dirty="0">
                <a:solidFill>
                  <a:srgbClr val="0F1A35"/>
                </a:solidFill>
                <a:latin typeface="Calibri" pitchFamily="34" charset="0"/>
                <a:ea typeface="Calibri" pitchFamily="34" charset="-122"/>
                <a:cs typeface="Calibri" pitchFamily="34" charset="-120"/>
              </a:rPr>
              <a:t>AGREE</a:t>
            </a:r>
            <a:endParaRPr lang="en-US" sz="1400" dirty="0"/>
          </a:p>
        </p:txBody>
      </p:sp>
      <p:sp>
        <p:nvSpPr>
          <p:cNvPr id="20" name="Text 16"/>
          <p:cNvSpPr/>
          <p:nvPr/>
        </p:nvSpPr>
        <p:spPr>
          <a:xfrm>
            <a:off x="2724912" y="2999232"/>
            <a:ext cx="1737360" cy="182880"/>
          </a:xfrm>
          <a:prstGeom prst="rect">
            <a:avLst/>
          </a:prstGeom>
          <a:noFill/>
          <a:ln/>
        </p:spPr>
        <p:txBody>
          <a:bodyPr wrap="square" lIns="0" tIns="0" rIns="0" bIns="0" rtlCol="0" anchor="ctr"/>
          <a:lstStyle/>
          <a:p>
            <a:pPr marL="0" indent="0">
              <a:buNone/>
            </a:pPr>
            <a:r>
              <a:rPr lang="en-US" sz="800" b="1" kern="0" spc="300" dirty="0">
                <a:solidFill>
                  <a:srgbClr val="21C97A"/>
                </a:solidFill>
                <a:latin typeface="Calibri" pitchFamily="34" charset="0"/>
                <a:ea typeface="Calibri" pitchFamily="34" charset="-122"/>
                <a:cs typeface="Calibri" pitchFamily="34" charset="-120"/>
              </a:rPr>
              <a:t>ПЕРЕВАГИ</a:t>
            </a:r>
            <a:endParaRPr lang="en-US" sz="800" dirty="0"/>
          </a:p>
        </p:txBody>
      </p:sp>
      <p:sp>
        <p:nvSpPr>
          <p:cNvPr id="21" name="Text 17"/>
          <p:cNvSpPr/>
          <p:nvPr/>
        </p:nvSpPr>
        <p:spPr>
          <a:xfrm>
            <a:off x="2724912" y="3163824"/>
            <a:ext cx="1737360" cy="777240"/>
          </a:xfrm>
          <a:prstGeom prst="rect">
            <a:avLst/>
          </a:prstGeom>
          <a:noFill/>
          <a:ln/>
        </p:spPr>
        <p:txBody>
          <a:bodyPr wrap="square" lIns="0" tIns="0" rIns="0" bIns="0" rtlCol="0" anchor="ctr"/>
          <a:lstStyle/>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Гнучке формування представлення</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Динамічний внесок учасників</a:t>
            </a:r>
            <a:endParaRPr lang="en-US" sz="900" dirty="0"/>
          </a:p>
        </p:txBody>
      </p:sp>
      <p:sp>
        <p:nvSpPr>
          <p:cNvPr id="22" name="Text 18"/>
          <p:cNvSpPr/>
          <p:nvPr/>
        </p:nvSpPr>
        <p:spPr>
          <a:xfrm>
            <a:off x="2724912" y="3931920"/>
            <a:ext cx="1737360" cy="182880"/>
          </a:xfrm>
          <a:prstGeom prst="rect">
            <a:avLst/>
          </a:prstGeom>
          <a:noFill/>
          <a:ln/>
        </p:spPr>
        <p:txBody>
          <a:bodyPr wrap="square" lIns="0" tIns="0" rIns="0" bIns="0" rtlCol="0" anchor="ctr"/>
          <a:lstStyle/>
          <a:p>
            <a:pPr marL="0" indent="0">
              <a:buNone/>
            </a:pPr>
            <a:r>
              <a:rPr lang="en-US" sz="800" b="1" kern="0" spc="300" dirty="0">
                <a:solidFill>
                  <a:srgbClr val="E84855"/>
                </a:solidFill>
                <a:latin typeface="Calibri" pitchFamily="34" charset="0"/>
                <a:ea typeface="Calibri" pitchFamily="34" charset="-122"/>
                <a:cs typeface="Calibri" pitchFamily="34" charset="-120"/>
              </a:rPr>
              <a:t>ОБМЕЖЕННЯ</a:t>
            </a:r>
            <a:endParaRPr lang="en-US" sz="800" dirty="0"/>
          </a:p>
        </p:txBody>
      </p:sp>
      <p:sp>
        <p:nvSpPr>
          <p:cNvPr id="23" name="Text 19"/>
          <p:cNvSpPr/>
          <p:nvPr/>
        </p:nvSpPr>
        <p:spPr>
          <a:xfrm>
            <a:off x="2724912" y="4114800"/>
            <a:ext cx="1737360" cy="594360"/>
          </a:xfrm>
          <a:prstGeom prst="rect">
            <a:avLst/>
          </a:prstGeom>
          <a:noFill/>
          <a:ln/>
        </p:spPr>
        <p:txBody>
          <a:bodyPr wrap="square" lIns="0" tIns="0" rIns="0" bIns="0" rtlCol="0" anchor="ctr"/>
          <a:lstStyle/>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Орієнтація на статичне подання</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Без довгострокового ефекту</a:t>
            </a:r>
            <a:endParaRPr lang="en-US" sz="900" dirty="0"/>
          </a:p>
        </p:txBody>
      </p:sp>
      <p:sp>
        <p:nvSpPr>
          <p:cNvPr id="24" name="Shape 20"/>
          <p:cNvSpPr/>
          <p:nvPr/>
        </p:nvSpPr>
        <p:spPr>
          <a:xfrm>
            <a:off x="4718304" y="1920240"/>
            <a:ext cx="2011680" cy="27889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5" name="Shape 21"/>
          <p:cNvSpPr/>
          <p:nvPr/>
        </p:nvSpPr>
        <p:spPr>
          <a:xfrm>
            <a:off x="4718304" y="1920240"/>
            <a:ext cx="2011680" cy="54864"/>
          </a:xfrm>
          <a:prstGeom prst="rect">
            <a:avLst/>
          </a:prstGeom>
          <a:solidFill>
            <a:srgbClr val="F0A93B"/>
          </a:solidFill>
          <a:ln w="12700">
            <a:solidFill>
              <a:srgbClr val="F0A93B"/>
            </a:solidFill>
            <a:prstDash val="solid"/>
          </a:ln>
        </p:spPr>
        <p:txBody>
          <a:bodyPr/>
          <a:lstStyle/>
          <a:p>
            <a:endParaRPr lang="uk-UA"/>
          </a:p>
        </p:txBody>
      </p:sp>
      <p:sp>
        <p:nvSpPr>
          <p:cNvPr id="26" name="Shape 22"/>
          <p:cNvSpPr/>
          <p:nvPr/>
        </p:nvSpPr>
        <p:spPr>
          <a:xfrm>
            <a:off x="5472684" y="2084832"/>
            <a:ext cx="502920" cy="502920"/>
          </a:xfrm>
          <a:prstGeom prst="ellipse">
            <a:avLst/>
          </a:prstGeom>
          <a:solidFill>
            <a:srgbClr val="FBE9CD"/>
          </a:solidFill>
          <a:ln w="12700">
            <a:solidFill>
              <a:srgbClr val="FBE9CD"/>
            </a:solidFill>
            <a:prstDash val="solid"/>
          </a:ln>
        </p:spPr>
        <p:txBody>
          <a:bodyPr/>
          <a:lstStyle/>
          <a:p>
            <a:endParaRPr lang="uk-UA"/>
          </a:p>
        </p:txBody>
      </p:sp>
      <p:pic>
        <p:nvPicPr>
          <p:cNvPr id="27" name="Image 2" descr="figs/icon_groupim.png"/>
          <p:cNvPicPr>
            <a:picLocks noChangeAspect="1"/>
          </p:cNvPicPr>
          <p:nvPr/>
        </p:nvPicPr>
        <p:blipFill>
          <a:blip r:embed="rId5"/>
          <a:stretch>
            <a:fillRect/>
          </a:stretch>
        </p:blipFill>
        <p:spPr>
          <a:xfrm>
            <a:off x="5563210" y="2175358"/>
            <a:ext cx="321869" cy="321869"/>
          </a:xfrm>
          <a:prstGeom prst="rect">
            <a:avLst/>
          </a:prstGeom>
        </p:spPr>
      </p:pic>
      <p:sp>
        <p:nvSpPr>
          <p:cNvPr id="28" name="Text 23"/>
          <p:cNvSpPr/>
          <p:nvPr/>
        </p:nvSpPr>
        <p:spPr>
          <a:xfrm>
            <a:off x="4718304" y="2670048"/>
            <a:ext cx="2011680" cy="274320"/>
          </a:xfrm>
          <a:prstGeom prst="rect">
            <a:avLst/>
          </a:prstGeom>
          <a:noFill/>
          <a:ln/>
        </p:spPr>
        <p:txBody>
          <a:bodyPr wrap="square" lIns="0" tIns="0" rIns="0" bIns="0" rtlCol="0" anchor="ctr"/>
          <a:lstStyle/>
          <a:p>
            <a:pPr marL="0" indent="0" algn="ctr">
              <a:buNone/>
            </a:pPr>
            <a:r>
              <a:rPr lang="en-US" sz="1400" b="1" dirty="0">
                <a:solidFill>
                  <a:srgbClr val="0F1A35"/>
                </a:solidFill>
                <a:latin typeface="Calibri" pitchFamily="34" charset="0"/>
                <a:ea typeface="Calibri" pitchFamily="34" charset="-122"/>
                <a:cs typeface="Calibri" pitchFamily="34" charset="-120"/>
              </a:rPr>
              <a:t>GroupIM</a:t>
            </a:r>
            <a:endParaRPr lang="en-US" sz="1400" dirty="0"/>
          </a:p>
        </p:txBody>
      </p:sp>
      <p:sp>
        <p:nvSpPr>
          <p:cNvPr id="29" name="Text 24"/>
          <p:cNvSpPr/>
          <p:nvPr/>
        </p:nvSpPr>
        <p:spPr>
          <a:xfrm>
            <a:off x="4855464" y="2999232"/>
            <a:ext cx="1737360" cy="182880"/>
          </a:xfrm>
          <a:prstGeom prst="rect">
            <a:avLst/>
          </a:prstGeom>
          <a:noFill/>
          <a:ln/>
        </p:spPr>
        <p:txBody>
          <a:bodyPr wrap="square" lIns="0" tIns="0" rIns="0" bIns="0" rtlCol="0" anchor="ctr"/>
          <a:lstStyle/>
          <a:p>
            <a:pPr marL="0" indent="0">
              <a:buNone/>
            </a:pPr>
            <a:r>
              <a:rPr lang="en-US" sz="800" b="1" kern="0" spc="300" dirty="0">
                <a:solidFill>
                  <a:srgbClr val="21C97A"/>
                </a:solidFill>
                <a:latin typeface="Calibri" pitchFamily="34" charset="0"/>
                <a:ea typeface="Calibri" pitchFamily="34" charset="-122"/>
                <a:cs typeface="Calibri" pitchFamily="34" charset="-120"/>
              </a:rPr>
              <a:t>ПЕРЕВАГИ</a:t>
            </a:r>
            <a:endParaRPr lang="en-US" sz="800" dirty="0"/>
          </a:p>
        </p:txBody>
      </p:sp>
      <p:sp>
        <p:nvSpPr>
          <p:cNvPr id="30" name="Text 25"/>
          <p:cNvSpPr/>
          <p:nvPr/>
        </p:nvSpPr>
        <p:spPr>
          <a:xfrm>
            <a:off x="4855464" y="3163824"/>
            <a:ext cx="1737360" cy="777240"/>
          </a:xfrm>
          <a:prstGeom prst="rect">
            <a:avLst/>
          </a:prstGeom>
          <a:noFill/>
          <a:ln/>
        </p:spPr>
        <p:txBody>
          <a:bodyPr wrap="square" lIns="0" tIns="0" rIns="0" bIns="0" rtlCol="0" anchor="ctr"/>
          <a:lstStyle/>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Враховує індивідуальні вподобання</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Стійка при нестачі взаємодій</a:t>
            </a:r>
            <a:endParaRPr lang="en-US" sz="900" dirty="0"/>
          </a:p>
        </p:txBody>
      </p:sp>
      <p:sp>
        <p:nvSpPr>
          <p:cNvPr id="31" name="Text 26"/>
          <p:cNvSpPr/>
          <p:nvPr/>
        </p:nvSpPr>
        <p:spPr>
          <a:xfrm>
            <a:off x="4855464" y="3931920"/>
            <a:ext cx="1737360" cy="182880"/>
          </a:xfrm>
          <a:prstGeom prst="rect">
            <a:avLst/>
          </a:prstGeom>
          <a:noFill/>
          <a:ln/>
        </p:spPr>
        <p:txBody>
          <a:bodyPr wrap="square" lIns="0" tIns="0" rIns="0" bIns="0" rtlCol="0" anchor="ctr"/>
          <a:lstStyle/>
          <a:p>
            <a:pPr marL="0" indent="0">
              <a:buNone/>
            </a:pPr>
            <a:r>
              <a:rPr lang="en-US" sz="800" b="1" kern="0" spc="300" dirty="0">
                <a:solidFill>
                  <a:srgbClr val="E84855"/>
                </a:solidFill>
                <a:latin typeface="Calibri" pitchFamily="34" charset="0"/>
                <a:ea typeface="Calibri" pitchFamily="34" charset="-122"/>
                <a:cs typeface="Calibri" pitchFamily="34" charset="-120"/>
              </a:rPr>
              <a:t>ОБМЕЖЕННЯ</a:t>
            </a:r>
            <a:endParaRPr lang="en-US" sz="800" dirty="0"/>
          </a:p>
        </p:txBody>
      </p:sp>
      <p:sp>
        <p:nvSpPr>
          <p:cNvPr id="32" name="Text 27"/>
          <p:cNvSpPr/>
          <p:nvPr/>
        </p:nvSpPr>
        <p:spPr>
          <a:xfrm>
            <a:off x="4855464" y="4114800"/>
            <a:ext cx="1737360" cy="594360"/>
          </a:xfrm>
          <a:prstGeom prst="rect">
            <a:avLst/>
          </a:prstGeom>
          <a:noFill/>
          <a:ln/>
        </p:spPr>
        <p:txBody>
          <a:bodyPr wrap="square" lIns="0" tIns="0" rIns="0" bIns="0" rtlCol="0" anchor="ctr"/>
          <a:lstStyle/>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Не моделює часову динаміку</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Чутлива до регуляризації</a:t>
            </a:r>
            <a:endParaRPr lang="en-US" sz="900" dirty="0"/>
          </a:p>
        </p:txBody>
      </p:sp>
      <p:sp>
        <p:nvSpPr>
          <p:cNvPr id="33" name="Shape 28"/>
          <p:cNvSpPr/>
          <p:nvPr/>
        </p:nvSpPr>
        <p:spPr>
          <a:xfrm>
            <a:off x="6848856" y="1920240"/>
            <a:ext cx="2011680" cy="27889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34" name="Shape 29"/>
          <p:cNvSpPr/>
          <p:nvPr/>
        </p:nvSpPr>
        <p:spPr>
          <a:xfrm>
            <a:off x="6848856" y="1920240"/>
            <a:ext cx="2011680" cy="54864"/>
          </a:xfrm>
          <a:prstGeom prst="rect">
            <a:avLst/>
          </a:prstGeom>
          <a:solidFill>
            <a:srgbClr val="21C97A"/>
          </a:solidFill>
          <a:ln w="12700">
            <a:solidFill>
              <a:srgbClr val="21C97A"/>
            </a:solidFill>
            <a:prstDash val="solid"/>
          </a:ln>
        </p:spPr>
        <p:txBody>
          <a:bodyPr/>
          <a:lstStyle/>
          <a:p>
            <a:endParaRPr lang="uk-UA"/>
          </a:p>
        </p:txBody>
      </p:sp>
      <p:sp>
        <p:nvSpPr>
          <p:cNvPr id="35" name="Shape 30"/>
          <p:cNvSpPr/>
          <p:nvPr/>
        </p:nvSpPr>
        <p:spPr>
          <a:xfrm>
            <a:off x="7603236" y="2084832"/>
            <a:ext cx="502920" cy="502920"/>
          </a:xfrm>
          <a:prstGeom prst="ellipse">
            <a:avLst/>
          </a:prstGeom>
          <a:solidFill>
            <a:srgbClr val="DAF5E7"/>
          </a:solidFill>
          <a:ln w="12700">
            <a:solidFill>
              <a:srgbClr val="DAF5E7"/>
            </a:solidFill>
            <a:prstDash val="solid"/>
          </a:ln>
        </p:spPr>
        <p:txBody>
          <a:bodyPr/>
          <a:lstStyle/>
          <a:p>
            <a:endParaRPr lang="uk-UA"/>
          </a:p>
        </p:txBody>
      </p:sp>
      <p:pic>
        <p:nvPicPr>
          <p:cNvPr id="36" name="Image 3" descr="figs/icon_drgr.png"/>
          <p:cNvPicPr>
            <a:picLocks noChangeAspect="1"/>
          </p:cNvPicPr>
          <p:nvPr/>
        </p:nvPicPr>
        <p:blipFill>
          <a:blip r:embed="rId6"/>
          <a:stretch>
            <a:fillRect/>
          </a:stretch>
        </p:blipFill>
        <p:spPr>
          <a:xfrm>
            <a:off x="7693762" y="2175358"/>
            <a:ext cx="321869" cy="321869"/>
          </a:xfrm>
          <a:prstGeom prst="rect">
            <a:avLst/>
          </a:prstGeom>
        </p:spPr>
      </p:pic>
      <p:sp>
        <p:nvSpPr>
          <p:cNvPr id="37" name="Text 31"/>
          <p:cNvSpPr/>
          <p:nvPr/>
        </p:nvSpPr>
        <p:spPr>
          <a:xfrm>
            <a:off x="6848856" y="2670048"/>
            <a:ext cx="2011680" cy="274320"/>
          </a:xfrm>
          <a:prstGeom prst="rect">
            <a:avLst/>
          </a:prstGeom>
          <a:noFill/>
          <a:ln/>
        </p:spPr>
        <p:txBody>
          <a:bodyPr wrap="square" lIns="0" tIns="0" rIns="0" bIns="0" rtlCol="0" anchor="ctr"/>
          <a:lstStyle/>
          <a:p>
            <a:pPr marL="0" indent="0" algn="ctr">
              <a:buNone/>
            </a:pPr>
            <a:r>
              <a:rPr lang="en-US" sz="1400" b="1" dirty="0">
                <a:solidFill>
                  <a:srgbClr val="0F1A35"/>
                </a:solidFill>
                <a:latin typeface="Calibri" pitchFamily="34" charset="0"/>
                <a:ea typeface="Calibri" pitchFamily="34" charset="-122"/>
                <a:cs typeface="Calibri" pitchFamily="34" charset="-120"/>
              </a:rPr>
              <a:t>DRGR</a:t>
            </a:r>
            <a:endParaRPr lang="en-US" sz="1400" dirty="0"/>
          </a:p>
        </p:txBody>
      </p:sp>
      <p:sp>
        <p:nvSpPr>
          <p:cNvPr id="38" name="Text 32"/>
          <p:cNvSpPr/>
          <p:nvPr/>
        </p:nvSpPr>
        <p:spPr>
          <a:xfrm>
            <a:off x="6986016" y="2999232"/>
            <a:ext cx="1737360" cy="182880"/>
          </a:xfrm>
          <a:prstGeom prst="rect">
            <a:avLst/>
          </a:prstGeom>
          <a:noFill/>
          <a:ln/>
        </p:spPr>
        <p:txBody>
          <a:bodyPr wrap="square" lIns="0" tIns="0" rIns="0" bIns="0" rtlCol="0" anchor="ctr"/>
          <a:lstStyle/>
          <a:p>
            <a:pPr marL="0" indent="0">
              <a:buNone/>
            </a:pPr>
            <a:r>
              <a:rPr lang="en-US" sz="800" b="1" kern="0" spc="300" dirty="0">
                <a:solidFill>
                  <a:srgbClr val="21C97A"/>
                </a:solidFill>
                <a:latin typeface="Calibri" pitchFamily="34" charset="0"/>
                <a:ea typeface="Calibri" pitchFamily="34" charset="-122"/>
                <a:cs typeface="Calibri" pitchFamily="34" charset="-120"/>
              </a:rPr>
              <a:t>ПЕРЕВАГИ</a:t>
            </a:r>
            <a:endParaRPr lang="en-US" sz="800" dirty="0"/>
          </a:p>
        </p:txBody>
      </p:sp>
      <p:sp>
        <p:nvSpPr>
          <p:cNvPr id="39" name="Text 33"/>
          <p:cNvSpPr/>
          <p:nvPr/>
        </p:nvSpPr>
        <p:spPr>
          <a:xfrm>
            <a:off x="6986016" y="3163824"/>
            <a:ext cx="1737360" cy="777240"/>
          </a:xfrm>
          <a:prstGeom prst="rect">
            <a:avLst/>
          </a:prstGeom>
          <a:noFill/>
          <a:ln/>
        </p:spPr>
        <p:txBody>
          <a:bodyPr wrap="square" lIns="0" tIns="0" rIns="0" bIns="0" rtlCol="0" anchor="ctr"/>
          <a:lstStyle/>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Машинне навчання з підкріпленням</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Враховує послідовність у часі</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Моделює довгостроковий ефект</a:t>
            </a:r>
            <a:endParaRPr lang="en-US" sz="900" dirty="0"/>
          </a:p>
        </p:txBody>
      </p:sp>
      <p:sp>
        <p:nvSpPr>
          <p:cNvPr id="40" name="Text 34"/>
          <p:cNvSpPr/>
          <p:nvPr/>
        </p:nvSpPr>
        <p:spPr>
          <a:xfrm>
            <a:off x="6986016" y="3931920"/>
            <a:ext cx="1737360" cy="182880"/>
          </a:xfrm>
          <a:prstGeom prst="rect">
            <a:avLst/>
          </a:prstGeom>
          <a:noFill/>
          <a:ln/>
        </p:spPr>
        <p:txBody>
          <a:bodyPr wrap="square" lIns="0" tIns="0" rIns="0" bIns="0" rtlCol="0" anchor="ctr"/>
          <a:lstStyle/>
          <a:p>
            <a:pPr marL="0" indent="0">
              <a:buNone/>
            </a:pPr>
            <a:r>
              <a:rPr lang="en-US" sz="800" b="1" kern="0" spc="300" dirty="0">
                <a:solidFill>
                  <a:srgbClr val="E84855"/>
                </a:solidFill>
                <a:latin typeface="Calibri" pitchFamily="34" charset="0"/>
                <a:ea typeface="Calibri" pitchFamily="34" charset="-122"/>
                <a:cs typeface="Calibri" pitchFamily="34" charset="-120"/>
              </a:rPr>
              <a:t>ОБМЕЖЕННЯ</a:t>
            </a:r>
            <a:endParaRPr lang="en-US" sz="800" dirty="0"/>
          </a:p>
        </p:txBody>
      </p:sp>
      <p:sp>
        <p:nvSpPr>
          <p:cNvPr id="41" name="Text 35"/>
          <p:cNvSpPr/>
          <p:nvPr/>
        </p:nvSpPr>
        <p:spPr>
          <a:xfrm>
            <a:off x="6986016" y="4114800"/>
            <a:ext cx="1737360" cy="594360"/>
          </a:xfrm>
          <a:prstGeom prst="rect">
            <a:avLst/>
          </a:prstGeom>
          <a:noFill/>
          <a:ln/>
        </p:spPr>
        <p:txBody>
          <a:bodyPr wrap="square" lIns="0" tIns="0" rIns="0" bIns="0" rtlCol="0" anchor="ctr"/>
          <a:lstStyle/>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Спрощене формування стану групи</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Залежність від підготовки даних</a:t>
            </a:r>
            <a:endParaRPr lang="en-US" sz="900" dirty="0"/>
          </a:p>
        </p:txBody>
      </p:sp>
      <p:sp>
        <p:nvSpPr>
          <p:cNvPr id="43" name="Shape 36"/>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44" name="Text 37"/>
          <p:cNvSpPr/>
          <p:nvPr/>
        </p:nvSpPr>
        <p:spPr>
          <a:xfrm>
            <a:off x="457200" y="4901184"/>
            <a:ext cx="6858000" cy="228600"/>
          </a:xfrm>
          <a:prstGeom prst="rect">
            <a:avLst/>
          </a:prstGeom>
          <a:noFill/>
          <a:ln/>
        </p:spPr>
        <p:txBody>
          <a:bodyPr wrap="square" lIns="0" tIns="0" rIns="0" bIns="0" rtlCol="0" anchor="ctr"/>
          <a:lstStyle/>
          <a:p>
            <a:pPr marL="0" indent="0">
              <a:buNone/>
            </a:pPr>
            <a:r>
              <a:rPr lang="en-US" sz="90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ML з підкріпленням</a:t>
            </a:r>
            <a:endParaRPr lang="en-US" sz="900" dirty="0"/>
          </a:p>
        </p:txBody>
      </p:sp>
      <p:sp>
        <p:nvSpPr>
          <p:cNvPr id="45" name="Text 38"/>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03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ТЕОРЕТИЧНА ОСНОВА</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Машинне навчання з підкріпленням</a:t>
            </a:r>
            <a:endParaRPr lang="en-US" sz="2800" dirty="0"/>
          </a:p>
        </p:txBody>
      </p:sp>
      <p:sp>
        <p:nvSpPr>
          <p:cNvPr id="5" name="Shape 3"/>
          <p:cNvSpPr/>
          <p:nvPr/>
        </p:nvSpPr>
        <p:spPr>
          <a:xfrm>
            <a:off x="457200" y="1417320"/>
            <a:ext cx="4206240" cy="14173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417320"/>
            <a:ext cx="64008" cy="1417320"/>
          </a:xfrm>
          <a:prstGeom prst="rect">
            <a:avLst/>
          </a:prstGeom>
          <a:solidFill>
            <a:srgbClr val="2C5BD8"/>
          </a:solidFill>
          <a:ln w="12700">
            <a:solidFill>
              <a:srgbClr val="2C5BD8"/>
            </a:solidFill>
            <a:prstDash val="solid"/>
          </a:ln>
        </p:spPr>
        <p:txBody>
          <a:bodyPr/>
          <a:lstStyle/>
          <a:p>
            <a:endParaRPr lang="uk-UA"/>
          </a:p>
        </p:txBody>
      </p:sp>
      <p:sp>
        <p:nvSpPr>
          <p:cNvPr id="7" name="Shape 5"/>
          <p:cNvSpPr/>
          <p:nvPr/>
        </p:nvSpPr>
        <p:spPr>
          <a:xfrm>
            <a:off x="640080" y="1600200"/>
            <a:ext cx="411480" cy="411480"/>
          </a:xfrm>
          <a:prstGeom prst="ellipse">
            <a:avLst/>
          </a:prstGeom>
          <a:solidFill>
            <a:srgbClr val="E8F0FE"/>
          </a:solidFill>
          <a:ln w="12700">
            <a:solidFill>
              <a:srgbClr val="E8F0FE"/>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742950" y="1703070"/>
            <a:ext cx="205740" cy="205740"/>
          </a:xfrm>
          <a:prstGeom prst="rect">
            <a:avLst/>
          </a:prstGeom>
        </p:spPr>
      </p:pic>
      <p:sp>
        <p:nvSpPr>
          <p:cNvPr id="9" name="Text 6"/>
          <p:cNvSpPr/>
          <p:nvPr/>
        </p:nvSpPr>
        <p:spPr>
          <a:xfrm>
            <a:off x="1234440" y="1600200"/>
            <a:ext cx="3291840" cy="274320"/>
          </a:xfrm>
          <a:prstGeom prst="rect">
            <a:avLst/>
          </a:prstGeom>
          <a:noFill/>
          <a:ln/>
        </p:spPr>
        <p:txBody>
          <a:bodyPr wrap="square" lIns="0" tIns="0" rIns="0" bIns="0" rtlCol="0" anchor="ctr"/>
          <a:lstStyle/>
          <a:p>
            <a:pPr marL="0" indent="0">
              <a:buNone/>
            </a:pPr>
            <a:r>
              <a:rPr lang="en-US" sz="1200" b="1" dirty="0">
                <a:solidFill>
                  <a:srgbClr val="2C5BD8"/>
                </a:solidFill>
                <a:latin typeface="Calibri" pitchFamily="34" charset="0"/>
                <a:ea typeface="Calibri" pitchFamily="34" charset="-122"/>
                <a:cs typeface="Calibri" pitchFamily="34" charset="-120"/>
              </a:rPr>
              <a:t>Визначення</a:t>
            </a:r>
            <a:endParaRPr lang="en-US" sz="1200" dirty="0"/>
          </a:p>
        </p:txBody>
      </p:sp>
      <p:sp>
        <p:nvSpPr>
          <p:cNvPr id="10" name="Text 7"/>
          <p:cNvSpPr/>
          <p:nvPr/>
        </p:nvSpPr>
        <p:spPr>
          <a:xfrm>
            <a:off x="640080" y="2103120"/>
            <a:ext cx="3840480" cy="68580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Процес навчання з підкріпленням формалізується як процес прийняття рішень Маркова. Система — це агент, який взаємодіє з середовищем, отримуючи винагороду за вдалі рекомендації.</a:t>
            </a:r>
            <a:endParaRPr lang="en-US" sz="1000" dirty="0"/>
          </a:p>
        </p:txBody>
      </p:sp>
      <p:sp>
        <p:nvSpPr>
          <p:cNvPr id="11" name="Shape 8"/>
          <p:cNvSpPr/>
          <p:nvPr/>
        </p:nvSpPr>
        <p:spPr>
          <a:xfrm>
            <a:off x="457200" y="2926080"/>
            <a:ext cx="1920240" cy="132588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2" name="Shape 9"/>
          <p:cNvSpPr/>
          <p:nvPr/>
        </p:nvSpPr>
        <p:spPr>
          <a:xfrm>
            <a:off x="457200" y="2926080"/>
            <a:ext cx="1920240" cy="54864"/>
          </a:xfrm>
          <a:prstGeom prst="rect">
            <a:avLst/>
          </a:prstGeom>
          <a:solidFill>
            <a:srgbClr val="20B7D1"/>
          </a:solidFill>
          <a:ln w="12700">
            <a:solidFill>
              <a:srgbClr val="20B7D1"/>
            </a:solidFill>
            <a:prstDash val="solid"/>
          </a:ln>
        </p:spPr>
        <p:txBody>
          <a:bodyPr/>
          <a:lstStyle/>
          <a:p>
            <a:endParaRPr lang="uk-UA"/>
          </a:p>
        </p:txBody>
      </p:sp>
      <p:sp>
        <p:nvSpPr>
          <p:cNvPr id="13" name="Shape 10"/>
          <p:cNvSpPr/>
          <p:nvPr/>
        </p:nvSpPr>
        <p:spPr>
          <a:xfrm>
            <a:off x="1170432" y="3090672"/>
            <a:ext cx="502920" cy="502920"/>
          </a:xfrm>
          <a:prstGeom prst="ellipse">
            <a:avLst/>
          </a:prstGeom>
          <a:solidFill>
            <a:srgbClr val="D6F1F7"/>
          </a:solidFill>
          <a:ln w="12700">
            <a:solidFill>
              <a:srgbClr val="D6F1F7"/>
            </a:solidFill>
            <a:prstDash val="solid"/>
          </a:ln>
        </p:spPr>
        <p:txBody>
          <a:bodyPr/>
          <a:lstStyle/>
          <a:p>
            <a:endParaRPr lang="uk-UA"/>
          </a:p>
        </p:txBody>
      </p:sp>
      <p:pic>
        <p:nvPicPr>
          <p:cNvPr id="14" name="Image 1" descr="preencoded.png"/>
          <p:cNvPicPr>
            <a:picLocks noChangeAspect="1"/>
          </p:cNvPicPr>
          <p:nvPr/>
        </p:nvPicPr>
        <p:blipFill>
          <a:blip r:embed="rId4"/>
          <a:stretch>
            <a:fillRect/>
          </a:stretch>
        </p:blipFill>
        <p:spPr>
          <a:xfrm>
            <a:off x="1296162" y="3216402"/>
            <a:ext cx="251460" cy="251460"/>
          </a:xfrm>
          <a:prstGeom prst="rect">
            <a:avLst/>
          </a:prstGeom>
        </p:spPr>
      </p:pic>
      <p:sp>
        <p:nvSpPr>
          <p:cNvPr id="15" name="Text 11"/>
          <p:cNvSpPr/>
          <p:nvPr/>
        </p:nvSpPr>
        <p:spPr>
          <a:xfrm>
            <a:off x="457200" y="3639312"/>
            <a:ext cx="1920240" cy="256032"/>
          </a:xfrm>
          <a:prstGeom prst="rect">
            <a:avLst/>
          </a:prstGeom>
          <a:noFill/>
          <a:ln/>
        </p:spPr>
        <p:txBody>
          <a:bodyPr wrap="square" lIns="0" tIns="0" rIns="0" bIns="0" rtlCol="0" anchor="ctr"/>
          <a:lstStyle/>
          <a:p>
            <a:pPr marL="0" indent="0" algn="ctr">
              <a:buNone/>
            </a:pPr>
            <a:r>
              <a:rPr lang="en-US" sz="1200" b="1" dirty="0">
                <a:solidFill>
                  <a:srgbClr val="0F1A35"/>
                </a:solidFill>
                <a:latin typeface="Calibri" pitchFamily="34" charset="0"/>
                <a:ea typeface="Calibri" pitchFamily="34" charset="-122"/>
                <a:cs typeface="Calibri" pitchFamily="34" charset="-120"/>
              </a:rPr>
              <a:t>Агент</a:t>
            </a:r>
            <a:endParaRPr lang="en-US" sz="1200" dirty="0"/>
          </a:p>
        </p:txBody>
      </p:sp>
      <p:sp>
        <p:nvSpPr>
          <p:cNvPr id="16" name="Text 12"/>
          <p:cNvSpPr/>
          <p:nvPr/>
        </p:nvSpPr>
        <p:spPr>
          <a:xfrm>
            <a:off x="548640" y="3886200"/>
            <a:ext cx="1737360" cy="365760"/>
          </a:xfrm>
          <a:prstGeom prst="rect">
            <a:avLst/>
          </a:prstGeom>
          <a:noFill/>
          <a:ln/>
        </p:spPr>
        <p:txBody>
          <a:bodyPr wrap="square" lIns="0" tIns="0" rIns="0" bIns="0" rtlCol="0" anchor="ctr"/>
          <a:lstStyle/>
          <a:p>
            <a:pPr marL="0" indent="0" algn="ctr">
              <a:buNone/>
            </a:pPr>
            <a:r>
              <a:rPr lang="en-US" sz="900" dirty="0">
                <a:solidFill>
                  <a:srgbClr val="687891"/>
                </a:solidFill>
                <a:latin typeface="Calibri" pitchFamily="34" charset="0"/>
                <a:ea typeface="Calibri" pitchFamily="34" charset="-122"/>
                <a:cs typeface="Calibri" pitchFamily="34" charset="-120"/>
              </a:rPr>
              <a:t>Рекомендаційна система,</a:t>
            </a:r>
            <a:endParaRPr lang="en-US" sz="900" dirty="0"/>
          </a:p>
          <a:p>
            <a:pPr marL="0" indent="0" algn="ctr">
              <a:buNone/>
            </a:pPr>
            <a:r>
              <a:rPr lang="en-US" sz="900" dirty="0">
                <a:solidFill>
                  <a:srgbClr val="687891"/>
                </a:solidFill>
                <a:latin typeface="Calibri" pitchFamily="34" charset="0"/>
                <a:ea typeface="Calibri" pitchFamily="34" charset="-122"/>
                <a:cs typeface="Calibri" pitchFamily="34" charset="-120"/>
              </a:rPr>
              <a:t>що вчиться</a:t>
            </a:r>
            <a:endParaRPr lang="en-US" sz="900" dirty="0"/>
          </a:p>
        </p:txBody>
      </p:sp>
      <p:sp>
        <p:nvSpPr>
          <p:cNvPr id="17" name="Shape 13"/>
          <p:cNvSpPr/>
          <p:nvPr/>
        </p:nvSpPr>
        <p:spPr>
          <a:xfrm>
            <a:off x="2468880" y="3429000"/>
            <a:ext cx="365760" cy="320040"/>
          </a:xfrm>
          <a:prstGeom prst="rightArrow">
            <a:avLst/>
          </a:prstGeom>
          <a:solidFill>
            <a:srgbClr val="2C5BD8"/>
          </a:solidFill>
          <a:ln w="12700">
            <a:solidFill>
              <a:srgbClr val="2C5BD8"/>
            </a:solidFill>
            <a:prstDash val="solid"/>
          </a:ln>
        </p:spPr>
        <p:txBody>
          <a:bodyPr/>
          <a:lstStyle/>
          <a:p>
            <a:endParaRPr lang="uk-UA"/>
          </a:p>
        </p:txBody>
      </p:sp>
      <p:sp>
        <p:nvSpPr>
          <p:cNvPr id="18" name="Text 14"/>
          <p:cNvSpPr/>
          <p:nvPr/>
        </p:nvSpPr>
        <p:spPr>
          <a:xfrm>
            <a:off x="2377440" y="3200400"/>
            <a:ext cx="548640" cy="228600"/>
          </a:xfrm>
          <a:prstGeom prst="rect">
            <a:avLst/>
          </a:prstGeom>
          <a:noFill/>
          <a:ln/>
        </p:spPr>
        <p:txBody>
          <a:bodyPr wrap="square" lIns="0" tIns="0" rIns="0" bIns="0" rtlCol="0" anchor="ctr"/>
          <a:lstStyle/>
          <a:p>
            <a:pPr marL="0" indent="0" algn="ctr">
              <a:buNone/>
            </a:pPr>
            <a:r>
              <a:rPr lang="en-US" sz="900" i="1" dirty="0">
                <a:solidFill>
                  <a:srgbClr val="2C5BD8"/>
                </a:solidFill>
                <a:latin typeface="Calibri" pitchFamily="34" charset="0"/>
                <a:ea typeface="Calibri" pitchFamily="34" charset="-122"/>
                <a:cs typeface="Calibri" pitchFamily="34" charset="-120"/>
              </a:rPr>
              <a:t>дія</a:t>
            </a:r>
            <a:endParaRPr lang="en-US" sz="900" dirty="0"/>
          </a:p>
        </p:txBody>
      </p:sp>
      <p:sp>
        <p:nvSpPr>
          <p:cNvPr id="19" name="Shape 15"/>
          <p:cNvSpPr/>
          <p:nvPr/>
        </p:nvSpPr>
        <p:spPr>
          <a:xfrm>
            <a:off x="2468880" y="3794760"/>
            <a:ext cx="365760" cy="320040"/>
          </a:xfrm>
          <a:prstGeom prst="leftArrow">
            <a:avLst/>
          </a:prstGeom>
          <a:solidFill>
            <a:srgbClr val="21C97A"/>
          </a:solidFill>
          <a:ln w="12700">
            <a:solidFill>
              <a:srgbClr val="21C97A"/>
            </a:solidFill>
            <a:prstDash val="solid"/>
          </a:ln>
        </p:spPr>
        <p:txBody>
          <a:bodyPr/>
          <a:lstStyle/>
          <a:p>
            <a:endParaRPr lang="uk-UA"/>
          </a:p>
        </p:txBody>
      </p:sp>
      <p:sp>
        <p:nvSpPr>
          <p:cNvPr id="20" name="Text 16"/>
          <p:cNvSpPr/>
          <p:nvPr/>
        </p:nvSpPr>
        <p:spPr>
          <a:xfrm>
            <a:off x="2331720" y="4114800"/>
            <a:ext cx="640080" cy="182880"/>
          </a:xfrm>
          <a:prstGeom prst="rect">
            <a:avLst/>
          </a:prstGeom>
          <a:noFill/>
          <a:ln/>
        </p:spPr>
        <p:txBody>
          <a:bodyPr wrap="square" lIns="0" tIns="0" rIns="0" bIns="0" rtlCol="0" anchor="ctr"/>
          <a:lstStyle/>
          <a:p>
            <a:pPr marL="0" indent="0" algn="ctr">
              <a:buNone/>
            </a:pPr>
            <a:r>
              <a:rPr lang="en-US" sz="800" i="1" dirty="0">
                <a:solidFill>
                  <a:srgbClr val="21C97A"/>
                </a:solidFill>
                <a:latin typeface="Calibri" pitchFamily="34" charset="0"/>
                <a:ea typeface="Calibri" pitchFamily="34" charset="-122"/>
                <a:cs typeface="Calibri" pitchFamily="34" charset="-120"/>
              </a:rPr>
              <a:t>винагорода</a:t>
            </a:r>
            <a:endParaRPr lang="en-US" sz="800" dirty="0"/>
          </a:p>
        </p:txBody>
      </p:sp>
      <p:sp>
        <p:nvSpPr>
          <p:cNvPr id="21" name="Shape 17"/>
          <p:cNvSpPr/>
          <p:nvPr/>
        </p:nvSpPr>
        <p:spPr>
          <a:xfrm>
            <a:off x="2926080" y="2926080"/>
            <a:ext cx="1737360" cy="132588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2" name="Shape 18"/>
          <p:cNvSpPr/>
          <p:nvPr/>
        </p:nvSpPr>
        <p:spPr>
          <a:xfrm>
            <a:off x="2926080" y="2926080"/>
            <a:ext cx="1737360" cy="54864"/>
          </a:xfrm>
          <a:prstGeom prst="rect">
            <a:avLst/>
          </a:prstGeom>
          <a:solidFill>
            <a:srgbClr val="F0A93B"/>
          </a:solidFill>
          <a:ln w="12700">
            <a:solidFill>
              <a:srgbClr val="F0A93B"/>
            </a:solidFill>
            <a:prstDash val="solid"/>
          </a:ln>
        </p:spPr>
        <p:txBody>
          <a:bodyPr/>
          <a:lstStyle/>
          <a:p>
            <a:endParaRPr lang="uk-UA"/>
          </a:p>
        </p:txBody>
      </p:sp>
      <p:sp>
        <p:nvSpPr>
          <p:cNvPr id="23" name="Shape 19"/>
          <p:cNvSpPr/>
          <p:nvPr/>
        </p:nvSpPr>
        <p:spPr>
          <a:xfrm>
            <a:off x="3543300" y="3090672"/>
            <a:ext cx="502920" cy="502920"/>
          </a:xfrm>
          <a:prstGeom prst="ellipse">
            <a:avLst/>
          </a:prstGeom>
          <a:solidFill>
            <a:srgbClr val="FBE9CD"/>
          </a:solidFill>
          <a:ln w="12700">
            <a:solidFill>
              <a:srgbClr val="FBE9CD"/>
            </a:solidFill>
            <a:prstDash val="solid"/>
          </a:ln>
        </p:spPr>
        <p:txBody>
          <a:bodyPr/>
          <a:lstStyle/>
          <a:p>
            <a:endParaRPr lang="uk-UA"/>
          </a:p>
        </p:txBody>
      </p:sp>
      <p:pic>
        <p:nvPicPr>
          <p:cNvPr id="24" name="Image 2" descr="preencoded.png"/>
          <p:cNvPicPr>
            <a:picLocks noChangeAspect="1"/>
          </p:cNvPicPr>
          <p:nvPr/>
        </p:nvPicPr>
        <p:blipFill>
          <a:blip r:embed="rId5"/>
          <a:stretch>
            <a:fillRect/>
          </a:stretch>
        </p:blipFill>
        <p:spPr>
          <a:xfrm>
            <a:off x="3669030" y="3216402"/>
            <a:ext cx="251460" cy="251460"/>
          </a:xfrm>
          <a:prstGeom prst="rect">
            <a:avLst/>
          </a:prstGeom>
        </p:spPr>
      </p:pic>
      <p:sp>
        <p:nvSpPr>
          <p:cNvPr id="25" name="Text 20"/>
          <p:cNvSpPr/>
          <p:nvPr/>
        </p:nvSpPr>
        <p:spPr>
          <a:xfrm>
            <a:off x="2926080" y="3639312"/>
            <a:ext cx="1737360" cy="256032"/>
          </a:xfrm>
          <a:prstGeom prst="rect">
            <a:avLst/>
          </a:prstGeom>
          <a:noFill/>
          <a:ln/>
        </p:spPr>
        <p:txBody>
          <a:bodyPr wrap="square" lIns="0" tIns="0" rIns="0" bIns="0" rtlCol="0" anchor="ctr"/>
          <a:lstStyle/>
          <a:p>
            <a:pPr marL="0" indent="0" algn="ctr">
              <a:buNone/>
            </a:pPr>
            <a:r>
              <a:rPr lang="en-US" sz="1200" b="1" dirty="0">
                <a:solidFill>
                  <a:srgbClr val="0F1A35"/>
                </a:solidFill>
                <a:latin typeface="Calibri" pitchFamily="34" charset="0"/>
                <a:ea typeface="Calibri" pitchFamily="34" charset="-122"/>
                <a:cs typeface="Calibri" pitchFamily="34" charset="-120"/>
              </a:rPr>
              <a:t>Середовище</a:t>
            </a:r>
            <a:endParaRPr lang="en-US" sz="1200" dirty="0"/>
          </a:p>
        </p:txBody>
      </p:sp>
      <p:sp>
        <p:nvSpPr>
          <p:cNvPr id="26" name="Text 21"/>
          <p:cNvSpPr/>
          <p:nvPr/>
        </p:nvSpPr>
        <p:spPr>
          <a:xfrm>
            <a:off x="3017520" y="3886200"/>
            <a:ext cx="1554480" cy="365760"/>
          </a:xfrm>
          <a:prstGeom prst="rect">
            <a:avLst/>
          </a:prstGeom>
          <a:noFill/>
          <a:ln/>
        </p:spPr>
        <p:txBody>
          <a:bodyPr wrap="square" lIns="0" tIns="0" rIns="0" bIns="0" rtlCol="0" anchor="ctr"/>
          <a:lstStyle/>
          <a:p>
            <a:pPr marL="0" indent="0" algn="ctr">
              <a:buNone/>
            </a:pPr>
            <a:r>
              <a:rPr lang="en-US" sz="900" dirty="0">
                <a:solidFill>
                  <a:srgbClr val="687891"/>
                </a:solidFill>
                <a:latin typeface="Calibri" pitchFamily="34" charset="0"/>
                <a:ea typeface="Calibri" pitchFamily="34" charset="-122"/>
                <a:cs typeface="Calibri" pitchFamily="34" charset="-120"/>
              </a:rPr>
              <a:t>Групи користувачів</a:t>
            </a:r>
            <a:endParaRPr lang="en-US" sz="900" dirty="0"/>
          </a:p>
          <a:p>
            <a:pPr marL="0" indent="0" algn="ctr">
              <a:buNone/>
            </a:pPr>
            <a:r>
              <a:rPr lang="en-US" sz="900" dirty="0">
                <a:solidFill>
                  <a:srgbClr val="687891"/>
                </a:solidFill>
                <a:latin typeface="Calibri" pitchFamily="34" charset="0"/>
                <a:ea typeface="Calibri" pitchFamily="34" charset="-122"/>
                <a:cs typeface="Calibri" pitchFamily="34" charset="-120"/>
              </a:rPr>
              <a:t>та історія</a:t>
            </a:r>
            <a:endParaRPr lang="en-US" sz="900" dirty="0"/>
          </a:p>
        </p:txBody>
      </p:sp>
      <p:sp>
        <p:nvSpPr>
          <p:cNvPr id="27" name="Text 22"/>
          <p:cNvSpPr/>
          <p:nvPr/>
        </p:nvSpPr>
        <p:spPr>
          <a:xfrm>
            <a:off x="4937760" y="1417320"/>
            <a:ext cx="3749040" cy="274320"/>
          </a:xfrm>
          <a:prstGeom prst="rect">
            <a:avLst/>
          </a:prstGeom>
          <a:noFill/>
          <a:ln/>
        </p:spPr>
        <p:txBody>
          <a:bodyPr wrap="square" lIns="0" tIns="0" rIns="0" bIns="0" rtlCol="0" anchor="ctr"/>
          <a:lstStyle/>
          <a:p>
            <a:pPr marL="0" indent="0">
              <a:buNone/>
            </a:pPr>
            <a:r>
              <a:rPr lang="en-US" sz="1400" b="1" dirty="0">
                <a:solidFill>
                  <a:srgbClr val="0F1A35"/>
                </a:solidFill>
                <a:latin typeface="Calibri" pitchFamily="34" charset="0"/>
                <a:ea typeface="Calibri" pitchFamily="34" charset="-122"/>
                <a:cs typeface="Calibri" pitchFamily="34" charset="-120"/>
              </a:rPr>
              <a:t>Ключові переваги</a:t>
            </a:r>
            <a:endParaRPr lang="en-US" sz="1400" dirty="0"/>
          </a:p>
        </p:txBody>
      </p:sp>
      <p:sp>
        <p:nvSpPr>
          <p:cNvPr id="28" name="Shape 23"/>
          <p:cNvSpPr/>
          <p:nvPr/>
        </p:nvSpPr>
        <p:spPr>
          <a:xfrm>
            <a:off x="4937760" y="1737360"/>
            <a:ext cx="411480" cy="411480"/>
          </a:xfrm>
          <a:prstGeom prst="ellipse">
            <a:avLst/>
          </a:prstGeom>
          <a:solidFill>
            <a:srgbClr val="E8F0FE"/>
          </a:solidFill>
          <a:ln w="12700">
            <a:solidFill>
              <a:srgbClr val="E8F0FE"/>
            </a:solidFill>
            <a:prstDash val="solid"/>
          </a:ln>
        </p:spPr>
        <p:txBody>
          <a:bodyPr/>
          <a:lstStyle/>
          <a:p>
            <a:endParaRPr lang="uk-UA"/>
          </a:p>
        </p:txBody>
      </p:sp>
      <p:pic>
        <p:nvPicPr>
          <p:cNvPr id="29" name="Image 3" descr="preencoded.png"/>
          <p:cNvPicPr>
            <a:picLocks noChangeAspect="1"/>
          </p:cNvPicPr>
          <p:nvPr/>
        </p:nvPicPr>
        <p:blipFill>
          <a:blip r:embed="rId6"/>
          <a:stretch>
            <a:fillRect/>
          </a:stretch>
        </p:blipFill>
        <p:spPr>
          <a:xfrm>
            <a:off x="5040630" y="1840230"/>
            <a:ext cx="205740" cy="205740"/>
          </a:xfrm>
          <a:prstGeom prst="rect">
            <a:avLst/>
          </a:prstGeom>
        </p:spPr>
      </p:pic>
      <p:sp>
        <p:nvSpPr>
          <p:cNvPr id="30" name="Text 24"/>
          <p:cNvSpPr/>
          <p:nvPr/>
        </p:nvSpPr>
        <p:spPr>
          <a:xfrm>
            <a:off x="5486400" y="1719072"/>
            <a:ext cx="3200400" cy="256032"/>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Великі обсяги даних</a:t>
            </a:r>
            <a:endParaRPr lang="en-US" sz="1200" dirty="0"/>
          </a:p>
        </p:txBody>
      </p:sp>
      <p:sp>
        <p:nvSpPr>
          <p:cNvPr id="31" name="Text 25"/>
          <p:cNvSpPr/>
          <p:nvPr/>
        </p:nvSpPr>
        <p:spPr>
          <a:xfrm>
            <a:off x="5486400" y="1956816"/>
            <a:ext cx="3200400" cy="27432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Ефективна робота з масштабованими середовищами</a:t>
            </a:r>
            <a:endParaRPr lang="en-US" sz="1000" dirty="0"/>
          </a:p>
        </p:txBody>
      </p:sp>
      <p:sp>
        <p:nvSpPr>
          <p:cNvPr id="32" name="Shape 26"/>
          <p:cNvSpPr/>
          <p:nvPr/>
        </p:nvSpPr>
        <p:spPr>
          <a:xfrm>
            <a:off x="4937760" y="2331720"/>
            <a:ext cx="411480" cy="411480"/>
          </a:xfrm>
          <a:prstGeom prst="ellipse">
            <a:avLst/>
          </a:prstGeom>
          <a:solidFill>
            <a:srgbClr val="D6F1F7"/>
          </a:solidFill>
          <a:ln w="12700">
            <a:solidFill>
              <a:srgbClr val="D6F1F7"/>
            </a:solidFill>
            <a:prstDash val="solid"/>
          </a:ln>
        </p:spPr>
        <p:txBody>
          <a:bodyPr/>
          <a:lstStyle/>
          <a:p>
            <a:endParaRPr lang="uk-UA"/>
          </a:p>
        </p:txBody>
      </p:sp>
      <p:pic>
        <p:nvPicPr>
          <p:cNvPr id="33" name="Image 4" descr="preencoded.png"/>
          <p:cNvPicPr>
            <a:picLocks noChangeAspect="1"/>
          </p:cNvPicPr>
          <p:nvPr/>
        </p:nvPicPr>
        <p:blipFill>
          <a:blip r:embed="rId7"/>
          <a:stretch>
            <a:fillRect/>
          </a:stretch>
        </p:blipFill>
        <p:spPr>
          <a:xfrm>
            <a:off x="5040630" y="2434590"/>
            <a:ext cx="205740" cy="205740"/>
          </a:xfrm>
          <a:prstGeom prst="rect">
            <a:avLst/>
          </a:prstGeom>
        </p:spPr>
      </p:pic>
      <p:sp>
        <p:nvSpPr>
          <p:cNvPr id="34" name="Text 27"/>
          <p:cNvSpPr/>
          <p:nvPr/>
        </p:nvSpPr>
        <p:spPr>
          <a:xfrm>
            <a:off x="5486400" y="2313432"/>
            <a:ext cx="3200400" cy="256032"/>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Адаптивність</a:t>
            </a:r>
            <a:endParaRPr lang="en-US" sz="1200" dirty="0"/>
          </a:p>
        </p:txBody>
      </p:sp>
      <p:sp>
        <p:nvSpPr>
          <p:cNvPr id="35" name="Text 28"/>
          <p:cNvSpPr/>
          <p:nvPr/>
        </p:nvSpPr>
        <p:spPr>
          <a:xfrm>
            <a:off x="5486400" y="2551176"/>
            <a:ext cx="3200400" cy="27432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Реакція на зміни в середовищі та поведінці</a:t>
            </a:r>
            <a:endParaRPr lang="en-US" sz="1000" dirty="0"/>
          </a:p>
        </p:txBody>
      </p:sp>
      <p:sp>
        <p:nvSpPr>
          <p:cNvPr id="36" name="Shape 29"/>
          <p:cNvSpPr/>
          <p:nvPr/>
        </p:nvSpPr>
        <p:spPr>
          <a:xfrm>
            <a:off x="4937760" y="2926080"/>
            <a:ext cx="411480" cy="411480"/>
          </a:xfrm>
          <a:prstGeom prst="ellipse">
            <a:avLst/>
          </a:prstGeom>
          <a:solidFill>
            <a:srgbClr val="FBE9CD"/>
          </a:solidFill>
          <a:ln w="12700">
            <a:solidFill>
              <a:srgbClr val="FBE9CD"/>
            </a:solidFill>
            <a:prstDash val="solid"/>
          </a:ln>
        </p:spPr>
        <p:txBody>
          <a:bodyPr/>
          <a:lstStyle/>
          <a:p>
            <a:endParaRPr lang="uk-UA"/>
          </a:p>
        </p:txBody>
      </p:sp>
      <p:pic>
        <p:nvPicPr>
          <p:cNvPr id="37" name="Image 5" descr="preencoded.png"/>
          <p:cNvPicPr>
            <a:picLocks noChangeAspect="1"/>
          </p:cNvPicPr>
          <p:nvPr/>
        </p:nvPicPr>
        <p:blipFill>
          <a:blip r:embed="rId8"/>
          <a:stretch>
            <a:fillRect/>
          </a:stretch>
        </p:blipFill>
        <p:spPr>
          <a:xfrm>
            <a:off x="5040630" y="3028950"/>
            <a:ext cx="205740" cy="205740"/>
          </a:xfrm>
          <a:prstGeom prst="rect">
            <a:avLst/>
          </a:prstGeom>
        </p:spPr>
      </p:pic>
      <p:sp>
        <p:nvSpPr>
          <p:cNvPr id="38" name="Text 30"/>
          <p:cNvSpPr/>
          <p:nvPr/>
        </p:nvSpPr>
        <p:spPr>
          <a:xfrm>
            <a:off x="5486400" y="2907792"/>
            <a:ext cx="3200400" cy="256032"/>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Довгостроковий ефект</a:t>
            </a:r>
            <a:endParaRPr lang="en-US" sz="1200" dirty="0"/>
          </a:p>
        </p:txBody>
      </p:sp>
      <p:sp>
        <p:nvSpPr>
          <p:cNvPr id="39" name="Text 31"/>
          <p:cNvSpPr/>
          <p:nvPr/>
        </p:nvSpPr>
        <p:spPr>
          <a:xfrm>
            <a:off x="5486400" y="3145536"/>
            <a:ext cx="3200400" cy="27432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Орієнтація на сукупну майбутню винагороду</a:t>
            </a:r>
            <a:endParaRPr lang="en-US" sz="1000" dirty="0"/>
          </a:p>
        </p:txBody>
      </p:sp>
      <p:sp>
        <p:nvSpPr>
          <p:cNvPr id="40" name="Shape 32"/>
          <p:cNvSpPr/>
          <p:nvPr/>
        </p:nvSpPr>
        <p:spPr>
          <a:xfrm>
            <a:off x="4937760" y="3657600"/>
            <a:ext cx="3749040" cy="868680"/>
          </a:xfrm>
          <a:prstGeom prst="rect">
            <a:avLst/>
          </a:prstGeom>
          <a:solidFill>
            <a:srgbClr val="E8F0FE"/>
          </a:solidFill>
          <a:ln w="12700">
            <a:solidFill>
              <a:srgbClr val="E8F0FE"/>
            </a:solidFill>
            <a:prstDash val="solid"/>
          </a:ln>
        </p:spPr>
        <p:txBody>
          <a:bodyPr/>
          <a:lstStyle/>
          <a:p>
            <a:endParaRPr lang="uk-UA"/>
          </a:p>
        </p:txBody>
      </p:sp>
      <p:sp>
        <p:nvSpPr>
          <p:cNvPr id="41" name="Shape 33"/>
          <p:cNvSpPr/>
          <p:nvPr/>
        </p:nvSpPr>
        <p:spPr>
          <a:xfrm>
            <a:off x="4937760" y="3657600"/>
            <a:ext cx="64008" cy="868680"/>
          </a:xfrm>
          <a:prstGeom prst="rect">
            <a:avLst/>
          </a:prstGeom>
          <a:solidFill>
            <a:srgbClr val="2C5BD8"/>
          </a:solidFill>
          <a:ln w="12700">
            <a:solidFill>
              <a:srgbClr val="2C5BD8"/>
            </a:solidFill>
            <a:prstDash val="solid"/>
          </a:ln>
        </p:spPr>
        <p:txBody>
          <a:bodyPr/>
          <a:lstStyle/>
          <a:p>
            <a:endParaRPr lang="uk-UA"/>
          </a:p>
        </p:txBody>
      </p:sp>
      <p:sp>
        <p:nvSpPr>
          <p:cNvPr id="42" name="Text 34"/>
          <p:cNvSpPr/>
          <p:nvPr/>
        </p:nvSpPr>
        <p:spPr>
          <a:xfrm>
            <a:off x="5120640" y="3749040"/>
            <a:ext cx="914400" cy="274320"/>
          </a:xfrm>
          <a:prstGeom prst="rect">
            <a:avLst/>
          </a:prstGeom>
          <a:noFill/>
          <a:ln/>
        </p:spPr>
        <p:txBody>
          <a:bodyPr wrap="square" lIns="0" tIns="0" rIns="0" bIns="0" rtlCol="0" anchor="ctr"/>
          <a:lstStyle/>
          <a:p>
            <a:pPr marL="0" indent="0">
              <a:buNone/>
            </a:pPr>
            <a:r>
              <a:rPr lang="en-US" sz="1100" b="1" dirty="0">
                <a:solidFill>
                  <a:srgbClr val="2C5BD8"/>
                </a:solidFill>
                <a:latin typeface="Calibri" pitchFamily="34" charset="0"/>
                <a:ea typeface="Calibri" pitchFamily="34" charset="-122"/>
                <a:cs typeface="Calibri" pitchFamily="34" charset="-120"/>
              </a:rPr>
              <a:t>Мета:</a:t>
            </a:r>
            <a:endParaRPr lang="en-US" sz="1100" dirty="0"/>
          </a:p>
        </p:txBody>
      </p:sp>
      <p:sp>
        <p:nvSpPr>
          <p:cNvPr id="43" name="Text 35"/>
          <p:cNvSpPr/>
          <p:nvPr/>
        </p:nvSpPr>
        <p:spPr>
          <a:xfrm>
            <a:off x="5120640" y="3986784"/>
            <a:ext cx="3520440" cy="502920"/>
          </a:xfrm>
          <a:prstGeom prst="rect">
            <a:avLst/>
          </a:prstGeom>
          <a:noFill/>
          <a:ln/>
        </p:spPr>
        <p:txBody>
          <a:bodyPr wrap="square" lIns="0" tIns="0" rIns="0" bIns="0" rtlCol="0" anchor="ctr"/>
          <a:lstStyle/>
          <a:p>
            <a:pPr marL="0" indent="0">
              <a:buNone/>
            </a:pPr>
            <a:r>
              <a:rPr lang="en-US" sz="1100" dirty="0">
                <a:solidFill>
                  <a:srgbClr val="0F1A35"/>
                </a:solidFill>
                <a:latin typeface="Calibri" pitchFamily="34" charset="0"/>
                <a:ea typeface="Calibri" pitchFamily="34" charset="-122"/>
                <a:cs typeface="Calibri" pitchFamily="34" charset="-120"/>
              </a:rPr>
              <a:t>максимізація довгострокової задоволеності групи (сукупної винагороди)</a:t>
            </a:r>
            <a:endParaRPr lang="en-US" sz="1100" dirty="0"/>
          </a:p>
        </p:txBody>
      </p:sp>
      <p:sp>
        <p:nvSpPr>
          <p:cNvPr id="45" name="Shape 36"/>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46" name="Text 37"/>
          <p:cNvSpPr/>
          <p:nvPr/>
        </p:nvSpPr>
        <p:spPr>
          <a:xfrm>
            <a:off x="457200" y="4901184"/>
            <a:ext cx="6858000" cy="228600"/>
          </a:xfrm>
          <a:prstGeom prst="rect">
            <a:avLst/>
          </a:prstGeom>
          <a:noFill/>
          <a:ln/>
        </p:spPr>
        <p:txBody>
          <a:bodyPr wrap="square" lIns="0" tIns="0" rIns="0" bIns="0" rtlCol="0" anchor="ctr"/>
          <a:lstStyle/>
          <a:p>
            <a:pPr marL="0" indent="0">
              <a:buNone/>
            </a:pPr>
            <a:r>
              <a:rPr lang="en-US" sz="90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ML з підкріпленням</a:t>
            </a:r>
            <a:endParaRPr lang="en-US" sz="900" dirty="0"/>
          </a:p>
        </p:txBody>
      </p:sp>
      <p:sp>
        <p:nvSpPr>
          <p:cNvPr id="47" name="Text 38"/>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04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ПОСТАНОВКА</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Мета та задачі дослідження</a:t>
            </a:r>
            <a:endParaRPr lang="en-US" sz="2800" dirty="0"/>
          </a:p>
        </p:txBody>
      </p:sp>
      <p:sp>
        <p:nvSpPr>
          <p:cNvPr id="5" name="Shape 3"/>
          <p:cNvSpPr/>
          <p:nvPr/>
        </p:nvSpPr>
        <p:spPr>
          <a:xfrm>
            <a:off x="457200" y="1325880"/>
            <a:ext cx="8229600" cy="86868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325880"/>
            <a:ext cx="64008" cy="868680"/>
          </a:xfrm>
          <a:prstGeom prst="rect">
            <a:avLst/>
          </a:prstGeom>
          <a:solidFill>
            <a:srgbClr val="2C5BD8"/>
          </a:solidFill>
          <a:ln w="12700">
            <a:solidFill>
              <a:srgbClr val="2C5BD8"/>
            </a:solidFill>
            <a:prstDash val="solid"/>
          </a:ln>
        </p:spPr>
        <p:txBody>
          <a:bodyPr/>
          <a:lstStyle/>
          <a:p>
            <a:endParaRPr lang="uk-UA"/>
          </a:p>
        </p:txBody>
      </p:sp>
      <p:sp>
        <p:nvSpPr>
          <p:cNvPr id="7" name="Shape 5"/>
          <p:cNvSpPr/>
          <p:nvPr/>
        </p:nvSpPr>
        <p:spPr>
          <a:xfrm>
            <a:off x="640080" y="1527048"/>
            <a:ext cx="457200" cy="457200"/>
          </a:xfrm>
          <a:prstGeom prst="ellipse">
            <a:avLst/>
          </a:prstGeom>
          <a:solidFill>
            <a:srgbClr val="E8F0FE"/>
          </a:solidFill>
          <a:ln w="12700">
            <a:solidFill>
              <a:srgbClr val="E8F0FE"/>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754380" y="1641348"/>
            <a:ext cx="228600" cy="228600"/>
          </a:xfrm>
          <a:prstGeom prst="rect">
            <a:avLst/>
          </a:prstGeom>
        </p:spPr>
      </p:pic>
      <p:sp>
        <p:nvSpPr>
          <p:cNvPr id="9" name="Text 6"/>
          <p:cNvSpPr/>
          <p:nvPr/>
        </p:nvSpPr>
        <p:spPr>
          <a:xfrm>
            <a:off x="1280160" y="1417320"/>
            <a:ext cx="6858000" cy="274320"/>
          </a:xfrm>
          <a:prstGeom prst="rect">
            <a:avLst/>
          </a:prstGeom>
          <a:noFill/>
          <a:ln/>
        </p:spPr>
        <p:txBody>
          <a:bodyPr wrap="square" lIns="0" tIns="0" rIns="0" bIns="0" rtlCol="0" anchor="ctr"/>
          <a:lstStyle/>
          <a:p>
            <a:pPr marL="0" indent="0">
              <a:buNone/>
            </a:pPr>
            <a:r>
              <a:rPr lang="en-US" sz="1200" b="1" dirty="0">
                <a:solidFill>
                  <a:srgbClr val="2C5BD8"/>
                </a:solidFill>
                <a:latin typeface="Calibri" pitchFamily="34" charset="0"/>
                <a:ea typeface="Calibri" pitchFamily="34" charset="-122"/>
                <a:cs typeface="Calibri" pitchFamily="34" charset="-120"/>
              </a:rPr>
              <a:t>Мета дослідження</a:t>
            </a:r>
            <a:endParaRPr lang="en-US" sz="1200" dirty="0"/>
          </a:p>
        </p:txBody>
      </p:sp>
      <p:sp>
        <p:nvSpPr>
          <p:cNvPr id="10" name="Text 7"/>
          <p:cNvSpPr/>
          <p:nvPr/>
        </p:nvSpPr>
        <p:spPr>
          <a:xfrm>
            <a:off x="1280160" y="1673352"/>
            <a:ext cx="6858000" cy="502920"/>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Розробка системи групових рекомендацій на основі машинного навчання з підкріпленням, що враховує динаміку вподобань користувачів, індивідуальні особливості членів групи та довгостроковий ефект рекомендацій.</a:t>
            </a:r>
            <a:endParaRPr lang="en-US" sz="1050" dirty="0"/>
          </a:p>
        </p:txBody>
      </p:sp>
      <p:sp>
        <p:nvSpPr>
          <p:cNvPr id="11" name="Shape 8"/>
          <p:cNvSpPr/>
          <p:nvPr/>
        </p:nvSpPr>
        <p:spPr>
          <a:xfrm>
            <a:off x="457200" y="2331720"/>
            <a:ext cx="4023360" cy="24231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2" name="Shape 9"/>
          <p:cNvSpPr/>
          <p:nvPr/>
        </p:nvSpPr>
        <p:spPr>
          <a:xfrm>
            <a:off x="457200" y="2331720"/>
            <a:ext cx="4023360" cy="54864"/>
          </a:xfrm>
          <a:prstGeom prst="rect">
            <a:avLst/>
          </a:prstGeom>
          <a:solidFill>
            <a:srgbClr val="20B7D1"/>
          </a:solidFill>
          <a:ln w="12700">
            <a:solidFill>
              <a:srgbClr val="20B7D1"/>
            </a:solidFill>
            <a:prstDash val="solid"/>
          </a:ln>
        </p:spPr>
        <p:txBody>
          <a:bodyPr/>
          <a:lstStyle/>
          <a:p>
            <a:endParaRPr lang="uk-UA"/>
          </a:p>
        </p:txBody>
      </p:sp>
      <p:sp>
        <p:nvSpPr>
          <p:cNvPr id="13" name="Text 10"/>
          <p:cNvSpPr/>
          <p:nvPr/>
        </p:nvSpPr>
        <p:spPr>
          <a:xfrm>
            <a:off x="640080" y="2496312"/>
            <a:ext cx="3657600" cy="274320"/>
          </a:xfrm>
          <a:prstGeom prst="rect">
            <a:avLst/>
          </a:prstGeom>
          <a:noFill/>
          <a:ln/>
        </p:spPr>
        <p:txBody>
          <a:bodyPr wrap="square" lIns="0" tIns="0" rIns="0" bIns="0" rtlCol="0" anchor="ctr"/>
          <a:lstStyle/>
          <a:p>
            <a:pPr marL="0" indent="0">
              <a:buNone/>
            </a:pPr>
            <a:r>
              <a:rPr lang="en-US" sz="1300" b="1" dirty="0">
                <a:solidFill>
                  <a:srgbClr val="0F1A35"/>
                </a:solidFill>
                <a:latin typeface="Calibri" pitchFamily="34" charset="0"/>
                <a:ea typeface="Calibri" pitchFamily="34" charset="-122"/>
                <a:cs typeface="Calibri" pitchFamily="34" charset="-120"/>
              </a:rPr>
              <a:t>Поставлені задачі</a:t>
            </a:r>
            <a:endParaRPr lang="en-US" sz="1300" dirty="0"/>
          </a:p>
        </p:txBody>
      </p:sp>
      <p:sp>
        <p:nvSpPr>
          <p:cNvPr id="14" name="Shape 11"/>
          <p:cNvSpPr/>
          <p:nvPr/>
        </p:nvSpPr>
        <p:spPr>
          <a:xfrm>
            <a:off x="640080" y="2834640"/>
            <a:ext cx="292608" cy="292608"/>
          </a:xfrm>
          <a:prstGeom prst="ellipse">
            <a:avLst/>
          </a:prstGeom>
          <a:solidFill>
            <a:srgbClr val="D6F1F7"/>
          </a:solidFill>
          <a:ln w="12700">
            <a:solidFill>
              <a:srgbClr val="D6F1F7"/>
            </a:solidFill>
            <a:prstDash val="solid"/>
          </a:ln>
        </p:spPr>
        <p:txBody>
          <a:bodyPr/>
          <a:lstStyle/>
          <a:p>
            <a:endParaRPr lang="uk-UA"/>
          </a:p>
        </p:txBody>
      </p:sp>
      <p:sp>
        <p:nvSpPr>
          <p:cNvPr id="15" name="Text 12"/>
          <p:cNvSpPr/>
          <p:nvPr/>
        </p:nvSpPr>
        <p:spPr>
          <a:xfrm>
            <a:off x="640080" y="2834640"/>
            <a:ext cx="292608" cy="292608"/>
          </a:xfrm>
          <a:prstGeom prst="rect">
            <a:avLst/>
          </a:prstGeom>
          <a:noFill/>
          <a:ln/>
        </p:spPr>
        <p:txBody>
          <a:bodyPr wrap="square" lIns="0" tIns="0" rIns="0" bIns="0" rtlCol="0" anchor="ctr"/>
          <a:lstStyle/>
          <a:p>
            <a:pPr marL="0" indent="0" algn="ctr">
              <a:buNone/>
            </a:pPr>
            <a:r>
              <a:rPr lang="en-US" sz="1100" b="1" dirty="0">
                <a:solidFill>
                  <a:srgbClr val="20B7D1"/>
                </a:solidFill>
                <a:latin typeface="Calibri" pitchFamily="34" charset="0"/>
                <a:ea typeface="Calibri" pitchFamily="34" charset="-122"/>
                <a:cs typeface="Calibri" pitchFamily="34" charset="-120"/>
              </a:rPr>
              <a:t>1</a:t>
            </a:r>
            <a:endParaRPr lang="en-US" sz="1100" dirty="0"/>
          </a:p>
        </p:txBody>
      </p:sp>
      <p:sp>
        <p:nvSpPr>
          <p:cNvPr id="16" name="Text 13"/>
          <p:cNvSpPr/>
          <p:nvPr/>
        </p:nvSpPr>
        <p:spPr>
          <a:xfrm>
            <a:off x="1005840" y="2852928"/>
            <a:ext cx="338328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Підготовка даних та формування груп користувачів</a:t>
            </a:r>
            <a:endParaRPr lang="en-US" sz="1050" dirty="0"/>
          </a:p>
        </p:txBody>
      </p:sp>
      <p:sp>
        <p:nvSpPr>
          <p:cNvPr id="17" name="Shape 14"/>
          <p:cNvSpPr/>
          <p:nvPr/>
        </p:nvSpPr>
        <p:spPr>
          <a:xfrm>
            <a:off x="640080" y="3200400"/>
            <a:ext cx="292608" cy="292608"/>
          </a:xfrm>
          <a:prstGeom prst="ellipse">
            <a:avLst/>
          </a:prstGeom>
          <a:solidFill>
            <a:srgbClr val="D6F1F7"/>
          </a:solidFill>
          <a:ln w="12700">
            <a:solidFill>
              <a:srgbClr val="D6F1F7"/>
            </a:solidFill>
            <a:prstDash val="solid"/>
          </a:ln>
        </p:spPr>
        <p:txBody>
          <a:bodyPr/>
          <a:lstStyle/>
          <a:p>
            <a:endParaRPr lang="uk-UA"/>
          </a:p>
        </p:txBody>
      </p:sp>
      <p:sp>
        <p:nvSpPr>
          <p:cNvPr id="18" name="Text 15"/>
          <p:cNvSpPr/>
          <p:nvPr/>
        </p:nvSpPr>
        <p:spPr>
          <a:xfrm>
            <a:off x="640080" y="3200400"/>
            <a:ext cx="292608" cy="292608"/>
          </a:xfrm>
          <a:prstGeom prst="rect">
            <a:avLst/>
          </a:prstGeom>
          <a:noFill/>
          <a:ln/>
        </p:spPr>
        <p:txBody>
          <a:bodyPr wrap="square" lIns="0" tIns="0" rIns="0" bIns="0" rtlCol="0" anchor="ctr"/>
          <a:lstStyle/>
          <a:p>
            <a:pPr marL="0" indent="0" algn="ctr">
              <a:buNone/>
            </a:pPr>
            <a:r>
              <a:rPr lang="en-US" sz="1100" b="1" dirty="0">
                <a:solidFill>
                  <a:srgbClr val="20B7D1"/>
                </a:solidFill>
                <a:latin typeface="Calibri" pitchFamily="34" charset="0"/>
                <a:ea typeface="Calibri" pitchFamily="34" charset="-122"/>
                <a:cs typeface="Calibri" pitchFamily="34" charset="-120"/>
              </a:rPr>
              <a:t>2</a:t>
            </a:r>
            <a:endParaRPr lang="en-US" sz="1100" dirty="0"/>
          </a:p>
        </p:txBody>
      </p:sp>
      <p:sp>
        <p:nvSpPr>
          <p:cNvPr id="19" name="Text 16"/>
          <p:cNvSpPr/>
          <p:nvPr/>
        </p:nvSpPr>
        <p:spPr>
          <a:xfrm>
            <a:off x="1005840" y="3218688"/>
            <a:ext cx="338328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Розробка моделі на основі архітектури Актор–Критик</a:t>
            </a:r>
            <a:endParaRPr lang="en-US" sz="1050" dirty="0"/>
          </a:p>
        </p:txBody>
      </p:sp>
      <p:sp>
        <p:nvSpPr>
          <p:cNvPr id="20" name="Shape 17"/>
          <p:cNvSpPr/>
          <p:nvPr/>
        </p:nvSpPr>
        <p:spPr>
          <a:xfrm>
            <a:off x="640080" y="3566160"/>
            <a:ext cx="292608" cy="292608"/>
          </a:xfrm>
          <a:prstGeom prst="ellipse">
            <a:avLst/>
          </a:prstGeom>
          <a:solidFill>
            <a:srgbClr val="D6F1F7"/>
          </a:solidFill>
          <a:ln w="12700">
            <a:solidFill>
              <a:srgbClr val="D6F1F7"/>
            </a:solidFill>
            <a:prstDash val="solid"/>
          </a:ln>
        </p:spPr>
        <p:txBody>
          <a:bodyPr/>
          <a:lstStyle/>
          <a:p>
            <a:endParaRPr lang="uk-UA"/>
          </a:p>
        </p:txBody>
      </p:sp>
      <p:sp>
        <p:nvSpPr>
          <p:cNvPr id="21" name="Text 18"/>
          <p:cNvSpPr/>
          <p:nvPr/>
        </p:nvSpPr>
        <p:spPr>
          <a:xfrm>
            <a:off x="640080" y="3566160"/>
            <a:ext cx="292608" cy="292608"/>
          </a:xfrm>
          <a:prstGeom prst="rect">
            <a:avLst/>
          </a:prstGeom>
          <a:noFill/>
          <a:ln/>
        </p:spPr>
        <p:txBody>
          <a:bodyPr wrap="square" lIns="0" tIns="0" rIns="0" bIns="0" rtlCol="0" anchor="ctr"/>
          <a:lstStyle/>
          <a:p>
            <a:pPr marL="0" indent="0" algn="ctr">
              <a:buNone/>
            </a:pPr>
            <a:r>
              <a:rPr lang="en-US" sz="1100" b="1" dirty="0">
                <a:solidFill>
                  <a:srgbClr val="20B7D1"/>
                </a:solidFill>
                <a:latin typeface="Calibri" pitchFamily="34" charset="0"/>
                <a:ea typeface="Calibri" pitchFamily="34" charset="-122"/>
                <a:cs typeface="Calibri" pitchFamily="34" charset="-120"/>
              </a:rPr>
              <a:t>3</a:t>
            </a:r>
            <a:endParaRPr lang="en-US" sz="1100" dirty="0"/>
          </a:p>
        </p:txBody>
      </p:sp>
      <p:sp>
        <p:nvSpPr>
          <p:cNvPr id="22" name="Text 19"/>
          <p:cNvSpPr/>
          <p:nvPr/>
        </p:nvSpPr>
        <p:spPr>
          <a:xfrm>
            <a:off x="1005840" y="3584448"/>
            <a:ext cx="338328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Реалізація механізму врахування внеску учасників (Інтегратор)</a:t>
            </a:r>
            <a:endParaRPr lang="en-US" sz="1050" dirty="0"/>
          </a:p>
        </p:txBody>
      </p:sp>
      <p:sp>
        <p:nvSpPr>
          <p:cNvPr id="23" name="Shape 20"/>
          <p:cNvSpPr/>
          <p:nvPr/>
        </p:nvSpPr>
        <p:spPr>
          <a:xfrm>
            <a:off x="640080" y="3931920"/>
            <a:ext cx="292608" cy="292608"/>
          </a:xfrm>
          <a:prstGeom prst="ellipse">
            <a:avLst/>
          </a:prstGeom>
          <a:solidFill>
            <a:srgbClr val="D6F1F7"/>
          </a:solidFill>
          <a:ln w="12700">
            <a:solidFill>
              <a:srgbClr val="D6F1F7"/>
            </a:solidFill>
            <a:prstDash val="solid"/>
          </a:ln>
        </p:spPr>
        <p:txBody>
          <a:bodyPr/>
          <a:lstStyle/>
          <a:p>
            <a:endParaRPr lang="uk-UA"/>
          </a:p>
        </p:txBody>
      </p:sp>
      <p:sp>
        <p:nvSpPr>
          <p:cNvPr id="24" name="Text 21"/>
          <p:cNvSpPr/>
          <p:nvPr/>
        </p:nvSpPr>
        <p:spPr>
          <a:xfrm>
            <a:off x="640080" y="3931920"/>
            <a:ext cx="292608" cy="292608"/>
          </a:xfrm>
          <a:prstGeom prst="rect">
            <a:avLst/>
          </a:prstGeom>
          <a:noFill/>
          <a:ln/>
        </p:spPr>
        <p:txBody>
          <a:bodyPr wrap="square" lIns="0" tIns="0" rIns="0" bIns="0" rtlCol="0" anchor="ctr"/>
          <a:lstStyle/>
          <a:p>
            <a:pPr marL="0" indent="0" algn="ctr">
              <a:buNone/>
            </a:pPr>
            <a:r>
              <a:rPr lang="en-US" sz="1100" b="1" dirty="0">
                <a:solidFill>
                  <a:srgbClr val="20B7D1"/>
                </a:solidFill>
                <a:latin typeface="Calibri" pitchFamily="34" charset="0"/>
                <a:ea typeface="Calibri" pitchFamily="34" charset="-122"/>
                <a:cs typeface="Calibri" pitchFamily="34" charset="-120"/>
              </a:rPr>
              <a:t>4</a:t>
            </a:r>
            <a:endParaRPr lang="en-US" sz="1100" dirty="0"/>
          </a:p>
        </p:txBody>
      </p:sp>
      <p:sp>
        <p:nvSpPr>
          <p:cNvPr id="25" name="Text 22"/>
          <p:cNvSpPr/>
          <p:nvPr/>
        </p:nvSpPr>
        <p:spPr>
          <a:xfrm>
            <a:off x="1005840" y="3950208"/>
            <a:ext cx="338328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Навчання та тестування моделі</a:t>
            </a:r>
            <a:endParaRPr lang="en-US" sz="1050" dirty="0"/>
          </a:p>
        </p:txBody>
      </p:sp>
      <p:sp>
        <p:nvSpPr>
          <p:cNvPr id="26" name="Shape 23"/>
          <p:cNvSpPr/>
          <p:nvPr/>
        </p:nvSpPr>
        <p:spPr>
          <a:xfrm>
            <a:off x="640080" y="4297680"/>
            <a:ext cx="292608" cy="292608"/>
          </a:xfrm>
          <a:prstGeom prst="ellipse">
            <a:avLst/>
          </a:prstGeom>
          <a:solidFill>
            <a:srgbClr val="D6F1F7"/>
          </a:solidFill>
          <a:ln w="12700">
            <a:solidFill>
              <a:srgbClr val="D6F1F7"/>
            </a:solidFill>
            <a:prstDash val="solid"/>
          </a:ln>
        </p:spPr>
        <p:txBody>
          <a:bodyPr/>
          <a:lstStyle/>
          <a:p>
            <a:endParaRPr lang="uk-UA"/>
          </a:p>
        </p:txBody>
      </p:sp>
      <p:sp>
        <p:nvSpPr>
          <p:cNvPr id="27" name="Text 24"/>
          <p:cNvSpPr/>
          <p:nvPr/>
        </p:nvSpPr>
        <p:spPr>
          <a:xfrm>
            <a:off x="640080" y="4297680"/>
            <a:ext cx="292608" cy="292608"/>
          </a:xfrm>
          <a:prstGeom prst="rect">
            <a:avLst/>
          </a:prstGeom>
          <a:noFill/>
          <a:ln/>
        </p:spPr>
        <p:txBody>
          <a:bodyPr wrap="square" lIns="0" tIns="0" rIns="0" bIns="0" rtlCol="0" anchor="ctr"/>
          <a:lstStyle/>
          <a:p>
            <a:pPr marL="0" indent="0" algn="ctr">
              <a:buNone/>
            </a:pPr>
            <a:r>
              <a:rPr lang="en-US" sz="1100" b="1" dirty="0">
                <a:solidFill>
                  <a:srgbClr val="20B7D1"/>
                </a:solidFill>
                <a:latin typeface="Calibri" pitchFamily="34" charset="0"/>
                <a:ea typeface="Calibri" pitchFamily="34" charset="-122"/>
                <a:cs typeface="Calibri" pitchFamily="34" charset="-120"/>
              </a:rPr>
              <a:t>5</a:t>
            </a:r>
            <a:endParaRPr lang="en-US" sz="1100" dirty="0"/>
          </a:p>
        </p:txBody>
      </p:sp>
      <p:sp>
        <p:nvSpPr>
          <p:cNvPr id="28" name="Text 25"/>
          <p:cNvSpPr/>
          <p:nvPr/>
        </p:nvSpPr>
        <p:spPr>
          <a:xfrm>
            <a:off x="1005840" y="4315968"/>
            <a:ext cx="338328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Порівняння ефективності з базовим підходом</a:t>
            </a:r>
            <a:endParaRPr lang="en-US" sz="1050" dirty="0"/>
          </a:p>
        </p:txBody>
      </p:sp>
      <p:sp>
        <p:nvSpPr>
          <p:cNvPr id="29" name="Shape 26"/>
          <p:cNvSpPr/>
          <p:nvPr/>
        </p:nvSpPr>
        <p:spPr>
          <a:xfrm>
            <a:off x="4663440" y="2331720"/>
            <a:ext cx="4023360" cy="24231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30" name="Shape 27"/>
          <p:cNvSpPr/>
          <p:nvPr/>
        </p:nvSpPr>
        <p:spPr>
          <a:xfrm>
            <a:off x="4663440" y="2331720"/>
            <a:ext cx="4023360" cy="54864"/>
          </a:xfrm>
          <a:prstGeom prst="rect">
            <a:avLst/>
          </a:prstGeom>
          <a:solidFill>
            <a:srgbClr val="21C97A"/>
          </a:solidFill>
          <a:ln w="12700">
            <a:solidFill>
              <a:srgbClr val="21C97A"/>
            </a:solidFill>
            <a:prstDash val="solid"/>
          </a:ln>
        </p:spPr>
        <p:txBody>
          <a:bodyPr/>
          <a:lstStyle/>
          <a:p>
            <a:endParaRPr lang="uk-UA"/>
          </a:p>
        </p:txBody>
      </p:sp>
      <p:sp>
        <p:nvSpPr>
          <p:cNvPr id="31" name="Text 28"/>
          <p:cNvSpPr/>
          <p:nvPr/>
        </p:nvSpPr>
        <p:spPr>
          <a:xfrm>
            <a:off x="4846320" y="2496312"/>
            <a:ext cx="3657600" cy="274320"/>
          </a:xfrm>
          <a:prstGeom prst="rect">
            <a:avLst/>
          </a:prstGeom>
          <a:noFill/>
          <a:ln/>
        </p:spPr>
        <p:txBody>
          <a:bodyPr wrap="square" lIns="0" tIns="0" rIns="0" bIns="0" rtlCol="0" anchor="ctr"/>
          <a:lstStyle/>
          <a:p>
            <a:pPr marL="0" indent="0">
              <a:buNone/>
            </a:pPr>
            <a:r>
              <a:rPr lang="en-US" sz="1300" b="1" dirty="0">
                <a:solidFill>
                  <a:srgbClr val="0F1A35"/>
                </a:solidFill>
                <a:latin typeface="Calibri" pitchFamily="34" charset="0"/>
                <a:ea typeface="Calibri" pitchFamily="34" charset="-122"/>
                <a:cs typeface="Calibri" pitchFamily="34" charset="-120"/>
              </a:rPr>
              <a:t>Очікуваний результат</a:t>
            </a:r>
            <a:endParaRPr lang="en-US" sz="1300" dirty="0"/>
          </a:p>
        </p:txBody>
      </p:sp>
      <p:pic>
        <p:nvPicPr>
          <p:cNvPr id="32" name="Image 1" descr="preencoded.png"/>
          <p:cNvPicPr>
            <a:picLocks noChangeAspect="1"/>
          </p:cNvPicPr>
          <p:nvPr/>
        </p:nvPicPr>
        <p:blipFill>
          <a:blip r:embed="rId4"/>
          <a:stretch>
            <a:fillRect/>
          </a:stretch>
        </p:blipFill>
        <p:spPr>
          <a:xfrm>
            <a:off x="4846320" y="2926080"/>
            <a:ext cx="201168" cy="201168"/>
          </a:xfrm>
          <a:prstGeom prst="rect">
            <a:avLst/>
          </a:prstGeom>
        </p:spPr>
      </p:pic>
      <p:sp>
        <p:nvSpPr>
          <p:cNvPr id="33" name="Text 29"/>
          <p:cNvSpPr/>
          <p:nvPr/>
        </p:nvSpPr>
        <p:spPr>
          <a:xfrm>
            <a:off x="5120640" y="2880360"/>
            <a:ext cx="3520440" cy="41148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Модель, що формує більш релевантні групові рекомендації</a:t>
            </a:r>
            <a:endParaRPr lang="en-US" sz="1050" dirty="0"/>
          </a:p>
        </p:txBody>
      </p:sp>
      <p:pic>
        <p:nvPicPr>
          <p:cNvPr id="34" name="Image 2" descr="preencoded.png"/>
          <p:cNvPicPr>
            <a:picLocks noChangeAspect="1"/>
          </p:cNvPicPr>
          <p:nvPr/>
        </p:nvPicPr>
        <p:blipFill>
          <a:blip r:embed="rId4"/>
          <a:stretch>
            <a:fillRect/>
          </a:stretch>
        </p:blipFill>
        <p:spPr>
          <a:xfrm>
            <a:off x="4846320" y="3383280"/>
            <a:ext cx="201168" cy="201168"/>
          </a:xfrm>
          <a:prstGeom prst="rect">
            <a:avLst/>
          </a:prstGeom>
        </p:spPr>
      </p:pic>
      <p:sp>
        <p:nvSpPr>
          <p:cNvPr id="35" name="Text 30"/>
          <p:cNvSpPr/>
          <p:nvPr/>
        </p:nvSpPr>
        <p:spPr>
          <a:xfrm>
            <a:off x="5120640" y="3337560"/>
            <a:ext cx="3520440" cy="41148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Підвищення точності та адаптивності системи</a:t>
            </a:r>
            <a:endParaRPr lang="en-US" sz="1050" dirty="0"/>
          </a:p>
        </p:txBody>
      </p:sp>
      <p:pic>
        <p:nvPicPr>
          <p:cNvPr id="36" name="Image 3" descr="preencoded.png"/>
          <p:cNvPicPr>
            <a:picLocks noChangeAspect="1"/>
          </p:cNvPicPr>
          <p:nvPr/>
        </p:nvPicPr>
        <p:blipFill>
          <a:blip r:embed="rId4"/>
          <a:stretch>
            <a:fillRect/>
          </a:stretch>
        </p:blipFill>
        <p:spPr>
          <a:xfrm>
            <a:off x="4846320" y="3840480"/>
            <a:ext cx="201168" cy="201168"/>
          </a:xfrm>
          <a:prstGeom prst="rect">
            <a:avLst/>
          </a:prstGeom>
        </p:spPr>
      </p:pic>
      <p:sp>
        <p:nvSpPr>
          <p:cNvPr id="37" name="Text 31"/>
          <p:cNvSpPr/>
          <p:nvPr/>
        </p:nvSpPr>
        <p:spPr>
          <a:xfrm>
            <a:off x="5120640" y="3794760"/>
            <a:ext cx="3520440" cy="41148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Врахування довгострокової поведінки користувачів</a:t>
            </a:r>
            <a:endParaRPr lang="en-US" sz="1050" dirty="0"/>
          </a:p>
        </p:txBody>
      </p:sp>
      <p:pic>
        <p:nvPicPr>
          <p:cNvPr id="38" name="Image 4" descr="preencoded.png"/>
          <p:cNvPicPr>
            <a:picLocks noChangeAspect="1"/>
          </p:cNvPicPr>
          <p:nvPr/>
        </p:nvPicPr>
        <p:blipFill>
          <a:blip r:embed="rId4"/>
          <a:stretch>
            <a:fillRect/>
          </a:stretch>
        </p:blipFill>
        <p:spPr>
          <a:xfrm>
            <a:off x="4846320" y="4297680"/>
            <a:ext cx="201168" cy="201168"/>
          </a:xfrm>
          <a:prstGeom prst="rect">
            <a:avLst/>
          </a:prstGeom>
        </p:spPr>
      </p:pic>
      <p:sp>
        <p:nvSpPr>
          <p:cNvPr id="39" name="Text 32"/>
          <p:cNvSpPr/>
          <p:nvPr/>
        </p:nvSpPr>
        <p:spPr>
          <a:xfrm>
            <a:off x="5120640" y="4251960"/>
            <a:ext cx="3520440" cy="41148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Придатність для сучасних рекомендаційних сервісів</a:t>
            </a:r>
            <a:endParaRPr lang="en-US" sz="1050" dirty="0"/>
          </a:p>
        </p:txBody>
      </p:sp>
      <p:sp>
        <p:nvSpPr>
          <p:cNvPr id="41" name="Shape 33"/>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42" name="Text 34"/>
          <p:cNvSpPr/>
          <p:nvPr/>
        </p:nvSpPr>
        <p:spPr>
          <a:xfrm>
            <a:off x="457200" y="4901184"/>
            <a:ext cx="6858000" cy="228600"/>
          </a:xfrm>
          <a:prstGeom prst="rect">
            <a:avLst/>
          </a:prstGeom>
          <a:noFill/>
          <a:ln/>
        </p:spPr>
        <p:txBody>
          <a:bodyPr wrap="square" lIns="0" tIns="0" rIns="0" bIns="0" rtlCol="0" anchor="ctr"/>
          <a:lstStyle/>
          <a:p>
            <a:pPr marL="0" indent="0">
              <a:buNone/>
            </a:pPr>
            <a:r>
              <a:rPr lang="en-US" sz="90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ML з підкріпленням</a:t>
            </a:r>
            <a:endParaRPr lang="en-US" sz="900" dirty="0"/>
          </a:p>
        </p:txBody>
      </p:sp>
      <p:sp>
        <p:nvSpPr>
          <p:cNvPr id="43" name="Text 35"/>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05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ДАНІ</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Набір даних та формування груп користувачів</a:t>
            </a:r>
            <a:endParaRPr lang="en-US" sz="2800" dirty="0"/>
          </a:p>
        </p:txBody>
      </p:sp>
      <p:sp>
        <p:nvSpPr>
          <p:cNvPr id="5" name="Text 3"/>
          <p:cNvSpPr/>
          <p:nvPr/>
        </p:nvSpPr>
        <p:spPr>
          <a:xfrm>
            <a:off x="457200" y="1298448"/>
            <a:ext cx="8229600" cy="274320"/>
          </a:xfrm>
          <a:prstGeom prst="rect">
            <a:avLst/>
          </a:prstGeom>
          <a:noFill/>
          <a:ln/>
        </p:spPr>
        <p:txBody>
          <a:bodyPr wrap="square" lIns="0" tIns="0" rIns="0" bIns="0" rtlCol="0" anchor="ctr"/>
          <a:lstStyle/>
          <a:p>
            <a:pPr marL="0" indent="0">
              <a:buNone/>
            </a:pPr>
            <a:r>
              <a:rPr lang="en-US" sz="1100" i="1" dirty="0">
                <a:solidFill>
                  <a:srgbClr val="1F2937"/>
                </a:solidFill>
                <a:latin typeface="Calibri" pitchFamily="34" charset="0"/>
                <a:ea typeface="Calibri" pitchFamily="34" charset="-122"/>
                <a:cs typeface="Calibri" pitchFamily="34" charset="-120"/>
              </a:rPr>
              <a:t>Для навчання та тестування моделі використано MovieLens — джерело взаємодій користувачів з фільмами.</a:t>
            </a:r>
            <a:endParaRPr lang="en-US" sz="1100" dirty="0"/>
          </a:p>
        </p:txBody>
      </p:sp>
      <p:sp>
        <p:nvSpPr>
          <p:cNvPr id="6" name="Shape 4"/>
          <p:cNvSpPr/>
          <p:nvPr/>
        </p:nvSpPr>
        <p:spPr>
          <a:xfrm>
            <a:off x="457200" y="1627632"/>
            <a:ext cx="4023360" cy="77724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7" name="Shape 5"/>
          <p:cNvSpPr/>
          <p:nvPr/>
        </p:nvSpPr>
        <p:spPr>
          <a:xfrm>
            <a:off x="457200" y="1627632"/>
            <a:ext cx="64008" cy="777240"/>
          </a:xfrm>
          <a:prstGeom prst="rect">
            <a:avLst/>
          </a:prstGeom>
          <a:solidFill>
            <a:srgbClr val="2C5BD8"/>
          </a:solidFill>
          <a:ln w="12700">
            <a:solidFill>
              <a:srgbClr val="2C5BD8"/>
            </a:solidFill>
            <a:prstDash val="solid"/>
          </a:ln>
        </p:spPr>
        <p:txBody>
          <a:bodyPr/>
          <a:lstStyle/>
          <a:p>
            <a:endParaRPr lang="uk-UA"/>
          </a:p>
        </p:txBody>
      </p:sp>
      <p:sp>
        <p:nvSpPr>
          <p:cNvPr id="8" name="Shape 6"/>
          <p:cNvSpPr/>
          <p:nvPr/>
        </p:nvSpPr>
        <p:spPr>
          <a:xfrm>
            <a:off x="640080" y="1783080"/>
            <a:ext cx="457200" cy="457200"/>
          </a:xfrm>
          <a:prstGeom prst="ellipse">
            <a:avLst/>
          </a:prstGeom>
          <a:solidFill>
            <a:srgbClr val="E8F0FE"/>
          </a:solidFill>
          <a:ln w="12700">
            <a:solidFill>
              <a:srgbClr val="E8F0FE"/>
            </a:solidFill>
            <a:prstDash val="solid"/>
          </a:ln>
        </p:spPr>
        <p:txBody>
          <a:bodyPr/>
          <a:lstStyle/>
          <a:p>
            <a:endParaRPr lang="uk-UA"/>
          </a:p>
        </p:txBody>
      </p:sp>
      <p:pic>
        <p:nvPicPr>
          <p:cNvPr id="9" name="Image 0" descr="preencoded.png"/>
          <p:cNvPicPr>
            <a:picLocks noChangeAspect="1"/>
          </p:cNvPicPr>
          <p:nvPr/>
        </p:nvPicPr>
        <p:blipFill>
          <a:blip r:embed="rId3"/>
          <a:stretch>
            <a:fillRect/>
          </a:stretch>
        </p:blipFill>
        <p:spPr>
          <a:xfrm>
            <a:off x="754380" y="1897380"/>
            <a:ext cx="228600" cy="228600"/>
          </a:xfrm>
          <a:prstGeom prst="rect">
            <a:avLst/>
          </a:prstGeom>
        </p:spPr>
      </p:pic>
      <p:sp>
        <p:nvSpPr>
          <p:cNvPr id="10" name="Text 7"/>
          <p:cNvSpPr/>
          <p:nvPr/>
        </p:nvSpPr>
        <p:spPr>
          <a:xfrm>
            <a:off x="1234440" y="1700784"/>
            <a:ext cx="3108960" cy="256032"/>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MovieLens</a:t>
            </a:r>
            <a:endParaRPr lang="en-US" sz="1200" dirty="0"/>
          </a:p>
        </p:txBody>
      </p:sp>
      <p:sp>
        <p:nvSpPr>
          <p:cNvPr id="11" name="Text 8"/>
          <p:cNvSpPr/>
          <p:nvPr/>
        </p:nvSpPr>
        <p:spPr>
          <a:xfrm>
            <a:off x="1234440" y="1956816"/>
            <a:ext cx="3108960" cy="365760"/>
          </a:xfrm>
          <a:prstGeom prst="rect">
            <a:avLst/>
          </a:prstGeom>
          <a:noFill/>
          <a:ln/>
        </p:spPr>
        <p:txBody>
          <a:bodyPr wrap="square" lIns="0" tIns="0" rIns="0" bIns="0" rtlCol="0" anchor="ctr"/>
          <a:lstStyle/>
          <a:p>
            <a:pPr marL="0" indent="0">
              <a:buNone/>
            </a:pPr>
            <a:r>
              <a:rPr lang="en-US" sz="1300" b="1" dirty="0">
                <a:solidFill>
                  <a:srgbClr val="2C5BD8"/>
                </a:solidFill>
                <a:latin typeface="Calibri" pitchFamily="34" charset="0"/>
                <a:ea typeface="Calibri" pitchFamily="34" charset="-122"/>
                <a:cs typeface="Calibri" pitchFamily="34" charset="-120"/>
              </a:rPr>
              <a:t>32 млн</a:t>
            </a:r>
            <a:r>
              <a:rPr lang="en-US" sz="1100" dirty="0">
                <a:solidFill>
                  <a:srgbClr val="1F2937"/>
                </a:solidFill>
                <a:latin typeface="Calibri" pitchFamily="34" charset="0"/>
                <a:ea typeface="Calibri" pitchFamily="34" charset="-122"/>
                <a:cs typeface="Calibri" pitchFamily="34" charset="-120"/>
              </a:rPr>
              <a:t> оцінок · </a:t>
            </a:r>
            <a:r>
              <a:rPr lang="en-US" sz="1300" b="1" dirty="0">
                <a:solidFill>
                  <a:srgbClr val="2C5BD8"/>
                </a:solidFill>
                <a:latin typeface="Calibri" pitchFamily="34" charset="0"/>
                <a:ea typeface="Calibri" pitchFamily="34" charset="-122"/>
                <a:cs typeface="Calibri" pitchFamily="34" charset="-120"/>
              </a:rPr>
              <a:t>88 тис.</a:t>
            </a:r>
            <a:r>
              <a:rPr lang="en-US" sz="1100" dirty="0">
                <a:solidFill>
                  <a:srgbClr val="1F2937"/>
                </a:solidFill>
                <a:latin typeface="Calibri" pitchFamily="34" charset="0"/>
                <a:ea typeface="Calibri" pitchFamily="34" charset="-122"/>
                <a:cs typeface="Calibri" pitchFamily="34" charset="-120"/>
              </a:rPr>
              <a:t> фільмів</a:t>
            </a:r>
            <a:endParaRPr lang="en-US" sz="1300" dirty="0"/>
          </a:p>
        </p:txBody>
      </p:sp>
      <p:sp>
        <p:nvSpPr>
          <p:cNvPr id="12" name="Shape 9"/>
          <p:cNvSpPr/>
          <p:nvPr/>
        </p:nvSpPr>
        <p:spPr>
          <a:xfrm>
            <a:off x="4663440" y="1627632"/>
            <a:ext cx="4023360" cy="77724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3" name="Shape 10"/>
          <p:cNvSpPr/>
          <p:nvPr/>
        </p:nvSpPr>
        <p:spPr>
          <a:xfrm>
            <a:off x="4663440" y="1627632"/>
            <a:ext cx="64008" cy="777240"/>
          </a:xfrm>
          <a:prstGeom prst="rect">
            <a:avLst/>
          </a:prstGeom>
          <a:solidFill>
            <a:srgbClr val="20B7D1"/>
          </a:solidFill>
          <a:ln w="12700">
            <a:solidFill>
              <a:srgbClr val="20B7D1"/>
            </a:solidFill>
            <a:prstDash val="solid"/>
          </a:ln>
        </p:spPr>
        <p:txBody>
          <a:bodyPr/>
          <a:lstStyle/>
          <a:p>
            <a:endParaRPr lang="uk-UA"/>
          </a:p>
        </p:txBody>
      </p:sp>
      <p:sp>
        <p:nvSpPr>
          <p:cNvPr id="14" name="Shape 11"/>
          <p:cNvSpPr/>
          <p:nvPr/>
        </p:nvSpPr>
        <p:spPr>
          <a:xfrm>
            <a:off x="4846320" y="1783080"/>
            <a:ext cx="457200" cy="457200"/>
          </a:xfrm>
          <a:prstGeom prst="ellipse">
            <a:avLst/>
          </a:prstGeom>
          <a:solidFill>
            <a:srgbClr val="D6F1F7"/>
          </a:solidFill>
          <a:ln w="12700">
            <a:solidFill>
              <a:srgbClr val="D6F1F7"/>
            </a:solidFill>
            <a:prstDash val="solid"/>
          </a:ln>
        </p:spPr>
        <p:txBody>
          <a:bodyPr/>
          <a:lstStyle/>
          <a:p>
            <a:endParaRPr lang="uk-UA"/>
          </a:p>
        </p:txBody>
      </p:sp>
      <p:pic>
        <p:nvPicPr>
          <p:cNvPr id="15" name="Image 1" descr="preencoded.png"/>
          <p:cNvPicPr>
            <a:picLocks noChangeAspect="1"/>
          </p:cNvPicPr>
          <p:nvPr/>
        </p:nvPicPr>
        <p:blipFill>
          <a:blip r:embed="rId4"/>
          <a:stretch>
            <a:fillRect/>
          </a:stretch>
        </p:blipFill>
        <p:spPr>
          <a:xfrm>
            <a:off x="4960620" y="1897380"/>
            <a:ext cx="228600" cy="228600"/>
          </a:xfrm>
          <a:prstGeom prst="rect">
            <a:avLst/>
          </a:prstGeom>
        </p:spPr>
      </p:pic>
      <p:sp>
        <p:nvSpPr>
          <p:cNvPr id="16" name="Text 12"/>
          <p:cNvSpPr/>
          <p:nvPr/>
        </p:nvSpPr>
        <p:spPr>
          <a:xfrm>
            <a:off x="5440680" y="1700784"/>
            <a:ext cx="3108960" cy="256032"/>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Сформована вибірка</a:t>
            </a:r>
            <a:endParaRPr lang="en-US" sz="1200" dirty="0"/>
          </a:p>
        </p:txBody>
      </p:sp>
      <p:sp>
        <p:nvSpPr>
          <p:cNvPr id="17" name="Text 13"/>
          <p:cNvSpPr/>
          <p:nvPr/>
        </p:nvSpPr>
        <p:spPr>
          <a:xfrm>
            <a:off x="5440680" y="1956816"/>
            <a:ext cx="3108960" cy="365760"/>
          </a:xfrm>
          <a:prstGeom prst="rect">
            <a:avLst/>
          </a:prstGeom>
          <a:noFill/>
          <a:ln/>
        </p:spPr>
        <p:txBody>
          <a:bodyPr wrap="square" lIns="0" tIns="0" rIns="0" bIns="0" rtlCol="0" anchor="ctr"/>
          <a:lstStyle/>
          <a:p>
            <a:pPr marL="0" indent="0">
              <a:buNone/>
            </a:pPr>
            <a:r>
              <a:rPr lang="en-US" sz="1300" b="1" dirty="0">
                <a:solidFill>
                  <a:srgbClr val="20B7D1"/>
                </a:solidFill>
                <a:latin typeface="Calibri" pitchFamily="34" charset="0"/>
                <a:ea typeface="Calibri" pitchFamily="34" charset="-122"/>
                <a:cs typeface="Calibri" pitchFamily="34" charset="-120"/>
              </a:rPr>
              <a:t>1000</a:t>
            </a:r>
            <a:r>
              <a:rPr lang="en-US" sz="1100" dirty="0">
                <a:solidFill>
                  <a:srgbClr val="1F2937"/>
                </a:solidFill>
                <a:latin typeface="Calibri" pitchFamily="34" charset="0"/>
                <a:ea typeface="Calibri" pitchFamily="34" charset="-122"/>
                <a:cs typeface="Calibri" pitchFamily="34" charset="-120"/>
              </a:rPr>
              <a:t> груп · </a:t>
            </a:r>
            <a:r>
              <a:rPr lang="en-US" sz="1300" b="1" dirty="0">
                <a:solidFill>
                  <a:srgbClr val="20B7D1"/>
                </a:solidFill>
                <a:latin typeface="Calibri" pitchFamily="34" charset="0"/>
                <a:ea typeface="Calibri" pitchFamily="34" charset="-122"/>
                <a:cs typeface="Calibri" pitchFamily="34" charset="-120"/>
              </a:rPr>
              <a:t>2-4 </a:t>
            </a:r>
            <a:r>
              <a:rPr lang="en-US" sz="1100" dirty="0">
                <a:solidFill>
                  <a:srgbClr val="1F2937"/>
                </a:solidFill>
                <a:latin typeface="Calibri" pitchFamily="34" charset="0"/>
                <a:ea typeface="Calibri" pitchFamily="34" charset="-122"/>
                <a:cs typeface="Calibri" pitchFamily="34" charset="-120"/>
              </a:rPr>
              <a:t>користувачі · </a:t>
            </a:r>
            <a:r>
              <a:rPr lang="en-US" sz="1300" b="1" dirty="0">
                <a:solidFill>
                  <a:srgbClr val="20B7D1"/>
                </a:solidFill>
                <a:latin typeface="Calibri" pitchFamily="34" charset="0"/>
                <a:ea typeface="Calibri" pitchFamily="34" charset="-122"/>
                <a:cs typeface="Calibri" pitchFamily="34" charset="-120"/>
              </a:rPr>
              <a:t>≥10 </a:t>
            </a:r>
            <a:r>
              <a:rPr lang="en-US" sz="1100" dirty="0">
                <a:solidFill>
                  <a:srgbClr val="1F2937"/>
                </a:solidFill>
                <a:latin typeface="Calibri" pitchFamily="34" charset="0"/>
                <a:ea typeface="Calibri" pitchFamily="34" charset="-122"/>
                <a:cs typeface="Calibri" pitchFamily="34" charset="-120"/>
              </a:rPr>
              <a:t>взаємодій</a:t>
            </a:r>
            <a:endParaRPr lang="en-US" sz="1300" dirty="0"/>
          </a:p>
        </p:txBody>
      </p:sp>
      <p:sp>
        <p:nvSpPr>
          <p:cNvPr id="18" name="Shape 14"/>
          <p:cNvSpPr/>
          <p:nvPr/>
        </p:nvSpPr>
        <p:spPr>
          <a:xfrm>
            <a:off x="457200" y="2560320"/>
            <a:ext cx="4023360" cy="224028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9" name="Shape 15"/>
          <p:cNvSpPr/>
          <p:nvPr/>
        </p:nvSpPr>
        <p:spPr>
          <a:xfrm>
            <a:off x="457200" y="2560320"/>
            <a:ext cx="4023360" cy="54864"/>
          </a:xfrm>
          <a:prstGeom prst="rect">
            <a:avLst/>
          </a:prstGeom>
          <a:solidFill>
            <a:srgbClr val="7B5CD9"/>
          </a:solidFill>
          <a:ln w="12700">
            <a:solidFill>
              <a:srgbClr val="7B5CD9"/>
            </a:solidFill>
            <a:prstDash val="solid"/>
          </a:ln>
        </p:spPr>
        <p:txBody>
          <a:bodyPr/>
          <a:lstStyle/>
          <a:p>
            <a:endParaRPr lang="uk-UA"/>
          </a:p>
        </p:txBody>
      </p:sp>
      <p:sp>
        <p:nvSpPr>
          <p:cNvPr id="20" name="Text 16"/>
          <p:cNvSpPr/>
          <p:nvPr/>
        </p:nvSpPr>
        <p:spPr>
          <a:xfrm>
            <a:off x="640080" y="2697480"/>
            <a:ext cx="3657600" cy="292608"/>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Правила побудови груп користувачів</a:t>
            </a:r>
            <a:endParaRPr lang="en-US" sz="1200" dirty="0"/>
          </a:p>
        </p:txBody>
      </p:sp>
      <p:sp>
        <p:nvSpPr>
          <p:cNvPr id="21" name="Shape 17"/>
          <p:cNvSpPr/>
          <p:nvPr/>
        </p:nvSpPr>
        <p:spPr>
          <a:xfrm>
            <a:off x="640080" y="3154680"/>
            <a:ext cx="118872" cy="118872"/>
          </a:xfrm>
          <a:prstGeom prst="ellipse">
            <a:avLst/>
          </a:prstGeom>
          <a:solidFill>
            <a:srgbClr val="7B5CD9"/>
          </a:solidFill>
          <a:ln w="12700">
            <a:solidFill>
              <a:srgbClr val="7B5CD9"/>
            </a:solidFill>
            <a:prstDash val="solid"/>
          </a:ln>
        </p:spPr>
        <p:txBody>
          <a:bodyPr/>
          <a:lstStyle/>
          <a:p>
            <a:endParaRPr lang="uk-UA"/>
          </a:p>
        </p:txBody>
      </p:sp>
      <p:sp>
        <p:nvSpPr>
          <p:cNvPr id="22" name="Text 18"/>
          <p:cNvSpPr/>
          <p:nvPr/>
        </p:nvSpPr>
        <p:spPr>
          <a:xfrm>
            <a:off x="841248" y="3063240"/>
            <a:ext cx="352044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1000 груп з 2-4 користувачів</a:t>
            </a:r>
            <a:endParaRPr lang="en-US" sz="1050" dirty="0"/>
          </a:p>
        </p:txBody>
      </p:sp>
      <p:sp>
        <p:nvSpPr>
          <p:cNvPr id="23" name="Shape 19"/>
          <p:cNvSpPr/>
          <p:nvPr/>
        </p:nvSpPr>
        <p:spPr>
          <a:xfrm>
            <a:off x="640080" y="3465576"/>
            <a:ext cx="118872" cy="118872"/>
          </a:xfrm>
          <a:prstGeom prst="ellipse">
            <a:avLst/>
          </a:prstGeom>
          <a:solidFill>
            <a:srgbClr val="7B5CD9"/>
          </a:solidFill>
          <a:ln w="12700">
            <a:solidFill>
              <a:srgbClr val="7B5CD9"/>
            </a:solidFill>
            <a:prstDash val="solid"/>
          </a:ln>
        </p:spPr>
        <p:txBody>
          <a:bodyPr/>
          <a:lstStyle/>
          <a:p>
            <a:endParaRPr lang="uk-UA"/>
          </a:p>
        </p:txBody>
      </p:sp>
      <p:sp>
        <p:nvSpPr>
          <p:cNvPr id="24" name="Text 20"/>
          <p:cNvSpPr/>
          <p:nvPr/>
        </p:nvSpPr>
        <p:spPr>
          <a:xfrm>
            <a:off x="841248" y="3374136"/>
            <a:ext cx="352044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≥10 спільних взаємодій між учасниками</a:t>
            </a:r>
            <a:endParaRPr lang="en-US" sz="1050" dirty="0"/>
          </a:p>
        </p:txBody>
      </p:sp>
      <p:sp>
        <p:nvSpPr>
          <p:cNvPr id="25" name="Shape 21"/>
          <p:cNvSpPr/>
          <p:nvPr/>
        </p:nvSpPr>
        <p:spPr>
          <a:xfrm>
            <a:off x="640080" y="3776472"/>
            <a:ext cx="118872" cy="118872"/>
          </a:xfrm>
          <a:prstGeom prst="ellipse">
            <a:avLst/>
          </a:prstGeom>
          <a:solidFill>
            <a:srgbClr val="7B5CD9"/>
          </a:solidFill>
          <a:ln w="12700">
            <a:solidFill>
              <a:srgbClr val="7B5CD9"/>
            </a:solidFill>
            <a:prstDash val="solid"/>
          </a:ln>
        </p:spPr>
        <p:txBody>
          <a:bodyPr/>
          <a:lstStyle/>
          <a:p>
            <a:endParaRPr lang="uk-UA"/>
          </a:p>
        </p:txBody>
      </p:sp>
      <p:sp>
        <p:nvSpPr>
          <p:cNvPr id="26" name="Text 22"/>
          <p:cNvSpPr/>
          <p:nvPr/>
        </p:nvSpPr>
        <p:spPr>
          <a:xfrm>
            <a:off x="841248" y="3685032"/>
            <a:ext cx="352044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Всі оцінки ≥4 → групова оцінка = 1</a:t>
            </a:r>
            <a:endParaRPr lang="en-US" sz="1050" dirty="0"/>
          </a:p>
        </p:txBody>
      </p:sp>
      <p:sp>
        <p:nvSpPr>
          <p:cNvPr id="27" name="Shape 23"/>
          <p:cNvSpPr/>
          <p:nvPr/>
        </p:nvSpPr>
        <p:spPr>
          <a:xfrm>
            <a:off x="640080" y="4087368"/>
            <a:ext cx="118872" cy="118872"/>
          </a:xfrm>
          <a:prstGeom prst="ellipse">
            <a:avLst/>
          </a:prstGeom>
          <a:solidFill>
            <a:srgbClr val="7B5CD9"/>
          </a:solidFill>
          <a:ln w="12700">
            <a:solidFill>
              <a:srgbClr val="7B5CD9"/>
            </a:solidFill>
            <a:prstDash val="solid"/>
          </a:ln>
        </p:spPr>
        <p:txBody>
          <a:bodyPr/>
          <a:lstStyle/>
          <a:p>
            <a:endParaRPr lang="uk-UA"/>
          </a:p>
        </p:txBody>
      </p:sp>
      <p:sp>
        <p:nvSpPr>
          <p:cNvPr id="28" name="Text 24"/>
          <p:cNvSpPr/>
          <p:nvPr/>
        </p:nvSpPr>
        <p:spPr>
          <a:xfrm>
            <a:off x="841248" y="3995928"/>
            <a:ext cx="352044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≥50% оцінок &lt;4 → групова оцінка = 0</a:t>
            </a:r>
            <a:endParaRPr lang="en-US" sz="1050" dirty="0"/>
          </a:p>
        </p:txBody>
      </p:sp>
      <p:sp>
        <p:nvSpPr>
          <p:cNvPr id="29" name="Shape 25"/>
          <p:cNvSpPr/>
          <p:nvPr/>
        </p:nvSpPr>
        <p:spPr>
          <a:xfrm>
            <a:off x="640080" y="4398264"/>
            <a:ext cx="118872" cy="118872"/>
          </a:xfrm>
          <a:prstGeom prst="ellipse">
            <a:avLst/>
          </a:prstGeom>
          <a:solidFill>
            <a:srgbClr val="7B5CD9"/>
          </a:solidFill>
          <a:ln w="12700">
            <a:solidFill>
              <a:srgbClr val="7B5CD9"/>
            </a:solidFill>
            <a:prstDash val="solid"/>
          </a:ln>
        </p:spPr>
        <p:txBody>
          <a:bodyPr/>
          <a:lstStyle/>
          <a:p>
            <a:endParaRPr lang="uk-UA"/>
          </a:p>
        </p:txBody>
      </p:sp>
      <p:sp>
        <p:nvSpPr>
          <p:cNvPr id="30" name="Text 26"/>
          <p:cNvSpPr/>
          <p:nvPr/>
        </p:nvSpPr>
        <p:spPr>
          <a:xfrm>
            <a:off x="841248" y="4306824"/>
            <a:ext cx="352044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Інші фільми відкидаються</a:t>
            </a:r>
            <a:endParaRPr lang="en-US" sz="1050" dirty="0"/>
          </a:p>
        </p:txBody>
      </p:sp>
      <p:sp>
        <p:nvSpPr>
          <p:cNvPr id="31" name="Text 27"/>
          <p:cNvSpPr/>
          <p:nvPr/>
        </p:nvSpPr>
        <p:spPr>
          <a:xfrm>
            <a:off x="4663440" y="2514600"/>
            <a:ext cx="4023360" cy="256032"/>
          </a:xfrm>
          <a:prstGeom prst="rect">
            <a:avLst/>
          </a:prstGeom>
          <a:noFill/>
          <a:ln/>
        </p:spPr>
        <p:txBody>
          <a:bodyPr wrap="square" lIns="0" tIns="0" rIns="0" bIns="0" rtlCol="0" anchor="ctr"/>
          <a:lstStyle/>
          <a:p>
            <a:pPr marL="0" indent="0">
              <a:buNone/>
            </a:pPr>
            <a:r>
              <a:rPr lang="en-US" sz="900" i="1" dirty="0">
                <a:solidFill>
                  <a:srgbClr val="687891"/>
                </a:solidFill>
                <a:latin typeface="Calibri" pitchFamily="34" charset="0"/>
                <a:ea typeface="Calibri" pitchFamily="34" charset="-122"/>
                <a:cs typeface="Calibri" pitchFamily="34" charset="-120"/>
              </a:rPr>
              <a:t>Табл. 1. Статистика сформованого набору груп</a:t>
            </a:r>
            <a:endParaRPr lang="en-US" sz="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663440" y="2743200"/>
          <a:ext cx="4023360" cy="1828800"/>
        </p:xfrm>
        <a:graphic>
          <a:graphicData uri="http://schemas.openxmlformats.org/drawingml/2006/table">
            <a:tbl>
              <a:tblPr/>
              <a:tblGrid>
                <a:gridCol w="6400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365760">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Розмір</a:t>
                      </a:r>
                      <a:endParaRPr lang="en-US" sz="9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К-сть груп</a:t>
                      </a:r>
                      <a:endParaRPr lang="en-US" sz="9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Користувачі</a:t>
                      </a:r>
                      <a:endParaRPr lang="en-US" sz="9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Елементи</a:t>
                      </a:r>
                      <a:endParaRPr lang="en-US" sz="9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Оцінки</a:t>
                      </a:r>
                      <a:endParaRPr lang="en-US" sz="9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extLst>
                  <a:ext uri="{0D108BD9-81ED-4DB2-BD59-A6C34878D82A}">
                    <a16:rowId xmlns:a16="http://schemas.microsoft.com/office/drawing/2014/main" val="10000"/>
                  </a:ext>
                </a:extLst>
              </a:tr>
              <a:tr h="365760">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811</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1622</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1979</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23878</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164</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492</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936</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4379</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25</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388</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732</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ctr">
                        <a:buNone/>
                      </a:pPr>
                      <a:r>
                        <a:rPr lang="en-US" sz="950" b="1" dirty="0">
                          <a:solidFill>
                            <a:srgbClr val="0F1A35"/>
                          </a:solidFill>
                          <a:latin typeface="Calibri" pitchFamily="34" charset="0"/>
                          <a:ea typeface="Calibri" pitchFamily="34" charset="-122"/>
                          <a:cs typeface="Calibri" pitchFamily="34" charset="-120"/>
                        </a:rPr>
                        <a:t>Усього</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ctr">
                        <a:buNone/>
                      </a:pPr>
                      <a:r>
                        <a:rPr lang="en-US" sz="950" b="1" dirty="0">
                          <a:solidFill>
                            <a:srgbClr val="0F1A35"/>
                          </a:solidFill>
                          <a:latin typeface="Calibri" pitchFamily="34" charset="0"/>
                          <a:ea typeface="Calibri" pitchFamily="34" charset="-122"/>
                          <a:cs typeface="Calibri" pitchFamily="34" charset="-120"/>
                        </a:rPr>
                        <a:t>1000</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ctr">
                        <a:buNone/>
                      </a:pPr>
                      <a:r>
                        <a:rPr lang="en-US" sz="950" b="1" dirty="0">
                          <a:solidFill>
                            <a:srgbClr val="0F1A35"/>
                          </a:solidFill>
                          <a:latin typeface="Calibri" pitchFamily="34" charset="0"/>
                          <a:ea typeface="Calibri" pitchFamily="34" charset="-122"/>
                          <a:cs typeface="Calibri" pitchFamily="34" charset="-120"/>
                        </a:rPr>
                        <a:t>2214</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ctr">
                        <a:buNone/>
                      </a:pPr>
                      <a:r>
                        <a:rPr lang="en-US" sz="950" b="1" dirty="0">
                          <a:solidFill>
                            <a:srgbClr val="0F1A35"/>
                          </a:solidFill>
                          <a:latin typeface="Calibri" pitchFamily="34" charset="0"/>
                          <a:ea typeface="Calibri" pitchFamily="34" charset="-122"/>
                          <a:cs typeface="Calibri" pitchFamily="34" charset="-120"/>
                        </a:rPr>
                        <a:t>2093</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ctr">
                        <a:buNone/>
                      </a:pPr>
                      <a:r>
                        <a:rPr lang="en-US" sz="950" b="1" dirty="0">
                          <a:solidFill>
                            <a:srgbClr val="0F1A35"/>
                          </a:solidFill>
                          <a:latin typeface="Calibri" pitchFamily="34" charset="0"/>
                          <a:ea typeface="Calibri" pitchFamily="34" charset="-122"/>
                          <a:cs typeface="Calibri" pitchFamily="34" charset="-120"/>
                        </a:rPr>
                        <a:t>28989</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extLst>
                  <a:ext uri="{0D108BD9-81ED-4DB2-BD59-A6C34878D82A}">
                    <a16:rowId xmlns:a16="http://schemas.microsoft.com/office/drawing/2014/main" val="10004"/>
                  </a:ext>
                </a:extLst>
              </a:tr>
            </a:tbl>
          </a:graphicData>
        </a:graphic>
      </p:graphicFrame>
      <p:sp>
        <p:nvSpPr>
          <p:cNvPr id="34" name="Shape 28"/>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35" name="Text 29"/>
          <p:cNvSpPr/>
          <p:nvPr/>
        </p:nvSpPr>
        <p:spPr>
          <a:xfrm>
            <a:off x="457200" y="4901184"/>
            <a:ext cx="6858000" cy="228600"/>
          </a:xfrm>
          <a:prstGeom prst="rect">
            <a:avLst/>
          </a:prstGeom>
          <a:noFill/>
          <a:ln/>
        </p:spPr>
        <p:txBody>
          <a:bodyPr wrap="square" lIns="0" tIns="0" rIns="0" bIns="0" rtlCol="0" anchor="ctr"/>
          <a:lstStyle/>
          <a:p>
            <a:pPr marL="0" indent="0">
              <a:buNone/>
            </a:pPr>
            <a:r>
              <a:rPr lang="en-US" sz="90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ML з підкріпленням</a:t>
            </a:r>
            <a:endParaRPr lang="en-US" sz="900" dirty="0"/>
          </a:p>
        </p:txBody>
      </p:sp>
      <p:sp>
        <p:nvSpPr>
          <p:cNvPr id="36" name="Text 30"/>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06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ВІЗУАЛІЗАЦІЯ ДАНИХ</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Схема формування груп та групових оцінок</a:t>
            </a:r>
            <a:endParaRPr lang="en-US" sz="2800" dirty="0"/>
          </a:p>
        </p:txBody>
      </p:sp>
      <p:pic>
        <p:nvPicPr>
          <p:cNvPr id="5" name="Image 0" descr="figs/groups_scheme.png"/>
          <p:cNvPicPr>
            <a:picLocks noChangeAspect="1"/>
          </p:cNvPicPr>
          <p:nvPr/>
        </p:nvPicPr>
        <p:blipFill>
          <a:blip r:embed="rId3"/>
          <a:stretch>
            <a:fillRect/>
          </a:stretch>
        </p:blipFill>
        <p:spPr>
          <a:xfrm>
            <a:off x="457200" y="1417320"/>
            <a:ext cx="5029200" cy="2796639"/>
          </a:xfrm>
          <a:prstGeom prst="rect">
            <a:avLst/>
          </a:prstGeom>
        </p:spPr>
      </p:pic>
      <p:sp>
        <p:nvSpPr>
          <p:cNvPr id="6" name="Text 3"/>
          <p:cNvSpPr/>
          <p:nvPr/>
        </p:nvSpPr>
        <p:spPr>
          <a:xfrm>
            <a:off x="457200" y="4259679"/>
            <a:ext cx="5029200" cy="228600"/>
          </a:xfrm>
          <a:prstGeom prst="rect">
            <a:avLst/>
          </a:prstGeom>
          <a:noFill/>
          <a:ln/>
        </p:spPr>
        <p:txBody>
          <a:bodyPr wrap="square" lIns="0" tIns="0" rIns="0" bIns="0" rtlCol="0" anchor="ctr"/>
          <a:lstStyle/>
          <a:p>
            <a:pPr marL="0" indent="0" algn="ctr">
              <a:buNone/>
            </a:pPr>
            <a:r>
              <a:rPr lang="en-US" sz="900" i="1" dirty="0">
                <a:solidFill>
                  <a:srgbClr val="687891"/>
                </a:solidFill>
                <a:latin typeface="Calibri" pitchFamily="34" charset="0"/>
                <a:ea typeface="Calibri" pitchFamily="34" charset="-122"/>
                <a:cs typeface="Calibri" pitchFamily="34" charset="-120"/>
              </a:rPr>
              <a:t>Рис. 2-3. Схема формування груп користувачів і групових оцінок</a:t>
            </a:r>
            <a:endParaRPr lang="en-US" sz="900" dirty="0"/>
          </a:p>
        </p:txBody>
      </p:sp>
      <p:sp>
        <p:nvSpPr>
          <p:cNvPr id="7" name="Shape 4"/>
          <p:cNvSpPr/>
          <p:nvPr/>
        </p:nvSpPr>
        <p:spPr>
          <a:xfrm>
            <a:off x="5760720" y="1417320"/>
            <a:ext cx="2926080" cy="12801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8" name="Shape 5"/>
          <p:cNvSpPr/>
          <p:nvPr/>
        </p:nvSpPr>
        <p:spPr>
          <a:xfrm>
            <a:off x="5760720" y="1417320"/>
            <a:ext cx="64008" cy="1280160"/>
          </a:xfrm>
          <a:prstGeom prst="rect">
            <a:avLst/>
          </a:prstGeom>
          <a:solidFill>
            <a:srgbClr val="2C5BD8"/>
          </a:solidFill>
          <a:ln w="12700">
            <a:solidFill>
              <a:srgbClr val="2C5BD8"/>
            </a:solidFill>
            <a:prstDash val="solid"/>
          </a:ln>
        </p:spPr>
        <p:txBody>
          <a:bodyPr/>
          <a:lstStyle/>
          <a:p>
            <a:endParaRPr lang="uk-UA"/>
          </a:p>
        </p:txBody>
      </p:sp>
      <p:sp>
        <p:nvSpPr>
          <p:cNvPr id="9" name="Shape 6"/>
          <p:cNvSpPr/>
          <p:nvPr/>
        </p:nvSpPr>
        <p:spPr>
          <a:xfrm>
            <a:off x="5925312" y="1600200"/>
            <a:ext cx="384048" cy="384048"/>
          </a:xfrm>
          <a:prstGeom prst="ellipse">
            <a:avLst/>
          </a:prstGeom>
          <a:solidFill>
            <a:srgbClr val="E8F0FE"/>
          </a:solidFill>
          <a:ln w="12700">
            <a:solidFill>
              <a:srgbClr val="E8F0FE"/>
            </a:solidFill>
            <a:prstDash val="solid"/>
          </a:ln>
        </p:spPr>
        <p:txBody>
          <a:bodyPr/>
          <a:lstStyle/>
          <a:p>
            <a:endParaRPr lang="uk-UA"/>
          </a:p>
        </p:txBody>
      </p:sp>
      <p:pic>
        <p:nvPicPr>
          <p:cNvPr id="10" name="Image 1" descr="preencoded.png"/>
          <p:cNvPicPr>
            <a:picLocks noChangeAspect="1"/>
          </p:cNvPicPr>
          <p:nvPr/>
        </p:nvPicPr>
        <p:blipFill>
          <a:blip r:embed="rId4"/>
          <a:stretch>
            <a:fillRect/>
          </a:stretch>
        </p:blipFill>
        <p:spPr>
          <a:xfrm>
            <a:off x="6021324" y="1696212"/>
            <a:ext cx="192024" cy="192024"/>
          </a:xfrm>
          <a:prstGeom prst="rect">
            <a:avLst/>
          </a:prstGeom>
        </p:spPr>
      </p:pic>
      <p:sp>
        <p:nvSpPr>
          <p:cNvPr id="11" name="Text 7"/>
          <p:cNvSpPr/>
          <p:nvPr/>
        </p:nvSpPr>
        <p:spPr>
          <a:xfrm>
            <a:off x="6446520" y="1618488"/>
            <a:ext cx="2148840" cy="274320"/>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Як читати схему</a:t>
            </a:r>
            <a:endParaRPr lang="en-US" sz="1200" dirty="0"/>
          </a:p>
        </p:txBody>
      </p:sp>
      <p:sp>
        <p:nvSpPr>
          <p:cNvPr id="12" name="Text 8"/>
          <p:cNvSpPr/>
          <p:nvPr/>
        </p:nvSpPr>
        <p:spPr>
          <a:xfrm>
            <a:off x="5925312" y="1965960"/>
            <a:ext cx="2651760" cy="685800"/>
          </a:xfrm>
          <a:prstGeom prst="rect">
            <a:avLst/>
          </a:prstGeom>
          <a:noFill/>
          <a:ln/>
        </p:spPr>
        <p:txBody>
          <a:bodyPr wrap="square" lIns="0" tIns="0" rIns="0" bIns="0" rtlCol="0" anchor="ctr"/>
          <a:lstStyle/>
          <a:p>
            <a:pPr marL="0" indent="0">
              <a:lnSpc>
                <a:spcPct val="115000"/>
              </a:lnSpc>
              <a:buNone/>
            </a:pPr>
            <a:r>
              <a:rPr lang="en-US" sz="950" b="1" dirty="0">
                <a:solidFill>
                  <a:srgbClr val="2C5BD8"/>
                </a:solidFill>
                <a:latin typeface="Calibri" pitchFamily="34" charset="0"/>
                <a:ea typeface="Calibri" pitchFamily="34" charset="-122"/>
                <a:cs typeface="Calibri" pitchFamily="34" charset="-120"/>
              </a:rPr>
              <a:t>u₁…u₅ — </a:t>
            </a:r>
            <a:r>
              <a:rPr lang="en-US" sz="950" dirty="0">
                <a:solidFill>
                  <a:srgbClr val="1F2937"/>
                </a:solidFill>
                <a:latin typeface="Calibri" pitchFamily="34" charset="0"/>
                <a:ea typeface="Calibri" pitchFamily="34" charset="-122"/>
                <a:cs typeface="Calibri" pitchFamily="34" charset="-120"/>
              </a:rPr>
              <a:t>користувачі, </a:t>
            </a:r>
            <a:r>
              <a:rPr lang="en-US" sz="950" b="1" dirty="0">
                <a:solidFill>
                  <a:srgbClr val="2C5BD8"/>
                </a:solidFill>
                <a:latin typeface="Calibri" pitchFamily="34" charset="0"/>
                <a:ea typeface="Calibri" pitchFamily="34" charset="-122"/>
                <a:cs typeface="Calibri" pitchFamily="34" charset="-120"/>
              </a:rPr>
              <a:t>i₁…i₄ — </a:t>
            </a:r>
            <a:r>
              <a:rPr lang="en-US" sz="950" dirty="0">
                <a:solidFill>
                  <a:srgbClr val="1F2937"/>
                </a:solidFill>
                <a:latin typeface="Calibri" pitchFamily="34" charset="0"/>
                <a:ea typeface="Calibri" pitchFamily="34" charset="-122"/>
                <a:cs typeface="Calibri" pitchFamily="34" charset="-120"/>
              </a:rPr>
              <a:t>елементи (фільми), </a:t>
            </a:r>
            <a:endParaRPr lang="en-US" sz="950" dirty="0"/>
          </a:p>
          <a:p>
            <a:pPr marL="0" indent="0">
              <a:lnSpc>
                <a:spcPct val="115000"/>
              </a:lnSpc>
              <a:buNone/>
            </a:pPr>
            <a:r>
              <a:rPr lang="en-US" sz="950" b="1" dirty="0">
                <a:solidFill>
                  <a:srgbClr val="2C5BD8"/>
                </a:solidFill>
                <a:latin typeface="Calibri" pitchFamily="34" charset="0"/>
                <a:ea typeface="Calibri" pitchFamily="34" charset="-122"/>
                <a:cs typeface="Calibri" pitchFamily="34" charset="-120"/>
              </a:rPr>
              <a:t>g₁, g₂ — </a:t>
            </a:r>
            <a:r>
              <a:rPr lang="en-US" sz="950" dirty="0">
                <a:solidFill>
                  <a:srgbClr val="1F2937"/>
                </a:solidFill>
                <a:latin typeface="Calibri" pitchFamily="34" charset="0"/>
                <a:ea typeface="Calibri" pitchFamily="34" charset="-122"/>
                <a:cs typeface="Calibri" pitchFamily="34" charset="-120"/>
              </a:rPr>
              <a:t>сформовані групи з підмножиною спільних елементів.</a:t>
            </a:r>
            <a:endParaRPr lang="en-US" sz="950" dirty="0"/>
          </a:p>
        </p:txBody>
      </p:sp>
      <p:sp>
        <p:nvSpPr>
          <p:cNvPr id="13" name="Shape 9"/>
          <p:cNvSpPr/>
          <p:nvPr/>
        </p:nvSpPr>
        <p:spPr>
          <a:xfrm>
            <a:off x="5760720" y="2788920"/>
            <a:ext cx="2926080" cy="12801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4" name="Shape 10"/>
          <p:cNvSpPr/>
          <p:nvPr/>
        </p:nvSpPr>
        <p:spPr>
          <a:xfrm>
            <a:off x="5760720" y="2788920"/>
            <a:ext cx="64008" cy="1280160"/>
          </a:xfrm>
          <a:prstGeom prst="rect">
            <a:avLst/>
          </a:prstGeom>
          <a:solidFill>
            <a:srgbClr val="21C97A"/>
          </a:solidFill>
          <a:ln w="12700">
            <a:solidFill>
              <a:srgbClr val="21C97A"/>
            </a:solidFill>
            <a:prstDash val="solid"/>
          </a:ln>
        </p:spPr>
        <p:txBody>
          <a:bodyPr/>
          <a:lstStyle/>
          <a:p>
            <a:endParaRPr lang="uk-UA"/>
          </a:p>
        </p:txBody>
      </p:sp>
      <p:sp>
        <p:nvSpPr>
          <p:cNvPr id="15" name="Shape 11"/>
          <p:cNvSpPr/>
          <p:nvPr/>
        </p:nvSpPr>
        <p:spPr>
          <a:xfrm>
            <a:off x="5925312" y="2971800"/>
            <a:ext cx="384048" cy="384048"/>
          </a:xfrm>
          <a:prstGeom prst="ellipse">
            <a:avLst/>
          </a:prstGeom>
          <a:solidFill>
            <a:srgbClr val="DAF5E7"/>
          </a:solidFill>
          <a:ln w="12700">
            <a:solidFill>
              <a:srgbClr val="DAF5E7"/>
            </a:solidFill>
            <a:prstDash val="solid"/>
          </a:ln>
        </p:spPr>
        <p:txBody>
          <a:bodyPr/>
          <a:lstStyle/>
          <a:p>
            <a:endParaRPr lang="uk-UA"/>
          </a:p>
        </p:txBody>
      </p:sp>
      <p:pic>
        <p:nvPicPr>
          <p:cNvPr id="16" name="Image 2" descr="preencoded.png"/>
          <p:cNvPicPr>
            <a:picLocks noChangeAspect="1"/>
          </p:cNvPicPr>
          <p:nvPr/>
        </p:nvPicPr>
        <p:blipFill>
          <a:blip r:embed="rId5"/>
          <a:stretch>
            <a:fillRect/>
          </a:stretch>
        </p:blipFill>
        <p:spPr>
          <a:xfrm>
            <a:off x="6021324" y="3067812"/>
            <a:ext cx="192024" cy="192024"/>
          </a:xfrm>
          <a:prstGeom prst="rect">
            <a:avLst/>
          </a:prstGeom>
        </p:spPr>
      </p:pic>
      <p:sp>
        <p:nvSpPr>
          <p:cNvPr id="17" name="Text 12"/>
          <p:cNvSpPr/>
          <p:nvPr/>
        </p:nvSpPr>
        <p:spPr>
          <a:xfrm>
            <a:off x="6446520" y="2990088"/>
            <a:ext cx="2148840" cy="274320"/>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Кольори оцінок</a:t>
            </a:r>
            <a:endParaRPr lang="en-US" sz="1200" dirty="0"/>
          </a:p>
        </p:txBody>
      </p:sp>
      <p:sp>
        <p:nvSpPr>
          <p:cNvPr id="18" name="Text 13"/>
          <p:cNvSpPr/>
          <p:nvPr/>
        </p:nvSpPr>
        <p:spPr>
          <a:xfrm>
            <a:off x="5925312" y="3337560"/>
            <a:ext cx="2651760" cy="685800"/>
          </a:xfrm>
          <a:prstGeom prst="rect">
            <a:avLst/>
          </a:prstGeom>
          <a:noFill/>
          <a:ln/>
        </p:spPr>
        <p:txBody>
          <a:bodyPr wrap="square" lIns="0" tIns="0" rIns="0" bIns="0" rtlCol="0" anchor="ctr"/>
          <a:lstStyle/>
          <a:p>
            <a:pPr marL="0" indent="0">
              <a:lnSpc>
                <a:spcPct val="120000"/>
              </a:lnSpc>
              <a:buNone/>
            </a:pPr>
            <a:r>
              <a:rPr lang="en-US" sz="1300" b="1" dirty="0">
                <a:solidFill>
                  <a:srgbClr val="21C97A"/>
                </a:solidFill>
                <a:latin typeface="Calibri" pitchFamily="34" charset="0"/>
                <a:ea typeface="Calibri" pitchFamily="34" charset="-122"/>
                <a:cs typeface="Calibri" pitchFamily="34" charset="-120"/>
              </a:rPr>
              <a:t>● </a:t>
            </a:r>
            <a:r>
              <a:rPr lang="en-US" sz="950" b="1" dirty="0">
                <a:solidFill>
                  <a:srgbClr val="21C97A"/>
                </a:solidFill>
                <a:latin typeface="Calibri" pitchFamily="34" charset="0"/>
                <a:ea typeface="Calibri" pitchFamily="34" charset="-122"/>
                <a:cs typeface="Calibri" pitchFamily="34" charset="-120"/>
              </a:rPr>
              <a:t>зелений — </a:t>
            </a:r>
            <a:r>
              <a:rPr lang="en-US" sz="950" dirty="0">
                <a:solidFill>
                  <a:srgbClr val="1F2937"/>
                </a:solidFill>
                <a:latin typeface="Calibri" pitchFamily="34" charset="0"/>
                <a:ea typeface="Calibri" pitchFamily="34" charset="-122"/>
                <a:cs typeface="Calibri" pitchFamily="34" charset="-120"/>
              </a:rPr>
              <a:t>індивідуальна оцінка ≥ 4 </a:t>
            </a:r>
            <a:endParaRPr lang="en-US" sz="1300" dirty="0"/>
          </a:p>
          <a:p>
            <a:pPr marL="0" indent="0">
              <a:lnSpc>
                <a:spcPct val="120000"/>
              </a:lnSpc>
              <a:buNone/>
            </a:pPr>
            <a:r>
              <a:rPr lang="en-US" sz="1300" b="1" dirty="0">
                <a:solidFill>
                  <a:srgbClr val="E84855"/>
                </a:solidFill>
                <a:latin typeface="Calibri" pitchFamily="34" charset="0"/>
                <a:ea typeface="Calibri" pitchFamily="34" charset="-122"/>
                <a:cs typeface="Calibri" pitchFamily="34" charset="-120"/>
              </a:rPr>
              <a:t>● </a:t>
            </a:r>
            <a:r>
              <a:rPr lang="en-US" sz="950" b="1" dirty="0">
                <a:solidFill>
                  <a:srgbClr val="E84855"/>
                </a:solidFill>
                <a:latin typeface="Calibri" pitchFamily="34" charset="0"/>
                <a:ea typeface="Calibri" pitchFamily="34" charset="-122"/>
                <a:cs typeface="Calibri" pitchFamily="34" charset="-120"/>
              </a:rPr>
              <a:t>червоний — </a:t>
            </a:r>
            <a:r>
              <a:rPr lang="en-US" sz="950" dirty="0">
                <a:solidFill>
                  <a:srgbClr val="1F2937"/>
                </a:solidFill>
                <a:latin typeface="Calibri" pitchFamily="34" charset="0"/>
                <a:ea typeface="Calibri" pitchFamily="34" charset="-122"/>
                <a:cs typeface="Calibri" pitchFamily="34" charset="-120"/>
              </a:rPr>
              <a:t>індивідуальна оцінка &lt; 4</a:t>
            </a:r>
            <a:endParaRPr lang="en-US" sz="1300" dirty="0"/>
          </a:p>
          <a:p>
            <a:pPr marL="0" indent="0">
              <a:lnSpc>
                <a:spcPct val="120000"/>
              </a:lnSpc>
              <a:buNone/>
            </a:pPr>
            <a:r>
              <a:rPr lang="en-US" sz="950" b="1" dirty="0">
                <a:solidFill>
                  <a:srgbClr val="0F1A35"/>
                </a:solidFill>
                <a:latin typeface="Calibri" pitchFamily="34" charset="0"/>
                <a:ea typeface="Calibri" pitchFamily="34" charset="-122"/>
                <a:cs typeface="Calibri" pitchFamily="34" charset="-120"/>
              </a:rPr>
              <a:t>1 / 0 — </a:t>
            </a:r>
            <a:r>
              <a:rPr lang="en-US" sz="950" dirty="0">
                <a:solidFill>
                  <a:srgbClr val="1F2937"/>
                </a:solidFill>
                <a:latin typeface="Calibri" pitchFamily="34" charset="0"/>
                <a:ea typeface="Calibri" pitchFamily="34" charset="-122"/>
                <a:cs typeface="Calibri" pitchFamily="34" charset="-120"/>
              </a:rPr>
              <a:t>групова оцінка елемента в групі</a:t>
            </a:r>
            <a:endParaRPr lang="en-US" sz="1300" dirty="0"/>
          </a:p>
        </p:txBody>
      </p:sp>
      <p:sp>
        <p:nvSpPr>
          <p:cNvPr id="20" name="Shape 14"/>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21" name="Text 15"/>
          <p:cNvSpPr/>
          <p:nvPr/>
        </p:nvSpPr>
        <p:spPr>
          <a:xfrm>
            <a:off x="457200" y="4901184"/>
            <a:ext cx="6858000" cy="228600"/>
          </a:xfrm>
          <a:prstGeom prst="rect">
            <a:avLst/>
          </a:prstGeom>
          <a:noFill/>
          <a:ln/>
        </p:spPr>
        <p:txBody>
          <a:bodyPr wrap="square" lIns="0" tIns="0" rIns="0" bIns="0" rtlCol="0" anchor="ctr"/>
          <a:lstStyle/>
          <a:p>
            <a:pPr marL="0" indent="0">
              <a:buNone/>
            </a:pPr>
            <a:r>
              <a:rPr lang="en-US" sz="90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ML з підкріпленням</a:t>
            </a:r>
            <a:endParaRPr lang="en-US" sz="900" dirty="0"/>
          </a:p>
        </p:txBody>
      </p:sp>
      <p:sp>
        <p:nvSpPr>
          <p:cNvPr id="22" name="Text 16"/>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07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АРХІТЕКТУРА</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Архітектура моделі «Інтегратор-Актор-Критик»</a:t>
            </a:r>
            <a:endParaRPr lang="en-US" sz="2800" dirty="0"/>
          </a:p>
        </p:txBody>
      </p:sp>
      <p:pic>
        <p:nvPicPr>
          <p:cNvPr id="5" name="Image 0" descr="figs/arch_full.png"/>
          <p:cNvPicPr>
            <a:picLocks noChangeAspect="1"/>
          </p:cNvPicPr>
          <p:nvPr/>
        </p:nvPicPr>
        <p:blipFill>
          <a:blip r:embed="rId3"/>
          <a:stretch>
            <a:fillRect/>
          </a:stretch>
        </p:blipFill>
        <p:spPr>
          <a:xfrm>
            <a:off x="502920" y="1325880"/>
            <a:ext cx="2413513" cy="3200400"/>
          </a:xfrm>
          <a:prstGeom prst="rect">
            <a:avLst/>
          </a:prstGeom>
        </p:spPr>
      </p:pic>
      <p:sp>
        <p:nvSpPr>
          <p:cNvPr id="6" name="Text 3"/>
          <p:cNvSpPr/>
          <p:nvPr/>
        </p:nvSpPr>
        <p:spPr>
          <a:xfrm>
            <a:off x="457200" y="4572000"/>
            <a:ext cx="2962153" cy="228600"/>
          </a:xfrm>
          <a:prstGeom prst="rect">
            <a:avLst/>
          </a:prstGeom>
          <a:noFill/>
          <a:ln/>
        </p:spPr>
        <p:txBody>
          <a:bodyPr wrap="square" lIns="0" tIns="0" rIns="0" bIns="0" rtlCol="0" anchor="ctr"/>
          <a:lstStyle/>
          <a:p>
            <a:pPr marL="0" indent="0" algn="ctr">
              <a:buNone/>
            </a:pPr>
            <a:r>
              <a:rPr lang="en-US" sz="900" i="1" dirty="0">
                <a:solidFill>
                  <a:srgbClr val="687891"/>
                </a:solidFill>
                <a:latin typeface="Calibri" pitchFamily="34" charset="0"/>
                <a:ea typeface="Calibri" pitchFamily="34" charset="-122"/>
                <a:cs typeface="Calibri" pitchFamily="34" charset="-120"/>
              </a:rPr>
              <a:t>Рис. 4. Архітектура моделі «Інтегратор-Актор-Критик»</a:t>
            </a:r>
            <a:endParaRPr lang="en-US" sz="900" dirty="0"/>
          </a:p>
        </p:txBody>
      </p:sp>
      <p:sp>
        <p:nvSpPr>
          <p:cNvPr id="7" name="Shape 4"/>
          <p:cNvSpPr/>
          <p:nvPr/>
        </p:nvSpPr>
        <p:spPr>
          <a:xfrm>
            <a:off x="3190753" y="1325880"/>
            <a:ext cx="5496047" cy="1060704"/>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8" name="Shape 5"/>
          <p:cNvSpPr/>
          <p:nvPr/>
        </p:nvSpPr>
        <p:spPr>
          <a:xfrm>
            <a:off x="3190753" y="1325880"/>
            <a:ext cx="64008" cy="1060704"/>
          </a:xfrm>
          <a:prstGeom prst="rect">
            <a:avLst/>
          </a:prstGeom>
          <a:solidFill>
            <a:srgbClr val="2C5BD8"/>
          </a:solidFill>
          <a:ln w="12700">
            <a:solidFill>
              <a:srgbClr val="2C5BD8"/>
            </a:solidFill>
            <a:prstDash val="solid"/>
          </a:ln>
        </p:spPr>
        <p:txBody>
          <a:bodyPr/>
          <a:lstStyle/>
          <a:p>
            <a:endParaRPr lang="uk-UA"/>
          </a:p>
        </p:txBody>
      </p:sp>
      <p:sp>
        <p:nvSpPr>
          <p:cNvPr id="9" name="Shape 6"/>
          <p:cNvSpPr/>
          <p:nvPr/>
        </p:nvSpPr>
        <p:spPr>
          <a:xfrm>
            <a:off x="3355345" y="1508760"/>
            <a:ext cx="411480" cy="411480"/>
          </a:xfrm>
          <a:prstGeom prst="ellipse">
            <a:avLst/>
          </a:prstGeom>
          <a:solidFill>
            <a:srgbClr val="E8F0FE"/>
          </a:solidFill>
          <a:ln w="12700">
            <a:solidFill>
              <a:srgbClr val="E8F0FE"/>
            </a:solidFill>
            <a:prstDash val="solid"/>
          </a:ln>
        </p:spPr>
        <p:txBody>
          <a:bodyPr/>
          <a:lstStyle/>
          <a:p>
            <a:endParaRPr lang="uk-UA"/>
          </a:p>
        </p:txBody>
      </p:sp>
      <p:pic>
        <p:nvPicPr>
          <p:cNvPr id="10" name="Image 1" descr="preencoded.png"/>
          <p:cNvPicPr>
            <a:picLocks noChangeAspect="1"/>
          </p:cNvPicPr>
          <p:nvPr/>
        </p:nvPicPr>
        <p:blipFill>
          <a:blip r:embed="rId4"/>
          <a:stretch>
            <a:fillRect/>
          </a:stretch>
        </p:blipFill>
        <p:spPr>
          <a:xfrm>
            <a:off x="3458215" y="1611630"/>
            <a:ext cx="205740" cy="205740"/>
          </a:xfrm>
          <a:prstGeom prst="rect">
            <a:avLst/>
          </a:prstGeom>
        </p:spPr>
      </p:pic>
      <p:sp>
        <p:nvSpPr>
          <p:cNvPr id="11" name="Text 7"/>
          <p:cNvSpPr/>
          <p:nvPr/>
        </p:nvSpPr>
        <p:spPr>
          <a:xfrm>
            <a:off x="3903985" y="1417320"/>
            <a:ext cx="4718807" cy="274320"/>
          </a:xfrm>
          <a:prstGeom prst="rect">
            <a:avLst/>
          </a:prstGeom>
          <a:noFill/>
          <a:ln/>
        </p:spPr>
        <p:txBody>
          <a:bodyPr wrap="square" lIns="0" tIns="0" rIns="0" bIns="0" rtlCol="0" anchor="ctr"/>
          <a:lstStyle/>
          <a:p>
            <a:pPr marL="0" indent="0">
              <a:buNone/>
            </a:pPr>
            <a:r>
              <a:rPr lang="en-US" sz="1300" b="1" dirty="0">
                <a:solidFill>
                  <a:srgbClr val="0F1A35"/>
                </a:solidFill>
                <a:latin typeface="Calibri" pitchFamily="34" charset="0"/>
                <a:ea typeface="Calibri" pitchFamily="34" charset="-122"/>
                <a:cs typeface="Calibri" pitchFamily="34" charset="-120"/>
              </a:rPr>
              <a:t>Інтегратор</a:t>
            </a:r>
            <a:endParaRPr lang="en-US" sz="1300" dirty="0"/>
          </a:p>
        </p:txBody>
      </p:sp>
      <p:sp>
        <p:nvSpPr>
          <p:cNvPr id="12" name="Text 8"/>
          <p:cNvSpPr/>
          <p:nvPr/>
        </p:nvSpPr>
        <p:spPr>
          <a:xfrm>
            <a:off x="3903985" y="1655064"/>
            <a:ext cx="4718807" cy="228600"/>
          </a:xfrm>
          <a:prstGeom prst="rect">
            <a:avLst/>
          </a:prstGeom>
          <a:noFill/>
          <a:ln/>
        </p:spPr>
        <p:txBody>
          <a:bodyPr wrap="square" lIns="0" tIns="0" rIns="0" bIns="0" rtlCol="0" anchor="ctr"/>
          <a:lstStyle/>
          <a:p>
            <a:pPr marL="0" indent="0">
              <a:buNone/>
            </a:pPr>
            <a:r>
              <a:rPr lang="en-US" sz="1000" i="1" dirty="0">
                <a:solidFill>
                  <a:srgbClr val="2C5BD8"/>
                </a:solidFill>
                <a:latin typeface="Calibri" pitchFamily="34" charset="0"/>
                <a:ea typeface="Calibri" pitchFamily="34" charset="-122"/>
                <a:cs typeface="Calibri" pitchFamily="34" charset="-120"/>
              </a:rPr>
              <a:t>Формує вектор стану групи</a:t>
            </a:r>
            <a:endParaRPr lang="en-US" sz="1000" dirty="0"/>
          </a:p>
        </p:txBody>
      </p:sp>
      <p:sp>
        <p:nvSpPr>
          <p:cNvPr id="13" name="Text 9"/>
          <p:cNvSpPr/>
          <p:nvPr/>
        </p:nvSpPr>
        <p:spPr>
          <a:xfrm>
            <a:off x="3355345" y="1920240"/>
            <a:ext cx="5221727" cy="457200"/>
          </a:xfrm>
          <a:prstGeom prst="rect">
            <a:avLst/>
          </a:prstGeom>
          <a:noFill/>
          <a:ln/>
        </p:spPr>
        <p:txBody>
          <a:bodyPr wrap="square" lIns="0" tIns="0" rIns="0" bIns="0" rtlCol="0" anchor="ctr"/>
          <a:lstStyle/>
          <a:p>
            <a:pPr marL="342900" indent="-342900">
              <a:lnSpc>
                <a:spcPct val="105000"/>
              </a:lnSpc>
              <a:buSzPct val="100000"/>
              <a:buChar char="•"/>
            </a:pPr>
            <a:r>
              <a:rPr lang="en-US" sz="900" dirty="0">
                <a:solidFill>
                  <a:srgbClr val="1F2937"/>
                </a:solidFill>
                <a:latin typeface="Calibri" pitchFamily="34" charset="0"/>
                <a:ea typeface="Calibri" pitchFamily="34" charset="-122"/>
                <a:cs typeface="Calibri" pitchFamily="34" charset="-120"/>
              </a:rPr>
              <a:t>Об’єднує користувачів та історію взаємодії</a:t>
            </a:r>
            <a:endParaRPr lang="en-US" sz="900" dirty="0"/>
          </a:p>
          <a:p>
            <a:pPr marL="342900" indent="-342900">
              <a:lnSpc>
                <a:spcPct val="105000"/>
              </a:lnSpc>
              <a:buSzPct val="100000"/>
              <a:buChar char="•"/>
            </a:pPr>
            <a:r>
              <a:rPr lang="en-US" sz="900" dirty="0">
                <a:solidFill>
                  <a:srgbClr val="1F2937"/>
                </a:solidFill>
                <a:latin typeface="Calibri" pitchFamily="34" charset="0"/>
                <a:ea typeface="Calibri" pitchFamily="34" charset="-122"/>
                <a:cs typeface="Calibri" pitchFamily="34" charset="-120"/>
              </a:rPr>
              <a:t>Враховує внесок кожного учасника</a:t>
            </a:r>
            <a:endParaRPr lang="en-US" sz="900" dirty="0"/>
          </a:p>
          <a:p>
            <a:pPr marL="342900" indent="-342900">
              <a:lnSpc>
                <a:spcPct val="105000"/>
              </a:lnSpc>
              <a:buSzPct val="100000"/>
              <a:buChar char="•"/>
            </a:pPr>
            <a:r>
              <a:rPr lang="en-US" sz="900" dirty="0">
                <a:solidFill>
                  <a:srgbClr val="1F2937"/>
                </a:solidFill>
                <a:latin typeface="Calibri" pitchFamily="34" charset="0"/>
                <a:ea typeface="Calibri" pitchFamily="34" charset="-122"/>
                <a:cs typeface="Calibri" pitchFamily="34" charset="-120"/>
              </a:rPr>
              <a:t>Поєднує вподобання у спільне представлення</a:t>
            </a:r>
            <a:endParaRPr lang="en-US" sz="900" dirty="0"/>
          </a:p>
        </p:txBody>
      </p:sp>
      <p:sp>
        <p:nvSpPr>
          <p:cNvPr id="14" name="Shape 10"/>
          <p:cNvSpPr/>
          <p:nvPr/>
        </p:nvSpPr>
        <p:spPr>
          <a:xfrm>
            <a:off x="3190753" y="2450592"/>
            <a:ext cx="5496047" cy="1060704"/>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5" name="Shape 11"/>
          <p:cNvSpPr/>
          <p:nvPr/>
        </p:nvSpPr>
        <p:spPr>
          <a:xfrm>
            <a:off x="3190753" y="2450592"/>
            <a:ext cx="64008" cy="1060704"/>
          </a:xfrm>
          <a:prstGeom prst="rect">
            <a:avLst/>
          </a:prstGeom>
          <a:solidFill>
            <a:srgbClr val="20B7D1"/>
          </a:solidFill>
          <a:ln w="12700">
            <a:solidFill>
              <a:srgbClr val="20B7D1"/>
            </a:solidFill>
            <a:prstDash val="solid"/>
          </a:ln>
        </p:spPr>
        <p:txBody>
          <a:bodyPr/>
          <a:lstStyle/>
          <a:p>
            <a:endParaRPr lang="uk-UA"/>
          </a:p>
        </p:txBody>
      </p:sp>
      <p:sp>
        <p:nvSpPr>
          <p:cNvPr id="16" name="Shape 12"/>
          <p:cNvSpPr/>
          <p:nvPr/>
        </p:nvSpPr>
        <p:spPr>
          <a:xfrm>
            <a:off x="3355345" y="2633472"/>
            <a:ext cx="411480" cy="411480"/>
          </a:xfrm>
          <a:prstGeom prst="ellipse">
            <a:avLst/>
          </a:prstGeom>
          <a:solidFill>
            <a:srgbClr val="D6F1F7"/>
          </a:solidFill>
          <a:ln w="12700">
            <a:solidFill>
              <a:srgbClr val="D6F1F7"/>
            </a:solidFill>
            <a:prstDash val="solid"/>
          </a:ln>
        </p:spPr>
        <p:txBody>
          <a:bodyPr/>
          <a:lstStyle/>
          <a:p>
            <a:endParaRPr lang="uk-UA"/>
          </a:p>
        </p:txBody>
      </p:sp>
      <p:pic>
        <p:nvPicPr>
          <p:cNvPr id="17" name="Image 2" descr="preencoded.png"/>
          <p:cNvPicPr>
            <a:picLocks noChangeAspect="1"/>
          </p:cNvPicPr>
          <p:nvPr/>
        </p:nvPicPr>
        <p:blipFill>
          <a:blip r:embed="rId5"/>
          <a:stretch>
            <a:fillRect/>
          </a:stretch>
        </p:blipFill>
        <p:spPr>
          <a:xfrm>
            <a:off x="3458215" y="2736342"/>
            <a:ext cx="205740" cy="205740"/>
          </a:xfrm>
          <a:prstGeom prst="rect">
            <a:avLst/>
          </a:prstGeom>
        </p:spPr>
      </p:pic>
      <p:sp>
        <p:nvSpPr>
          <p:cNvPr id="18" name="Text 13"/>
          <p:cNvSpPr/>
          <p:nvPr/>
        </p:nvSpPr>
        <p:spPr>
          <a:xfrm>
            <a:off x="3903985" y="2542032"/>
            <a:ext cx="4718807" cy="274320"/>
          </a:xfrm>
          <a:prstGeom prst="rect">
            <a:avLst/>
          </a:prstGeom>
          <a:noFill/>
          <a:ln/>
        </p:spPr>
        <p:txBody>
          <a:bodyPr wrap="square" lIns="0" tIns="0" rIns="0" bIns="0" rtlCol="0" anchor="ctr"/>
          <a:lstStyle/>
          <a:p>
            <a:pPr marL="0" indent="0">
              <a:buNone/>
            </a:pPr>
            <a:r>
              <a:rPr lang="en-US" sz="1300" b="1" dirty="0">
                <a:solidFill>
                  <a:srgbClr val="0F1A35"/>
                </a:solidFill>
                <a:latin typeface="Calibri" pitchFamily="34" charset="0"/>
                <a:ea typeface="Calibri" pitchFamily="34" charset="-122"/>
                <a:cs typeface="Calibri" pitchFamily="34" charset="-120"/>
              </a:rPr>
              <a:t>Актор</a:t>
            </a:r>
            <a:endParaRPr lang="en-US" sz="1300" dirty="0"/>
          </a:p>
        </p:txBody>
      </p:sp>
      <p:sp>
        <p:nvSpPr>
          <p:cNvPr id="19" name="Text 14"/>
          <p:cNvSpPr/>
          <p:nvPr/>
        </p:nvSpPr>
        <p:spPr>
          <a:xfrm>
            <a:off x="3903985" y="2779776"/>
            <a:ext cx="4718807" cy="228600"/>
          </a:xfrm>
          <a:prstGeom prst="rect">
            <a:avLst/>
          </a:prstGeom>
          <a:noFill/>
          <a:ln/>
        </p:spPr>
        <p:txBody>
          <a:bodyPr wrap="square" lIns="0" tIns="0" rIns="0" bIns="0" rtlCol="0" anchor="ctr"/>
          <a:lstStyle/>
          <a:p>
            <a:pPr marL="0" indent="0">
              <a:buNone/>
            </a:pPr>
            <a:r>
              <a:rPr lang="en-US" sz="1000" i="1" dirty="0">
                <a:solidFill>
                  <a:srgbClr val="20B7D1"/>
                </a:solidFill>
                <a:latin typeface="Calibri" pitchFamily="34" charset="0"/>
                <a:ea typeface="Calibri" pitchFamily="34" charset="-122"/>
                <a:cs typeface="Calibri" pitchFamily="34" charset="-120"/>
              </a:rPr>
              <a:t>Формує рекомендаційну стратегію</a:t>
            </a:r>
            <a:endParaRPr lang="en-US" sz="1000" dirty="0"/>
          </a:p>
        </p:txBody>
      </p:sp>
      <p:sp>
        <p:nvSpPr>
          <p:cNvPr id="20" name="Text 15"/>
          <p:cNvSpPr/>
          <p:nvPr/>
        </p:nvSpPr>
        <p:spPr>
          <a:xfrm>
            <a:off x="3355345" y="3044952"/>
            <a:ext cx="5221727" cy="457200"/>
          </a:xfrm>
          <a:prstGeom prst="rect">
            <a:avLst/>
          </a:prstGeom>
          <a:noFill/>
          <a:ln/>
        </p:spPr>
        <p:txBody>
          <a:bodyPr wrap="square" lIns="0" tIns="0" rIns="0" bIns="0" rtlCol="0" anchor="ctr"/>
          <a:lstStyle/>
          <a:p>
            <a:pPr marL="342900" indent="-342900">
              <a:lnSpc>
                <a:spcPct val="105000"/>
              </a:lnSpc>
              <a:buSzPct val="100000"/>
              <a:buChar char="•"/>
            </a:pPr>
            <a:r>
              <a:rPr lang="en-US" sz="900" dirty="0">
                <a:solidFill>
                  <a:srgbClr val="1F2937"/>
                </a:solidFill>
                <a:latin typeface="Calibri" pitchFamily="34" charset="0"/>
                <a:ea typeface="Calibri" pitchFamily="34" charset="-122"/>
                <a:cs typeface="Calibri" pitchFamily="34" charset="-120"/>
              </a:rPr>
              <a:t>Генерує вектор наближеної дії</a:t>
            </a:r>
            <a:endParaRPr lang="en-US" sz="900" dirty="0"/>
          </a:p>
          <a:p>
            <a:pPr marL="342900" indent="-342900">
              <a:lnSpc>
                <a:spcPct val="105000"/>
              </a:lnSpc>
              <a:buSzPct val="100000"/>
              <a:buChar char="•"/>
            </a:pPr>
            <a:r>
              <a:rPr lang="en-US" sz="900" dirty="0">
                <a:solidFill>
                  <a:srgbClr val="1F2937"/>
                </a:solidFill>
                <a:latin typeface="Calibri" pitchFamily="34" charset="0"/>
                <a:ea typeface="Calibri" pitchFamily="34" charset="-122"/>
                <a:cs typeface="Calibri" pitchFamily="34" charset="-120"/>
              </a:rPr>
              <a:t>Впливає на формування top-k</a:t>
            </a:r>
            <a:endParaRPr lang="en-US" sz="900" dirty="0"/>
          </a:p>
          <a:p>
            <a:pPr marL="342900" indent="-342900">
              <a:lnSpc>
                <a:spcPct val="105000"/>
              </a:lnSpc>
              <a:buSzPct val="100000"/>
              <a:buChar char="•"/>
            </a:pPr>
            <a:r>
              <a:rPr lang="en-US" sz="900" dirty="0">
                <a:solidFill>
                  <a:srgbClr val="1F2937"/>
                </a:solidFill>
                <a:latin typeface="Calibri" pitchFamily="34" charset="0"/>
                <a:ea typeface="Calibri" pitchFamily="34" charset="-122"/>
                <a:cs typeface="Calibri" pitchFamily="34" charset="-120"/>
              </a:rPr>
              <a:t>Навчається оптимальної політики</a:t>
            </a:r>
            <a:endParaRPr lang="en-US" sz="900" dirty="0"/>
          </a:p>
        </p:txBody>
      </p:sp>
      <p:sp>
        <p:nvSpPr>
          <p:cNvPr id="21" name="Shape 16"/>
          <p:cNvSpPr/>
          <p:nvPr/>
        </p:nvSpPr>
        <p:spPr>
          <a:xfrm>
            <a:off x="3190753" y="3575304"/>
            <a:ext cx="5496047" cy="1060704"/>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2" name="Shape 17"/>
          <p:cNvSpPr/>
          <p:nvPr/>
        </p:nvSpPr>
        <p:spPr>
          <a:xfrm>
            <a:off x="3190753" y="3575304"/>
            <a:ext cx="64008" cy="1060704"/>
          </a:xfrm>
          <a:prstGeom prst="rect">
            <a:avLst/>
          </a:prstGeom>
          <a:solidFill>
            <a:srgbClr val="F0A93B"/>
          </a:solidFill>
          <a:ln w="12700">
            <a:solidFill>
              <a:srgbClr val="F0A93B"/>
            </a:solidFill>
            <a:prstDash val="solid"/>
          </a:ln>
        </p:spPr>
        <p:txBody>
          <a:bodyPr/>
          <a:lstStyle/>
          <a:p>
            <a:endParaRPr lang="uk-UA"/>
          </a:p>
        </p:txBody>
      </p:sp>
      <p:sp>
        <p:nvSpPr>
          <p:cNvPr id="23" name="Shape 18"/>
          <p:cNvSpPr/>
          <p:nvPr/>
        </p:nvSpPr>
        <p:spPr>
          <a:xfrm>
            <a:off x="3355345" y="3758184"/>
            <a:ext cx="411480" cy="411480"/>
          </a:xfrm>
          <a:prstGeom prst="ellipse">
            <a:avLst/>
          </a:prstGeom>
          <a:solidFill>
            <a:srgbClr val="FBE9CD"/>
          </a:solidFill>
          <a:ln w="12700">
            <a:solidFill>
              <a:srgbClr val="FBE9CD"/>
            </a:solidFill>
            <a:prstDash val="solid"/>
          </a:ln>
        </p:spPr>
        <p:txBody>
          <a:bodyPr/>
          <a:lstStyle/>
          <a:p>
            <a:endParaRPr lang="uk-UA"/>
          </a:p>
        </p:txBody>
      </p:sp>
      <p:pic>
        <p:nvPicPr>
          <p:cNvPr id="24" name="Image 3" descr="preencoded.png"/>
          <p:cNvPicPr>
            <a:picLocks noChangeAspect="1"/>
          </p:cNvPicPr>
          <p:nvPr/>
        </p:nvPicPr>
        <p:blipFill>
          <a:blip r:embed="rId6"/>
          <a:stretch>
            <a:fillRect/>
          </a:stretch>
        </p:blipFill>
        <p:spPr>
          <a:xfrm>
            <a:off x="3458215" y="3861054"/>
            <a:ext cx="205740" cy="205740"/>
          </a:xfrm>
          <a:prstGeom prst="rect">
            <a:avLst/>
          </a:prstGeom>
        </p:spPr>
      </p:pic>
      <p:sp>
        <p:nvSpPr>
          <p:cNvPr id="25" name="Text 19"/>
          <p:cNvSpPr/>
          <p:nvPr/>
        </p:nvSpPr>
        <p:spPr>
          <a:xfrm>
            <a:off x="3903985" y="3666744"/>
            <a:ext cx="4718807" cy="274320"/>
          </a:xfrm>
          <a:prstGeom prst="rect">
            <a:avLst/>
          </a:prstGeom>
          <a:noFill/>
          <a:ln/>
        </p:spPr>
        <p:txBody>
          <a:bodyPr wrap="square" lIns="0" tIns="0" rIns="0" bIns="0" rtlCol="0" anchor="ctr"/>
          <a:lstStyle/>
          <a:p>
            <a:pPr marL="0" indent="0">
              <a:buNone/>
            </a:pPr>
            <a:r>
              <a:rPr lang="en-US" sz="1300" b="1" dirty="0">
                <a:solidFill>
                  <a:srgbClr val="0F1A35"/>
                </a:solidFill>
                <a:latin typeface="Calibri" pitchFamily="34" charset="0"/>
                <a:ea typeface="Calibri" pitchFamily="34" charset="-122"/>
                <a:cs typeface="Calibri" pitchFamily="34" charset="-120"/>
              </a:rPr>
              <a:t>Критик</a:t>
            </a:r>
            <a:endParaRPr lang="en-US" sz="1300" dirty="0"/>
          </a:p>
        </p:txBody>
      </p:sp>
      <p:sp>
        <p:nvSpPr>
          <p:cNvPr id="26" name="Text 20"/>
          <p:cNvSpPr/>
          <p:nvPr/>
        </p:nvSpPr>
        <p:spPr>
          <a:xfrm>
            <a:off x="3903985" y="3904488"/>
            <a:ext cx="4718807" cy="228600"/>
          </a:xfrm>
          <a:prstGeom prst="rect">
            <a:avLst/>
          </a:prstGeom>
          <a:noFill/>
          <a:ln/>
        </p:spPr>
        <p:txBody>
          <a:bodyPr wrap="square" lIns="0" tIns="0" rIns="0" bIns="0" rtlCol="0" anchor="ctr"/>
          <a:lstStyle/>
          <a:p>
            <a:pPr marL="0" indent="0">
              <a:buNone/>
            </a:pPr>
            <a:r>
              <a:rPr lang="en-US" sz="1000" i="1" dirty="0">
                <a:solidFill>
                  <a:srgbClr val="F0A93B"/>
                </a:solidFill>
                <a:latin typeface="Calibri" pitchFamily="34" charset="0"/>
                <a:ea typeface="Calibri" pitchFamily="34" charset="-122"/>
                <a:cs typeface="Calibri" pitchFamily="34" charset="-120"/>
              </a:rPr>
              <a:t>Оцінює якість рекомендацій</a:t>
            </a:r>
            <a:endParaRPr lang="en-US" sz="1000" dirty="0"/>
          </a:p>
        </p:txBody>
      </p:sp>
      <p:sp>
        <p:nvSpPr>
          <p:cNvPr id="27" name="Text 21"/>
          <p:cNvSpPr/>
          <p:nvPr/>
        </p:nvSpPr>
        <p:spPr>
          <a:xfrm>
            <a:off x="3355345" y="4169664"/>
            <a:ext cx="5221727" cy="457200"/>
          </a:xfrm>
          <a:prstGeom prst="rect">
            <a:avLst/>
          </a:prstGeom>
          <a:noFill/>
          <a:ln/>
        </p:spPr>
        <p:txBody>
          <a:bodyPr wrap="square" lIns="0" tIns="0" rIns="0" bIns="0" rtlCol="0" anchor="ctr"/>
          <a:lstStyle/>
          <a:p>
            <a:pPr marL="342900" indent="-342900">
              <a:lnSpc>
                <a:spcPct val="105000"/>
              </a:lnSpc>
              <a:buSzPct val="100000"/>
              <a:buChar char="•"/>
            </a:pPr>
            <a:r>
              <a:rPr lang="en-US" sz="900" dirty="0">
                <a:solidFill>
                  <a:srgbClr val="1F2937"/>
                </a:solidFill>
                <a:latin typeface="Calibri" pitchFamily="34" charset="0"/>
                <a:ea typeface="Calibri" pitchFamily="34" charset="-122"/>
                <a:cs typeface="Calibri" pitchFamily="34" charset="-120"/>
              </a:rPr>
              <a:t>Використовує стан + дію</a:t>
            </a:r>
            <a:endParaRPr lang="en-US" sz="900" dirty="0"/>
          </a:p>
          <a:p>
            <a:pPr marL="342900" indent="-342900">
              <a:lnSpc>
                <a:spcPct val="105000"/>
              </a:lnSpc>
              <a:buSzPct val="100000"/>
              <a:buChar char="•"/>
            </a:pPr>
            <a:r>
              <a:rPr lang="en-US" sz="900" dirty="0">
                <a:solidFill>
                  <a:srgbClr val="1F2937"/>
                </a:solidFill>
                <a:latin typeface="Calibri" pitchFamily="34" charset="0"/>
                <a:ea typeface="Calibri" pitchFamily="34" charset="-122"/>
                <a:cs typeface="Calibri" pitchFamily="34" charset="-120"/>
              </a:rPr>
              <a:t>Обчислює Q-значення</a:t>
            </a:r>
            <a:endParaRPr lang="en-US" sz="900" dirty="0"/>
          </a:p>
          <a:p>
            <a:pPr marL="342900" indent="-342900">
              <a:lnSpc>
                <a:spcPct val="105000"/>
              </a:lnSpc>
              <a:buSzPct val="100000"/>
              <a:buChar char="•"/>
            </a:pPr>
            <a:r>
              <a:rPr lang="en-US" sz="900" dirty="0">
                <a:solidFill>
                  <a:srgbClr val="1F2937"/>
                </a:solidFill>
                <a:latin typeface="Calibri" pitchFamily="34" charset="0"/>
                <a:ea typeface="Calibri" pitchFamily="34" charset="-122"/>
                <a:cs typeface="Calibri" pitchFamily="34" charset="-120"/>
              </a:rPr>
              <a:t>Оновлює стратегію Актора</a:t>
            </a:r>
            <a:endParaRPr lang="en-US" sz="900" dirty="0"/>
          </a:p>
        </p:txBody>
      </p:sp>
      <p:sp>
        <p:nvSpPr>
          <p:cNvPr id="29" name="Shape 22"/>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30" name="Text 23"/>
          <p:cNvSpPr/>
          <p:nvPr/>
        </p:nvSpPr>
        <p:spPr>
          <a:xfrm>
            <a:off x="457200" y="4901184"/>
            <a:ext cx="6858000" cy="228600"/>
          </a:xfrm>
          <a:prstGeom prst="rect">
            <a:avLst/>
          </a:prstGeom>
          <a:noFill/>
          <a:ln/>
        </p:spPr>
        <p:txBody>
          <a:bodyPr wrap="square" lIns="0" tIns="0" rIns="0" bIns="0" rtlCol="0" anchor="ctr"/>
          <a:lstStyle/>
          <a:p>
            <a:pPr marL="0" indent="0">
              <a:buNone/>
            </a:pPr>
            <a:r>
              <a:rPr lang="en-US" sz="90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ML з підкріпленням</a:t>
            </a:r>
            <a:endParaRPr lang="en-US" sz="900" dirty="0"/>
          </a:p>
        </p:txBody>
      </p:sp>
      <p:sp>
        <p:nvSpPr>
          <p:cNvPr id="31" name="Text 24"/>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08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ІНТЕГРАТОР</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Механізм формування стану групи</a:t>
            </a:r>
            <a:endParaRPr lang="en-US" sz="2800" dirty="0"/>
          </a:p>
        </p:txBody>
      </p:sp>
      <p:sp>
        <p:nvSpPr>
          <p:cNvPr id="5" name="Shape 3"/>
          <p:cNvSpPr/>
          <p:nvPr/>
        </p:nvSpPr>
        <p:spPr>
          <a:xfrm>
            <a:off x="457200" y="1325880"/>
            <a:ext cx="3291840" cy="32461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325880"/>
            <a:ext cx="64008" cy="3246120"/>
          </a:xfrm>
          <a:prstGeom prst="rect">
            <a:avLst/>
          </a:prstGeom>
          <a:solidFill>
            <a:srgbClr val="2C5BD8"/>
          </a:solidFill>
          <a:ln w="12700">
            <a:solidFill>
              <a:srgbClr val="2C5BD8"/>
            </a:solidFill>
            <a:prstDash val="solid"/>
          </a:ln>
        </p:spPr>
        <p:txBody>
          <a:bodyPr/>
          <a:lstStyle/>
          <a:p>
            <a:endParaRPr lang="uk-UA"/>
          </a:p>
        </p:txBody>
      </p:sp>
      <p:sp>
        <p:nvSpPr>
          <p:cNvPr id="7" name="Shape 5"/>
          <p:cNvSpPr/>
          <p:nvPr/>
        </p:nvSpPr>
        <p:spPr>
          <a:xfrm>
            <a:off x="640080" y="1508760"/>
            <a:ext cx="457200" cy="457200"/>
          </a:xfrm>
          <a:prstGeom prst="ellipse">
            <a:avLst/>
          </a:prstGeom>
          <a:solidFill>
            <a:srgbClr val="E8F0FE"/>
          </a:solidFill>
          <a:ln w="12700">
            <a:solidFill>
              <a:srgbClr val="E8F0FE"/>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754380" y="1623060"/>
            <a:ext cx="228600" cy="228600"/>
          </a:xfrm>
          <a:prstGeom prst="rect">
            <a:avLst/>
          </a:prstGeom>
        </p:spPr>
      </p:pic>
      <p:sp>
        <p:nvSpPr>
          <p:cNvPr id="9" name="Text 6"/>
          <p:cNvSpPr/>
          <p:nvPr/>
        </p:nvSpPr>
        <p:spPr>
          <a:xfrm>
            <a:off x="1234440" y="1554480"/>
            <a:ext cx="2377440" cy="320040"/>
          </a:xfrm>
          <a:prstGeom prst="rect">
            <a:avLst/>
          </a:prstGeom>
          <a:noFill/>
          <a:ln/>
        </p:spPr>
        <p:txBody>
          <a:bodyPr wrap="square" lIns="0" tIns="0" rIns="0" bIns="0" rtlCol="0" anchor="ctr"/>
          <a:lstStyle/>
          <a:p>
            <a:pPr marL="0" indent="0">
              <a:buNone/>
            </a:pPr>
            <a:r>
              <a:rPr lang="en-US" sz="1300" b="1" dirty="0">
                <a:solidFill>
                  <a:srgbClr val="0F1A35"/>
                </a:solidFill>
                <a:latin typeface="Calibri" pitchFamily="34" charset="0"/>
                <a:ea typeface="Calibri" pitchFamily="34" charset="-122"/>
                <a:cs typeface="Calibri" pitchFamily="34" charset="-120"/>
              </a:rPr>
              <a:t>Ідея мережі Інтегратор</a:t>
            </a:r>
            <a:endParaRPr lang="en-US" sz="1300" dirty="0"/>
          </a:p>
        </p:txBody>
      </p:sp>
      <p:sp>
        <p:nvSpPr>
          <p:cNvPr id="10" name="Text 7"/>
          <p:cNvSpPr/>
          <p:nvPr/>
        </p:nvSpPr>
        <p:spPr>
          <a:xfrm>
            <a:off x="640080" y="2148840"/>
            <a:ext cx="2926080" cy="274320"/>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Інтегратор формує стан, який одночасно враховує:</a:t>
            </a:r>
            <a:endParaRPr lang="en-US" sz="1050" dirty="0"/>
          </a:p>
        </p:txBody>
      </p:sp>
      <p:sp>
        <p:nvSpPr>
          <p:cNvPr id="11" name="Shape 8"/>
          <p:cNvSpPr/>
          <p:nvPr/>
        </p:nvSpPr>
        <p:spPr>
          <a:xfrm>
            <a:off x="640080" y="2514600"/>
            <a:ext cx="384048" cy="384048"/>
          </a:xfrm>
          <a:prstGeom prst="ellipse">
            <a:avLst/>
          </a:prstGeom>
          <a:solidFill>
            <a:srgbClr val="E8F0FE"/>
          </a:solidFill>
          <a:ln w="12700">
            <a:solidFill>
              <a:srgbClr val="E8F0FE"/>
            </a:solidFill>
            <a:prstDash val="solid"/>
          </a:ln>
        </p:spPr>
        <p:txBody>
          <a:bodyPr/>
          <a:lstStyle/>
          <a:p>
            <a:endParaRPr lang="uk-UA"/>
          </a:p>
        </p:txBody>
      </p:sp>
      <p:pic>
        <p:nvPicPr>
          <p:cNvPr id="12" name="Image 1" descr="preencoded.png"/>
          <p:cNvPicPr>
            <a:picLocks noChangeAspect="1"/>
          </p:cNvPicPr>
          <p:nvPr/>
        </p:nvPicPr>
        <p:blipFill>
          <a:blip r:embed="rId4"/>
          <a:stretch>
            <a:fillRect/>
          </a:stretch>
        </p:blipFill>
        <p:spPr>
          <a:xfrm>
            <a:off x="736092" y="2610612"/>
            <a:ext cx="192024" cy="192024"/>
          </a:xfrm>
          <a:prstGeom prst="rect">
            <a:avLst/>
          </a:prstGeom>
        </p:spPr>
      </p:pic>
      <p:sp>
        <p:nvSpPr>
          <p:cNvPr id="13" name="Text 9"/>
          <p:cNvSpPr/>
          <p:nvPr/>
        </p:nvSpPr>
        <p:spPr>
          <a:xfrm>
            <a:off x="1170432" y="2496312"/>
            <a:ext cx="2377440" cy="237744"/>
          </a:xfrm>
          <a:prstGeom prst="rect">
            <a:avLst/>
          </a:prstGeom>
          <a:noFill/>
          <a:ln/>
        </p:spPr>
        <p:txBody>
          <a:bodyPr wrap="square" lIns="0" tIns="0" rIns="0" bIns="0" rtlCol="0" anchor="ctr"/>
          <a:lstStyle/>
          <a:p>
            <a:pPr marL="0" indent="0">
              <a:buNone/>
            </a:pPr>
            <a:r>
              <a:rPr lang="en-US" sz="1100" b="1" dirty="0">
                <a:solidFill>
                  <a:srgbClr val="0F1A35"/>
                </a:solidFill>
                <a:latin typeface="Calibri" pitchFamily="34" charset="0"/>
                <a:ea typeface="Calibri" pitchFamily="34" charset="-122"/>
                <a:cs typeface="Calibri" pitchFamily="34" charset="-120"/>
              </a:rPr>
              <a:t>Склад групи</a:t>
            </a:r>
            <a:endParaRPr lang="en-US" sz="1100" dirty="0"/>
          </a:p>
        </p:txBody>
      </p:sp>
      <p:sp>
        <p:nvSpPr>
          <p:cNvPr id="14" name="Text 10"/>
          <p:cNvSpPr/>
          <p:nvPr/>
        </p:nvSpPr>
        <p:spPr>
          <a:xfrm>
            <a:off x="1170432" y="2697480"/>
            <a:ext cx="2377440" cy="274320"/>
          </a:xfrm>
          <a:prstGeom prst="rect">
            <a:avLst/>
          </a:prstGeom>
          <a:noFill/>
          <a:ln/>
        </p:spPr>
        <p:txBody>
          <a:bodyPr wrap="square" lIns="0" tIns="0" rIns="0" bIns="0" rtlCol="0" anchor="ctr"/>
          <a:lstStyle/>
          <a:p>
            <a:pPr marL="0" indent="0">
              <a:buNone/>
            </a:pPr>
            <a:r>
              <a:rPr lang="en-US" sz="950" dirty="0">
                <a:solidFill>
                  <a:srgbClr val="1F2937"/>
                </a:solidFill>
                <a:latin typeface="Calibri" pitchFamily="34" charset="0"/>
                <a:ea typeface="Calibri" pitchFamily="34" charset="-122"/>
                <a:cs typeface="Calibri" pitchFamily="34" charset="-120"/>
              </a:rPr>
              <a:t>Як учасники впливають один на одного</a:t>
            </a:r>
            <a:endParaRPr lang="en-US" sz="950" dirty="0"/>
          </a:p>
        </p:txBody>
      </p:sp>
      <p:sp>
        <p:nvSpPr>
          <p:cNvPr id="15" name="Shape 11"/>
          <p:cNvSpPr/>
          <p:nvPr/>
        </p:nvSpPr>
        <p:spPr>
          <a:xfrm>
            <a:off x="640080" y="3063240"/>
            <a:ext cx="384048" cy="384048"/>
          </a:xfrm>
          <a:prstGeom prst="ellipse">
            <a:avLst/>
          </a:prstGeom>
          <a:solidFill>
            <a:srgbClr val="E8F0FE"/>
          </a:solidFill>
          <a:ln w="12700">
            <a:solidFill>
              <a:srgbClr val="E8F0FE"/>
            </a:solidFill>
            <a:prstDash val="solid"/>
          </a:ln>
        </p:spPr>
        <p:txBody>
          <a:bodyPr/>
          <a:lstStyle/>
          <a:p>
            <a:endParaRPr lang="uk-UA"/>
          </a:p>
        </p:txBody>
      </p:sp>
      <p:pic>
        <p:nvPicPr>
          <p:cNvPr id="16" name="Image 2" descr="preencoded.png"/>
          <p:cNvPicPr>
            <a:picLocks noChangeAspect="1"/>
          </p:cNvPicPr>
          <p:nvPr/>
        </p:nvPicPr>
        <p:blipFill>
          <a:blip r:embed="rId5"/>
          <a:stretch>
            <a:fillRect/>
          </a:stretch>
        </p:blipFill>
        <p:spPr>
          <a:xfrm>
            <a:off x="736092" y="3159252"/>
            <a:ext cx="192024" cy="192024"/>
          </a:xfrm>
          <a:prstGeom prst="rect">
            <a:avLst/>
          </a:prstGeom>
        </p:spPr>
      </p:pic>
      <p:sp>
        <p:nvSpPr>
          <p:cNvPr id="17" name="Text 12"/>
          <p:cNvSpPr/>
          <p:nvPr/>
        </p:nvSpPr>
        <p:spPr>
          <a:xfrm>
            <a:off x="1170432" y="3044952"/>
            <a:ext cx="2377440" cy="237744"/>
          </a:xfrm>
          <a:prstGeom prst="rect">
            <a:avLst/>
          </a:prstGeom>
          <a:noFill/>
          <a:ln/>
        </p:spPr>
        <p:txBody>
          <a:bodyPr wrap="square" lIns="0" tIns="0" rIns="0" bIns="0" rtlCol="0" anchor="ctr"/>
          <a:lstStyle/>
          <a:p>
            <a:pPr marL="0" indent="0">
              <a:buNone/>
            </a:pPr>
            <a:r>
              <a:rPr lang="en-US" sz="1100" b="1" dirty="0">
                <a:solidFill>
                  <a:srgbClr val="0F1A35"/>
                </a:solidFill>
                <a:latin typeface="Calibri" pitchFamily="34" charset="0"/>
                <a:ea typeface="Calibri" pitchFamily="34" charset="-122"/>
                <a:cs typeface="Calibri" pitchFamily="34" charset="-120"/>
              </a:rPr>
              <a:t>Історія взаємодії</a:t>
            </a:r>
            <a:endParaRPr lang="en-US" sz="1100" dirty="0"/>
          </a:p>
        </p:txBody>
      </p:sp>
      <p:sp>
        <p:nvSpPr>
          <p:cNvPr id="18" name="Text 13"/>
          <p:cNvSpPr/>
          <p:nvPr/>
        </p:nvSpPr>
        <p:spPr>
          <a:xfrm>
            <a:off x="1170432" y="3246120"/>
            <a:ext cx="2377440" cy="274320"/>
          </a:xfrm>
          <a:prstGeom prst="rect">
            <a:avLst/>
          </a:prstGeom>
          <a:noFill/>
          <a:ln/>
        </p:spPr>
        <p:txBody>
          <a:bodyPr wrap="square" lIns="0" tIns="0" rIns="0" bIns="0" rtlCol="0" anchor="ctr"/>
          <a:lstStyle/>
          <a:p>
            <a:pPr marL="0" indent="0">
              <a:buNone/>
            </a:pPr>
            <a:r>
              <a:rPr lang="en-US" sz="950" dirty="0">
                <a:solidFill>
                  <a:srgbClr val="1F2937"/>
                </a:solidFill>
                <a:latin typeface="Calibri" pitchFamily="34" charset="0"/>
                <a:ea typeface="Calibri" pitchFamily="34" charset="-122"/>
                <a:cs typeface="Calibri" pitchFamily="34" charset="-120"/>
              </a:rPr>
              <a:t>З якими елементами користувачі взаємодіяли</a:t>
            </a:r>
            <a:endParaRPr lang="en-US" sz="950" dirty="0"/>
          </a:p>
        </p:txBody>
      </p:sp>
      <p:sp>
        <p:nvSpPr>
          <p:cNvPr id="19" name="Shape 14"/>
          <p:cNvSpPr/>
          <p:nvPr/>
        </p:nvSpPr>
        <p:spPr>
          <a:xfrm>
            <a:off x="640080" y="3721608"/>
            <a:ext cx="2926080" cy="713232"/>
          </a:xfrm>
          <a:prstGeom prst="rect">
            <a:avLst/>
          </a:prstGeom>
          <a:solidFill>
            <a:srgbClr val="E8F0FE"/>
          </a:solidFill>
          <a:ln w="12700">
            <a:solidFill>
              <a:srgbClr val="E8F0FE"/>
            </a:solidFill>
            <a:prstDash val="solid"/>
          </a:ln>
        </p:spPr>
        <p:txBody>
          <a:bodyPr/>
          <a:lstStyle/>
          <a:p>
            <a:endParaRPr lang="uk-UA"/>
          </a:p>
        </p:txBody>
      </p:sp>
      <p:sp>
        <p:nvSpPr>
          <p:cNvPr id="20" name="Text 15"/>
          <p:cNvSpPr/>
          <p:nvPr/>
        </p:nvSpPr>
        <p:spPr>
          <a:xfrm>
            <a:off x="731520" y="3794760"/>
            <a:ext cx="2834640" cy="228600"/>
          </a:xfrm>
          <a:prstGeom prst="rect">
            <a:avLst/>
          </a:prstGeom>
          <a:noFill/>
          <a:ln/>
        </p:spPr>
        <p:txBody>
          <a:bodyPr wrap="square" lIns="0" tIns="0" rIns="0" bIns="0" rtlCol="0" anchor="ctr"/>
          <a:lstStyle/>
          <a:p>
            <a:pPr marL="0" indent="0">
              <a:buNone/>
            </a:pPr>
            <a:r>
              <a:rPr lang="en-US" sz="1000" b="1" dirty="0">
                <a:solidFill>
                  <a:srgbClr val="2C5BD8"/>
                </a:solidFill>
                <a:latin typeface="Calibri" pitchFamily="34" charset="0"/>
                <a:ea typeface="Calibri" pitchFamily="34" charset="-122"/>
                <a:cs typeface="Calibri" pitchFamily="34" charset="-120"/>
              </a:rPr>
              <a:t>Результат:</a:t>
            </a:r>
            <a:endParaRPr lang="en-US" sz="1000" dirty="0"/>
          </a:p>
        </p:txBody>
      </p:sp>
      <p:sp>
        <p:nvSpPr>
          <p:cNvPr id="21" name="Text 16"/>
          <p:cNvSpPr/>
          <p:nvPr/>
        </p:nvSpPr>
        <p:spPr>
          <a:xfrm>
            <a:off x="731520" y="3995928"/>
            <a:ext cx="2834640" cy="411480"/>
          </a:xfrm>
          <a:prstGeom prst="rect">
            <a:avLst/>
          </a:prstGeom>
          <a:noFill/>
          <a:ln/>
        </p:spPr>
        <p:txBody>
          <a:bodyPr wrap="square" lIns="0" tIns="0" rIns="0" bIns="0" rtlCol="0" anchor="ctr"/>
          <a:lstStyle/>
          <a:p>
            <a:pPr marL="0" indent="0">
              <a:buNone/>
            </a:pPr>
            <a:r>
              <a:rPr lang="en-US" sz="950" dirty="0">
                <a:solidFill>
                  <a:srgbClr val="0F1A35"/>
                </a:solidFill>
                <a:latin typeface="Calibri" pitchFamily="34" charset="0"/>
                <a:ea typeface="Calibri" pitchFamily="34" charset="-122"/>
                <a:cs typeface="Calibri" pitchFamily="34" charset="-120"/>
              </a:rPr>
              <a:t>векторне представлення стану групи для подальшого формування рекомендацій</a:t>
            </a:r>
            <a:endParaRPr lang="en-US" sz="950" dirty="0"/>
          </a:p>
        </p:txBody>
      </p:sp>
      <p:pic>
        <p:nvPicPr>
          <p:cNvPr id="22" name="Image 3" descr="figs/arch_integrator.png"/>
          <p:cNvPicPr>
            <a:picLocks noChangeAspect="1"/>
          </p:cNvPicPr>
          <p:nvPr/>
        </p:nvPicPr>
        <p:blipFill>
          <a:blip r:embed="rId6"/>
          <a:stretch>
            <a:fillRect/>
          </a:stretch>
        </p:blipFill>
        <p:spPr>
          <a:xfrm>
            <a:off x="3931920" y="1325880"/>
            <a:ext cx="4754880" cy="2990888"/>
          </a:xfrm>
          <a:prstGeom prst="rect">
            <a:avLst/>
          </a:prstGeom>
        </p:spPr>
      </p:pic>
      <p:sp>
        <p:nvSpPr>
          <p:cNvPr id="23" name="Text 17"/>
          <p:cNvSpPr/>
          <p:nvPr/>
        </p:nvSpPr>
        <p:spPr>
          <a:xfrm>
            <a:off x="3931920" y="4362488"/>
            <a:ext cx="4754880" cy="228600"/>
          </a:xfrm>
          <a:prstGeom prst="rect">
            <a:avLst/>
          </a:prstGeom>
          <a:noFill/>
          <a:ln/>
        </p:spPr>
        <p:txBody>
          <a:bodyPr wrap="square" lIns="0" tIns="0" rIns="0" bIns="0" rtlCol="0" anchor="ctr"/>
          <a:lstStyle/>
          <a:p>
            <a:pPr marL="0" indent="0" algn="ctr">
              <a:buNone/>
            </a:pPr>
            <a:r>
              <a:rPr lang="en-US" sz="900" i="1" dirty="0">
                <a:solidFill>
                  <a:srgbClr val="687891"/>
                </a:solidFill>
                <a:latin typeface="Calibri" pitchFamily="34" charset="0"/>
                <a:ea typeface="Calibri" pitchFamily="34" charset="-122"/>
                <a:cs typeface="Calibri" pitchFamily="34" charset="-120"/>
              </a:rPr>
              <a:t>Рис. 4. Архітектура Інтегратора</a:t>
            </a:r>
            <a:endParaRPr lang="en-US" sz="900" dirty="0"/>
          </a:p>
        </p:txBody>
      </p:sp>
      <p:sp>
        <p:nvSpPr>
          <p:cNvPr id="25" name="Shape 18"/>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26" name="Text 19"/>
          <p:cNvSpPr/>
          <p:nvPr/>
        </p:nvSpPr>
        <p:spPr>
          <a:xfrm>
            <a:off x="457200" y="4901184"/>
            <a:ext cx="6858000" cy="228600"/>
          </a:xfrm>
          <a:prstGeom prst="rect">
            <a:avLst/>
          </a:prstGeom>
          <a:noFill/>
          <a:ln/>
        </p:spPr>
        <p:txBody>
          <a:bodyPr wrap="square" lIns="0" tIns="0" rIns="0" bIns="0" rtlCol="0" anchor="ctr"/>
          <a:lstStyle/>
          <a:p>
            <a:pPr marL="0" indent="0">
              <a:buNone/>
            </a:pPr>
            <a:r>
              <a:rPr lang="en-US" sz="90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ML з підкріпленням</a:t>
            </a:r>
            <a:endParaRPr lang="en-US" sz="900" dirty="0"/>
          </a:p>
        </p:txBody>
      </p:sp>
      <p:sp>
        <p:nvSpPr>
          <p:cNvPr id="27" name="Text 20"/>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09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АКТОР-КРИТИК</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Взаємодія мереж Актор та Критик</a:t>
            </a:r>
            <a:endParaRPr lang="en-US" sz="2800" dirty="0"/>
          </a:p>
        </p:txBody>
      </p:sp>
      <p:sp>
        <p:nvSpPr>
          <p:cNvPr id="5" name="Shape 3"/>
          <p:cNvSpPr/>
          <p:nvPr/>
        </p:nvSpPr>
        <p:spPr>
          <a:xfrm>
            <a:off x="457200" y="1298448"/>
            <a:ext cx="8229600" cy="71323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298448"/>
            <a:ext cx="64008" cy="713232"/>
          </a:xfrm>
          <a:prstGeom prst="rect">
            <a:avLst/>
          </a:prstGeom>
          <a:solidFill>
            <a:srgbClr val="2C5BD8"/>
          </a:solidFill>
          <a:ln w="12700">
            <a:solidFill>
              <a:srgbClr val="2C5BD8"/>
            </a:solidFill>
            <a:prstDash val="solid"/>
          </a:ln>
        </p:spPr>
        <p:txBody>
          <a:bodyPr/>
          <a:lstStyle/>
          <a:p>
            <a:endParaRPr lang="uk-UA"/>
          </a:p>
        </p:txBody>
      </p:sp>
      <p:sp>
        <p:nvSpPr>
          <p:cNvPr id="7" name="Shape 5"/>
          <p:cNvSpPr/>
          <p:nvPr/>
        </p:nvSpPr>
        <p:spPr>
          <a:xfrm>
            <a:off x="640080" y="1463040"/>
            <a:ext cx="384048" cy="384048"/>
          </a:xfrm>
          <a:prstGeom prst="ellipse">
            <a:avLst/>
          </a:prstGeom>
          <a:solidFill>
            <a:srgbClr val="E8F0FE"/>
          </a:solidFill>
          <a:ln w="12700">
            <a:solidFill>
              <a:srgbClr val="E8F0FE"/>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736092" y="1559052"/>
            <a:ext cx="192024" cy="192024"/>
          </a:xfrm>
          <a:prstGeom prst="rect">
            <a:avLst/>
          </a:prstGeom>
        </p:spPr>
      </p:pic>
      <p:sp>
        <p:nvSpPr>
          <p:cNvPr id="9" name="Text 6"/>
          <p:cNvSpPr/>
          <p:nvPr/>
        </p:nvSpPr>
        <p:spPr>
          <a:xfrm>
            <a:off x="1188720" y="1371600"/>
            <a:ext cx="6858000" cy="256032"/>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Ідея мереж Актор та Критик</a:t>
            </a:r>
            <a:endParaRPr lang="en-US" sz="1200" dirty="0"/>
          </a:p>
        </p:txBody>
      </p:sp>
      <p:sp>
        <p:nvSpPr>
          <p:cNvPr id="10" name="Text 7"/>
          <p:cNvSpPr/>
          <p:nvPr/>
        </p:nvSpPr>
        <p:spPr>
          <a:xfrm>
            <a:off x="1188720" y="1591056"/>
            <a:ext cx="7040880" cy="411480"/>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Актор пропонує рекомендацію, Критик оцінює її якість. Модель вчиться формувати такі рекомендації, які максимізують довгострокову винагороду.</a:t>
            </a:r>
            <a:endParaRPr lang="en-US" sz="1050" dirty="0"/>
          </a:p>
        </p:txBody>
      </p:sp>
      <p:pic>
        <p:nvPicPr>
          <p:cNvPr id="11" name="Image 1" descr="figs/arch_actor_critic.png"/>
          <p:cNvPicPr>
            <a:picLocks noChangeAspect="1"/>
          </p:cNvPicPr>
          <p:nvPr/>
        </p:nvPicPr>
        <p:blipFill>
          <a:blip r:embed="rId4"/>
          <a:stretch>
            <a:fillRect/>
          </a:stretch>
        </p:blipFill>
        <p:spPr>
          <a:xfrm>
            <a:off x="502920" y="2194560"/>
            <a:ext cx="2734662" cy="2423160"/>
          </a:xfrm>
          <a:prstGeom prst="rect">
            <a:avLst/>
          </a:prstGeom>
        </p:spPr>
      </p:pic>
      <p:sp>
        <p:nvSpPr>
          <p:cNvPr id="12" name="Text 8"/>
          <p:cNvSpPr/>
          <p:nvPr/>
        </p:nvSpPr>
        <p:spPr>
          <a:xfrm>
            <a:off x="457200" y="4663440"/>
            <a:ext cx="3283302" cy="228600"/>
          </a:xfrm>
          <a:prstGeom prst="rect">
            <a:avLst/>
          </a:prstGeom>
          <a:noFill/>
          <a:ln/>
        </p:spPr>
        <p:txBody>
          <a:bodyPr wrap="square" lIns="0" tIns="0" rIns="0" bIns="0" rtlCol="0" anchor="ctr"/>
          <a:lstStyle/>
          <a:p>
            <a:pPr marL="0" indent="0" algn="ctr">
              <a:buNone/>
            </a:pPr>
            <a:r>
              <a:rPr lang="en-US" sz="900" i="1" dirty="0">
                <a:solidFill>
                  <a:srgbClr val="687891"/>
                </a:solidFill>
                <a:latin typeface="Calibri" pitchFamily="34" charset="0"/>
                <a:ea typeface="Calibri" pitchFamily="34" charset="-122"/>
                <a:cs typeface="Calibri" pitchFamily="34" charset="-120"/>
              </a:rPr>
              <a:t>Рис. 5. Архітектура Актор-Критик</a:t>
            </a:r>
            <a:endParaRPr lang="en-US" sz="900" dirty="0"/>
          </a:p>
        </p:txBody>
      </p:sp>
      <p:sp>
        <p:nvSpPr>
          <p:cNvPr id="13" name="Shape 9"/>
          <p:cNvSpPr/>
          <p:nvPr/>
        </p:nvSpPr>
        <p:spPr>
          <a:xfrm>
            <a:off x="3511902" y="2103120"/>
            <a:ext cx="5174898" cy="11887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4" name="Shape 10"/>
          <p:cNvSpPr/>
          <p:nvPr/>
        </p:nvSpPr>
        <p:spPr>
          <a:xfrm>
            <a:off x="3511902" y="2103120"/>
            <a:ext cx="64008" cy="1188720"/>
          </a:xfrm>
          <a:prstGeom prst="rect">
            <a:avLst/>
          </a:prstGeom>
          <a:solidFill>
            <a:srgbClr val="20B7D1"/>
          </a:solidFill>
          <a:ln w="12700">
            <a:solidFill>
              <a:srgbClr val="20B7D1"/>
            </a:solidFill>
            <a:prstDash val="solid"/>
          </a:ln>
        </p:spPr>
        <p:txBody>
          <a:bodyPr/>
          <a:lstStyle/>
          <a:p>
            <a:endParaRPr lang="uk-UA"/>
          </a:p>
        </p:txBody>
      </p:sp>
      <p:sp>
        <p:nvSpPr>
          <p:cNvPr id="15" name="Shape 11"/>
          <p:cNvSpPr/>
          <p:nvPr/>
        </p:nvSpPr>
        <p:spPr>
          <a:xfrm>
            <a:off x="3694782" y="2304288"/>
            <a:ext cx="457200" cy="457200"/>
          </a:xfrm>
          <a:prstGeom prst="ellipse">
            <a:avLst/>
          </a:prstGeom>
          <a:solidFill>
            <a:srgbClr val="D6F1F7"/>
          </a:solidFill>
          <a:ln w="12700">
            <a:solidFill>
              <a:srgbClr val="D6F1F7"/>
            </a:solidFill>
            <a:prstDash val="solid"/>
          </a:ln>
        </p:spPr>
        <p:txBody>
          <a:bodyPr/>
          <a:lstStyle/>
          <a:p>
            <a:endParaRPr lang="uk-UA"/>
          </a:p>
        </p:txBody>
      </p:sp>
      <p:pic>
        <p:nvPicPr>
          <p:cNvPr id="16" name="Image 2" descr="preencoded.png"/>
          <p:cNvPicPr>
            <a:picLocks noChangeAspect="1"/>
          </p:cNvPicPr>
          <p:nvPr/>
        </p:nvPicPr>
        <p:blipFill>
          <a:blip r:embed="rId5"/>
          <a:stretch>
            <a:fillRect/>
          </a:stretch>
        </p:blipFill>
        <p:spPr>
          <a:xfrm>
            <a:off x="3809082" y="2418588"/>
            <a:ext cx="228600" cy="228600"/>
          </a:xfrm>
          <a:prstGeom prst="rect">
            <a:avLst/>
          </a:prstGeom>
        </p:spPr>
      </p:pic>
      <p:sp>
        <p:nvSpPr>
          <p:cNvPr id="17" name="Text 12"/>
          <p:cNvSpPr/>
          <p:nvPr/>
        </p:nvSpPr>
        <p:spPr>
          <a:xfrm>
            <a:off x="4289142" y="2194560"/>
            <a:ext cx="4260498" cy="292608"/>
          </a:xfrm>
          <a:prstGeom prst="rect">
            <a:avLst/>
          </a:prstGeom>
          <a:noFill/>
          <a:ln/>
        </p:spPr>
        <p:txBody>
          <a:bodyPr wrap="square" lIns="0" tIns="0" rIns="0" bIns="0" rtlCol="0" anchor="ctr"/>
          <a:lstStyle/>
          <a:p>
            <a:pPr marL="0" indent="0">
              <a:buNone/>
            </a:pPr>
            <a:r>
              <a:rPr lang="en-US" sz="1400" b="1" dirty="0">
                <a:solidFill>
                  <a:srgbClr val="0F1A35"/>
                </a:solidFill>
                <a:latin typeface="Calibri" pitchFamily="34" charset="0"/>
                <a:ea typeface="Calibri" pitchFamily="34" charset="-122"/>
                <a:cs typeface="Calibri" pitchFamily="34" charset="-120"/>
              </a:rPr>
              <a:t>Актор</a:t>
            </a:r>
            <a:endParaRPr lang="en-US" sz="1400" dirty="0"/>
          </a:p>
        </p:txBody>
      </p:sp>
      <p:sp>
        <p:nvSpPr>
          <p:cNvPr id="18" name="Text 13"/>
          <p:cNvSpPr/>
          <p:nvPr/>
        </p:nvSpPr>
        <p:spPr>
          <a:xfrm>
            <a:off x="4289142" y="2468880"/>
            <a:ext cx="4260498" cy="201168"/>
          </a:xfrm>
          <a:prstGeom prst="rect">
            <a:avLst/>
          </a:prstGeom>
          <a:noFill/>
          <a:ln/>
        </p:spPr>
        <p:txBody>
          <a:bodyPr wrap="square" lIns="0" tIns="0" rIns="0" bIns="0" rtlCol="0" anchor="ctr"/>
          <a:lstStyle/>
          <a:p>
            <a:pPr marL="0" indent="0">
              <a:buNone/>
            </a:pPr>
            <a:r>
              <a:rPr lang="en-US" sz="950" i="1" dirty="0">
                <a:solidFill>
                  <a:srgbClr val="20B7D1"/>
                </a:solidFill>
                <a:latin typeface="Calibri" pitchFamily="34" charset="0"/>
                <a:ea typeface="Calibri" pitchFamily="34" charset="-122"/>
                <a:cs typeface="Calibri" pitchFamily="34" charset="-120"/>
              </a:rPr>
              <a:t>(генерація рекомендації)</a:t>
            </a:r>
            <a:endParaRPr lang="en-US" sz="950" dirty="0"/>
          </a:p>
        </p:txBody>
      </p:sp>
      <p:sp>
        <p:nvSpPr>
          <p:cNvPr id="19" name="Text 14"/>
          <p:cNvSpPr/>
          <p:nvPr/>
        </p:nvSpPr>
        <p:spPr>
          <a:xfrm>
            <a:off x="3694782" y="2743200"/>
            <a:ext cx="4900578" cy="502920"/>
          </a:xfrm>
          <a:prstGeom prst="rect">
            <a:avLst/>
          </a:prstGeom>
          <a:noFill/>
          <a:ln/>
        </p:spPr>
        <p:txBody>
          <a:bodyPr wrap="square" lIns="0" tIns="0" rIns="0" bIns="0" rtlCol="0" anchor="ctr"/>
          <a:lstStyle/>
          <a:p>
            <a:pPr marL="0" indent="0">
              <a:lnSpc>
                <a:spcPct val="110000"/>
              </a:lnSpc>
              <a:buNone/>
            </a:pPr>
            <a:r>
              <a:rPr lang="en-US" sz="950" b="1" dirty="0">
                <a:solidFill>
                  <a:srgbClr val="20B7D1"/>
                </a:solidFill>
                <a:latin typeface="Calibri" pitchFamily="34" charset="0"/>
                <a:ea typeface="Calibri" pitchFamily="34" charset="-122"/>
                <a:cs typeface="Calibri" pitchFamily="34" charset="-120"/>
              </a:rPr>
              <a:t>Вхід: </a:t>
            </a:r>
            <a:r>
              <a:rPr lang="en-US" sz="950" dirty="0">
                <a:solidFill>
                  <a:srgbClr val="1F2937"/>
                </a:solidFill>
                <a:latin typeface="Calibri" pitchFamily="34" charset="0"/>
                <a:ea typeface="Calibri" pitchFamily="34" charset="-122"/>
                <a:cs typeface="Calibri" pitchFamily="34" charset="-120"/>
              </a:rPr>
              <a:t>стан групи (від Інтегратора). </a:t>
            </a:r>
            <a:r>
              <a:rPr lang="en-US" sz="950" b="1" dirty="0">
                <a:solidFill>
                  <a:srgbClr val="20B7D1"/>
                </a:solidFill>
                <a:latin typeface="Calibri" pitchFamily="34" charset="0"/>
                <a:ea typeface="Calibri" pitchFamily="34" charset="-122"/>
                <a:cs typeface="Calibri" pitchFamily="34" charset="-120"/>
              </a:rPr>
              <a:t>Вихід: </a:t>
            </a:r>
            <a:r>
              <a:rPr lang="en-US" sz="950" dirty="0">
                <a:solidFill>
                  <a:srgbClr val="1F2937"/>
                </a:solidFill>
                <a:latin typeface="Calibri" pitchFamily="34" charset="0"/>
                <a:ea typeface="Calibri" pitchFamily="34" charset="-122"/>
                <a:cs typeface="Calibri" pitchFamily="34" charset="-120"/>
              </a:rPr>
              <a:t>вектор наближеної дії â, з якого формується top-k рекомендацій.</a:t>
            </a:r>
            <a:endParaRPr lang="en-US" sz="950" dirty="0"/>
          </a:p>
        </p:txBody>
      </p:sp>
      <p:sp>
        <p:nvSpPr>
          <p:cNvPr id="20" name="Shape 15"/>
          <p:cNvSpPr/>
          <p:nvPr/>
        </p:nvSpPr>
        <p:spPr>
          <a:xfrm>
            <a:off x="3511902" y="3383280"/>
            <a:ext cx="5174898" cy="11887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1" name="Shape 16"/>
          <p:cNvSpPr/>
          <p:nvPr/>
        </p:nvSpPr>
        <p:spPr>
          <a:xfrm>
            <a:off x="3511902" y="3383280"/>
            <a:ext cx="64008" cy="1188720"/>
          </a:xfrm>
          <a:prstGeom prst="rect">
            <a:avLst/>
          </a:prstGeom>
          <a:solidFill>
            <a:srgbClr val="F0A93B"/>
          </a:solidFill>
          <a:ln w="12700">
            <a:solidFill>
              <a:srgbClr val="F0A93B"/>
            </a:solidFill>
            <a:prstDash val="solid"/>
          </a:ln>
        </p:spPr>
        <p:txBody>
          <a:bodyPr/>
          <a:lstStyle/>
          <a:p>
            <a:endParaRPr lang="uk-UA"/>
          </a:p>
        </p:txBody>
      </p:sp>
      <p:sp>
        <p:nvSpPr>
          <p:cNvPr id="22" name="Shape 17"/>
          <p:cNvSpPr/>
          <p:nvPr/>
        </p:nvSpPr>
        <p:spPr>
          <a:xfrm>
            <a:off x="3694782" y="3584448"/>
            <a:ext cx="457200" cy="457200"/>
          </a:xfrm>
          <a:prstGeom prst="ellipse">
            <a:avLst/>
          </a:prstGeom>
          <a:solidFill>
            <a:srgbClr val="FBE9CD"/>
          </a:solidFill>
          <a:ln w="12700">
            <a:solidFill>
              <a:srgbClr val="FBE9CD"/>
            </a:solidFill>
            <a:prstDash val="solid"/>
          </a:ln>
        </p:spPr>
        <p:txBody>
          <a:bodyPr/>
          <a:lstStyle/>
          <a:p>
            <a:endParaRPr lang="uk-UA"/>
          </a:p>
        </p:txBody>
      </p:sp>
      <p:pic>
        <p:nvPicPr>
          <p:cNvPr id="23" name="Image 3" descr="preencoded.png"/>
          <p:cNvPicPr>
            <a:picLocks noChangeAspect="1"/>
          </p:cNvPicPr>
          <p:nvPr/>
        </p:nvPicPr>
        <p:blipFill>
          <a:blip r:embed="rId6"/>
          <a:stretch>
            <a:fillRect/>
          </a:stretch>
        </p:blipFill>
        <p:spPr>
          <a:xfrm>
            <a:off x="3809082" y="3698748"/>
            <a:ext cx="228600" cy="228600"/>
          </a:xfrm>
          <a:prstGeom prst="rect">
            <a:avLst/>
          </a:prstGeom>
        </p:spPr>
      </p:pic>
      <p:sp>
        <p:nvSpPr>
          <p:cNvPr id="24" name="Text 18"/>
          <p:cNvSpPr/>
          <p:nvPr/>
        </p:nvSpPr>
        <p:spPr>
          <a:xfrm>
            <a:off x="4289142" y="3474720"/>
            <a:ext cx="4260498" cy="292608"/>
          </a:xfrm>
          <a:prstGeom prst="rect">
            <a:avLst/>
          </a:prstGeom>
          <a:noFill/>
          <a:ln/>
        </p:spPr>
        <p:txBody>
          <a:bodyPr wrap="square" lIns="0" tIns="0" rIns="0" bIns="0" rtlCol="0" anchor="ctr"/>
          <a:lstStyle/>
          <a:p>
            <a:pPr marL="0" indent="0">
              <a:buNone/>
            </a:pPr>
            <a:r>
              <a:rPr lang="en-US" sz="1400" b="1" dirty="0">
                <a:solidFill>
                  <a:srgbClr val="0F1A35"/>
                </a:solidFill>
                <a:latin typeface="Calibri" pitchFamily="34" charset="0"/>
                <a:ea typeface="Calibri" pitchFamily="34" charset="-122"/>
                <a:cs typeface="Calibri" pitchFamily="34" charset="-120"/>
              </a:rPr>
              <a:t>Критик</a:t>
            </a:r>
            <a:endParaRPr lang="en-US" sz="1400" dirty="0"/>
          </a:p>
        </p:txBody>
      </p:sp>
      <p:sp>
        <p:nvSpPr>
          <p:cNvPr id="25" name="Text 19"/>
          <p:cNvSpPr/>
          <p:nvPr/>
        </p:nvSpPr>
        <p:spPr>
          <a:xfrm>
            <a:off x="4289142" y="3749040"/>
            <a:ext cx="4260498" cy="201168"/>
          </a:xfrm>
          <a:prstGeom prst="rect">
            <a:avLst/>
          </a:prstGeom>
          <a:noFill/>
          <a:ln/>
        </p:spPr>
        <p:txBody>
          <a:bodyPr wrap="square" lIns="0" tIns="0" rIns="0" bIns="0" rtlCol="0" anchor="ctr"/>
          <a:lstStyle/>
          <a:p>
            <a:pPr marL="0" indent="0">
              <a:buNone/>
            </a:pPr>
            <a:r>
              <a:rPr lang="en-US" sz="950" i="1" dirty="0">
                <a:solidFill>
                  <a:srgbClr val="F0A93B"/>
                </a:solidFill>
                <a:latin typeface="Calibri" pitchFamily="34" charset="0"/>
                <a:ea typeface="Calibri" pitchFamily="34" charset="-122"/>
                <a:cs typeface="Calibri" pitchFamily="34" charset="-120"/>
              </a:rPr>
              <a:t>(оцінка якості)</a:t>
            </a:r>
            <a:endParaRPr lang="en-US" sz="950" dirty="0"/>
          </a:p>
        </p:txBody>
      </p:sp>
      <p:sp>
        <p:nvSpPr>
          <p:cNvPr id="26" name="Text 20"/>
          <p:cNvSpPr/>
          <p:nvPr/>
        </p:nvSpPr>
        <p:spPr>
          <a:xfrm>
            <a:off x="3694782" y="4023360"/>
            <a:ext cx="4900578" cy="502920"/>
          </a:xfrm>
          <a:prstGeom prst="rect">
            <a:avLst/>
          </a:prstGeom>
          <a:noFill/>
          <a:ln/>
        </p:spPr>
        <p:txBody>
          <a:bodyPr wrap="square" lIns="0" tIns="0" rIns="0" bIns="0" rtlCol="0" anchor="ctr"/>
          <a:lstStyle/>
          <a:p>
            <a:pPr marL="0" indent="0">
              <a:lnSpc>
                <a:spcPct val="110000"/>
              </a:lnSpc>
              <a:buNone/>
            </a:pPr>
            <a:r>
              <a:rPr lang="en-US" sz="950" b="1" dirty="0">
                <a:solidFill>
                  <a:srgbClr val="F0A93B"/>
                </a:solidFill>
                <a:latin typeface="Calibri" pitchFamily="34" charset="0"/>
                <a:ea typeface="Calibri" pitchFamily="34" charset="-122"/>
                <a:cs typeface="Calibri" pitchFamily="34" charset="-120"/>
              </a:rPr>
              <a:t>Вхід: </a:t>
            </a:r>
            <a:r>
              <a:rPr lang="en-US" sz="950" dirty="0">
                <a:solidFill>
                  <a:srgbClr val="1F2937"/>
                </a:solidFill>
                <a:latin typeface="Calibri" pitchFamily="34" charset="0"/>
                <a:ea typeface="Calibri" pitchFamily="34" charset="-122"/>
                <a:cs typeface="Calibri" pitchFamily="34" charset="-120"/>
              </a:rPr>
              <a:t>стан + дія (рекомендація від Актора). </a:t>
            </a:r>
            <a:r>
              <a:rPr lang="en-US" sz="950" b="1" dirty="0">
                <a:solidFill>
                  <a:srgbClr val="F0A93B"/>
                </a:solidFill>
                <a:latin typeface="Calibri" pitchFamily="34" charset="0"/>
                <a:ea typeface="Calibri" pitchFamily="34" charset="-122"/>
                <a:cs typeface="Calibri" pitchFamily="34" charset="-120"/>
              </a:rPr>
              <a:t>Вихід: </a:t>
            </a:r>
            <a:r>
              <a:rPr lang="en-US" sz="950" dirty="0">
                <a:solidFill>
                  <a:srgbClr val="1F2937"/>
                </a:solidFill>
                <a:latin typeface="Calibri" pitchFamily="34" charset="0"/>
                <a:ea typeface="Calibri" pitchFamily="34" charset="-122"/>
                <a:cs typeface="Calibri" pitchFamily="34" charset="-120"/>
              </a:rPr>
              <a:t>Q-значення — очікувана винагорода для оновлення стратегії Актора.</a:t>
            </a:r>
            <a:endParaRPr lang="en-US" sz="950" dirty="0"/>
          </a:p>
        </p:txBody>
      </p:sp>
      <p:sp>
        <p:nvSpPr>
          <p:cNvPr id="28" name="Shape 21"/>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29" name="Text 22"/>
          <p:cNvSpPr/>
          <p:nvPr/>
        </p:nvSpPr>
        <p:spPr>
          <a:xfrm>
            <a:off x="457200" y="4901184"/>
            <a:ext cx="6858000" cy="228600"/>
          </a:xfrm>
          <a:prstGeom prst="rect">
            <a:avLst/>
          </a:prstGeom>
          <a:noFill/>
          <a:ln/>
        </p:spPr>
        <p:txBody>
          <a:bodyPr wrap="square" lIns="0" tIns="0" rIns="0" bIns="0" rtlCol="0" anchor="ctr"/>
          <a:lstStyle/>
          <a:p>
            <a:pPr marL="0" indent="0">
              <a:buNone/>
            </a:pPr>
            <a:r>
              <a:rPr lang="en-US" sz="90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ML з підкріпленням</a:t>
            </a:r>
            <a:endParaRPr lang="en-US" sz="900" dirty="0"/>
          </a:p>
        </p:txBody>
      </p:sp>
      <p:sp>
        <p:nvSpPr>
          <p:cNvPr id="30" name="Text 23"/>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АЛГОРИТМ НАВЧАННЯ</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DDPG — Deep Deterministic Policy Gradient</a:t>
            </a:r>
            <a:endParaRPr lang="en-US" sz="2800" dirty="0"/>
          </a:p>
        </p:txBody>
      </p:sp>
      <p:sp>
        <p:nvSpPr>
          <p:cNvPr id="5" name="Shape 3"/>
          <p:cNvSpPr/>
          <p:nvPr/>
        </p:nvSpPr>
        <p:spPr>
          <a:xfrm>
            <a:off x="457200" y="1325880"/>
            <a:ext cx="8229600" cy="71323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325880"/>
            <a:ext cx="64008" cy="713232"/>
          </a:xfrm>
          <a:prstGeom prst="rect">
            <a:avLst/>
          </a:prstGeom>
          <a:solidFill>
            <a:srgbClr val="2C5BD8"/>
          </a:solidFill>
          <a:ln w="12700">
            <a:solidFill>
              <a:srgbClr val="2C5BD8"/>
            </a:solidFill>
            <a:prstDash val="solid"/>
          </a:ln>
        </p:spPr>
        <p:txBody>
          <a:bodyPr/>
          <a:lstStyle/>
          <a:p>
            <a:endParaRPr lang="uk-UA"/>
          </a:p>
        </p:txBody>
      </p:sp>
      <p:sp>
        <p:nvSpPr>
          <p:cNvPr id="7" name="Shape 5"/>
          <p:cNvSpPr/>
          <p:nvPr/>
        </p:nvSpPr>
        <p:spPr>
          <a:xfrm>
            <a:off x="640080" y="1490472"/>
            <a:ext cx="384048" cy="384048"/>
          </a:xfrm>
          <a:prstGeom prst="ellipse">
            <a:avLst/>
          </a:prstGeom>
          <a:solidFill>
            <a:srgbClr val="E8F0FE"/>
          </a:solidFill>
          <a:ln w="12700">
            <a:solidFill>
              <a:srgbClr val="E8F0FE"/>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736092" y="1586484"/>
            <a:ext cx="192024" cy="192024"/>
          </a:xfrm>
          <a:prstGeom prst="rect">
            <a:avLst/>
          </a:prstGeom>
        </p:spPr>
      </p:pic>
      <p:sp>
        <p:nvSpPr>
          <p:cNvPr id="9" name="Text 6"/>
          <p:cNvSpPr/>
          <p:nvPr/>
        </p:nvSpPr>
        <p:spPr>
          <a:xfrm>
            <a:off x="1188720" y="1399032"/>
            <a:ext cx="6858000" cy="256032"/>
          </a:xfrm>
          <a:prstGeom prst="rect">
            <a:avLst/>
          </a:prstGeom>
          <a:noFill/>
          <a:ln/>
        </p:spPr>
        <p:txBody>
          <a:bodyPr wrap="square" lIns="0" tIns="0" rIns="0" bIns="0" rtlCol="0" anchor="ctr"/>
          <a:lstStyle/>
          <a:p>
            <a:pPr marL="0" indent="0">
              <a:buNone/>
            </a:pPr>
            <a:r>
              <a:rPr lang="en-US" sz="1200" b="1" dirty="0">
                <a:solidFill>
                  <a:srgbClr val="2C5BD8"/>
                </a:solidFill>
                <a:latin typeface="Calibri" pitchFamily="34" charset="0"/>
                <a:ea typeface="Calibri" pitchFamily="34" charset="-122"/>
                <a:cs typeface="Calibri" pitchFamily="34" charset="-120"/>
              </a:rPr>
              <a:t>Особливість підходу</a:t>
            </a:r>
            <a:endParaRPr lang="en-US" sz="1200" dirty="0"/>
          </a:p>
        </p:txBody>
      </p:sp>
      <p:sp>
        <p:nvSpPr>
          <p:cNvPr id="10" name="Text 7"/>
          <p:cNvSpPr/>
          <p:nvPr/>
        </p:nvSpPr>
        <p:spPr>
          <a:xfrm>
            <a:off x="1188720" y="1618488"/>
            <a:ext cx="7040880" cy="411480"/>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Навчання відбувається з використанням DDPG із двома парами мереж: початковими та цільовими. Цільові мережі стабілізують навчання завдяки повільному зміщенню значень у TD-learning.</a:t>
            </a:r>
            <a:endParaRPr lang="en-US" sz="1050" dirty="0"/>
          </a:p>
        </p:txBody>
      </p:sp>
      <p:sp>
        <p:nvSpPr>
          <p:cNvPr id="11" name="Text 8"/>
          <p:cNvSpPr/>
          <p:nvPr/>
        </p:nvSpPr>
        <p:spPr>
          <a:xfrm>
            <a:off x="457200" y="2148840"/>
            <a:ext cx="4023360" cy="228600"/>
          </a:xfrm>
          <a:prstGeom prst="rect">
            <a:avLst/>
          </a:prstGeom>
          <a:noFill/>
          <a:ln/>
        </p:spPr>
        <p:txBody>
          <a:bodyPr wrap="square" lIns="0" tIns="0" rIns="0" bIns="0" rtlCol="0" anchor="ctr"/>
          <a:lstStyle/>
          <a:p>
            <a:pPr marL="0" indent="0">
              <a:buNone/>
            </a:pPr>
            <a:r>
              <a:rPr lang="en-US" sz="900" i="1" dirty="0">
                <a:solidFill>
                  <a:srgbClr val="687891"/>
                </a:solidFill>
                <a:latin typeface="Calibri" pitchFamily="34" charset="0"/>
                <a:ea typeface="Calibri" pitchFamily="34" charset="-122"/>
                <a:cs typeface="Calibri" pitchFamily="34" charset="-120"/>
              </a:rPr>
              <a:t>Табл. 2. Початкові та цільові мережі</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2404872"/>
          <a:ext cx="402336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92608">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Мережа</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Початкова</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Цільова</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extLst>
                  <a:ext uri="{0D108BD9-81ED-4DB2-BD59-A6C34878D82A}">
                    <a16:rowId xmlns:a16="http://schemas.microsoft.com/office/drawing/2014/main" val="10000"/>
                  </a:ext>
                </a:extLst>
              </a:tr>
              <a:tr h="292608">
                <a:tc>
                  <a:txBody>
                    <a:bodyPr/>
                    <a:lstStyle/>
                    <a:p>
                      <a:pPr marL="0" indent="0" algn="l">
                        <a:buNone/>
                      </a:pPr>
                      <a:r>
                        <a:rPr lang="en-US" sz="1000" b="1" dirty="0">
                          <a:solidFill>
                            <a:srgbClr val="1F2937"/>
                          </a:solidFill>
                          <a:latin typeface="Calibri" pitchFamily="34" charset="0"/>
                          <a:ea typeface="Calibri" pitchFamily="34" charset="-122"/>
                          <a:cs typeface="Calibri" pitchFamily="34" charset="-120"/>
                        </a:rPr>
                        <a:t>Актор</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πθ(s)</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πθ′(s′)</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lgn="l">
                        <a:buNone/>
                      </a:pPr>
                      <a:r>
                        <a:rPr lang="en-US" sz="1000" b="1" dirty="0">
                          <a:solidFill>
                            <a:srgbClr val="1F2937"/>
                          </a:solidFill>
                          <a:latin typeface="Calibri" pitchFamily="34" charset="0"/>
                          <a:ea typeface="Calibri" pitchFamily="34" charset="-122"/>
                          <a:cs typeface="Calibri" pitchFamily="34" charset="-120"/>
                        </a:rPr>
                        <a:t>Критик</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Qφ(s,a)</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Qφ′(s′,·)</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3" name="Shape 9"/>
          <p:cNvSpPr/>
          <p:nvPr/>
        </p:nvSpPr>
        <p:spPr>
          <a:xfrm>
            <a:off x="457200" y="3355848"/>
            <a:ext cx="4023360" cy="14173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4" name="Shape 10"/>
          <p:cNvSpPr/>
          <p:nvPr/>
        </p:nvSpPr>
        <p:spPr>
          <a:xfrm>
            <a:off x="457200" y="3355848"/>
            <a:ext cx="64008" cy="1417320"/>
          </a:xfrm>
          <a:prstGeom prst="rect">
            <a:avLst/>
          </a:prstGeom>
          <a:solidFill>
            <a:srgbClr val="20B7D1"/>
          </a:solidFill>
          <a:ln w="12700">
            <a:solidFill>
              <a:srgbClr val="20B7D1"/>
            </a:solidFill>
            <a:prstDash val="solid"/>
          </a:ln>
        </p:spPr>
        <p:txBody>
          <a:bodyPr/>
          <a:lstStyle/>
          <a:p>
            <a:endParaRPr lang="uk-UA"/>
          </a:p>
        </p:txBody>
      </p:sp>
      <p:sp>
        <p:nvSpPr>
          <p:cNvPr id="15" name="Text 11"/>
          <p:cNvSpPr/>
          <p:nvPr/>
        </p:nvSpPr>
        <p:spPr>
          <a:xfrm>
            <a:off x="640080" y="3447288"/>
            <a:ext cx="3657600" cy="256032"/>
          </a:xfrm>
          <a:prstGeom prst="rect">
            <a:avLst/>
          </a:prstGeom>
          <a:noFill/>
          <a:ln/>
        </p:spPr>
        <p:txBody>
          <a:bodyPr wrap="square" lIns="0" tIns="0" rIns="0" bIns="0" rtlCol="0" anchor="ctr"/>
          <a:lstStyle/>
          <a:p>
            <a:pPr marL="0" indent="0">
              <a:buNone/>
            </a:pPr>
            <a:r>
              <a:rPr lang="en-US" sz="1100" b="1" dirty="0">
                <a:solidFill>
                  <a:srgbClr val="0F1A35"/>
                </a:solidFill>
                <a:latin typeface="Calibri" pitchFamily="34" charset="0"/>
                <a:ea typeface="Calibri" pitchFamily="34" charset="-122"/>
                <a:cs typeface="Calibri" pitchFamily="34" charset="-120"/>
              </a:rPr>
              <a:t>Функції втрат</a:t>
            </a:r>
            <a:endParaRPr lang="en-US" sz="1100" dirty="0"/>
          </a:p>
        </p:txBody>
      </p:sp>
      <p:sp>
        <p:nvSpPr>
          <p:cNvPr id="16" name="Text 12"/>
          <p:cNvSpPr/>
          <p:nvPr/>
        </p:nvSpPr>
        <p:spPr>
          <a:xfrm>
            <a:off x="640080" y="3739896"/>
            <a:ext cx="3703320" cy="960120"/>
          </a:xfrm>
          <a:prstGeom prst="rect">
            <a:avLst/>
          </a:prstGeom>
          <a:noFill/>
          <a:ln/>
        </p:spPr>
        <p:txBody>
          <a:bodyPr wrap="square" lIns="0" tIns="0" rIns="0" bIns="0" rtlCol="0" anchor="ctr"/>
          <a:lstStyle/>
          <a:p>
            <a:pPr marL="0" indent="0">
              <a:lnSpc>
                <a:spcPct val="115000"/>
              </a:lnSpc>
              <a:buNone/>
            </a:pPr>
            <a:r>
              <a:rPr lang="en-US" sz="1000" b="1" dirty="0">
                <a:solidFill>
                  <a:srgbClr val="20B7D1"/>
                </a:solidFill>
                <a:latin typeface="Calibri" pitchFamily="34" charset="0"/>
                <a:ea typeface="Calibri" pitchFamily="34" charset="-122"/>
                <a:cs typeface="Calibri" pitchFamily="34" charset="-120"/>
              </a:rPr>
              <a:t>Критик: </a:t>
            </a:r>
            <a:r>
              <a:rPr lang="en-US" sz="1000" dirty="0">
                <a:solidFill>
                  <a:srgbClr val="1F2937"/>
                </a:solidFill>
                <a:latin typeface="Calibri" pitchFamily="34" charset="0"/>
                <a:ea typeface="Calibri" pitchFamily="34" charset="-122"/>
                <a:cs typeface="Calibri" pitchFamily="34" charset="-120"/>
              </a:rPr>
              <a:t>MSE між передбаченим та цільовим Q-значенням </a:t>
            </a:r>
            <a:r>
              <a:rPr lang="en-US" sz="900" i="1" dirty="0">
                <a:solidFill>
                  <a:srgbClr val="687891"/>
                </a:solidFill>
                <a:latin typeface="Calibri" pitchFamily="34" charset="0"/>
                <a:ea typeface="Calibri" pitchFamily="34" charset="-122"/>
                <a:cs typeface="Calibri" pitchFamily="34" charset="-120"/>
              </a:rPr>
              <a:t>(р. Беллмана)</a:t>
            </a:r>
            <a:endParaRPr lang="en-US" sz="1000" dirty="0"/>
          </a:p>
          <a:p>
            <a:pPr marL="0" indent="0">
              <a:lnSpc>
                <a:spcPct val="115000"/>
              </a:lnSpc>
              <a:buNone/>
            </a:pPr>
            <a:r>
              <a:rPr lang="en-US" sz="600" dirty="0">
                <a:solidFill>
                  <a:srgbClr val="000000"/>
                </a:solidFill>
                <a:latin typeface="Calibri" pitchFamily="34" charset="0"/>
                <a:ea typeface="Calibri" pitchFamily="34" charset="-122"/>
                <a:cs typeface="Calibri" pitchFamily="34" charset="-120"/>
              </a:rPr>
              <a:t> </a:t>
            </a:r>
            <a:endParaRPr lang="en-US" sz="1000" dirty="0"/>
          </a:p>
          <a:p>
            <a:pPr marL="0" indent="0">
              <a:lnSpc>
                <a:spcPct val="115000"/>
              </a:lnSpc>
              <a:buNone/>
            </a:pPr>
            <a:r>
              <a:rPr lang="en-US" sz="1000" b="1" dirty="0">
                <a:solidFill>
                  <a:srgbClr val="20B7D1"/>
                </a:solidFill>
                <a:latin typeface="Calibri" pitchFamily="34" charset="0"/>
                <a:ea typeface="Calibri" pitchFamily="34" charset="-122"/>
                <a:cs typeface="Calibri" pitchFamily="34" charset="-120"/>
              </a:rPr>
              <a:t>Актор: </a:t>
            </a:r>
            <a:r>
              <a:rPr lang="en-US" sz="1000" dirty="0">
                <a:solidFill>
                  <a:srgbClr val="1F2937"/>
                </a:solidFill>
                <a:latin typeface="Calibri" pitchFamily="34" charset="0"/>
                <a:ea typeface="Calibri" pitchFamily="34" charset="-122"/>
                <a:cs typeface="Calibri" pitchFamily="34" charset="-120"/>
              </a:rPr>
              <a:t>негативне очікуване Q-значення з поточною стратегією</a:t>
            </a:r>
            <a:endParaRPr lang="en-US" sz="1000" dirty="0"/>
          </a:p>
        </p:txBody>
      </p:sp>
      <p:sp>
        <p:nvSpPr>
          <p:cNvPr id="17" name="Text 13"/>
          <p:cNvSpPr/>
          <p:nvPr/>
        </p:nvSpPr>
        <p:spPr>
          <a:xfrm>
            <a:off x="4663440" y="2148840"/>
            <a:ext cx="4023360" cy="228600"/>
          </a:xfrm>
          <a:prstGeom prst="rect">
            <a:avLst/>
          </a:prstGeom>
          <a:noFill/>
          <a:ln/>
        </p:spPr>
        <p:txBody>
          <a:bodyPr wrap="square" lIns="0" tIns="0" rIns="0" bIns="0" rtlCol="0" anchor="ctr"/>
          <a:lstStyle/>
          <a:p>
            <a:pPr marL="0" indent="0">
              <a:buNone/>
            </a:pPr>
            <a:r>
              <a:rPr lang="en-US" sz="900" i="1" dirty="0">
                <a:solidFill>
                  <a:srgbClr val="687891"/>
                </a:solidFill>
                <a:latin typeface="Calibri" pitchFamily="34" charset="0"/>
                <a:ea typeface="Calibri" pitchFamily="34" charset="-122"/>
                <a:cs typeface="Calibri" pitchFamily="34" charset="-120"/>
              </a:rPr>
              <a:t>Табл. 3. Умовні позначення</a:t>
            </a:r>
            <a:endParaRPr lang="en-US" sz="9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4663440" y="2404872"/>
          <a:ext cx="402336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292608">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Позн.</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Пояснення</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extLst>
                  <a:ext uri="{0D108BD9-81ED-4DB2-BD59-A6C34878D82A}">
                    <a16:rowId xmlns:a16="http://schemas.microsoft.com/office/drawing/2014/main" val="10000"/>
                  </a:ext>
                </a:extLst>
              </a:tr>
              <a:tr h="292608">
                <a:tc>
                  <a:txBody>
                    <a:bodyPr/>
                    <a:lstStyle/>
                    <a:p>
                      <a:pPr marL="0" indent="0" algn="ctr">
                        <a:buNone/>
                      </a:pPr>
                      <a:r>
                        <a:rPr lang="en-US" sz="1000" b="1" dirty="0">
                          <a:solidFill>
                            <a:srgbClr val="2C5BD8"/>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миттєва винагорода</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lgn="ctr">
                        <a:buNone/>
                      </a:pPr>
                      <a:r>
                        <a:rPr lang="en-US" sz="1000" b="1" dirty="0">
                          <a:solidFill>
                            <a:srgbClr val="2C5BD8"/>
                          </a:solidFill>
                          <a:latin typeface="Calibri" pitchFamily="34" charset="0"/>
                          <a:ea typeface="Calibri" pitchFamily="34" charset="-122"/>
                          <a:cs typeface="Calibri" pitchFamily="34" charset="-120"/>
                        </a:rPr>
                        <a:t>s, s′</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початковий і цільовий стани</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lgn="ctr">
                        <a:buNone/>
                      </a:pPr>
                      <a:r>
                        <a:rPr lang="en-US" sz="1000" b="1" dirty="0">
                          <a:solidFill>
                            <a:srgbClr val="2C5BD8"/>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дія (рекомендація)</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lgn="ctr">
                        <a:buNone/>
                      </a:pPr>
                      <a:r>
                        <a:rPr lang="en-US" sz="1000" b="1" dirty="0">
                          <a:solidFill>
                            <a:srgbClr val="2C5BD8"/>
                          </a:solidFill>
                          <a:latin typeface="Calibri" pitchFamily="34" charset="0"/>
                          <a:ea typeface="Calibri" pitchFamily="34" charset="-122"/>
                          <a:cs typeface="Calibri" pitchFamily="34" charset="-120"/>
                        </a:rPr>
                        <a:t>γ ∈ (0,1]</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коефіцієнт знижки</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4"/>
                  </a:ext>
                </a:extLst>
              </a:tr>
              <a:tr h="292608">
                <a:tc>
                  <a:txBody>
                    <a:bodyPr/>
                    <a:lstStyle/>
                    <a:p>
                      <a:pPr marL="0" indent="0" algn="ctr">
                        <a:buNone/>
                      </a:pPr>
                      <a:r>
                        <a:rPr lang="en-US" sz="1000" b="1" dirty="0">
                          <a:solidFill>
                            <a:srgbClr val="2C5BD8"/>
                          </a:solidFill>
                          <a:latin typeface="Calibri" pitchFamily="34" charset="0"/>
                          <a:ea typeface="Calibri" pitchFamily="34" charset="-122"/>
                          <a:cs typeface="Calibri" pitchFamily="34" charset="-120"/>
                        </a:rPr>
                        <a:t>θ, θ′</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вектори параметрів Актора</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5"/>
                  </a:ext>
                </a:extLst>
              </a:tr>
              <a:tr h="292608">
                <a:tc>
                  <a:txBody>
                    <a:bodyPr/>
                    <a:lstStyle/>
                    <a:p>
                      <a:pPr marL="0" indent="0" algn="ctr">
                        <a:buNone/>
                      </a:pPr>
                      <a:r>
                        <a:rPr lang="en-US" sz="1000" b="1" dirty="0">
                          <a:solidFill>
                            <a:srgbClr val="2C5BD8"/>
                          </a:solidFill>
                          <a:latin typeface="Calibri" pitchFamily="34" charset="0"/>
                          <a:ea typeface="Calibri" pitchFamily="34" charset="-122"/>
                          <a:cs typeface="Calibri" pitchFamily="34" charset="-120"/>
                        </a:rPr>
                        <a:t>φ, φ′</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вектори параметрів Критика</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0" name="Shape 14"/>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21" name="Text 15"/>
          <p:cNvSpPr/>
          <p:nvPr/>
        </p:nvSpPr>
        <p:spPr>
          <a:xfrm>
            <a:off x="457200" y="4901184"/>
            <a:ext cx="6858000" cy="228600"/>
          </a:xfrm>
          <a:prstGeom prst="rect">
            <a:avLst/>
          </a:prstGeom>
          <a:noFill/>
          <a:ln/>
        </p:spPr>
        <p:txBody>
          <a:bodyPr wrap="square" lIns="0" tIns="0" rIns="0" bIns="0" rtlCol="0" anchor="ctr"/>
          <a:lstStyle/>
          <a:p>
            <a:pPr marL="0" indent="0">
              <a:buNone/>
            </a:pPr>
            <a:r>
              <a:rPr lang="en-US" sz="90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ML з підкріпленням</a:t>
            </a:r>
            <a:endParaRPr lang="en-US" sz="900" dirty="0"/>
          </a:p>
        </p:txBody>
      </p:sp>
      <p:sp>
        <p:nvSpPr>
          <p:cNvPr id="22" name="Text 16"/>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ФОРМУЛИ НАВЧАННЯ</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Цільові функції моделі Актор-Критик</a:t>
            </a:r>
            <a:endParaRPr lang="en-US" sz="2800" dirty="0"/>
          </a:p>
        </p:txBody>
      </p:sp>
      <p:sp>
        <p:nvSpPr>
          <p:cNvPr id="5" name="Shape 3"/>
          <p:cNvSpPr/>
          <p:nvPr/>
        </p:nvSpPr>
        <p:spPr>
          <a:xfrm>
            <a:off x="457200" y="1325880"/>
            <a:ext cx="4023360" cy="162763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325880"/>
            <a:ext cx="64008" cy="1627632"/>
          </a:xfrm>
          <a:prstGeom prst="rect">
            <a:avLst/>
          </a:prstGeom>
          <a:solidFill>
            <a:srgbClr val="2C5BD8"/>
          </a:solidFill>
          <a:ln w="12700">
            <a:solidFill>
              <a:srgbClr val="2C5BD8"/>
            </a:solidFill>
            <a:prstDash val="solid"/>
          </a:ln>
        </p:spPr>
        <p:txBody>
          <a:bodyPr/>
          <a:lstStyle/>
          <a:p>
            <a:endParaRPr lang="uk-UA"/>
          </a:p>
        </p:txBody>
      </p:sp>
      <p:sp>
        <p:nvSpPr>
          <p:cNvPr id="7" name="Shape 5"/>
          <p:cNvSpPr/>
          <p:nvPr/>
        </p:nvSpPr>
        <p:spPr>
          <a:xfrm>
            <a:off x="621792" y="1490472"/>
            <a:ext cx="329184" cy="329184"/>
          </a:xfrm>
          <a:prstGeom prst="ellipse">
            <a:avLst/>
          </a:prstGeom>
          <a:solidFill>
            <a:srgbClr val="E8F0FE"/>
          </a:solidFill>
          <a:ln w="12700">
            <a:solidFill>
              <a:srgbClr val="E8F0FE"/>
            </a:solidFill>
            <a:prstDash val="solid"/>
          </a:ln>
        </p:spPr>
        <p:txBody>
          <a:bodyPr/>
          <a:lstStyle/>
          <a:p>
            <a:endParaRPr lang="uk-UA"/>
          </a:p>
        </p:txBody>
      </p:sp>
      <p:sp>
        <p:nvSpPr>
          <p:cNvPr id="8" name="Text 6"/>
          <p:cNvSpPr/>
          <p:nvPr/>
        </p:nvSpPr>
        <p:spPr>
          <a:xfrm>
            <a:off x="621792" y="1490472"/>
            <a:ext cx="329184" cy="329184"/>
          </a:xfrm>
          <a:prstGeom prst="rect">
            <a:avLst/>
          </a:prstGeom>
          <a:noFill/>
          <a:ln/>
        </p:spPr>
        <p:txBody>
          <a:bodyPr wrap="square" lIns="0" tIns="0" rIns="0" bIns="0" rtlCol="0" anchor="ctr"/>
          <a:lstStyle/>
          <a:p>
            <a:pPr marL="0" indent="0" algn="ctr">
              <a:buNone/>
            </a:pPr>
            <a:r>
              <a:rPr lang="en-US" sz="1300" b="1" dirty="0">
                <a:solidFill>
                  <a:srgbClr val="2C5BD8"/>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024128" y="1508760"/>
            <a:ext cx="3291840" cy="292608"/>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Функція втрат Критика</a:t>
            </a:r>
            <a:endParaRPr lang="en-US" sz="1200" dirty="0"/>
          </a:p>
        </p:txBody>
      </p:sp>
      <p:sp>
        <p:nvSpPr>
          <p:cNvPr id="10" name="Shape 8"/>
          <p:cNvSpPr/>
          <p:nvPr/>
        </p:nvSpPr>
        <p:spPr>
          <a:xfrm>
            <a:off x="621792" y="1892808"/>
            <a:ext cx="3694176" cy="594360"/>
          </a:xfrm>
          <a:prstGeom prst="rect">
            <a:avLst/>
          </a:prstGeom>
          <a:solidFill>
            <a:srgbClr val="E8F0FE"/>
          </a:solidFill>
          <a:ln w="12700">
            <a:solidFill>
              <a:srgbClr val="E8F0FE"/>
            </a:solidFill>
            <a:prstDash val="solid"/>
          </a:ln>
        </p:spPr>
        <p:txBody>
          <a:bodyPr/>
          <a:lstStyle/>
          <a:p>
            <a:endParaRPr lang="uk-UA"/>
          </a:p>
        </p:txBody>
      </p:sp>
      <p:sp>
        <p:nvSpPr>
          <p:cNvPr id="11" name="Text 9"/>
          <p:cNvSpPr/>
          <p:nvPr/>
        </p:nvSpPr>
        <p:spPr>
          <a:xfrm>
            <a:off x="685800" y="1892808"/>
            <a:ext cx="3566160" cy="594360"/>
          </a:xfrm>
          <a:prstGeom prst="rect">
            <a:avLst/>
          </a:prstGeom>
          <a:noFill/>
          <a:ln/>
        </p:spPr>
        <p:txBody>
          <a:bodyPr wrap="square" lIns="0" tIns="0" rIns="0" bIns="0" rtlCol="0" anchor="ctr"/>
          <a:lstStyle/>
          <a:p>
            <a:pPr marL="0" indent="0" algn="ctr">
              <a:buNone/>
            </a:pPr>
            <a:r>
              <a:rPr lang="en-US" sz="1400" b="1" i="1" dirty="0">
                <a:solidFill>
                  <a:srgbClr val="2C5BD8"/>
                </a:solidFill>
                <a:latin typeface="Cambria" pitchFamily="34" charset="0"/>
                <a:ea typeface="Cambria" pitchFamily="34" charset="-122"/>
                <a:cs typeface="Cambria" pitchFamily="34" charset="-120"/>
              </a:rPr>
              <a:t>L</a:t>
            </a:r>
            <a:r>
              <a:rPr lang="en-US" sz="1200" b="1" i="1" baseline="-40000" dirty="0">
                <a:solidFill>
                  <a:srgbClr val="2C5BD8"/>
                </a:solidFill>
                <a:latin typeface="Cambria" pitchFamily="34" charset="0"/>
                <a:ea typeface="Cambria" pitchFamily="34" charset="-122"/>
                <a:cs typeface="Cambria" pitchFamily="34" charset="-120"/>
              </a:rPr>
              <a:t>Critic</a:t>
            </a:r>
            <a:r>
              <a:rPr lang="en-US" sz="1400" dirty="0">
                <a:solidFill>
                  <a:srgbClr val="0F1A35"/>
                </a:solidFill>
                <a:latin typeface="Cambria" pitchFamily="34" charset="0"/>
                <a:ea typeface="Cambria" pitchFamily="34" charset="-122"/>
                <a:cs typeface="Cambria" pitchFamily="34" charset="-120"/>
              </a:rPr>
              <a:t> = </a:t>
            </a:r>
            <a:r>
              <a:rPr lang="en-US" sz="1400" b="1" i="1" dirty="0">
                <a:solidFill>
                  <a:srgbClr val="0F1A35"/>
                </a:solidFill>
                <a:latin typeface="Cambria" pitchFamily="34" charset="0"/>
                <a:ea typeface="Cambria" pitchFamily="34" charset="-122"/>
                <a:cs typeface="Cambria" pitchFamily="34" charset="-120"/>
              </a:rPr>
              <a:t>E</a:t>
            </a:r>
            <a:r>
              <a:rPr lang="en-US" sz="900" baseline="-40000" dirty="0">
                <a:solidFill>
                  <a:srgbClr val="0F1A35"/>
                </a:solidFill>
                <a:latin typeface="Cambria" pitchFamily="34" charset="0"/>
                <a:ea typeface="Cambria" pitchFamily="34" charset="-122"/>
                <a:cs typeface="Cambria" pitchFamily="34" charset="-120"/>
              </a:rPr>
              <a:t>(s,a,r,s′)~D</a:t>
            </a:r>
            <a:r>
              <a:rPr lang="en-US" sz="1400" dirty="0">
                <a:solidFill>
                  <a:srgbClr val="0F1A35"/>
                </a:solidFill>
                <a:latin typeface="Cambria" pitchFamily="34" charset="0"/>
                <a:ea typeface="Cambria" pitchFamily="34" charset="-122"/>
                <a:cs typeface="Cambria" pitchFamily="34" charset="-120"/>
              </a:rPr>
              <a:t> [(</a:t>
            </a:r>
            <a:r>
              <a:rPr lang="en-US" sz="1400" b="1" i="1" dirty="0">
                <a:solidFill>
                  <a:srgbClr val="0F1A35"/>
                </a:solidFill>
                <a:latin typeface="Cambria" pitchFamily="34" charset="0"/>
                <a:ea typeface="Cambria" pitchFamily="34" charset="-122"/>
                <a:cs typeface="Cambria" pitchFamily="34" charset="-120"/>
              </a:rPr>
              <a:t>Q</a:t>
            </a:r>
            <a:r>
              <a:rPr lang="en-US" sz="1100" i="1" baseline="-40000" dirty="0">
                <a:solidFill>
                  <a:srgbClr val="0F1A35"/>
                </a:solidFill>
                <a:latin typeface="Cambria" pitchFamily="34" charset="0"/>
                <a:ea typeface="Cambria" pitchFamily="34" charset="-122"/>
                <a:cs typeface="Cambria" pitchFamily="34" charset="-120"/>
              </a:rPr>
              <a:t>φ</a:t>
            </a:r>
            <a:r>
              <a:rPr lang="en-US" sz="1400" i="1" dirty="0">
                <a:solidFill>
                  <a:srgbClr val="0F1A35"/>
                </a:solidFill>
                <a:latin typeface="Cambria" pitchFamily="34" charset="0"/>
                <a:ea typeface="Cambria" pitchFamily="34" charset="-122"/>
                <a:cs typeface="Cambria" pitchFamily="34" charset="-120"/>
              </a:rPr>
              <a:t>(s</a:t>
            </a:r>
            <a:r>
              <a:rPr lang="en-US" sz="1100" i="1" baseline="-40000" dirty="0">
                <a:solidFill>
                  <a:srgbClr val="0F1A35"/>
                </a:solidFill>
                <a:latin typeface="Cambria" pitchFamily="34" charset="0"/>
                <a:ea typeface="Cambria" pitchFamily="34" charset="-122"/>
                <a:cs typeface="Cambria" pitchFamily="34" charset="-120"/>
              </a:rPr>
              <a:t>t</a:t>
            </a:r>
            <a:r>
              <a:rPr lang="en-US" sz="1400" i="1" dirty="0">
                <a:solidFill>
                  <a:srgbClr val="0F1A35"/>
                </a:solidFill>
                <a:latin typeface="Cambria" pitchFamily="34" charset="0"/>
                <a:ea typeface="Cambria" pitchFamily="34" charset="-122"/>
                <a:cs typeface="Cambria" pitchFamily="34" charset="-120"/>
              </a:rPr>
              <a:t>, a</a:t>
            </a:r>
            <a:r>
              <a:rPr lang="en-US" sz="1100" i="1" baseline="-40000" dirty="0">
                <a:solidFill>
                  <a:srgbClr val="0F1A35"/>
                </a:solidFill>
                <a:latin typeface="Cambria" pitchFamily="34" charset="0"/>
                <a:ea typeface="Cambria" pitchFamily="34" charset="-122"/>
                <a:cs typeface="Cambria" pitchFamily="34" charset="-120"/>
              </a:rPr>
              <a:t>t</a:t>
            </a:r>
            <a:r>
              <a:rPr lang="en-US" sz="1400" i="1" dirty="0">
                <a:solidFill>
                  <a:srgbClr val="0F1A35"/>
                </a:solidFill>
                <a:latin typeface="Cambria" pitchFamily="34" charset="0"/>
                <a:ea typeface="Cambria" pitchFamily="34" charset="-122"/>
                <a:cs typeface="Cambria" pitchFamily="34" charset="-120"/>
              </a:rPr>
              <a:t>) − y</a:t>
            </a:r>
            <a:r>
              <a:rPr lang="en-US" sz="1100" i="1" baseline="-40000" dirty="0">
                <a:solidFill>
                  <a:srgbClr val="0F1A35"/>
                </a:solidFill>
                <a:latin typeface="Cambria" pitchFamily="34" charset="0"/>
                <a:ea typeface="Cambria" pitchFamily="34" charset="-122"/>
                <a:cs typeface="Cambria" pitchFamily="34" charset="-120"/>
              </a:rPr>
              <a:t>t</a:t>
            </a:r>
            <a:r>
              <a:rPr lang="en-US" sz="1400" dirty="0">
                <a:solidFill>
                  <a:srgbClr val="0F1A35"/>
                </a:solidFill>
                <a:latin typeface="Cambria" pitchFamily="34" charset="0"/>
                <a:ea typeface="Cambria" pitchFamily="34" charset="-122"/>
                <a:cs typeface="Cambria" pitchFamily="34" charset="-120"/>
              </a:rPr>
              <a:t>)²]</a:t>
            </a:r>
            <a:endParaRPr lang="en-US" sz="1400" dirty="0"/>
          </a:p>
        </p:txBody>
      </p:sp>
      <p:sp>
        <p:nvSpPr>
          <p:cNvPr id="12" name="Text 10"/>
          <p:cNvSpPr/>
          <p:nvPr/>
        </p:nvSpPr>
        <p:spPr>
          <a:xfrm>
            <a:off x="621792" y="2532888"/>
            <a:ext cx="3694176" cy="365760"/>
          </a:xfrm>
          <a:prstGeom prst="rect">
            <a:avLst/>
          </a:prstGeom>
          <a:noFill/>
          <a:ln/>
        </p:spPr>
        <p:txBody>
          <a:bodyPr wrap="square" lIns="0" tIns="0" rIns="0" bIns="0" rtlCol="0" anchor="ctr"/>
          <a:lstStyle/>
          <a:p>
            <a:pPr marL="0" indent="0">
              <a:buNone/>
            </a:pPr>
            <a:r>
              <a:rPr lang="en-US" sz="950" i="1" dirty="0">
                <a:solidFill>
                  <a:srgbClr val="1F2937"/>
                </a:solidFill>
                <a:latin typeface="Calibri" pitchFamily="34" charset="0"/>
                <a:ea typeface="Calibri" pitchFamily="34" charset="-122"/>
                <a:cs typeface="Calibri" pitchFamily="34" charset="-120"/>
              </a:rPr>
              <a:t>MSE між передбаченим Q-значенням та цільовим (рівняння Беллмана)</a:t>
            </a:r>
            <a:endParaRPr lang="en-US" sz="950" dirty="0"/>
          </a:p>
        </p:txBody>
      </p:sp>
      <p:sp>
        <p:nvSpPr>
          <p:cNvPr id="13" name="Shape 11"/>
          <p:cNvSpPr/>
          <p:nvPr/>
        </p:nvSpPr>
        <p:spPr>
          <a:xfrm>
            <a:off x="4663440" y="1325880"/>
            <a:ext cx="4023360" cy="162763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4" name="Shape 12"/>
          <p:cNvSpPr/>
          <p:nvPr/>
        </p:nvSpPr>
        <p:spPr>
          <a:xfrm>
            <a:off x="4663440" y="1325880"/>
            <a:ext cx="64008" cy="1627632"/>
          </a:xfrm>
          <a:prstGeom prst="rect">
            <a:avLst/>
          </a:prstGeom>
          <a:solidFill>
            <a:srgbClr val="20B7D1"/>
          </a:solidFill>
          <a:ln w="12700">
            <a:solidFill>
              <a:srgbClr val="20B7D1"/>
            </a:solidFill>
            <a:prstDash val="solid"/>
          </a:ln>
        </p:spPr>
        <p:txBody>
          <a:bodyPr/>
          <a:lstStyle/>
          <a:p>
            <a:endParaRPr lang="uk-UA"/>
          </a:p>
        </p:txBody>
      </p:sp>
      <p:sp>
        <p:nvSpPr>
          <p:cNvPr id="15" name="Shape 13"/>
          <p:cNvSpPr/>
          <p:nvPr/>
        </p:nvSpPr>
        <p:spPr>
          <a:xfrm>
            <a:off x="4828032" y="1490472"/>
            <a:ext cx="329184" cy="329184"/>
          </a:xfrm>
          <a:prstGeom prst="ellipse">
            <a:avLst/>
          </a:prstGeom>
          <a:solidFill>
            <a:srgbClr val="D6F1F7"/>
          </a:solidFill>
          <a:ln w="12700">
            <a:solidFill>
              <a:srgbClr val="D6F1F7"/>
            </a:solidFill>
            <a:prstDash val="solid"/>
          </a:ln>
        </p:spPr>
        <p:txBody>
          <a:bodyPr/>
          <a:lstStyle/>
          <a:p>
            <a:endParaRPr lang="uk-UA"/>
          </a:p>
        </p:txBody>
      </p:sp>
      <p:sp>
        <p:nvSpPr>
          <p:cNvPr id="16" name="Text 14"/>
          <p:cNvSpPr/>
          <p:nvPr/>
        </p:nvSpPr>
        <p:spPr>
          <a:xfrm>
            <a:off x="4828032" y="1490472"/>
            <a:ext cx="329184" cy="329184"/>
          </a:xfrm>
          <a:prstGeom prst="rect">
            <a:avLst/>
          </a:prstGeom>
          <a:noFill/>
          <a:ln/>
        </p:spPr>
        <p:txBody>
          <a:bodyPr wrap="square" lIns="0" tIns="0" rIns="0" bIns="0" rtlCol="0" anchor="ctr"/>
          <a:lstStyle/>
          <a:p>
            <a:pPr marL="0" indent="0" algn="ctr">
              <a:buNone/>
            </a:pPr>
            <a:r>
              <a:rPr lang="en-US" sz="1300" b="1" dirty="0">
                <a:solidFill>
                  <a:srgbClr val="20B7D1"/>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5230368" y="1508760"/>
            <a:ext cx="3291840" cy="292608"/>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Градієнт стратегії Актора</a:t>
            </a:r>
            <a:endParaRPr lang="en-US" sz="1200" dirty="0"/>
          </a:p>
        </p:txBody>
      </p:sp>
      <p:sp>
        <p:nvSpPr>
          <p:cNvPr id="18" name="Shape 16"/>
          <p:cNvSpPr/>
          <p:nvPr/>
        </p:nvSpPr>
        <p:spPr>
          <a:xfrm>
            <a:off x="4828032" y="1892808"/>
            <a:ext cx="3694176" cy="594360"/>
          </a:xfrm>
          <a:prstGeom prst="rect">
            <a:avLst/>
          </a:prstGeom>
          <a:solidFill>
            <a:srgbClr val="D6F1F7"/>
          </a:solidFill>
          <a:ln w="12700">
            <a:solidFill>
              <a:srgbClr val="D6F1F7"/>
            </a:solidFill>
            <a:prstDash val="solid"/>
          </a:ln>
        </p:spPr>
        <p:txBody>
          <a:bodyPr/>
          <a:lstStyle/>
          <a:p>
            <a:endParaRPr lang="uk-UA"/>
          </a:p>
        </p:txBody>
      </p:sp>
      <p:sp>
        <p:nvSpPr>
          <p:cNvPr id="19" name="Text 17"/>
          <p:cNvSpPr/>
          <p:nvPr/>
        </p:nvSpPr>
        <p:spPr>
          <a:xfrm>
            <a:off x="4892040" y="1892808"/>
            <a:ext cx="3566160" cy="594360"/>
          </a:xfrm>
          <a:prstGeom prst="rect">
            <a:avLst/>
          </a:prstGeom>
          <a:noFill/>
          <a:ln/>
        </p:spPr>
        <p:txBody>
          <a:bodyPr wrap="square" lIns="0" tIns="0" rIns="0" bIns="0" rtlCol="0" anchor="ctr"/>
          <a:lstStyle/>
          <a:p>
            <a:pPr marL="0" indent="0" algn="ctr">
              <a:buNone/>
            </a:pPr>
            <a:r>
              <a:rPr lang="en-US" sz="1400" b="1" dirty="0">
                <a:solidFill>
                  <a:srgbClr val="0F1A35"/>
                </a:solidFill>
                <a:latin typeface="Cambria" pitchFamily="34" charset="0"/>
                <a:ea typeface="Cambria" pitchFamily="34" charset="-122"/>
                <a:cs typeface="Cambria" pitchFamily="34" charset="-120"/>
              </a:rPr>
              <a:t>∇</a:t>
            </a:r>
            <a:r>
              <a:rPr lang="en-US" sz="1100" i="1" baseline="-40000" dirty="0">
                <a:solidFill>
                  <a:srgbClr val="0F1A35"/>
                </a:solidFill>
                <a:latin typeface="Cambria" pitchFamily="34" charset="0"/>
                <a:ea typeface="Cambria" pitchFamily="34" charset="-122"/>
                <a:cs typeface="Cambria" pitchFamily="34" charset="-120"/>
              </a:rPr>
              <a:t>θ</a:t>
            </a:r>
            <a:r>
              <a:rPr lang="en-US" sz="1400" b="1" i="1" dirty="0">
                <a:solidFill>
                  <a:srgbClr val="0F1A35"/>
                </a:solidFill>
                <a:latin typeface="Cambria" pitchFamily="34" charset="0"/>
                <a:ea typeface="Cambria" pitchFamily="34" charset="-122"/>
                <a:cs typeface="Cambria" pitchFamily="34" charset="-120"/>
              </a:rPr>
              <a:t> J</a:t>
            </a:r>
            <a:r>
              <a:rPr lang="en-US" sz="1400" dirty="0">
                <a:solidFill>
                  <a:srgbClr val="0F1A35"/>
                </a:solidFill>
                <a:latin typeface="Cambria" pitchFamily="34" charset="0"/>
                <a:ea typeface="Cambria" pitchFamily="34" charset="-122"/>
                <a:cs typeface="Cambria" pitchFamily="34" charset="-120"/>
              </a:rPr>
              <a:t>(θ) ≈ </a:t>
            </a:r>
            <a:r>
              <a:rPr lang="en-US" sz="1400" b="1" i="1" dirty="0">
                <a:solidFill>
                  <a:srgbClr val="0F1A35"/>
                </a:solidFill>
                <a:latin typeface="Cambria" pitchFamily="34" charset="0"/>
                <a:ea typeface="Cambria" pitchFamily="34" charset="-122"/>
                <a:cs typeface="Cambria" pitchFamily="34" charset="-120"/>
              </a:rPr>
              <a:t>E</a:t>
            </a:r>
            <a:r>
              <a:rPr lang="en-US" sz="900" baseline="-40000" dirty="0">
                <a:solidFill>
                  <a:srgbClr val="0F1A35"/>
                </a:solidFill>
                <a:latin typeface="Cambria" pitchFamily="34" charset="0"/>
                <a:ea typeface="Cambria" pitchFamily="34" charset="-122"/>
                <a:cs typeface="Cambria" pitchFamily="34" charset="-120"/>
              </a:rPr>
              <a:t>s~D</a:t>
            </a:r>
            <a:r>
              <a:rPr lang="en-US" sz="1400" dirty="0">
                <a:solidFill>
                  <a:srgbClr val="0F1A35"/>
                </a:solidFill>
                <a:latin typeface="Cambria" pitchFamily="34" charset="0"/>
                <a:ea typeface="Cambria" pitchFamily="34" charset="-122"/>
                <a:cs typeface="Cambria" pitchFamily="34" charset="-120"/>
              </a:rPr>
              <a:t> [∇</a:t>
            </a:r>
            <a:r>
              <a:rPr lang="en-US" sz="1100" i="1" baseline="-40000" dirty="0">
                <a:solidFill>
                  <a:srgbClr val="0F1A35"/>
                </a:solidFill>
                <a:latin typeface="Cambria" pitchFamily="34" charset="0"/>
                <a:ea typeface="Cambria" pitchFamily="34" charset="-122"/>
                <a:cs typeface="Cambria" pitchFamily="34" charset="-120"/>
              </a:rPr>
              <a:t>a</a:t>
            </a:r>
            <a:r>
              <a:rPr lang="en-US" sz="1400" b="1" i="1" dirty="0">
                <a:solidFill>
                  <a:srgbClr val="0F1A35"/>
                </a:solidFill>
                <a:latin typeface="Cambria" pitchFamily="34" charset="0"/>
                <a:ea typeface="Cambria" pitchFamily="34" charset="-122"/>
                <a:cs typeface="Cambria" pitchFamily="34" charset="-120"/>
              </a:rPr>
              <a:t> Q</a:t>
            </a:r>
            <a:r>
              <a:rPr lang="en-US" sz="1100" i="1" baseline="-40000" dirty="0">
                <a:solidFill>
                  <a:srgbClr val="0F1A35"/>
                </a:solidFill>
                <a:latin typeface="Cambria" pitchFamily="34" charset="0"/>
                <a:ea typeface="Cambria" pitchFamily="34" charset="-122"/>
                <a:cs typeface="Cambria" pitchFamily="34" charset="-120"/>
              </a:rPr>
              <a:t>φ</a:t>
            </a:r>
            <a:r>
              <a:rPr lang="en-US" sz="1400" i="1" dirty="0">
                <a:solidFill>
                  <a:srgbClr val="0F1A35"/>
                </a:solidFill>
                <a:latin typeface="Cambria" pitchFamily="34" charset="0"/>
                <a:ea typeface="Cambria" pitchFamily="34" charset="-122"/>
                <a:cs typeface="Cambria" pitchFamily="34" charset="-120"/>
              </a:rPr>
              <a:t>(s,a)·∇</a:t>
            </a:r>
            <a:r>
              <a:rPr lang="en-US" sz="1100" i="1" baseline="-40000" dirty="0">
                <a:solidFill>
                  <a:srgbClr val="0F1A35"/>
                </a:solidFill>
                <a:latin typeface="Cambria" pitchFamily="34" charset="0"/>
                <a:ea typeface="Cambria" pitchFamily="34" charset="-122"/>
                <a:cs typeface="Cambria" pitchFamily="34" charset="-120"/>
              </a:rPr>
              <a:t>θ</a:t>
            </a:r>
            <a:r>
              <a:rPr lang="en-US" sz="1400" dirty="0">
                <a:solidFill>
                  <a:srgbClr val="0F1A35"/>
                </a:solidFill>
                <a:latin typeface="Cambria" pitchFamily="34" charset="0"/>
                <a:ea typeface="Cambria" pitchFamily="34" charset="-122"/>
                <a:cs typeface="Cambria" pitchFamily="34" charset="-120"/>
              </a:rPr>
              <a:t> π</a:t>
            </a:r>
            <a:r>
              <a:rPr lang="en-US" sz="1100" i="1" baseline="-40000" dirty="0">
                <a:solidFill>
                  <a:srgbClr val="0F1A35"/>
                </a:solidFill>
                <a:latin typeface="Cambria" pitchFamily="34" charset="0"/>
                <a:ea typeface="Cambria" pitchFamily="34" charset="-122"/>
                <a:cs typeface="Cambria" pitchFamily="34" charset="-120"/>
              </a:rPr>
              <a:t>θ</a:t>
            </a:r>
            <a:r>
              <a:rPr lang="en-US" sz="1400" i="1" dirty="0">
                <a:solidFill>
                  <a:srgbClr val="0F1A35"/>
                </a:solidFill>
                <a:latin typeface="Cambria" pitchFamily="34" charset="0"/>
                <a:ea typeface="Cambria" pitchFamily="34" charset="-122"/>
                <a:cs typeface="Cambria" pitchFamily="34" charset="-120"/>
              </a:rPr>
              <a:t>(s)]</a:t>
            </a:r>
            <a:endParaRPr lang="en-US" sz="1400" dirty="0"/>
          </a:p>
        </p:txBody>
      </p:sp>
      <p:sp>
        <p:nvSpPr>
          <p:cNvPr id="20" name="Text 18"/>
          <p:cNvSpPr/>
          <p:nvPr/>
        </p:nvSpPr>
        <p:spPr>
          <a:xfrm>
            <a:off x="4828032" y="2532888"/>
            <a:ext cx="3694176" cy="365760"/>
          </a:xfrm>
          <a:prstGeom prst="rect">
            <a:avLst/>
          </a:prstGeom>
          <a:noFill/>
          <a:ln/>
        </p:spPr>
        <p:txBody>
          <a:bodyPr wrap="square" lIns="0" tIns="0" rIns="0" bIns="0" rtlCol="0" anchor="ctr"/>
          <a:lstStyle/>
          <a:p>
            <a:pPr marL="0" indent="0">
              <a:buNone/>
            </a:pPr>
            <a:r>
              <a:rPr lang="en-US" sz="950" i="1" dirty="0">
                <a:solidFill>
                  <a:srgbClr val="1F2937"/>
                </a:solidFill>
                <a:latin typeface="Calibri" pitchFamily="34" charset="0"/>
                <a:ea typeface="Calibri" pitchFamily="34" charset="-122"/>
                <a:cs typeface="Calibri" pitchFamily="34" charset="-120"/>
              </a:rPr>
              <a:t>Градієнт детермінованої стратегії за теоремою про градієнт стратегії</a:t>
            </a:r>
            <a:endParaRPr lang="en-US" sz="950" dirty="0"/>
          </a:p>
        </p:txBody>
      </p:sp>
      <p:sp>
        <p:nvSpPr>
          <p:cNvPr id="21" name="Shape 19"/>
          <p:cNvSpPr/>
          <p:nvPr/>
        </p:nvSpPr>
        <p:spPr>
          <a:xfrm>
            <a:off x="457200" y="3090672"/>
            <a:ext cx="4023360" cy="162763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2" name="Shape 20"/>
          <p:cNvSpPr/>
          <p:nvPr/>
        </p:nvSpPr>
        <p:spPr>
          <a:xfrm>
            <a:off x="457200" y="3090672"/>
            <a:ext cx="64008" cy="1627632"/>
          </a:xfrm>
          <a:prstGeom prst="rect">
            <a:avLst/>
          </a:prstGeom>
          <a:solidFill>
            <a:srgbClr val="F0A93B"/>
          </a:solidFill>
          <a:ln w="12700">
            <a:solidFill>
              <a:srgbClr val="F0A93B"/>
            </a:solidFill>
            <a:prstDash val="solid"/>
          </a:ln>
        </p:spPr>
        <p:txBody>
          <a:bodyPr/>
          <a:lstStyle/>
          <a:p>
            <a:endParaRPr lang="uk-UA"/>
          </a:p>
        </p:txBody>
      </p:sp>
      <p:sp>
        <p:nvSpPr>
          <p:cNvPr id="23" name="Shape 21"/>
          <p:cNvSpPr/>
          <p:nvPr/>
        </p:nvSpPr>
        <p:spPr>
          <a:xfrm>
            <a:off x="621792" y="3255264"/>
            <a:ext cx="329184" cy="329184"/>
          </a:xfrm>
          <a:prstGeom prst="ellipse">
            <a:avLst/>
          </a:prstGeom>
          <a:solidFill>
            <a:srgbClr val="FBE9CD"/>
          </a:solidFill>
          <a:ln w="12700">
            <a:solidFill>
              <a:srgbClr val="FBE9CD"/>
            </a:solidFill>
            <a:prstDash val="solid"/>
          </a:ln>
        </p:spPr>
        <p:txBody>
          <a:bodyPr/>
          <a:lstStyle/>
          <a:p>
            <a:endParaRPr lang="uk-UA"/>
          </a:p>
        </p:txBody>
      </p:sp>
      <p:sp>
        <p:nvSpPr>
          <p:cNvPr id="24" name="Text 22"/>
          <p:cNvSpPr/>
          <p:nvPr/>
        </p:nvSpPr>
        <p:spPr>
          <a:xfrm>
            <a:off x="621792" y="3255264"/>
            <a:ext cx="329184" cy="329184"/>
          </a:xfrm>
          <a:prstGeom prst="rect">
            <a:avLst/>
          </a:prstGeom>
          <a:noFill/>
          <a:ln/>
        </p:spPr>
        <p:txBody>
          <a:bodyPr wrap="square" lIns="0" tIns="0" rIns="0" bIns="0" rtlCol="0" anchor="ctr"/>
          <a:lstStyle/>
          <a:p>
            <a:pPr marL="0" indent="0" algn="ctr">
              <a:buNone/>
            </a:pPr>
            <a:r>
              <a:rPr lang="en-US" sz="1300" b="1" dirty="0">
                <a:solidFill>
                  <a:srgbClr val="F0A93B"/>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1024128" y="3273552"/>
            <a:ext cx="3291840" cy="292608"/>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Функція втрат Актора</a:t>
            </a:r>
            <a:endParaRPr lang="en-US" sz="1200" dirty="0"/>
          </a:p>
        </p:txBody>
      </p:sp>
      <p:sp>
        <p:nvSpPr>
          <p:cNvPr id="26" name="Shape 24"/>
          <p:cNvSpPr/>
          <p:nvPr/>
        </p:nvSpPr>
        <p:spPr>
          <a:xfrm>
            <a:off x="621792" y="3657600"/>
            <a:ext cx="3694176" cy="594360"/>
          </a:xfrm>
          <a:prstGeom prst="rect">
            <a:avLst/>
          </a:prstGeom>
          <a:solidFill>
            <a:srgbClr val="FBE9CD"/>
          </a:solidFill>
          <a:ln w="12700">
            <a:solidFill>
              <a:srgbClr val="FBE9CD"/>
            </a:solidFill>
            <a:prstDash val="solid"/>
          </a:ln>
        </p:spPr>
        <p:txBody>
          <a:bodyPr/>
          <a:lstStyle/>
          <a:p>
            <a:endParaRPr lang="uk-UA"/>
          </a:p>
        </p:txBody>
      </p:sp>
      <p:sp>
        <p:nvSpPr>
          <p:cNvPr id="27" name="Text 25"/>
          <p:cNvSpPr/>
          <p:nvPr/>
        </p:nvSpPr>
        <p:spPr>
          <a:xfrm>
            <a:off x="685800" y="3657600"/>
            <a:ext cx="3566160" cy="594360"/>
          </a:xfrm>
          <a:prstGeom prst="rect">
            <a:avLst/>
          </a:prstGeom>
          <a:noFill/>
          <a:ln/>
        </p:spPr>
        <p:txBody>
          <a:bodyPr wrap="square" lIns="0" tIns="0" rIns="0" bIns="0" rtlCol="0" anchor="ctr"/>
          <a:lstStyle/>
          <a:p>
            <a:pPr marL="0" indent="0" algn="ctr">
              <a:buNone/>
            </a:pPr>
            <a:r>
              <a:rPr lang="en-US" sz="1400" b="1" i="1" dirty="0">
                <a:solidFill>
                  <a:srgbClr val="F0A93B"/>
                </a:solidFill>
                <a:latin typeface="Cambria" pitchFamily="34" charset="0"/>
                <a:ea typeface="Cambria" pitchFamily="34" charset="-122"/>
                <a:cs typeface="Cambria" pitchFamily="34" charset="-120"/>
              </a:rPr>
              <a:t>L</a:t>
            </a:r>
            <a:r>
              <a:rPr lang="en-US" sz="1200" b="1" i="1" baseline="-40000" dirty="0">
                <a:solidFill>
                  <a:srgbClr val="F0A93B"/>
                </a:solidFill>
                <a:latin typeface="Cambria" pitchFamily="34" charset="0"/>
                <a:ea typeface="Cambria" pitchFamily="34" charset="-122"/>
                <a:cs typeface="Cambria" pitchFamily="34" charset="-120"/>
              </a:rPr>
              <a:t>Actor</a:t>
            </a:r>
            <a:r>
              <a:rPr lang="en-US" sz="1400" dirty="0">
                <a:solidFill>
                  <a:srgbClr val="0F1A35"/>
                </a:solidFill>
                <a:latin typeface="Cambria" pitchFamily="34" charset="0"/>
                <a:ea typeface="Cambria" pitchFamily="34" charset="-122"/>
                <a:cs typeface="Cambria" pitchFamily="34" charset="-120"/>
              </a:rPr>
              <a:t>(θ) = − </a:t>
            </a:r>
            <a:r>
              <a:rPr lang="en-US" sz="1400" b="1" i="1" dirty="0">
                <a:solidFill>
                  <a:srgbClr val="0F1A35"/>
                </a:solidFill>
                <a:latin typeface="Cambria" pitchFamily="34" charset="0"/>
                <a:ea typeface="Cambria" pitchFamily="34" charset="-122"/>
                <a:cs typeface="Cambria" pitchFamily="34" charset="-120"/>
              </a:rPr>
              <a:t>E</a:t>
            </a:r>
            <a:r>
              <a:rPr lang="en-US" sz="900" baseline="-40000" dirty="0">
                <a:solidFill>
                  <a:srgbClr val="0F1A35"/>
                </a:solidFill>
                <a:latin typeface="Cambria" pitchFamily="34" charset="0"/>
                <a:ea typeface="Cambria" pitchFamily="34" charset="-122"/>
                <a:cs typeface="Cambria" pitchFamily="34" charset="-120"/>
              </a:rPr>
              <a:t>s~D</a:t>
            </a:r>
            <a:r>
              <a:rPr lang="en-US" sz="1400" dirty="0">
                <a:solidFill>
                  <a:srgbClr val="0F1A35"/>
                </a:solidFill>
                <a:latin typeface="Cambria" pitchFamily="34" charset="0"/>
                <a:ea typeface="Cambria" pitchFamily="34" charset="-122"/>
                <a:cs typeface="Cambria" pitchFamily="34" charset="-120"/>
              </a:rPr>
              <a:t> [</a:t>
            </a:r>
            <a:r>
              <a:rPr lang="en-US" sz="1400" b="1" i="1" dirty="0">
                <a:solidFill>
                  <a:srgbClr val="0F1A35"/>
                </a:solidFill>
                <a:latin typeface="Cambria" pitchFamily="34" charset="0"/>
                <a:ea typeface="Cambria" pitchFamily="34" charset="-122"/>
                <a:cs typeface="Cambria" pitchFamily="34" charset="-120"/>
              </a:rPr>
              <a:t>Q</a:t>
            </a:r>
            <a:r>
              <a:rPr lang="en-US" sz="1100" i="1" baseline="-40000" dirty="0">
                <a:solidFill>
                  <a:srgbClr val="0F1A35"/>
                </a:solidFill>
                <a:latin typeface="Cambria" pitchFamily="34" charset="0"/>
                <a:ea typeface="Cambria" pitchFamily="34" charset="-122"/>
                <a:cs typeface="Cambria" pitchFamily="34" charset="-120"/>
              </a:rPr>
              <a:t>φ</a:t>
            </a:r>
            <a:r>
              <a:rPr lang="en-US" sz="1400" i="1" dirty="0">
                <a:solidFill>
                  <a:srgbClr val="0F1A35"/>
                </a:solidFill>
                <a:latin typeface="Cambria" pitchFamily="34" charset="0"/>
                <a:ea typeface="Cambria" pitchFamily="34" charset="-122"/>
                <a:cs typeface="Cambria" pitchFamily="34" charset="-120"/>
              </a:rPr>
              <a:t>(s, π</a:t>
            </a:r>
            <a:r>
              <a:rPr lang="en-US" sz="1100" i="1" baseline="-40000" dirty="0">
                <a:solidFill>
                  <a:srgbClr val="0F1A35"/>
                </a:solidFill>
                <a:latin typeface="Cambria" pitchFamily="34" charset="0"/>
                <a:ea typeface="Cambria" pitchFamily="34" charset="-122"/>
                <a:cs typeface="Cambria" pitchFamily="34" charset="-120"/>
              </a:rPr>
              <a:t>θ</a:t>
            </a:r>
            <a:r>
              <a:rPr lang="en-US" sz="1400" i="1" dirty="0">
                <a:solidFill>
                  <a:srgbClr val="0F1A35"/>
                </a:solidFill>
                <a:latin typeface="Cambria" pitchFamily="34" charset="0"/>
                <a:ea typeface="Cambria" pitchFamily="34" charset="-122"/>
                <a:cs typeface="Cambria" pitchFamily="34" charset="-120"/>
              </a:rPr>
              <a:t>(s))]</a:t>
            </a:r>
            <a:endParaRPr lang="en-US" sz="1400" dirty="0"/>
          </a:p>
        </p:txBody>
      </p:sp>
      <p:sp>
        <p:nvSpPr>
          <p:cNvPr id="28" name="Text 26"/>
          <p:cNvSpPr/>
          <p:nvPr/>
        </p:nvSpPr>
        <p:spPr>
          <a:xfrm>
            <a:off x="621792" y="4297680"/>
            <a:ext cx="3694176" cy="365760"/>
          </a:xfrm>
          <a:prstGeom prst="rect">
            <a:avLst/>
          </a:prstGeom>
          <a:noFill/>
          <a:ln/>
        </p:spPr>
        <p:txBody>
          <a:bodyPr wrap="square" lIns="0" tIns="0" rIns="0" bIns="0" rtlCol="0" anchor="ctr"/>
          <a:lstStyle/>
          <a:p>
            <a:pPr marL="0" indent="0">
              <a:buNone/>
            </a:pPr>
            <a:r>
              <a:rPr lang="en-US" sz="950" i="1" dirty="0">
                <a:solidFill>
                  <a:srgbClr val="1F2937"/>
                </a:solidFill>
                <a:latin typeface="Calibri" pitchFamily="34" charset="0"/>
                <a:ea typeface="Calibri" pitchFamily="34" charset="-122"/>
                <a:cs typeface="Calibri" pitchFamily="34" charset="-120"/>
              </a:rPr>
              <a:t>Негативне очікуване значення Q-функції з поточною стратегією</a:t>
            </a:r>
            <a:endParaRPr lang="en-US" sz="950" dirty="0"/>
          </a:p>
        </p:txBody>
      </p:sp>
      <p:sp>
        <p:nvSpPr>
          <p:cNvPr id="29" name="Shape 27"/>
          <p:cNvSpPr/>
          <p:nvPr/>
        </p:nvSpPr>
        <p:spPr>
          <a:xfrm>
            <a:off x="4663440" y="3090672"/>
            <a:ext cx="4023360" cy="162763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30" name="Shape 28"/>
          <p:cNvSpPr/>
          <p:nvPr/>
        </p:nvSpPr>
        <p:spPr>
          <a:xfrm>
            <a:off x="4663440" y="3090672"/>
            <a:ext cx="64008" cy="1627632"/>
          </a:xfrm>
          <a:prstGeom prst="rect">
            <a:avLst/>
          </a:prstGeom>
          <a:solidFill>
            <a:srgbClr val="21C97A"/>
          </a:solidFill>
          <a:ln w="12700">
            <a:solidFill>
              <a:srgbClr val="21C97A"/>
            </a:solidFill>
            <a:prstDash val="solid"/>
          </a:ln>
        </p:spPr>
        <p:txBody>
          <a:bodyPr/>
          <a:lstStyle/>
          <a:p>
            <a:endParaRPr lang="uk-UA"/>
          </a:p>
        </p:txBody>
      </p:sp>
      <p:sp>
        <p:nvSpPr>
          <p:cNvPr id="31" name="Shape 29"/>
          <p:cNvSpPr/>
          <p:nvPr/>
        </p:nvSpPr>
        <p:spPr>
          <a:xfrm>
            <a:off x="4828032" y="3255264"/>
            <a:ext cx="329184" cy="329184"/>
          </a:xfrm>
          <a:prstGeom prst="ellipse">
            <a:avLst/>
          </a:prstGeom>
          <a:solidFill>
            <a:srgbClr val="DAF5E7"/>
          </a:solidFill>
          <a:ln w="12700">
            <a:solidFill>
              <a:srgbClr val="DAF5E7"/>
            </a:solidFill>
            <a:prstDash val="solid"/>
          </a:ln>
        </p:spPr>
        <p:txBody>
          <a:bodyPr/>
          <a:lstStyle/>
          <a:p>
            <a:endParaRPr lang="uk-UA"/>
          </a:p>
        </p:txBody>
      </p:sp>
      <p:sp>
        <p:nvSpPr>
          <p:cNvPr id="32" name="Text 30"/>
          <p:cNvSpPr/>
          <p:nvPr/>
        </p:nvSpPr>
        <p:spPr>
          <a:xfrm>
            <a:off x="4828032" y="3255264"/>
            <a:ext cx="329184" cy="329184"/>
          </a:xfrm>
          <a:prstGeom prst="rect">
            <a:avLst/>
          </a:prstGeom>
          <a:noFill/>
          <a:ln/>
        </p:spPr>
        <p:txBody>
          <a:bodyPr wrap="square" lIns="0" tIns="0" rIns="0" bIns="0" rtlCol="0" anchor="ctr"/>
          <a:lstStyle/>
          <a:p>
            <a:pPr marL="0" indent="0" algn="ctr">
              <a:buNone/>
            </a:pPr>
            <a:r>
              <a:rPr lang="en-US" sz="1300" b="1" dirty="0">
                <a:solidFill>
                  <a:srgbClr val="21C97A"/>
                </a:solidFill>
                <a:latin typeface="Calibri" pitchFamily="34" charset="0"/>
                <a:ea typeface="Calibri" pitchFamily="34" charset="-122"/>
                <a:cs typeface="Calibri" pitchFamily="34" charset="-120"/>
              </a:rPr>
              <a:t>4</a:t>
            </a:r>
            <a:endParaRPr lang="en-US" sz="1300" dirty="0"/>
          </a:p>
        </p:txBody>
      </p:sp>
      <p:sp>
        <p:nvSpPr>
          <p:cNvPr id="33" name="Text 31"/>
          <p:cNvSpPr/>
          <p:nvPr/>
        </p:nvSpPr>
        <p:spPr>
          <a:xfrm>
            <a:off x="5230368" y="3273552"/>
            <a:ext cx="3291840" cy="292608"/>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М'яке оновлення цільових мереж</a:t>
            </a:r>
            <a:endParaRPr lang="en-US" sz="1200" dirty="0"/>
          </a:p>
        </p:txBody>
      </p:sp>
      <p:sp>
        <p:nvSpPr>
          <p:cNvPr id="34" name="Shape 32"/>
          <p:cNvSpPr/>
          <p:nvPr/>
        </p:nvSpPr>
        <p:spPr>
          <a:xfrm>
            <a:off x="4828032" y="3657600"/>
            <a:ext cx="3694176" cy="594360"/>
          </a:xfrm>
          <a:prstGeom prst="rect">
            <a:avLst/>
          </a:prstGeom>
          <a:solidFill>
            <a:srgbClr val="DAF5E7"/>
          </a:solidFill>
          <a:ln w="12700">
            <a:solidFill>
              <a:srgbClr val="DAF5E7"/>
            </a:solidFill>
            <a:prstDash val="solid"/>
          </a:ln>
        </p:spPr>
        <p:txBody>
          <a:bodyPr/>
          <a:lstStyle/>
          <a:p>
            <a:endParaRPr lang="uk-UA"/>
          </a:p>
        </p:txBody>
      </p:sp>
      <p:sp>
        <p:nvSpPr>
          <p:cNvPr id="35" name="Text 33"/>
          <p:cNvSpPr/>
          <p:nvPr/>
        </p:nvSpPr>
        <p:spPr>
          <a:xfrm>
            <a:off x="4892040" y="3657600"/>
            <a:ext cx="3566160" cy="594360"/>
          </a:xfrm>
          <a:prstGeom prst="rect">
            <a:avLst/>
          </a:prstGeom>
          <a:noFill/>
          <a:ln/>
        </p:spPr>
        <p:txBody>
          <a:bodyPr wrap="square" lIns="0" tIns="0" rIns="0" bIns="0" rtlCol="0" anchor="ctr"/>
          <a:lstStyle/>
          <a:p>
            <a:pPr marL="0" indent="0" algn="ctr">
              <a:buNone/>
            </a:pPr>
            <a:r>
              <a:rPr lang="en-US" sz="1300" b="1" dirty="0">
                <a:solidFill>
                  <a:srgbClr val="0F1A35"/>
                </a:solidFill>
                <a:latin typeface="Cambria" pitchFamily="34" charset="0"/>
                <a:ea typeface="Cambria" pitchFamily="34" charset="-122"/>
                <a:cs typeface="Cambria" pitchFamily="34" charset="-120"/>
              </a:rPr>
              <a:t>τφ + (1−τ)φ′ → φ′</a:t>
            </a:r>
            <a:endParaRPr lang="en-US" sz="1300" dirty="0"/>
          </a:p>
          <a:p>
            <a:pPr marL="0" indent="0" algn="ctr">
              <a:buNone/>
            </a:pPr>
            <a:r>
              <a:rPr lang="en-US" sz="1300" b="1" dirty="0">
                <a:solidFill>
                  <a:srgbClr val="0F1A35"/>
                </a:solidFill>
                <a:latin typeface="Cambria" pitchFamily="34" charset="0"/>
                <a:ea typeface="Cambria" pitchFamily="34" charset="-122"/>
                <a:cs typeface="Cambria" pitchFamily="34" charset="-120"/>
              </a:rPr>
              <a:t>τθ + (1−τ)θ′ → θ′</a:t>
            </a:r>
            <a:endParaRPr lang="en-US" sz="1300" dirty="0"/>
          </a:p>
        </p:txBody>
      </p:sp>
      <p:sp>
        <p:nvSpPr>
          <p:cNvPr id="36" name="Text 34"/>
          <p:cNvSpPr/>
          <p:nvPr/>
        </p:nvSpPr>
        <p:spPr>
          <a:xfrm>
            <a:off x="4828032" y="4297680"/>
            <a:ext cx="3694176" cy="365760"/>
          </a:xfrm>
          <a:prstGeom prst="rect">
            <a:avLst/>
          </a:prstGeom>
          <a:noFill/>
          <a:ln/>
        </p:spPr>
        <p:txBody>
          <a:bodyPr wrap="square" lIns="0" tIns="0" rIns="0" bIns="0" rtlCol="0" anchor="ctr"/>
          <a:lstStyle/>
          <a:p>
            <a:pPr marL="0" indent="0">
              <a:buNone/>
            </a:pPr>
            <a:r>
              <a:rPr lang="en-US" sz="950" i="1" dirty="0">
                <a:solidFill>
                  <a:srgbClr val="1F2937"/>
                </a:solidFill>
                <a:latin typeface="Calibri" pitchFamily="34" charset="0"/>
                <a:ea typeface="Calibri" pitchFamily="34" charset="-122"/>
                <a:cs typeface="Calibri" pitchFamily="34" charset="-120"/>
              </a:rPr>
              <a:t>Цільові мережі оновлюються поступово (τ ≪ 1) для стабільного навчання</a:t>
            </a:r>
            <a:endParaRPr lang="en-US" sz="950" dirty="0"/>
          </a:p>
        </p:txBody>
      </p:sp>
      <p:sp>
        <p:nvSpPr>
          <p:cNvPr id="38" name="Shape 35"/>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39" name="Text 36"/>
          <p:cNvSpPr/>
          <p:nvPr/>
        </p:nvSpPr>
        <p:spPr>
          <a:xfrm>
            <a:off x="457200" y="4901184"/>
            <a:ext cx="6858000" cy="228600"/>
          </a:xfrm>
          <a:prstGeom prst="rect">
            <a:avLst/>
          </a:prstGeom>
          <a:noFill/>
          <a:ln/>
        </p:spPr>
        <p:txBody>
          <a:bodyPr wrap="square" lIns="0" tIns="0" rIns="0" bIns="0" rtlCol="0" anchor="ctr"/>
          <a:lstStyle/>
          <a:p>
            <a:pPr marL="0" indent="0">
              <a:buNone/>
            </a:pPr>
            <a:r>
              <a:rPr lang="en-US" sz="90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ML з підкріпленням</a:t>
            </a:r>
            <a:endParaRPr lang="en-US" sz="900" dirty="0"/>
          </a:p>
        </p:txBody>
      </p:sp>
      <p:sp>
        <p:nvSpPr>
          <p:cNvPr id="40" name="Text 37"/>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ЕКСПЕРИМЕНТ</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Параметри навчальної процедури</a:t>
            </a:r>
            <a:endParaRPr lang="en-US" sz="2800" dirty="0"/>
          </a:p>
        </p:txBody>
      </p:sp>
      <p:sp>
        <p:nvSpPr>
          <p:cNvPr id="5" name="Shape 3"/>
          <p:cNvSpPr/>
          <p:nvPr/>
        </p:nvSpPr>
        <p:spPr>
          <a:xfrm>
            <a:off x="457200" y="1325880"/>
            <a:ext cx="2011680" cy="100584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325880"/>
            <a:ext cx="2011680" cy="54864"/>
          </a:xfrm>
          <a:prstGeom prst="rect">
            <a:avLst/>
          </a:prstGeom>
          <a:solidFill>
            <a:srgbClr val="2C5BD8"/>
          </a:solidFill>
          <a:ln w="12700">
            <a:solidFill>
              <a:srgbClr val="2C5BD8"/>
            </a:solidFill>
            <a:prstDash val="solid"/>
          </a:ln>
        </p:spPr>
        <p:txBody>
          <a:bodyPr/>
          <a:lstStyle/>
          <a:p>
            <a:endParaRPr lang="uk-UA"/>
          </a:p>
        </p:txBody>
      </p:sp>
      <p:sp>
        <p:nvSpPr>
          <p:cNvPr id="7" name="Shape 5"/>
          <p:cNvSpPr/>
          <p:nvPr/>
        </p:nvSpPr>
        <p:spPr>
          <a:xfrm>
            <a:off x="594360" y="1417320"/>
            <a:ext cx="365760" cy="365760"/>
          </a:xfrm>
          <a:prstGeom prst="ellipse">
            <a:avLst/>
          </a:prstGeom>
          <a:solidFill>
            <a:srgbClr val="E8F0FE"/>
          </a:solidFill>
          <a:ln w="12700">
            <a:solidFill>
              <a:srgbClr val="E8F0FE"/>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685800" y="1508760"/>
            <a:ext cx="182880" cy="182880"/>
          </a:xfrm>
          <a:prstGeom prst="rect">
            <a:avLst/>
          </a:prstGeom>
        </p:spPr>
      </p:pic>
      <p:sp>
        <p:nvSpPr>
          <p:cNvPr id="9" name="Text 6"/>
          <p:cNvSpPr/>
          <p:nvPr/>
        </p:nvSpPr>
        <p:spPr>
          <a:xfrm>
            <a:off x="1051560" y="1417320"/>
            <a:ext cx="1325880" cy="384048"/>
          </a:xfrm>
          <a:prstGeom prst="rect">
            <a:avLst/>
          </a:prstGeom>
          <a:noFill/>
          <a:ln/>
        </p:spPr>
        <p:txBody>
          <a:bodyPr wrap="square" lIns="0" tIns="0" rIns="0" bIns="0" rtlCol="0" anchor="ctr"/>
          <a:lstStyle/>
          <a:p>
            <a:pPr marL="0" indent="0">
              <a:buNone/>
            </a:pPr>
            <a:r>
              <a:rPr lang="en-US" sz="1800" b="1" dirty="0">
                <a:solidFill>
                  <a:srgbClr val="0F1A35"/>
                </a:solidFill>
                <a:latin typeface="Calibri" pitchFamily="34" charset="0"/>
                <a:ea typeface="Calibri" pitchFamily="34" charset="-122"/>
                <a:cs typeface="Calibri" pitchFamily="34" charset="-120"/>
              </a:rPr>
              <a:t>n=64</a:t>
            </a:r>
            <a:endParaRPr lang="en-US" sz="1800" dirty="0"/>
          </a:p>
        </p:txBody>
      </p:sp>
      <p:sp>
        <p:nvSpPr>
          <p:cNvPr id="10" name="Text 7"/>
          <p:cNvSpPr/>
          <p:nvPr/>
        </p:nvSpPr>
        <p:spPr>
          <a:xfrm>
            <a:off x="548640" y="1828800"/>
            <a:ext cx="1828800" cy="411480"/>
          </a:xfrm>
          <a:prstGeom prst="rect">
            <a:avLst/>
          </a:prstGeom>
          <a:noFill/>
          <a:ln/>
        </p:spPr>
        <p:txBody>
          <a:bodyPr wrap="square" lIns="0" tIns="0" rIns="0" bIns="0" rtlCol="0" anchor="ctr"/>
          <a:lstStyle/>
          <a:p>
            <a:pPr marL="0" indent="0">
              <a:buNone/>
            </a:pPr>
            <a:r>
              <a:rPr lang="en-US" sz="1000" dirty="0">
                <a:solidFill>
                  <a:srgbClr val="687891"/>
                </a:solidFill>
                <a:latin typeface="Calibri" pitchFamily="34" charset="0"/>
                <a:ea typeface="Calibri" pitchFamily="34" charset="-122"/>
                <a:cs typeface="Calibri" pitchFamily="34" charset="-120"/>
              </a:rPr>
              <a:t>розмірність векторів</a:t>
            </a:r>
            <a:endParaRPr lang="en-US" sz="1000" dirty="0"/>
          </a:p>
        </p:txBody>
      </p:sp>
      <p:sp>
        <p:nvSpPr>
          <p:cNvPr id="11" name="Shape 8"/>
          <p:cNvSpPr/>
          <p:nvPr/>
        </p:nvSpPr>
        <p:spPr>
          <a:xfrm>
            <a:off x="2587752" y="1325880"/>
            <a:ext cx="2011680" cy="100584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2" name="Shape 9"/>
          <p:cNvSpPr/>
          <p:nvPr/>
        </p:nvSpPr>
        <p:spPr>
          <a:xfrm>
            <a:off x="2587752" y="1325880"/>
            <a:ext cx="2011680" cy="54864"/>
          </a:xfrm>
          <a:prstGeom prst="rect">
            <a:avLst/>
          </a:prstGeom>
          <a:solidFill>
            <a:srgbClr val="20B7D1"/>
          </a:solidFill>
          <a:ln w="12700">
            <a:solidFill>
              <a:srgbClr val="20B7D1"/>
            </a:solidFill>
            <a:prstDash val="solid"/>
          </a:ln>
        </p:spPr>
        <p:txBody>
          <a:bodyPr/>
          <a:lstStyle/>
          <a:p>
            <a:endParaRPr lang="uk-UA"/>
          </a:p>
        </p:txBody>
      </p:sp>
      <p:sp>
        <p:nvSpPr>
          <p:cNvPr id="13" name="Shape 10"/>
          <p:cNvSpPr/>
          <p:nvPr/>
        </p:nvSpPr>
        <p:spPr>
          <a:xfrm>
            <a:off x="2724912" y="1417320"/>
            <a:ext cx="365760" cy="365760"/>
          </a:xfrm>
          <a:prstGeom prst="ellipse">
            <a:avLst/>
          </a:prstGeom>
          <a:solidFill>
            <a:srgbClr val="D6F1F7"/>
          </a:solidFill>
          <a:ln w="12700">
            <a:solidFill>
              <a:srgbClr val="D6F1F7"/>
            </a:solidFill>
            <a:prstDash val="solid"/>
          </a:ln>
        </p:spPr>
        <p:txBody>
          <a:bodyPr/>
          <a:lstStyle/>
          <a:p>
            <a:endParaRPr lang="uk-UA"/>
          </a:p>
        </p:txBody>
      </p:sp>
      <p:pic>
        <p:nvPicPr>
          <p:cNvPr id="14" name="Image 1" descr="preencoded.png"/>
          <p:cNvPicPr>
            <a:picLocks noChangeAspect="1"/>
          </p:cNvPicPr>
          <p:nvPr/>
        </p:nvPicPr>
        <p:blipFill>
          <a:blip r:embed="rId4"/>
          <a:stretch>
            <a:fillRect/>
          </a:stretch>
        </p:blipFill>
        <p:spPr>
          <a:xfrm>
            <a:off x="2816352" y="1508760"/>
            <a:ext cx="182880" cy="182880"/>
          </a:xfrm>
          <a:prstGeom prst="rect">
            <a:avLst/>
          </a:prstGeom>
        </p:spPr>
      </p:pic>
      <p:sp>
        <p:nvSpPr>
          <p:cNvPr id="15" name="Text 11"/>
          <p:cNvSpPr/>
          <p:nvPr/>
        </p:nvSpPr>
        <p:spPr>
          <a:xfrm>
            <a:off x="3182112" y="1417320"/>
            <a:ext cx="1325880" cy="384048"/>
          </a:xfrm>
          <a:prstGeom prst="rect">
            <a:avLst/>
          </a:prstGeom>
          <a:noFill/>
          <a:ln/>
        </p:spPr>
        <p:txBody>
          <a:bodyPr wrap="square" lIns="0" tIns="0" rIns="0" bIns="0" rtlCol="0" anchor="ctr"/>
          <a:lstStyle/>
          <a:p>
            <a:pPr marL="0" indent="0">
              <a:buNone/>
            </a:pPr>
            <a:r>
              <a:rPr lang="en-US" sz="1800" b="1" dirty="0">
                <a:solidFill>
                  <a:srgbClr val="0F1A35"/>
                </a:solidFill>
                <a:latin typeface="Calibri" pitchFamily="34" charset="0"/>
                <a:ea typeface="Calibri" pitchFamily="34" charset="-122"/>
                <a:cs typeface="Calibri" pitchFamily="34" charset="-120"/>
              </a:rPr>
              <a:t>10</a:t>
            </a:r>
            <a:endParaRPr lang="en-US" sz="1800" dirty="0"/>
          </a:p>
        </p:txBody>
      </p:sp>
      <p:sp>
        <p:nvSpPr>
          <p:cNvPr id="16" name="Text 12"/>
          <p:cNvSpPr/>
          <p:nvPr/>
        </p:nvSpPr>
        <p:spPr>
          <a:xfrm>
            <a:off x="2679192" y="1828800"/>
            <a:ext cx="1828800" cy="411480"/>
          </a:xfrm>
          <a:prstGeom prst="rect">
            <a:avLst/>
          </a:prstGeom>
          <a:noFill/>
          <a:ln/>
        </p:spPr>
        <p:txBody>
          <a:bodyPr wrap="square" lIns="0" tIns="0" rIns="0" bIns="0" rtlCol="0" anchor="ctr"/>
          <a:lstStyle/>
          <a:p>
            <a:pPr marL="0" indent="0">
              <a:buNone/>
            </a:pPr>
            <a:r>
              <a:rPr lang="en-US" sz="1000" dirty="0">
                <a:solidFill>
                  <a:srgbClr val="687891"/>
                </a:solidFill>
                <a:latin typeface="Calibri" pitchFamily="34" charset="0"/>
                <a:ea typeface="Calibri" pitchFamily="34" charset="-122"/>
                <a:cs typeface="Calibri" pitchFamily="34" charset="-120"/>
              </a:rPr>
              <a:t>елементів історії</a:t>
            </a:r>
            <a:endParaRPr lang="en-US" sz="1000" dirty="0"/>
          </a:p>
        </p:txBody>
      </p:sp>
      <p:sp>
        <p:nvSpPr>
          <p:cNvPr id="17" name="Shape 13"/>
          <p:cNvSpPr/>
          <p:nvPr/>
        </p:nvSpPr>
        <p:spPr>
          <a:xfrm>
            <a:off x="4718304" y="1325880"/>
            <a:ext cx="2011680" cy="100584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8" name="Shape 14"/>
          <p:cNvSpPr/>
          <p:nvPr/>
        </p:nvSpPr>
        <p:spPr>
          <a:xfrm>
            <a:off x="4718304" y="1325880"/>
            <a:ext cx="2011680" cy="54864"/>
          </a:xfrm>
          <a:prstGeom prst="rect">
            <a:avLst/>
          </a:prstGeom>
          <a:solidFill>
            <a:srgbClr val="F0A93B"/>
          </a:solidFill>
          <a:ln w="12700">
            <a:solidFill>
              <a:srgbClr val="F0A93B"/>
            </a:solidFill>
            <a:prstDash val="solid"/>
          </a:ln>
        </p:spPr>
        <p:txBody>
          <a:bodyPr/>
          <a:lstStyle/>
          <a:p>
            <a:endParaRPr lang="uk-UA"/>
          </a:p>
        </p:txBody>
      </p:sp>
      <p:sp>
        <p:nvSpPr>
          <p:cNvPr id="19" name="Shape 15"/>
          <p:cNvSpPr/>
          <p:nvPr/>
        </p:nvSpPr>
        <p:spPr>
          <a:xfrm>
            <a:off x="4855464" y="1417320"/>
            <a:ext cx="365760" cy="365760"/>
          </a:xfrm>
          <a:prstGeom prst="ellipse">
            <a:avLst/>
          </a:prstGeom>
          <a:solidFill>
            <a:srgbClr val="FBE9CD"/>
          </a:solidFill>
          <a:ln w="12700">
            <a:solidFill>
              <a:srgbClr val="FBE9CD"/>
            </a:solidFill>
            <a:prstDash val="solid"/>
          </a:ln>
        </p:spPr>
        <p:txBody>
          <a:bodyPr/>
          <a:lstStyle/>
          <a:p>
            <a:endParaRPr lang="uk-UA"/>
          </a:p>
        </p:txBody>
      </p:sp>
      <p:pic>
        <p:nvPicPr>
          <p:cNvPr id="20" name="Image 2" descr="preencoded.png"/>
          <p:cNvPicPr>
            <a:picLocks noChangeAspect="1"/>
          </p:cNvPicPr>
          <p:nvPr/>
        </p:nvPicPr>
        <p:blipFill>
          <a:blip r:embed="rId5"/>
          <a:stretch>
            <a:fillRect/>
          </a:stretch>
        </p:blipFill>
        <p:spPr>
          <a:xfrm>
            <a:off x="4946904" y="1508760"/>
            <a:ext cx="182880" cy="182880"/>
          </a:xfrm>
          <a:prstGeom prst="rect">
            <a:avLst/>
          </a:prstGeom>
        </p:spPr>
      </p:pic>
      <p:sp>
        <p:nvSpPr>
          <p:cNvPr id="21" name="Text 16"/>
          <p:cNvSpPr/>
          <p:nvPr/>
        </p:nvSpPr>
        <p:spPr>
          <a:xfrm>
            <a:off x="5312664" y="1417320"/>
            <a:ext cx="1325880" cy="384048"/>
          </a:xfrm>
          <a:prstGeom prst="rect">
            <a:avLst/>
          </a:prstGeom>
          <a:noFill/>
          <a:ln/>
        </p:spPr>
        <p:txBody>
          <a:bodyPr wrap="square" lIns="0" tIns="0" rIns="0" bIns="0" rtlCol="0" anchor="ctr"/>
          <a:lstStyle/>
          <a:p>
            <a:pPr marL="0" indent="0">
              <a:buNone/>
            </a:pPr>
            <a:r>
              <a:rPr lang="en-US" sz="1800" b="1" dirty="0">
                <a:solidFill>
                  <a:srgbClr val="0F1A35"/>
                </a:solidFill>
                <a:latin typeface="Calibri" pitchFamily="34" charset="0"/>
                <a:ea typeface="Calibri" pitchFamily="34" charset="-122"/>
                <a:cs typeface="Calibri" pitchFamily="34" charset="-120"/>
              </a:rPr>
              <a:t>50</a:t>
            </a:r>
            <a:endParaRPr lang="en-US" sz="1800" dirty="0"/>
          </a:p>
        </p:txBody>
      </p:sp>
      <p:sp>
        <p:nvSpPr>
          <p:cNvPr id="22" name="Text 17"/>
          <p:cNvSpPr/>
          <p:nvPr/>
        </p:nvSpPr>
        <p:spPr>
          <a:xfrm>
            <a:off x="4809744" y="1828800"/>
            <a:ext cx="1828800" cy="411480"/>
          </a:xfrm>
          <a:prstGeom prst="rect">
            <a:avLst/>
          </a:prstGeom>
          <a:noFill/>
          <a:ln/>
        </p:spPr>
        <p:txBody>
          <a:bodyPr wrap="square" lIns="0" tIns="0" rIns="0" bIns="0" rtlCol="0" anchor="ctr"/>
          <a:lstStyle/>
          <a:p>
            <a:pPr marL="0" indent="0">
              <a:buNone/>
            </a:pPr>
            <a:r>
              <a:rPr lang="en-US" sz="1000" dirty="0">
                <a:solidFill>
                  <a:srgbClr val="687891"/>
                </a:solidFill>
                <a:latin typeface="Calibri" pitchFamily="34" charset="0"/>
                <a:ea typeface="Calibri" pitchFamily="34" charset="-122"/>
                <a:cs typeface="Calibri" pitchFamily="34" charset="-120"/>
              </a:rPr>
              <a:t>епох навчання</a:t>
            </a:r>
            <a:endParaRPr lang="en-US" sz="1000" dirty="0"/>
          </a:p>
        </p:txBody>
      </p:sp>
      <p:sp>
        <p:nvSpPr>
          <p:cNvPr id="23" name="Shape 18"/>
          <p:cNvSpPr/>
          <p:nvPr/>
        </p:nvSpPr>
        <p:spPr>
          <a:xfrm>
            <a:off x="6848856" y="1325880"/>
            <a:ext cx="2011680" cy="100584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4" name="Shape 19"/>
          <p:cNvSpPr/>
          <p:nvPr/>
        </p:nvSpPr>
        <p:spPr>
          <a:xfrm>
            <a:off x="6848856" y="1325880"/>
            <a:ext cx="2011680" cy="54864"/>
          </a:xfrm>
          <a:prstGeom prst="rect">
            <a:avLst/>
          </a:prstGeom>
          <a:solidFill>
            <a:srgbClr val="21C97A"/>
          </a:solidFill>
          <a:ln w="12700">
            <a:solidFill>
              <a:srgbClr val="21C97A"/>
            </a:solidFill>
            <a:prstDash val="solid"/>
          </a:ln>
        </p:spPr>
        <p:txBody>
          <a:bodyPr/>
          <a:lstStyle/>
          <a:p>
            <a:endParaRPr lang="uk-UA"/>
          </a:p>
        </p:txBody>
      </p:sp>
      <p:sp>
        <p:nvSpPr>
          <p:cNvPr id="25" name="Shape 20"/>
          <p:cNvSpPr/>
          <p:nvPr/>
        </p:nvSpPr>
        <p:spPr>
          <a:xfrm>
            <a:off x="6986016" y="1417320"/>
            <a:ext cx="365760" cy="365760"/>
          </a:xfrm>
          <a:prstGeom prst="ellipse">
            <a:avLst/>
          </a:prstGeom>
          <a:solidFill>
            <a:srgbClr val="DAF5E7"/>
          </a:solidFill>
          <a:ln w="12700">
            <a:solidFill>
              <a:srgbClr val="DAF5E7"/>
            </a:solidFill>
            <a:prstDash val="solid"/>
          </a:ln>
        </p:spPr>
        <p:txBody>
          <a:bodyPr/>
          <a:lstStyle/>
          <a:p>
            <a:endParaRPr lang="uk-UA"/>
          </a:p>
        </p:txBody>
      </p:sp>
      <p:pic>
        <p:nvPicPr>
          <p:cNvPr id="26" name="Image 3" descr="preencoded.png"/>
          <p:cNvPicPr>
            <a:picLocks noChangeAspect="1"/>
          </p:cNvPicPr>
          <p:nvPr/>
        </p:nvPicPr>
        <p:blipFill>
          <a:blip r:embed="rId6"/>
          <a:stretch>
            <a:fillRect/>
          </a:stretch>
        </p:blipFill>
        <p:spPr>
          <a:xfrm>
            <a:off x="7077456" y="1508760"/>
            <a:ext cx="182880" cy="182880"/>
          </a:xfrm>
          <a:prstGeom prst="rect">
            <a:avLst/>
          </a:prstGeom>
        </p:spPr>
      </p:pic>
      <p:sp>
        <p:nvSpPr>
          <p:cNvPr id="27" name="Text 21"/>
          <p:cNvSpPr/>
          <p:nvPr/>
        </p:nvSpPr>
        <p:spPr>
          <a:xfrm>
            <a:off x="7443216" y="1417320"/>
            <a:ext cx="1325880" cy="384048"/>
          </a:xfrm>
          <a:prstGeom prst="rect">
            <a:avLst/>
          </a:prstGeom>
          <a:noFill/>
          <a:ln/>
        </p:spPr>
        <p:txBody>
          <a:bodyPr wrap="square" lIns="0" tIns="0" rIns="0" bIns="0" rtlCol="0" anchor="ctr"/>
          <a:lstStyle/>
          <a:p>
            <a:pPr marL="0" indent="0">
              <a:buNone/>
            </a:pPr>
            <a:r>
              <a:rPr lang="en-US" sz="1800" b="1" dirty="0">
                <a:solidFill>
                  <a:srgbClr val="0F1A35"/>
                </a:solidFill>
                <a:latin typeface="Calibri" pitchFamily="34" charset="0"/>
                <a:ea typeface="Calibri" pitchFamily="34" charset="-122"/>
                <a:cs typeface="Calibri" pitchFamily="34" charset="-120"/>
              </a:rPr>
              <a:t>70 / 30</a:t>
            </a:r>
            <a:endParaRPr lang="en-US" sz="1800" dirty="0"/>
          </a:p>
        </p:txBody>
      </p:sp>
      <p:sp>
        <p:nvSpPr>
          <p:cNvPr id="28" name="Text 22"/>
          <p:cNvSpPr/>
          <p:nvPr/>
        </p:nvSpPr>
        <p:spPr>
          <a:xfrm>
            <a:off x="6940296" y="1828800"/>
            <a:ext cx="1828800" cy="411480"/>
          </a:xfrm>
          <a:prstGeom prst="rect">
            <a:avLst/>
          </a:prstGeom>
          <a:noFill/>
          <a:ln/>
        </p:spPr>
        <p:txBody>
          <a:bodyPr wrap="square" lIns="0" tIns="0" rIns="0" bIns="0" rtlCol="0" anchor="ctr"/>
          <a:lstStyle/>
          <a:p>
            <a:pPr marL="0" indent="0">
              <a:buNone/>
            </a:pPr>
            <a:r>
              <a:rPr lang="en-US" sz="1000" dirty="0">
                <a:solidFill>
                  <a:srgbClr val="687891"/>
                </a:solidFill>
                <a:latin typeface="Calibri" pitchFamily="34" charset="0"/>
                <a:ea typeface="Calibri" pitchFamily="34" charset="-122"/>
                <a:cs typeface="Calibri" pitchFamily="34" charset="-120"/>
              </a:rPr>
              <a:t>train / test split</a:t>
            </a:r>
            <a:endParaRPr lang="en-US" sz="1000" dirty="0"/>
          </a:p>
        </p:txBody>
      </p:sp>
      <p:sp>
        <p:nvSpPr>
          <p:cNvPr id="29" name="Shape 23"/>
          <p:cNvSpPr/>
          <p:nvPr/>
        </p:nvSpPr>
        <p:spPr>
          <a:xfrm>
            <a:off x="457200" y="2542032"/>
            <a:ext cx="5074920" cy="21945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30" name="Shape 24"/>
          <p:cNvSpPr/>
          <p:nvPr/>
        </p:nvSpPr>
        <p:spPr>
          <a:xfrm>
            <a:off x="457200" y="2542032"/>
            <a:ext cx="64008" cy="2194560"/>
          </a:xfrm>
          <a:prstGeom prst="rect">
            <a:avLst/>
          </a:prstGeom>
          <a:solidFill>
            <a:srgbClr val="2C5BD8"/>
          </a:solidFill>
          <a:ln w="12700">
            <a:solidFill>
              <a:srgbClr val="2C5BD8"/>
            </a:solidFill>
            <a:prstDash val="solid"/>
          </a:ln>
        </p:spPr>
        <p:txBody>
          <a:bodyPr/>
          <a:lstStyle/>
          <a:p>
            <a:endParaRPr lang="uk-UA"/>
          </a:p>
        </p:txBody>
      </p:sp>
      <p:sp>
        <p:nvSpPr>
          <p:cNvPr id="31" name="Shape 25"/>
          <p:cNvSpPr/>
          <p:nvPr/>
        </p:nvSpPr>
        <p:spPr>
          <a:xfrm>
            <a:off x="640080" y="2724912"/>
            <a:ext cx="411480" cy="411480"/>
          </a:xfrm>
          <a:prstGeom prst="ellipse">
            <a:avLst/>
          </a:prstGeom>
          <a:solidFill>
            <a:srgbClr val="E8F0FE"/>
          </a:solidFill>
          <a:ln w="12700">
            <a:solidFill>
              <a:srgbClr val="E8F0FE"/>
            </a:solidFill>
            <a:prstDash val="solid"/>
          </a:ln>
        </p:spPr>
        <p:txBody>
          <a:bodyPr/>
          <a:lstStyle/>
          <a:p>
            <a:endParaRPr lang="uk-UA"/>
          </a:p>
        </p:txBody>
      </p:sp>
      <p:pic>
        <p:nvPicPr>
          <p:cNvPr id="32" name="Image 4" descr="preencoded.png"/>
          <p:cNvPicPr>
            <a:picLocks noChangeAspect="1"/>
          </p:cNvPicPr>
          <p:nvPr/>
        </p:nvPicPr>
        <p:blipFill>
          <a:blip r:embed="rId7"/>
          <a:stretch>
            <a:fillRect/>
          </a:stretch>
        </p:blipFill>
        <p:spPr>
          <a:xfrm>
            <a:off x="742950" y="2827782"/>
            <a:ext cx="205740" cy="205740"/>
          </a:xfrm>
          <a:prstGeom prst="rect">
            <a:avLst/>
          </a:prstGeom>
        </p:spPr>
      </p:pic>
      <p:sp>
        <p:nvSpPr>
          <p:cNvPr id="33" name="Text 26"/>
          <p:cNvSpPr/>
          <p:nvPr/>
        </p:nvSpPr>
        <p:spPr>
          <a:xfrm>
            <a:off x="1188720" y="2724912"/>
            <a:ext cx="4114800" cy="274320"/>
          </a:xfrm>
          <a:prstGeom prst="rect">
            <a:avLst/>
          </a:prstGeom>
          <a:noFill/>
          <a:ln/>
        </p:spPr>
        <p:txBody>
          <a:bodyPr wrap="square" lIns="0" tIns="0" rIns="0" bIns="0" rtlCol="0" anchor="ctr"/>
          <a:lstStyle/>
          <a:p>
            <a:pPr marL="0" indent="0">
              <a:buNone/>
            </a:pPr>
            <a:r>
              <a:rPr lang="en-US" sz="1300" b="1" dirty="0">
                <a:solidFill>
                  <a:srgbClr val="0F1A35"/>
                </a:solidFill>
                <a:latin typeface="Calibri" pitchFamily="34" charset="0"/>
                <a:ea typeface="Calibri" pitchFamily="34" charset="-122"/>
                <a:cs typeface="Calibri" pitchFamily="34" charset="-120"/>
              </a:rPr>
              <a:t>Процедура навчання</a:t>
            </a:r>
            <a:endParaRPr lang="en-US" sz="1300" dirty="0"/>
          </a:p>
        </p:txBody>
      </p:sp>
      <p:sp>
        <p:nvSpPr>
          <p:cNvPr id="34" name="Text 27"/>
          <p:cNvSpPr/>
          <p:nvPr/>
        </p:nvSpPr>
        <p:spPr>
          <a:xfrm>
            <a:off x="640080" y="3108960"/>
            <a:ext cx="4754880" cy="274320"/>
          </a:xfrm>
          <a:prstGeom prst="rect">
            <a:avLst/>
          </a:prstGeom>
          <a:noFill/>
          <a:ln/>
        </p:spPr>
        <p:txBody>
          <a:bodyPr wrap="square" lIns="0" tIns="0" rIns="0" bIns="0" rtlCol="0" anchor="ctr"/>
          <a:lstStyle/>
          <a:p>
            <a:pPr marL="0" indent="0">
              <a:buNone/>
            </a:pPr>
            <a:r>
              <a:rPr lang="en-US" sz="1050" i="1" dirty="0">
                <a:solidFill>
                  <a:srgbClr val="1F2937"/>
                </a:solidFill>
                <a:latin typeface="Calibri" pitchFamily="34" charset="0"/>
                <a:ea typeface="Calibri" pitchFamily="34" charset="-122"/>
                <a:cs typeface="Calibri" pitchFamily="34" charset="-120"/>
              </a:rPr>
              <a:t>Ітеративне чергування трьох етапів:</a:t>
            </a:r>
            <a:endParaRPr lang="en-US" sz="1050" dirty="0"/>
          </a:p>
        </p:txBody>
      </p:sp>
      <p:sp>
        <p:nvSpPr>
          <p:cNvPr id="35" name="Shape 28"/>
          <p:cNvSpPr/>
          <p:nvPr/>
        </p:nvSpPr>
        <p:spPr>
          <a:xfrm>
            <a:off x="685800" y="3456432"/>
            <a:ext cx="274320" cy="274320"/>
          </a:xfrm>
          <a:prstGeom prst="ellipse">
            <a:avLst/>
          </a:prstGeom>
          <a:solidFill>
            <a:srgbClr val="2C5BD8"/>
          </a:solidFill>
          <a:ln w="12700">
            <a:solidFill>
              <a:srgbClr val="2C5BD8"/>
            </a:solidFill>
            <a:prstDash val="solid"/>
          </a:ln>
        </p:spPr>
        <p:txBody>
          <a:bodyPr/>
          <a:lstStyle/>
          <a:p>
            <a:endParaRPr lang="uk-UA"/>
          </a:p>
        </p:txBody>
      </p:sp>
      <p:sp>
        <p:nvSpPr>
          <p:cNvPr id="36" name="Text 29"/>
          <p:cNvSpPr/>
          <p:nvPr/>
        </p:nvSpPr>
        <p:spPr>
          <a:xfrm>
            <a:off x="685800" y="345643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7" name="Text 30"/>
          <p:cNvSpPr/>
          <p:nvPr/>
        </p:nvSpPr>
        <p:spPr>
          <a:xfrm>
            <a:off x="1051560" y="3465576"/>
            <a:ext cx="429768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Формування дії для поточного стану групи (Актор)</a:t>
            </a:r>
            <a:endParaRPr lang="en-US" sz="1050" dirty="0"/>
          </a:p>
        </p:txBody>
      </p:sp>
      <p:sp>
        <p:nvSpPr>
          <p:cNvPr id="38" name="Shape 31"/>
          <p:cNvSpPr/>
          <p:nvPr/>
        </p:nvSpPr>
        <p:spPr>
          <a:xfrm>
            <a:off x="685800" y="3822192"/>
            <a:ext cx="274320" cy="274320"/>
          </a:xfrm>
          <a:prstGeom prst="ellipse">
            <a:avLst/>
          </a:prstGeom>
          <a:solidFill>
            <a:srgbClr val="2C5BD8"/>
          </a:solidFill>
          <a:ln w="12700">
            <a:solidFill>
              <a:srgbClr val="2C5BD8"/>
            </a:solidFill>
            <a:prstDash val="solid"/>
          </a:ln>
        </p:spPr>
        <p:txBody>
          <a:bodyPr/>
          <a:lstStyle/>
          <a:p>
            <a:endParaRPr lang="uk-UA"/>
          </a:p>
        </p:txBody>
      </p:sp>
      <p:sp>
        <p:nvSpPr>
          <p:cNvPr id="39" name="Text 32"/>
          <p:cNvSpPr/>
          <p:nvPr/>
        </p:nvSpPr>
        <p:spPr>
          <a:xfrm>
            <a:off x="685800" y="382219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40" name="Text 33"/>
          <p:cNvSpPr/>
          <p:nvPr/>
        </p:nvSpPr>
        <p:spPr>
          <a:xfrm>
            <a:off x="1051560" y="3831336"/>
            <a:ext cx="429768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Оцінювання якості дії (Критик)</a:t>
            </a:r>
            <a:endParaRPr lang="en-US" sz="1050" dirty="0"/>
          </a:p>
        </p:txBody>
      </p:sp>
      <p:sp>
        <p:nvSpPr>
          <p:cNvPr id="41" name="Shape 34"/>
          <p:cNvSpPr/>
          <p:nvPr/>
        </p:nvSpPr>
        <p:spPr>
          <a:xfrm>
            <a:off x="685800" y="4187952"/>
            <a:ext cx="274320" cy="274320"/>
          </a:xfrm>
          <a:prstGeom prst="ellipse">
            <a:avLst/>
          </a:prstGeom>
          <a:solidFill>
            <a:srgbClr val="2C5BD8"/>
          </a:solidFill>
          <a:ln w="12700">
            <a:solidFill>
              <a:srgbClr val="2C5BD8"/>
            </a:solidFill>
            <a:prstDash val="solid"/>
          </a:ln>
        </p:spPr>
        <p:txBody>
          <a:bodyPr/>
          <a:lstStyle/>
          <a:p>
            <a:endParaRPr lang="uk-UA"/>
          </a:p>
        </p:txBody>
      </p:sp>
      <p:sp>
        <p:nvSpPr>
          <p:cNvPr id="42" name="Text 35"/>
          <p:cNvSpPr/>
          <p:nvPr/>
        </p:nvSpPr>
        <p:spPr>
          <a:xfrm>
            <a:off x="685800" y="418795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43" name="Text 36"/>
          <p:cNvSpPr/>
          <p:nvPr/>
        </p:nvSpPr>
        <p:spPr>
          <a:xfrm>
            <a:off x="1051560" y="4197096"/>
            <a:ext cx="429768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Коригування параметрів мереж за досвідом</a:t>
            </a:r>
            <a:endParaRPr lang="en-US" sz="1050" dirty="0"/>
          </a:p>
        </p:txBody>
      </p:sp>
      <p:sp>
        <p:nvSpPr>
          <p:cNvPr id="44" name="Shape 37"/>
          <p:cNvSpPr/>
          <p:nvPr/>
        </p:nvSpPr>
        <p:spPr>
          <a:xfrm>
            <a:off x="5669280" y="2542032"/>
            <a:ext cx="3017520" cy="21945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45" name="Shape 38"/>
          <p:cNvSpPr/>
          <p:nvPr/>
        </p:nvSpPr>
        <p:spPr>
          <a:xfrm>
            <a:off x="5669280" y="2542032"/>
            <a:ext cx="3017520" cy="54864"/>
          </a:xfrm>
          <a:prstGeom prst="rect">
            <a:avLst/>
          </a:prstGeom>
          <a:solidFill>
            <a:srgbClr val="F0A93B"/>
          </a:solidFill>
          <a:ln w="12700">
            <a:solidFill>
              <a:srgbClr val="F0A93B"/>
            </a:solidFill>
            <a:prstDash val="solid"/>
          </a:ln>
        </p:spPr>
        <p:txBody>
          <a:bodyPr/>
          <a:lstStyle/>
          <a:p>
            <a:endParaRPr lang="uk-UA"/>
          </a:p>
        </p:txBody>
      </p:sp>
      <p:sp>
        <p:nvSpPr>
          <p:cNvPr id="46" name="Shape 39"/>
          <p:cNvSpPr/>
          <p:nvPr/>
        </p:nvSpPr>
        <p:spPr>
          <a:xfrm>
            <a:off x="5852160" y="2706624"/>
            <a:ext cx="411480" cy="411480"/>
          </a:xfrm>
          <a:prstGeom prst="ellipse">
            <a:avLst/>
          </a:prstGeom>
          <a:solidFill>
            <a:srgbClr val="FBE9CD"/>
          </a:solidFill>
          <a:ln w="12700">
            <a:solidFill>
              <a:srgbClr val="FBE9CD"/>
            </a:solidFill>
            <a:prstDash val="solid"/>
          </a:ln>
        </p:spPr>
        <p:txBody>
          <a:bodyPr/>
          <a:lstStyle/>
          <a:p>
            <a:endParaRPr lang="uk-UA"/>
          </a:p>
        </p:txBody>
      </p:sp>
      <p:pic>
        <p:nvPicPr>
          <p:cNvPr id="47" name="Image 5" descr="preencoded.png"/>
          <p:cNvPicPr>
            <a:picLocks noChangeAspect="1"/>
          </p:cNvPicPr>
          <p:nvPr/>
        </p:nvPicPr>
        <p:blipFill>
          <a:blip r:embed="rId8"/>
          <a:stretch>
            <a:fillRect/>
          </a:stretch>
        </p:blipFill>
        <p:spPr>
          <a:xfrm>
            <a:off x="5955030" y="2809494"/>
            <a:ext cx="205740" cy="205740"/>
          </a:xfrm>
          <a:prstGeom prst="rect">
            <a:avLst/>
          </a:prstGeom>
        </p:spPr>
      </p:pic>
      <p:sp>
        <p:nvSpPr>
          <p:cNvPr id="48" name="Text 40"/>
          <p:cNvSpPr/>
          <p:nvPr/>
        </p:nvSpPr>
        <p:spPr>
          <a:xfrm>
            <a:off x="6400800" y="2724912"/>
            <a:ext cx="2194560" cy="274320"/>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Апаратне забезпечення</a:t>
            </a:r>
            <a:endParaRPr lang="en-US" sz="1200" dirty="0"/>
          </a:p>
        </p:txBody>
      </p:sp>
      <p:sp>
        <p:nvSpPr>
          <p:cNvPr id="49" name="Text 41"/>
          <p:cNvSpPr/>
          <p:nvPr/>
        </p:nvSpPr>
        <p:spPr>
          <a:xfrm>
            <a:off x="5852160" y="3227832"/>
            <a:ext cx="2743200" cy="274320"/>
          </a:xfrm>
          <a:prstGeom prst="rect">
            <a:avLst/>
          </a:prstGeom>
          <a:noFill/>
          <a:ln/>
        </p:spPr>
        <p:txBody>
          <a:bodyPr wrap="square" lIns="0" tIns="0" rIns="0" bIns="0" rtlCol="0" anchor="ctr"/>
          <a:lstStyle/>
          <a:p>
            <a:pPr marL="0" indent="0">
              <a:buNone/>
            </a:pPr>
            <a:r>
              <a:rPr lang="en-US" sz="1000" b="1" dirty="0">
                <a:solidFill>
                  <a:srgbClr val="F0A93B"/>
                </a:solidFill>
                <a:latin typeface="Calibri" pitchFamily="34" charset="0"/>
                <a:ea typeface="Calibri" pitchFamily="34" charset="-122"/>
                <a:cs typeface="Calibri" pitchFamily="34" charset="-120"/>
              </a:rPr>
              <a:t>CPU: </a:t>
            </a:r>
            <a:r>
              <a:rPr lang="en-US" sz="1000" dirty="0">
                <a:solidFill>
                  <a:srgbClr val="1F2937"/>
                </a:solidFill>
                <a:latin typeface="Calibri" pitchFamily="34" charset="0"/>
                <a:ea typeface="Calibri" pitchFamily="34" charset="-122"/>
                <a:cs typeface="Calibri" pitchFamily="34" charset="-120"/>
              </a:rPr>
              <a:t>Intel Core i7-9700K</a:t>
            </a:r>
            <a:endParaRPr lang="en-US" sz="1000" dirty="0"/>
          </a:p>
        </p:txBody>
      </p:sp>
      <p:sp>
        <p:nvSpPr>
          <p:cNvPr id="50" name="Text 42"/>
          <p:cNvSpPr/>
          <p:nvPr/>
        </p:nvSpPr>
        <p:spPr>
          <a:xfrm>
            <a:off x="5852160" y="3502152"/>
            <a:ext cx="2743200" cy="274320"/>
          </a:xfrm>
          <a:prstGeom prst="rect">
            <a:avLst/>
          </a:prstGeom>
          <a:noFill/>
          <a:ln/>
        </p:spPr>
        <p:txBody>
          <a:bodyPr wrap="square" lIns="0" tIns="0" rIns="0" bIns="0" rtlCol="0" anchor="ctr"/>
          <a:lstStyle/>
          <a:p>
            <a:pPr marL="0" indent="0">
              <a:buNone/>
            </a:pPr>
            <a:r>
              <a:rPr lang="en-US" sz="1000" b="1" dirty="0">
                <a:solidFill>
                  <a:srgbClr val="F0A93B"/>
                </a:solidFill>
                <a:latin typeface="Calibri" pitchFamily="34" charset="0"/>
                <a:ea typeface="Calibri" pitchFamily="34" charset="-122"/>
                <a:cs typeface="Calibri" pitchFamily="34" charset="-120"/>
              </a:rPr>
              <a:t>GPU: </a:t>
            </a:r>
            <a:r>
              <a:rPr lang="en-US" sz="1000" dirty="0">
                <a:solidFill>
                  <a:srgbClr val="1F2937"/>
                </a:solidFill>
                <a:latin typeface="Calibri" pitchFamily="34" charset="0"/>
                <a:ea typeface="Calibri" pitchFamily="34" charset="-122"/>
                <a:cs typeface="Calibri" pitchFamily="34" charset="-120"/>
              </a:rPr>
              <a:t>Nvidia GTX 1650</a:t>
            </a:r>
            <a:endParaRPr lang="en-US" sz="1000" dirty="0"/>
          </a:p>
        </p:txBody>
      </p:sp>
      <p:sp>
        <p:nvSpPr>
          <p:cNvPr id="51" name="Text 43"/>
          <p:cNvSpPr/>
          <p:nvPr/>
        </p:nvSpPr>
        <p:spPr>
          <a:xfrm>
            <a:off x="5852160" y="3776472"/>
            <a:ext cx="2743200" cy="274320"/>
          </a:xfrm>
          <a:prstGeom prst="rect">
            <a:avLst/>
          </a:prstGeom>
          <a:noFill/>
          <a:ln/>
        </p:spPr>
        <p:txBody>
          <a:bodyPr wrap="square" lIns="0" tIns="0" rIns="0" bIns="0" rtlCol="0" anchor="ctr"/>
          <a:lstStyle/>
          <a:p>
            <a:pPr marL="0" indent="0">
              <a:buNone/>
            </a:pPr>
            <a:r>
              <a:rPr lang="en-US" sz="1000" b="1" dirty="0">
                <a:solidFill>
                  <a:srgbClr val="F0A93B"/>
                </a:solidFill>
                <a:latin typeface="Calibri" pitchFamily="34" charset="0"/>
                <a:ea typeface="Calibri" pitchFamily="34" charset="-122"/>
                <a:cs typeface="Calibri" pitchFamily="34" charset="-120"/>
              </a:rPr>
              <a:t>RAM: </a:t>
            </a:r>
            <a:r>
              <a:rPr lang="en-US" sz="1000" dirty="0">
                <a:solidFill>
                  <a:srgbClr val="1F2937"/>
                </a:solidFill>
                <a:latin typeface="Calibri" pitchFamily="34" charset="0"/>
                <a:ea typeface="Calibri" pitchFamily="34" charset="-122"/>
                <a:cs typeface="Calibri" pitchFamily="34" charset="-120"/>
              </a:rPr>
              <a:t>32 GB</a:t>
            </a:r>
            <a:endParaRPr lang="en-US" sz="1000" dirty="0"/>
          </a:p>
        </p:txBody>
      </p:sp>
      <p:sp>
        <p:nvSpPr>
          <p:cNvPr id="52" name="Text 44"/>
          <p:cNvSpPr/>
          <p:nvPr/>
        </p:nvSpPr>
        <p:spPr>
          <a:xfrm>
            <a:off x="5852160" y="4050792"/>
            <a:ext cx="2743200" cy="274320"/>
          </a:xfrm>
          <a:prstGeom prst="rect">
            <a:avLst/>
          </a:prstGeom>
          <a:noFill/>
          <a:ln/>
        </p:spPr>
        <p:txBody>
          <a:bodyPr wrap="square" lIns="0" tIns="0" rIns="0" bIns="0" rtlCol="0" anchor="ctr"/>
          <a:lstStyle/>
          <a:p>
            <a:pPr marL="0" indent="0">
              <a:buNone/>
            </a:pPr>
            <a:r>
              <a:rPr lang="en-US" sz="1000" b="1" dirty="0">
                <a:solidFill>
                  <a:srgbClr val="F0A93B"/>
                </a:solidFill>
                <a:latin typeface="Calibri" pitchFamily="34" charset="0"/>
                <a:ea typeface="Calibri" pitchFamily="34" charset="-122"/>
                <a:cs typeface="Calibri" pitchFamily="34" charset="-120"/>
              </a:rPr>
              <a:t>ОС: </a:t>
            </a:r>
            <a:r>
              <a:rPr lang="en-US" sz="1000" dirty="0">
                <a:solidFill>
                  <a:srgbClr val="1F2937"/>
                </a:solidFill>
                <a:latin typeface="Calibri" pitchFamily="34" charset="0"/>
                <a:ea typeface="Calibri" pitchFamily="34" charset="-122"/>
                <a:cs typeface="Calibri" pitchFamily="34" charset="-120"/>
              </a:rPr>
              <a:t>Ubuntu 24.04</a:t>
            </a:r>
            <a:endParaRPr lang="en-US" sz="1000" dirty="0"/>
          </a:p>
        </p:txBody>
      </p:sp>
      <p:sp>
        <p:nvSpPr>
          <p:cNvPr id="53" name="Text 45"/>
          <p:cNvSpPr/>
          <p:nvPr/>
        </p:nvSpPr>
        <p:spPr>
          <a:xfrm>
            <a:off x="5852160" y="4325112"/>
            <a:ext cx="2743200" cy="274320"/>
          </a:xfrm>
          <a:prstGeom prst="rect">
            <a:avLst/>
          </a:prstGeom>
          <a:noFill/>
          <a:ln/>
        </p:spPr>
        <p:txBody>
          <a:bodyPr wrap="square" lIns="0" tIns="0" rIns="0" bIns="0" rtlCol="0" anchor="ctr"/>
          <a:lstStyle/>
          <a:p>
            <a:pPr marL="0" indent="0">
              <a:buNone/>
            </a:pPr>
            <a:r>
              <a:rPr lang="en-US" sz="1000" b="1" dirty="0">
                <a:solidFill>
                  <a:srgbClr val="F0A93B"/>
                </a:solidFill>
                <a:latin typeface="Calibri" pitchFamily="34" charset="0"/>
                <a:ea typeface="Calibri" pitchFamily="34" charset="-122"/>
                <a:cs typeface="Calibri" pitchFamily="34" charset="-120"/>
              </a:rPr>
              <a:t>Опт.: </a:t>
            </a:r>
            <a:r>
              <a:rPr lang="en-US" sz="1000" dirty="0">
                <a:solidFill>
                  <a:srgbClr val="1F2937"/>
                </a:solidFill>
                <a:latin typeface="Calibri" pitchFamily="34" charset="0"/>
                <a:ea typeface="Calibri" pitchFamily="34" charset="-122"/>
                <a:cs typeface="Calibri" pitchFamily="34" charset="-120"/>
              </a:rPr>
              <a:t>Ranger (RAdam + Lookahead)</a:t>
            </a:r>
            <a:endParaRPr lang="en-US" sz="1000" dirty="0"/>
          </a:p>
        </p:txBody>
      </p:sp>
      <p:sp>
        <p:nvSpPr>
          <p:cNvPr id="55" name="Shape 46"/>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56" name="Text 47"/>
          <p:cNvSpPr/>
          <p:nvPr/>
        </p:nvSpPr>
        <p:spPr>
          <a:xfrm>
            <a:off x="457200" y="4901184"/>
            <a:ext cx="6858000" cy="228600"/>
          </a:xfrm>
          <a:prstGeom prst="rect">
            <a:avLst/>
          </a:prstGeom>
          <a:noFill/>
          <a:ln/>
        </p:spPr>
        <p:txBody>
          <a:bodyPr wrap="square" lIns="0" tIns="0" rIns="0" bIns="0" rtlCol="0" anchor="ctr"/>
          <a:lstStyle/>
          <a:p>
            <a:pPr marL="0" indent="0">
              <a:buNone/>
            </a:pPr>
            <a:r>
              <a:rPr lang="en-US" sz="90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ML з підкріпленням</a:t>
            </a:r>
            <a:endParaRPr lang="en-US" sz="900" dirty="0"/>
          </a:p>
        </p:txBody>
      </p:sp>
      <p:sp>
        <p:nvSpPr>
          <p:cNvPr id="57" name="Text 48"/>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МЕТРИКИ ОЦІНЮВАННЯ</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Метрики для порівняння ефективності</a:t>
            </a:r>
            <a:endParaRPr lang="en-US" sz="2800" dirty="0"/>
          </a:p>
        </p:txBody>
      </p:sp>
      <p:sp>
        <p:nvSpPr>
          <p:cNvPr id="5" name="Text 3"/>
          <p:cNvSpPr/>
          <p:nvPr/>
        </p:nvSpPr>
        <p:spPr>
          <a:xfrm>
            <a:off x="457200" y="1298448"/>
            <a:ext cx="8229600" cy="274320"/>
          </a:xfrm>
          <a:prstGeom prst="rect">
            <a:avLst/>
          </a:prstGeom>
          <a:noFill/>
          <a:ln/>
        </p:spPr>
        <p:txBody>
          <a:bodyPr wrap="square" lIns="0" tIns="0" rIns="0" bIns="0" rtlCol="0" anchor="ctr"/>
          <a:lstStyle/>
          <a:p>
            <a:pPr marL="0" indent="0">
              <a:buNone/>
            </a:pPr>
            <a:r>
              <a:rPr lang="en-US" sz="1100" i="1" dirty="0">
                <a:solidFill>
                  <a:srgbClr val="1F2937"/>
                </a:solidFill>
                <a:latin typeface="Calibri" pitchFamily="34" charset="0"/>
                <a:ea typeface="Calibri" pitchFamily="34" charset="-122"/>
                <a:cs typeface="Calibri" pitchFamily="34" charset="-120"/>
              </a:rPr>
              <a:t>Значення всіх трьох метрик лежать у межах [0, 1] — більше значення відповідає вищій якості рекомендованого набору.</a:t>
            </a:r>
            <a:endParaRPr lang="en-US" sz="1100" dirty="0"/>
          </a:p>
        </p:txBody>
      </p:sp>
      <p:sp>
        <p:nvSpPr>
          <p:cNvPr id="6" name="Shape 4"/>
          <p:cNvSpPr/>
          <p:nvPr/>
        </p:nvSpPr>
        <p:spPr>
          <a:xfrm>
            <a:off x="457200" y="1691640"/>
            <a:ext cx="2697480" cy="297180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7" name="Shape 5"/>
          <p:cNvSpPr/>
          <p:nvPr/>
        </p:nvSpPr>
        <p:spPr>
          <a:xfrm>
            <a:off x="457200" y="1691640"/>
            <a:ext cx="2697480" cy="54864"/>
          </a:xfrm>
          <a:prstGeom prst="rect">
            <a:avLst/>
          </a:prstGeom>
          <a:solidFill>
            <a:srgbClr val="2C5BD8"/>
          </a:solidFill>
          <a:ln w="12700">
            <a:solidFill>
              <a:srgbClr val="2C5BD8"/>
            </a:solidFill>
            <a:prstDash val="solid"/>
          </a:ln>
        </p:spPr>
        <p:txBody>
          <a:bodyPr/>
          <a:lstStyle/>
          <a:p>
            <a:endParaRPr lang="uk-UA"/>
          </a:p>
        </p:txBody>
      </p:sp>
      <p:sp>
        <p:nvSpPr>
          <p:cNvPr id="8" name="Shape 6"/>
          <p:cNvSpPr/>
          <p:nvPr/>
        </p:nvSpPr>
        <p:spPr>
          <a:xfrm>
            <a:off x="1508760" y="1920240"/>
            <a:ext cx="594360" cy="594360"/>
          </a:xfrm>
          <a:prstGeom prst="ellipse">
            <a:avLst/>
          </a:prstGeom>
          <a:solidFill>
            <a:srgbClr val="E8F0FE"/>
          </a:solidFill>
          <a:ln w="12700">
            <a:solidFill>
              <a:srgbClr val="E8F0FE"/>
            </a:solidFill>
            <a:prstDash val="solid"/>
          </a:ln>
        </p:spPr>
        <p:txBody>
          <a:bodyPr/>
          <a:lstStyle/>
          <a:p>
            <a:endParaRPr lang="uk-UA"/>
          </a:p>
        </p:txBody>
      </p:sp>
      <p:pic>
        <p:nvPicPr>
          <p:cNvPr id="9" name="Image 0" descr="preencoded.png"/>
          <p:cNvPicPr>
            <a:picLocks noChangeAspect="1"/>
          </p:cNvPicPr>
          <p:nvPr/>
        </p:nvPicPr>
        <p:blipFill>
          <a:blip r:embed="rId3"/>
          <a:stretch>
            <a:fillRect/>
          </a:stretch>
        </p:blipFill>
        <p:spPr>
          <a:xfrm>
            <a:off x="1657350" y="2068830"/>
            <a:ext cx="297180" cy="297180"/>
          </a:xfrm>
          <a:prstGeom prst="rect">
            <a:avLst/>
          </a:prstGeom>
        </p:spPr>
      </p:pic>
      <p:sp>
        <p:nvSpPr>
          <p:cNvPr id="10" name="Text 7"/>
          <p:cNvSpPr/>
          <p:nvPr/>
        </p:nvSpPr>
        <p:spPr>
          <a:xfrm>
            <a:off x="457200" y="2606040"/>
            <a:ext cx="2697480" cy="292608"/>
          </a:xfrm>
          <a:prstGeom prst="rect">
            <a:avLst/>
          </a:prstGeom>
          <a:noFill/>
          <a:ln/>
        </p:spPr>
        <p:txBody>
          <a:bodyPr wrap="square" lIns="0" tIns="0" rIns="0" bIns="0" rtlCol="0" anchor="ctr"/>
          <a:lstStyle/>
          <a:p>
            <a:pPr marL="0" indent="0" algn="ctr">
              <a:buNone/>
            </a:pPr>
            <a:r>
              <a:rPr lang="en-US" sz="1600" b="1" dirty="0">
                <a:solidFill>
                  <a:srgbClr val="0F1A35"/>
                </a:solidFill>
                <a:latin typeface="Calibri" pitchFamily="34" charset="0"/>
                <a:ea typeface="Calibri" pitchFamily="34" charset="-122"/>
                <a:cs typeface="Calibri" pitchFamily="34" charset="-120"/>
              </a:rPr>
              <a:t>Recall@k</a:t>
            </a:r>
            <a:endParaRPr lang="en-US" sz="1600" dirty="0"/>
          </a:p>
        </p:txBody>
      </p:sp>
      <p:sp>
        <p:nvSpPr>
          <p:cNvPr id="11" name="Text 8"/>
          <p:cNvSpPr/>
          <p:nvPr/>
        </p:nvSpPr>
        <p:spPr>
          <a:xfrm>
            <a:off x="457200" y="2898648"/>
            <a:ext cx="2697480" cy="228600"/>
          </a:xfrm>
          <a:prstGeom prst="rect">
            <a:avLst/>
          </a:prstGeom>
          <a:noFill/>
          <a:ln/>
        </p:spPr>
        <p:txBody>
          <a:bodyPr wrap="square" lIns="0" tIns="0" rIns="0" bIns="0" rtlCol="0" anchor="ctr"/>
          <a:lstStyle/>
          <a:p>
            <a:pPr marL="0" indent="0" algn="ctr">
              <a:buNone/>
            </a:pPr>
            <a:r>
              <a:rPr lang="en-US" sz="900" b="1" kern="0" spc="400" dirty="0">
                <a:solidFill>
                  <a:srgbClr val="2C5BD8"/>
                </a:solidFill>
                <a:latin typeface="Calibri" pitchFamily="34" charset="0"/>
                <a:ea typeface="Calibri" pitchFamily="34" charset="-122"/>
                <a:cs typeface="Calibri" pitchFamily="34" charset="-120"/>
              </a:rPr>
              <a:t>ПОВНОТА</a:t>
            </a:r>
            <a:endParaRPr lang="en-US" sz="900" dirty="0"/>
          </a:p>
        </p:txBody>
      </p:sp>
      <p:sp>
        <p:nvSpPr>
          <p:cNvPr id="12" name="Text 9"/>
          <p:cNvSpPr/>
          <p:nvPr/>
        </p:nvSpPr>
        <p:spPr>
          <a:xfrm>
            <a:off x="640080" y="3246120"/>
            <a:ext cx="2331720" cy="1188720"/>
          </a:xfrm>
          <a:prstGeom prst="rect">
            <a:avLst/>
          </a:prstGeom>
          <a:noFill/>
          <a:ln/>
        </p:spPr>
        <p:txBody>
          <a:bodyPr wrap="square" lIns="0" tIns="0" rIns="0" bIns="0" rtlCol="0" anchor="ctr"/>
          <a:lstStyle/>
          <a:p>
            <a:pPr marL="0" indent="0" algn="ctr">
              <a:lnSpc>
                <a:spcPct val="120000"/>
              </a:lnSpc>
              <a:buNone/>
            </a:pPr>
            <a:r>
              <a:rPr lang="en-US" sz="1000" dirty="0">
                <a:solidFill>
                  <a:srgbClr val="1F2937"/>
                </a:solidFill>
                <a:latin typeface="Calibri" pitchFamily="34" charset="0"/>
                <a:ea typeface="Calibri" pitchFamily="34" charset="-122"/>
                <a:cs typeface="Calibri" pitchFamily="34" charset="-120"/>
              </a:rPr>
              <a:t>Здатність знайти всі релевантні елементи серед top-k результатів. Відображає, яку частку важливих елементів модель знайшла.</a:t>
            </a:r>
            <a:endParaRPr lang="en-US" sz="1000" dirty="0"/>
          </a:p>
        </p:txBody>
      </p:sp>
      <p:sp>
        <p:nvSpPr>
          <p:cNvPr id="13" name="Shape 10"/>
          <p:cNvSpPr/>
          <p:nvPr/>
        </p:nvSpPr>
        <p:spPr>
          <a:xfrm>
            <a:off x="3337560" y="1691640"/>
            <a:ext cx="2697480" cy="297180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4" name="Shape 11"/>
          <p:cNvSpPr/>
          <p:nvPr/>
        </p:nvSpPr>
        <p:spPr>
          <a:xfrm>
            <a:off x="3337560" y="1691640"/>
            <a:ext cx="2697480" cy="54864"/>
          </a:xfrm>
          <a:prstGeom prst="rect">
            <a:avLst/>
          </a:prstGeom>
          <a:solidFill>
            <a:srgbClr val="20B7D1"/>
          </a:solidFill>
          <a:ln w="12700">
            <a:solidFill>
              <a:srgbClr val="20B7D1"/>
            </a:solidFill>
            <a:prstDash val="solid"/>
          </a:ln>
        </p:spPr>
        <p:txBody>
          <a:bodyPr/>
          <a:lstStyle/>
          <a:p>
            <a:endParaRPr lang="uk-UA"/>
          </a:p>
        </p:txBody>
      </p:sp>
      <p:sp>
        <p:nvSpPr>
          <p:cNvPr id="15" name="Shape 12"/>
          <p:cNvSpPr/>
          <p:nvPr/>
        </p:nvSpPr>
        <p:spPr>
          <a:xfrm>
            <a:off x="4389120" y="1920240"/>
            <a:ext cx="594360" cy="594360"/>
          </a:xfrm>
          <a:prstGeom prst="ellipse">
            <a:avLst/>
          </a:prstGeom>
          <a:solidFill>
            <a:srgbClr val="D6F1F7"/>
          </a:solidFill>
          <a:ln w="12700">
            <a:solidFill>
              <a:srgbClr val="D6F1F7"/>
            </a:solidFill>
            <a:prstDash val="solid"/>
          </a:ln>
        </p:spPr>
        <p:txBody>
          <a:bodyPr/>
          <a:lstStyle/>
          <a:p>
            <a:endParaRPr lang="uk-UA"/>
          </a:p>
        </p:txBody>
      </p:sp>
      <p:pic>
        <p:nvPicPr>
          <p:cNvPr id="16" name="Image 1" descr="preencoded.png"/>
          <p:cNvPicPr>
            <a:picLocks noChangeAspect="1"/>
          </p:cNvPicPr>
          <p:nvPr/>
        </p:nvPicPr>
        <p:blipFill>
          <a:blip r:embed="rId4"/>
          <a:stretch>
            <a:fillRect/>
          </a:stretch>
        </p:blipFill>
        <p:spPr>
          <a:xfrm>
            <a:off x="4537710" y="2068830"/>
            <a:ext cx="297180" cy="297180"/>
          </a:xfrm>
          <a:prstGeom prst="rect">
            <a:avLst/>
          </a:prstGeom>
        </p:spPr>
      </p:pic>
      <p:sp>
        <p:nvSpPr>
          <p:cNvPr id="17" name="Text 13"/>
          <p:cNvSpPr/>
          <p:nvPr/>
        </p:nvSpPr>
        <p:spPr>
          <a:xfrm>
            <a:off x="3337560" y="2606040"/>
            <a:ext cx="2697480" cy="292608"/>
          </a:xfrm>
          <a:prstGeom prst="rect">
            <a:avLst/>
          </a:prstGeom>
          <a:noFill/>
          <a:ln/>
        </p:spPr>
        <p:txBody>
          <a:bodyPr wrap="square" lIns="0" tIns="0" rIns="0" bIns="0" rtlCol="0" anchor="ctr"/>
          <a:lstStyle/>
          <a:p>
            <a:pPr marL="0" indent="0" algn="ctr">
              <a:buNone/>
            </a:pPr>
            <a:r>
              <a:rPr lang="en-US" sz="1600" b="1" dirty="0">
                <a:solidFill>
                  <a:srgbClr val="0F1A35"/>
                </a:solidFill>
                <a:latin typeface="Calibri" pitchFamily="34" charset="0"/>
                <a:ea typeface="Calibri" pitchFamily="34" charset="-122"/>
                <a:cs typeface="Calibri" pitchFamily="34" charset="-120"/>
              </a:rPr>
              <a:t>NDCG@k</a:t>
            </a:r>
            <a:endParaRPr lang="en-US" sz="1600" dirty="0"/>
          </a:p>
        </p:txBody>
      </p:sp>
      <p:sp>
        <p:nvSpPr>
          <p:cNvPr id="18" name="Text 14"/>
          <p:cNvSpPr/>
          <p:nvPr/>
        </p:nvSpPr>
        <p:spPr>
          <a:xfrm>
            <a:off x="3337560" y="2898648"/>
            <a:ext cx="2697480" cy="228600"/>
          </a:xfrm>
          <a:prstGeom prst="rect">
            <a:avLst/>
          </a:prstGeom>
          <a:noFill/>
          <a:ln/>
        </p:spPr>
        <p:txBody>
          <a:bodyPr wrap="square" lIns="0" tIns="0" rIns="0" bIns="0" rtlCol="0" anchor="ctr"/>
          <a:lstStyle/>
          <a:p>
            <a:pPr marL="0" indent="0" algn="ctr">
              <a:buNone/>
            </a:pPr>
            <a:r>
              <a:rPr lang="en-US" sz="900" b="1" kern="0" spc="400" dirty="0">
                <a:solidFill>
                  <a:srgbClr val="20B7D1"/>
                </a:solidFill>
                <a:latin typeface="Calibri" pitchFamily="34" charset="0"/>
                <a:ea typeface="Calibri" pitchFamily="34" charset="-122"/>
                <a:cs typeface="Calibri" pitchFamily="34" charset="-120"/>
              </a:rPr>
              <a:t>ЯКІСТЬ РАНЖУВАННЯ</a:t>
            </a:r>
            <a:endParaRPr lang="en-US" sz="900" dirty="0"/>
          </a:p>
        </p:txBody>
      </p:sp>
      <p:sp>
        <p:nvSpPr>
          <p:cNvPr id="19" name="Text 15"/>
          <p:cNvSpPr/>
          <p:nvPr/>
        </p:nvSpPr>
        <p:spPr>
          <a:xfrm>
            <a:off x="3520440" y="3246120"/>
            <a:ext cx="2331720" cy="1188720"/>
          </a:xfrm>
          <a:prstGeom prst="rect">
            <a:avLst/>
          </a:prstGeom>
          <a:noFill/>
          <a:ln/>
        </p:spPr>
        <p:txBody>
          <a:bodyPr wrap="square" lIns="0" tIns="0" rIns="0" bIns="0" rtlCol="0" anchor="ctr"/>
          <a:lstStyle/>
          <a:p>
            <a:pPr marL="0" indent="0" algn="ctr">
              <a:lnSpc>
                <a:spcPct val="120000"/>
              </a:lnSpc>
              <a:buNone/>
            </a:pPr>
            <a:r>
              <a:rPr lang="en-US" sz="1000" dirty="0">
                <a:solidFill>
                  <a:srgbClr val="1F2937"/>
                </a:solidFill>
                <a:latin typeface="Calibri" pitchFamily="34" charset="0"/>
                <a:ea typeface="Calibri" pitchFamily="34" charset="-122"/>
                <a:cs typeface="Calibri" pitchFamily="34" charset="-120"/>
              </a:rPr>
              <a:t>Normalized Discounted Cumulative Gain. Надає більшу вагу правильно визначеним елементам, розташованим на вищих позиціях.</a:t>
            </a:r>
            <a:endParaRPr lang="en-US" sz="1000" dirty="0"/>
          </a:p>
        </p:txBody>
      </p:sp>
      <p:sp>
        <p:nvSpPr>
          <p:cNvPr id="20" name="Shape 16"/>
          <p:cNvSpPr/>
          <p:nvPr/>
        </p:nvSpPr>
        <p:spPr>
          <a:xfrm>
            <a:off x="6217920" y="1691640"/>
            <a:ext cx="2697480" cy="297180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1" name="Shape 17"/>
          <p:cNvSpPr/>
          <p:nvPr/>
        </p:nvSpPr>
        <p:spPr>
          <a:xfrm>
            <a:off x="6217920" y="1691640"/>
            <a:ext cx="2697480" cy="54864"/>
          </a:xfrm>
          <a:prstGeom prst="rect">
            <a:avLst/>
          </a:prstGeom>
          <a:solidFill>
            <a:srgbClr val="F0A93B"/>
          </a:solidFill>
          <a:ln w="12700">
            <a:solidFill>
              <a:srgbClr val="F0A93B"/>
            </a:solidFill>
            <a:prstDash val="solid"/>
          </a:ln>
        </p:spPr>
        <p:txBody>
          <a:bodyPr/>
          <a:lstStyle/>
          <a:p>
            <a:endParaRPr lang="uk-UA"/>
          </a:p>
        </p:txBody>
      </p:sp>
      <p:sp>
        <p:nvSpPr>
          <p:cNvPr id="22" name="Shape 18"/>
          <p:cNvSpPr/>
          <p:nvPr/>
        </p:nvSpPr>
        <p:spPr>
          <a:xfrm>
            <a:off x="7269480" y="1920240"/>
            <a:ext cx="594360" cy="594360"/>
          </a:xfrm>
          <a:prstGeom prst="ellipse">
            <a:avLst/>
          </a:prstGeom>
          <a:solidFill>
            <a:srgbClr val="FBE9CD"/>
          </a:solidFill>
          <a:ln w="12700">
            <a:solidFill>
              <a:srgbClr val="FBE9CD"/>
            </a:solidFill>
            <a:prstDash val="solid"/>
          </a:ln>
        </p:spPr>
        <p:txBody>
          <a:bodyPr/>
          <a:lstStyle/>
          <a:p>
            <a:endParaRPr lang="uk-UA"/>
          </a:p>
        </p:txBody>
      </p:sp>
      <p:pic>
        <p:nvPicPr>
          <p:cNvPr id="23" name="Image 2" descr="preencoded.png"/>
          <p:cNvPicPr>
            <a:picLocks noChangeAspect="1"/>
          </p:cNvPicPr>
          <p:nvPr/>
        </p:nvPicPr>
        <p:blipFill>
          <a:blip r:embed="rId5"/>
          <a:stretch>
            <a:fillRect/>
          </a:stretch>
        </p:blipFill>
        <p:spPr>
          <a:xfrm>
            <a:off x="7418070" y="2068830"/>
            <a:ext cx="297180" cy="297180"/>
          </a:xfrm>
          <a:prstGeom prst="rect">
            <a:avLst/>
          </a:prstGeom>
        </p:spPr>
      </p:pic>
      <p:sp>
        <p:nvSpPr>
          <p:cNvPr id="24" name="Text 19"/>
          <p:cNvSpPr/>
          <p:nvPr/>
        </p:nvSpPr>
        <p:spPr>
          <a:xfrm>
            <a:off x="6217920" y="2606040"/>
            <a:ext cx="2697480" cy="292608"/>
          </a:xfrm>
          <a:prstGeom prst="rect">
            <a:avLst/>
          </a:prstGeom>
          <a:noFill/>
          <a:ln/>
        </p:spPr>
        <p:txBody>
          <a:bodyPr wrap="square" lIns="0" tIns="0" rIns="0" bIns="0" rtlCol="0" anchor="ctr"/>
          <a:lstStyle/>
          <a:p>
            <a:pPr marL="0" indent="0" algn="ctr">
              <a:buNone/>
            </a:pPr>
            <a:r>
              <a:rPr lang="en-US" sz="1600" b="1" dirty="0">
                <a:solidFill>
                  <a:srgbClr val="0F1A35"/>
                </a:solidFill>
                <a:latin typeface="Calibri" pitchFamily="34" charset="0"/>
                <a:ea typeface="Calibri" pitchFamily="34" charset="-122"/>
                <a:cs typeface="Calibri" pitchFamily="34" charset="-120"/>
              </a:rPr>
              <a:t>Coverage@k</a:t>
            </a:r>
            <a:endParaRPr lang="en-US" sz="1600" dirty="0"/>
          </a:p>
        </p:txBody>
      </p:sp>
      <p:sp>
        <p:nvSpPr>
          <p:cNvPr id="25" name="Text 20"/>
          <p:cNvSpPr/>
          <p:nvPr/>
        </p:nvSpPr>
        <p:spPr>
          <a:xfrm>
            <a:off x="6217920" y="2898648"/>
            <a:ext cx="2697480" cy="228600"/>
          </a:xfrm>
          <a:prstGeom prst="rect">
            <a:avLst/>
          </a:prstGeom>
          <a:noFill/>
          <a:ln/>
        </p:spPr>
        <p:txBody>
          <a:bodyPr wrap="square" lIns="0" tIns="0" rIns="0" bIns="0" rtlCol="0" anchor="ctr"/>
          <a:lstStyle/>
          <a:p>
            <a:pPr marL="0" indent="0" algn="ctr">
              <a:buNone/>
            </a:pPr>
            <a:r>
              <a:rPr lang="en-US" sz="900" b="1" kern="0" spc="400" dirty="0">
                <a:solidFill>
                  <a:srgbClr val="F0A93B"/>
                </a:solidFill>
                <a:latin typeface="Calibri" pitchFamily="34" charset="0"/>
                <a:ea typeface="Calibri" pitchFamily="34" charset="-122"/>
                <a:cs typeface="Calibri" pitchFamily="34" charset="-120"/>
              </a:rPr>
              <a:t>РІЗНОМАНІТНІСТЬ</a:t>
            </a:r>
            <a:endParaRPr lang="en-US" sz="900" dirty="0"/>
          </a:p>
        </p:txBody>
      </p:sp>
      <p:sp>
        <p:nvSpPr>
          <p:cNvPr id="26" name="Text 21"/>
          <p:cNvSpPr/>
          <p:nvPr/>
        </p:nvSpPr>
        <p:spPr>
          <a:xfrm>
            <a:off x="6400800" y="3246120"/>
            <a:ext cx="2331720" cy="1188720"/>
          </a:xfrm>
          <a:prstGeom prst="rect">
            <a:avLst/>
          </a:prstGeom>
          <a:noFill/>
          <a:ln/>
        </p:spPr>
        <p:txBody>
          <a:bodyPr wrap="square" lIns="0" tIns="0" rIns="0" bIns="0" rtlCol="0" anchor="ctr"/>
          <a:lstStyle/>
          <a:p>
            <a:pPr marL="0" indent="0" algn="ctr">
              <a:lnSpc>
                <a:spcPct val="120000"/>
              </a:lnSpc>
              <a:buNone/>
            </a:pPr>
            <a:r>
              <a:rPr lang="en-US" sz="1000" dirty="0">
                <a:solidFill>
                  <a:srgbClr val="1F2937"/>
                </a:solidFill>
                <a:latin typeface="Calibri" pitchFamily="34" charset="0"/>
                <a:ea typeface="Calibri" pitchFamily="34" charset="-122"/>
                <a:cs typeface="Calibri" pitchFamily="34" charset="-120"/>
              </a:rPr>
              <a:t>Оцінює різноманітність використання каталогу — скільки різних фільмів система загалом використовує у рекомендаціях.</a:t>
            </a:r>
            <a:endParaRPr lang="en-US" sz="1000" dirty="0"/>
          </a:p>
        </p:txBody>
      </p:sp>
      <p:sp>
        <p:nvSpPr>
          <p:cNvPr id="28" name="Shape 22"/>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29" name="Text 23"/>
          <p:cNvSpPr/>
          <p:nvPr/>
        </p:nvSpPr>
        <p:spPr>
          <a:xfrm>
            <a:off x="457200" y="4901184"/>
            <a:ext cx="6858000" cy="228600"/>
          </a:xfrm>
          <a:prstGeom prst="rect">
            <a:avLst/>
          </a:prstGeom>
          <a:noFill/>
          <a:ln/>
        </p:spPr>
        <p:txBody>
          <a:bodyPr wrap="square" lIns="0" tIns="0" rIns="0" bIns="0" rtlCol="0" anchor="ctr"/>
          <a:lstStyle/>
          <a:p>
            <a:pPr marL="0" indent="0">
              <a:buNone/>
            </a:pPr>
            <a:r>
              <a:rPr lang="en-US" sz="90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ML з підкріпленням</a:t>
            </a:r>
            <a:endParaRPr lang="en-US" sz="900" dirty="0"/>
          </a:p>
        </p:txBody>
      </p:sp>
      <p:sp>
        <p:nvSpPr>
          <p:cNvPr id="30" name="Text 24"/>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РЕЗУЛЬТАТИ</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Порівняння метрик: рівень груп</a:t>
            </a:r>
            <a:endParaRPr lang="en-US" sz="2800" dirty="0"/>
          </a:p>
        </p:txBody>
      </p:sp>
      <p:sp>
        <p:nvSpPr>
          <p:cNvPr id="5" name="Shape 3"/>
          <p:cNvSpPr/>
          <p:nvPr/>
        </p:nvSpPr>
        <p:spPr>
          <a:xfrm>
            <a:off x="457200" y="1298448"/>
            <a:ext cx="8229600" cy="5943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298448"/>
            <a:ext cx="64008" cy="594360"/>
          </a:xfrm>
          <a:prstGeom prst="rect">
            <a:avLst/>
          </a:prstGeom>
          <a:solidFill>
            <a:srgbClr val="21C97A"/>
          </a:solidFill>
          <a:ln w="12700">
            <a:solidFill>
              <a:srgbClr val="21C97A"/>
            </a:solidFill>
            <a:prstDash val="solid"/>
          </a:ln>
        </p:spPr>
        <p:txBody>
          <a:bodyPr/>
          <a:lstStyle/>
          <a:p>
            <a:endParaRPr lang="uk-UA"/>
          </a:p>
        </p:txBody>
      </p:sp>
      <p:sp>
        <p:nvSpPr>
          <p:cNvPr id="7" name="Shape 5"/>
          <p:cNvSpPr/>
          <p:nvPr/>
        </p:nvSpPr>
        <p:spPr>
          <a:xfrm>
            <a:off x="640080" y="1408176"/>
            <a:ext cx="384048" cy="384048"/>
          </a:xfrm>
          <a:prstGeom prst="ellipse">
            <a:avLst/>
          </a:prstGeom>
          <a:solidFill>
            <a:srgbClr val="DAF5E7"/>
          </a:solidFill>
          <a:ln w="12700">
            <a:solidFill>
              <a:srgbClr val="DAF5E7"/>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736092" y="1504188"/>
            <a:ext cx="192024" cy="192024"/>
          </a:xfrm>
          <a:prstGeom prst="rect">
            <a:avLst/>
          </a:prstGeom>
        </p:spPr>
      </p:pic>
      <p:sp>
        <p:nvSpPr>
          <p:cNvPr id="9" name="Text 6"/>
          <p:cNvSpPr/>
          <p:nvPr/>
        </p:nvSpPr>
        <p:spPr>
          <a:xfrm>
            <a:off x="1188720" y="1463040"/>
            <a:ext cx="6949440" cy="365760"/>
          </a:xfrm>
          <a:prstGeom prst="rect">
            <a:avLst/>
          </a:prstGeom>
          <a:noFill/>
          <a:ln/>
        </p:spPr>
        <p:txBody>
          <a:bodyPr wrap="square" lIns="0" tIns="0" rIns="0" bIns="0" rtlCol="0" anchor="ctr"/>
          <a:lstStyle/>
          <a:p>
            <a:pPr marL="0" indent="0">
              <a:buNone/>
            </a:pPr>
            <a:r>
              <a:rPr lang="en-US" sz="1100" dirty="0">
                <a:solidFill>
                  <a:srgbClr val="0F1A35"/>
                </a:solidFill>
                <a:latin typeface="Calibri" pitchFamily="34" charset="0"/>
                <a:ea typeface="Calibri" pitchFamily="34" charset="-122"/>
                <a:cs typeface="Calibri" pitchFamily="34" charset="-120"/>
              </a:rPr>
              <a:t>Запропонована модель перевершує DRGR за всіма трьома метриками для рівня груп при k ∈ {5, 10, 15, 20}.</a:t>
            </a:r>
            <a:endParaRPr lang="en-US" sz="1100" dirty="0"/>
          </a:p>
        </p:txBody>
      </p:sp>
      <p:sp>
        <p:nvSpPr>
          <p:cNvPr id="10" name="Text 7"/>
          <p:cNvSpPr/>
          <p:nvPr/>
        </p:nvSpPr>
        <p:spPr>
          <a:xfrm>
            <a:off x="457200" y="2057400"/>
            <a:ext cx="2697480" cy="274320"/>
          </a:xfrm>
          <a:prstGeom prst="rect">
            <a:avLst/>
          </a:prstGeom>
          <a:noFill/>
          <a:ln/>
        </p:spPr>
        <p:txBody>
          <a:bodyPr wrap="square" lIns="0" tIns="0" rIns="0" bIns="0" rtlCol="0" anchor="ctr"/>
          <a:lstStyle/>
          <a:p>
            <a:pPr marL="0" indent="0" algn="ctr">
              <a:buNone/>
            </a:pPr>
            <a:r>
              <a:rPr lang="en-US" sz="1200" b="1" dirty="0">
                <a:solidFill>
                  <a:srgbClr val="0F1A35"/>
                </a:solidFill>
                <a:latin typeface="Calibri" pitchFamily="34" charset="0"/>
                <a:ea typeface="Calibri" pitchFamily="34" charset="-122"/>
                <a:cs typeface="Calibri" pitchFamily="34" charset="-120"/>
              </a:rPr>
              <a:t>Recall@k</a:t>
            </a:r>
            <a:endParaRPr lang="en-US" sz="1200" dirty="0"/>
          </a:p>
        </p:txBody>
      </p:sp>
      <p:graphicFrame>
        <p:nvGraphicFramePr>
          <p:cNvPr id="11" name="Chart 0"/>
          <p:cNvGraphicFramePr/>
          <p:nvPr/>
        </p:nvGraphicFramePr>
        <p:xfrm>
          <a:off x="457200" y="2331720"/>
          <a:ext cx="2697480" cy="2194560"/>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 8"/>
          <p:cNvSpPr/>
          <p:nvPr/>
        </p:nvSpPr>
        <p:spPr>
          <a:xfrm>
            <a:off x="3337560" y="2057400"/>
            <a:ext cx="2697480" cy="274320"/>
          </a:xfrm>
          <a:prstGeom prst="rect">
            <a:avLst/>
          </a:prstGeom>
          <a:noFill/>
          <a:ln/>
        </p:spPr>
        <p:txBody>
          <a:bodyPr wrap="square" lIns="0" tIns="0" rIns="0" bIns="0" rtlCol="0" anchor="ctr"/>
          <a:lstStyle/>
          <a:p>
            <a:pPr marL="0" indent="0" algn="ctr">
              <a:buNone/>
            </a:pPr>
            <a:r>
              <a:rPr lang="en-US" sz="1200" b="1" dirty="0">
                <a:solidFill>
                  <a:srgbClr val="0F1A35"/>
                </a:solidFill>
                <a:latin typeface="Calibri" pitchFamily="34" charset="0"/>
                <a:ea typeface="Calibri" pitchFamily="34" charset="-122"/>
                <a:cs typeface="Calibri" pitchFamily="34" charset="-120"/>
              </a:rPr>
              <a:t>NDCG@k</a:t>
            </a:r>
            <a:endParaRPr lang="en-US" sz="1200" dirty="0"/>
          </a:p>
        </p:txBody>
      </p:sp>
      <p:graphicFrame>
        <p:nvGraphicFramePr>
          <p:cNvPr id="13" name="Chart 1"/>
          <p:cNvGraphicFramePr/>
          <p:nvPr/>
        </p:nvGraphicFramePr>
        <p:xfrm>
          <a:off x="3337560" y="2331720"/>
          <a:ext cx="2697480" cy="2194560"/>
        </p:xfrm>
        <a:graphic>
          <a:graphicData uri="http://schemas.openxmlformats.org/drawingml/2006/chart">
            <c:chart xmlns:c="http://schemas.openxmlformats.org/drawingml/2006/chart" xmlns:r="http://schemas.openxmlformats.org/officeDocument/2006/relationships" r:id="rId5"/>
          </a:graphicData>
        </a:graphic>
      </p:graphicFrame>
      <p:sp>
        <p:nvSpPr>
          <p:cNvPr id="14" name="Text 9"/>
          <p:cNvSpPr/>
          <p:nvPr/>
        </p:nvSpPr>
        <p:spPr>
          <a:xfrm>
            <a:off x="6217920" y="2057400"/>
            <a:ext cx="2697480" cy="274320"/>
          </a:xfrm>
          <a:prstGeom prst="rect">
            <a:avLst/>
          </a:prstGeom>
          <a:noFill/>
          <a:ln/>
        </p:spPr>
        <p:txBody>
          <a:bodyPr wrap="square" lIns="0" tIns="0" rIns="0" bIns="0" rtlCol="0" anchor="ctr"/>
          <a:lstStyle/>
          <a:p>
            <a:pPr marL="0" indent="0" algn="ctr">
              <a:buNone/>
            </a:pPr>
            <a:r>
              <a:rPr lang="en-US" sz="1200" b="1" dirty="0">
                <a:solidFill>
                  <a:srgbClr val="0F1A35"/>
                </a:solidFill>
                <a:latin typeface="Calibri" pitchFamily="34" charset="0"/>
                <a:ea typeface="Calibri" pitchFamily="34" charset="-122"/>
                <a:cs typeface="Calibri" pitchFamily="34" charset="-120"/>
              </a:rPr>
              <a:t>Coverage@k</a:t>
            </a:r>
            <a:endParaRPr lang="en-US" sz="1200" dirty="0"/>
          </a:p>
        </p:txBody>
      </p:sp>
      <p:graphicFrame>
        <p:nvGraphicFramePr>
          <p:cNvPr id="15" name="Chart 2"/>
          <p:cNvGraphicFramePr/>
          <p:nvPr/>
        </p:nvGraphicFramePr>
        <p:xfrm>
          <a:off x="6217920" y="2331720"/>
          <a:ext cx="2697480" cy="2194560"/>
        </p:xfrm>
        <a:graphic>
          <a:graphicData uri="http://schemas.openxmlformats.org/drawingml/2006/chart">
            <c:chart xmlns:c="http://schemas.openxmlformats.org/drawingml/2006/chart" xmlns:r="http://schemas.openxmlformats.org/officeDocument/2006/relationships" r:id="rId6"/>
          </a:graphicData>
        </a:graphic>
      </p:graphicFrame>
      <p:sp>
        <p:nvSpPr>
          <p:cNvPr id="16" name="Text 10"/>
          <p:cNvSpPr/>
          <p:nvPr/>
        </p:nvSpPr>
        <p:spPr>
          <a:xfrm>
            <a:off x="457200" y="4572000"/>
            <a:ext cx="8229600" cy="228600"/>
          </a:xfrm>
          <a:prstGeom prst="rect">
            <a:avLst/>
          </a:prstGeom>
          <a:noFill/>
          <a:ln/>
        </p:spPr>
        <p:txBody>
          <a:bodyPr wrap="square" lIns="0" tIns="0" rIns="0" bIns="0" rtlCol="0" anchor="ctr"/>
          <a:lstStyle/>
          <a:p>
            <a:pPr marL="0" indent="0" algn="ctr">
              <a:buNone/>
            </a:pPr>
            <a:r>
              <a:rPr lang="en-US" sz="900" i="1" dirty="0">
                <a:solidFill>
                  <a:srgbClr val="687891"/>
                </a:solidFill>
                <a:latin typeface="Calibri" pitchFamily="34" charset="0"/>
                <a:ea typeface="Calibri" pitchFamily="34" charset="-122"/>
                <a:cs typeface="Calibri" pitchFamily="34" charset="-120"/>
              </a:rPr>
              <a:t>Діаграми 1-3. Порівняння метрик для рекомендацій на рівні груп</a:t>
            </a:r>
            <a:endParaRPr lang="en-US" sz="900" dirty="0"/>
          </a:p>
        </p:txBody>
      </p:sp>
      <p:sp>
        <p:nvSpPr>
          <p:cNvPr id="18" name="Shape 11"/>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19" name="Text 12"/>
          <p:cNvSpPr/>
          <p:nvPr/>
        </p:nvSpPr>
        <p:spPr>
          <a:xfrm>
            <a:off x="457200" y="4901184"/>
            <a:ext cx="6858000" cy="228600"/>
          </a:xfrm>
          <a:prstGeom prst="rect">
            <a:avLst/>
          </a:prstGeom>
          <a:noFill/>
          <a:ln/>
        </p:spPr>
        <p:txBody>
          <a:bodyPr wrap="square" lIns="0" tIns="0" rIns="0" bIns="0" rtlCol="0" anchor="ctr"/>
          <a:lstStyle/>
          <a:p>
            <a:pPr marL="0" indent="0">
              <a:buNone/>
            </a:pPr>
            <a:r>
              <a:rPr lang="en-US" sz="90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ML з підкріпленням</a:t>
            </a:r>
            <a:endParaRPr lang="en-US" sz="900" dirty="0"/>
          </a:p>
        </p:txBody>
      </p:sp>
      <p:sp>
        <p:nvSpPr>
          <p:cNvPr id="20" name="Text 13"/>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РЕЗУЛЬТАТИ</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Порівняння метрик: рівень окремого користувача</a:t>
            </a:r>
            <a:endParaRPr lang="en-US" sz="2800" dirty="0"/>
          </a:p>
        </p:txBody>
      </p:sp>
      <p:sp>
        <p:nvSpPr>
          <p:cNvPr id="5" name="Shape 3"/>
          <p:cNvSpPr/>
          <p:nvPr/>
        </p:nvSpPr>
        <p:spPr>
          <a:xfrm>
            <a:off x="457200" y="1298448"/>
            <a:ext cx="8229600" cy="5943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298448"/>
            <a:ext cx="64008" cy="594360"/>
          </a:xfrm>
          <a:prstGeom prst="rect">
            <a:avLst/>
          </a:prstGeom>
          <a:solidFill>
            <a:srgbClr val="7B5CD9"/>
          </a:solidFill>
          <a:ln w="12700">
            <a:solidFill>
              <a:srgbClr val="7B5CD9"/>
            </a:solidFill>
            <a:prstDash val="solid"/>
          </a:ln>
        </p:spPr>
        <p:txBody>
          <a:bodyPr/>
          <a:lstStyle/>
          <a:p>
            <a:endParaRPr lang="uk-UA"/>
          </a:p>
        </p:txBody>
      </p:sp>
      <p:sp>
        <p:nvSpPr>
          <p:cNvPr id="7" name="Shape 5"/>
          <p:cNvSpPr/>
          <p:nvPr/>
        </p:nvSpPr>
        <p:spPr>
          <a:xfrm>
            <a:off x="658368" y="1408176"/>
            <a:ext cx="384048" cy="384048"/>
          </a:xfrm>
          <a:prstGeom prst="ellipse">
            <a:avLst/>
          </a:prstGeom>
          <a:solidFill>
            <a:srgbClr val="E5DEF7"/>
          </a:solidFill>
          <a:ln w="12700">
            <a:solidFill>
              <a:srgbClr val="E5DEF7"/>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754380" y="1504188"/>
            <a:ext cx="192024" cy="192024"/>
          </a:xfrm>
          <a:prstGeom prst="rect">
            <a:avLst/>
          </a:prstGeom>
        </p:spPr>
      </p:pic>
      <p:sp>
        <p:nvSpPr>
          <p:cNvPr id="9" name="Text 6"/>
          <p:cNvSpPr/>
          <p:nvPr/>
        </p:nvSpPr>
        <p:spPr>
          <a:xfrm>
            <a:off x="1188720" y="1463040"/>
            <a:ext cx="6949440" cy="365760"/>
          </a:xfrm>
          <a:prstGeom prst="rect">
            <a:avLst/>
          </a:prstGeom>
          <a:noFill/>
          <a:ln/>
        </p:spPr>
        <p:txBody>
          <a:bodyPr wrap="square" lIns="0" tIns="0" rIns="0" bIns="0" rtlCol="0" anchor="ctr"/>
          <a:lstStyle/>
          <a:p>
            <a:pPr marL="0" indent="0">
              <a:buNone/>
            </a:pPr>
            <a:r>
              <a:rPr lang="en-US" sz="1100" dirty="0">
                <a:solidFill>
                  <a:srgbClr val="0F1A35"/>
                </a:solidFill>
                <a:latin typeface="Calibri" pitchFamily="34" charset="0"/>
                <a:ea typeface="Calibri" pitchFamily="34" charset="-122"/>
                <a:cs typeface="Calibri" pitchFamily="34" charset="-120"/>
              </a:rPr>
              <a:t>На рівні окремого користувача запропонований підхід також стабільно перевершує базовий — переваги особливо помітні при великих k.</a:t>
            </a:r>
            <a:endParaRPr lang="en-US" sz="1100" dirty="0"/>
          </a:p>
        </p:txBody>
      </p:sp>
      <p:sp>
        <p:nvSpPr>
          <p:cNvPr id="10" name="Text 7"/>
          <p:cNvSpPr/>
          <p:nvPr/>
        </p:nvSpPr>
        <p:spPr>
          <a:xfrm>
            <a:off x="457200" y="2057400"/>
            <a:ext cx="2697480" cy="274320"/>
          </a:xfrm>
          <a:prstGeom prst="rect">
            <a:avLst/>
          </a:prstGeom>
          <a:noFill/>
          <a:ln/>
        </p:spPr>
        <p:txBody>
          <a:bodyPr wrap="square" lIns="0" tIns="0" rIns="0" bIns="0" rtlCol="0" anchor="ctr"/>
          <a:lstStyle/>
          <a:p>
            <a:pPr marL="0" indent="0" algn="ctr">
              <a:buNone/>
            </a:pPr>
            <a:r>
              <a:rPr lang="en-US" sz="1200" b="1" dirty="0">
                <a:solidFill>
                  <a:srgbClr val="0F1A35"/>
                </a:solidFill>
                <a:latin typeface="Calibri" pitchFamily="34" charset="0"/>
                <a:ea typeface="Calibri" pitchFamily="34" charset="-122"/>
                <a:cs typeface="Calibri" pitchFamily="34" charset="-120"/>
              </a:rPr>
              <a:t>Recall@k</a:t>
            </a:r>
            <a:endParaRPr lang="en-US" sz="1200" dirty="0"/>
          </a:p>
        </p:txBody>
      </p:sp>
      <p:graphicFrame>
        <p:nvGraphicFramePr>
          <p:cNvPr id="11" name="Chart 0"/>
          <p:cNvGraphicFramePr/>
          <p:nvPr/>
        </p:nvGraphicFramePr>
        <p:xfrm>
          <a:off x="457200" y="2331720"/>
          <a:ext cx="2697480" cy="2194560"/>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 8"/>
          <p:cNvSpPr/>
          <p:nvPr/>
        </p:nvSpPr>
        <p:spPr>
          <a:xfrm>
            <a:off x="3337560" y="2057400"/>
            <a:ext cx="2697480" cy="274320"/>
          </a:xfrm>
          <a:prstGeom prst="rect">
            <a:avLst/>
          </a:prstGeom>
          <a:noFill/>
          <a:ln/>
        </p:spPr>
        <p:txBody>
          <a:bodyPr wrap="square" lIns="0" tIns="0" rIns="0" bIns="0" rtlCol="0" anchor="ctr"/>
          <a:lstStyle/>
          <a:p>
            <a:pPr marL="0" indent="0" algn="ctr">
              <a:buNone/>
            </a:pPr>
            <a:r>
              <a:rPr lang="en-US" sz="1200" b="1" dirty="0">
                <a:solidFill>
                  <a:srgbClr val="0F1A35"/>
                </a:solidFill>
                <a:latin typeface="Calibri" pitchFamily="34" charset="0"/>
                <a:ea typeface="Calibri" pitchFamily="34" charset="-122"/>
                <a:cs typeface="Calibri" pitchFamily="34" charset="-120"/>
              </a:rPr>
              <a:t>NDCG@k</a:t>
            </a:r>
            <a:endParaRPr lang="en-US" sz="1200" dirty="0"/>
          </a:p>
        </p:txBody>
      </p:sp>
      <p:graphicFrame>
        <p:nvGraphicFramePr>
          <p:cNvPr id="13" name="Chart 1"/>
          <p:cNvGraphicFramePr/>
          <p:nvPr/>
        </p:nvGraphicFramePr>
        <p:xfrm>
          <a:off x="3337560" y="2331720"/>
          <a:ext cx="2697480" cy="2194560"/>
        </p:xfrm>
        <a:graphic>
          <a:graphicData uri="http://schemas.openxmlformats.org/drawingml/2006/chart">
            <c:chart xmlns:c="http://schemas.openxmlformats.org/drawingml/2006/chart" xmlns:r="http://schemas.openxmlformats.org/officeDocument/2006/relationships" r:id="rId5"/>
          </a:graphicData>
        </a:graphic>
      </p:graphicFrame>
      <p:sp>
        <p:nvSpPr>
          <p:cNvPr id="14" name="Text 9"/>
          <p:cNvSpPr/>
          <p:nvPr/>
        </p:nvSpPr>
        <p:spPr>
          <a:xfrm>
            <a:off x="6217920" y="2057400"/>
            <a:ext cx="2697480" cy="274320"/>
          </a:xfrm>
          <a:prstGeom prst="rect">
            <a:avLst/>
          </a:prstGeom>
          <a:noFill/>
          <a:ln/>
        </p:spPr>
        <p:txBody>
          <a:bodyPr wrap="square" lIns="0" tIns="0" rIns="0" bIns="0" rtlCol="0" anchor="ctr"/>
          <a:lstStyle/>
          <a:p>
            <a:pPr marL="0" indent="0" algn="ctr">
              <a:buNone/>
            </a:pPr>
            <a:r>
              <a:rPr lang="en-US" sz="1200" b="1" dirty="0">
                <a:solidFill>
                  <a:srgbClr val="0F1A35"/>
                </a:solidFill>
                <a:latin typeface="Calibri" pitchFamily="34" charset="0"/>
                <a:ea typeface="Calibri" pitchFamily="34" charset="-122"/>
                <a:cs typeface="Calibri" pitchFamily="34" charset="-120"/>
              </a:rPr>
              <a:t>Coverage@k</a:t>
            </a:r>
            <a:endParaRPr lang="en-US" sz="1200" dirty="0"/>
          </a:p>
        </p:txBody>
      </p:sp>
      <p:graphicFrame>
        <p:nvGraphicFramePr>
          <p:cNvPr id="15" name="Chart 2"/>
          <p:cNvGraphicFramePr/>
          <p:nvPr/>
        </p:nvGraphicFramePr>
        <p:xfrm>
          <a:off x="6217920" y="2331720"/>
          <a:ext cx="2697480" cy="2194560"/>
        </p:xfrm>
        <a:graphic>
          <a:graphicData uri="http://schemas.openxmlformats.org/drawingml/2006/chart">
            <c:chart xmlns:c="http://schemas.openxmlformats.org/drawingml/2006/chart" xmlns:r="http://schemas.openxmlformats.org/officeDocument/2006/relationships" r:id="rId6"/>
          </a:graphicData>
        </a:graphic>
      </p:graphicFrame>
      <p:sp>
        <p:nvSpPr>
          <p:cNvPr id="16" name="Text 10"/>
          <p:cNvSpPr/>
          <p:nvPr/>
        </p:nvSpPr>
        <p:spPr>
          <a:xfrm>
            <a:off x="457200" y="4572000"/>
            <a:ext cx="8229600" cy="228600"/>
          </a:xfrm>
          <a:prstGeom prst="rect">
            <a:avLst/>
          </a:prstGeom>
          <a:noFill/>
          <a:ln/>
        </p:spPr>
        <p:txBody>
          <a:bodyPr wrap="square" lIns="0" tIns="0" rIns="0" bIns="0" rtlCol="0" anchor="ctr"/>
          <a:lstStyle/>
          <a:p>
            <a:pPr marL="0" indent="0" algn="ctr">
              <a:buNone/>
            </a:pPr>
            <a:r>
              <a:rPr lang="en-US" sz="900" i="1" dirty="0">
                <a:solidFill>
                  <a:srgbClr val="687891"/>
                </a:solidFill>
                <a:latin typeface="Calibri" pitchFamily="34" charset="0"/>
                <a:ea typeface="Calibri" pitchFamily="34" charset="-122"/>
                <a:cs typeface="Calibri" pitchFamily="34" charset="-120"/>
              </a:rPr>
              <a:t>Діаграми 4-6. Порівняння метрик для рекомендацій на рівні окремого користувача</a:t>
            </a:r>
            <a:endParaRPr lang="en-US" sz="900" dirty="0"/>
          </a:p>
        </p:txBody>
      </p:sp>
      <p:sp>
        <p:nvSpPr>
          <p:cNvPr id="18" name="Shape 11"/>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19" name="Text 12"/>
          <p:cNvSpPr/>
          <p:nvPr/>
        </p:nvSpPr>
        <p:spPr>
          <a:xfrm>
            <a:off x="457200" y="4901184"/>
            <a:ext cx="6858000" cy="228600"/>
          </a:xfrm>
          <a:prstGeom prst="rect">
            <a:avLst/>
          </a:prstGeom>
          <a:noFill/>
          <a:ln/>
        </p:spPr>
        <p:txBody>
          <a:bodyPr wrap="square" lIns="0" tIns="0" rIns="0" bIns="0" rtlCol="0" anchor="ctr"/>
          <a:lstStyle/>
          <a:p>
            <a:pPr marL="0" indent="0">
              <a:buNone/>
            </a:pPr>
            <a:r>
              <a:rPr lang="en-US" sz="90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ML з підкріпленням</a:t>
            </a:r>
            <a:endParaRPr lang="en-US" sz="900" dirty="0"/>
          </a:p>
        </p:txBody>
      </p:sp>
      <p:sp>
        <p:nvSpPr>
          <p:cNvPr id="20" name="Text 13"/>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ПІДСУМКИ ДОСЛІДЖЕННЯ</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Висновки</a:t>
            </a:r>
            <a:endParaRPr lang="en-US" sz="2800" dirty="0"/>
          </a:p>
        </p:txBody>
      </p:sp>
      <p:sp>
        <p:nvSpPr>
          <p:cNvPr id="5" name="Shape 3"/>
          <p:cNvSpPr/>
          <p:nvPr/>
        </p:nvSpPr>
        <p:spPr>
          <a:xfrm>
            <a:off x="457200" y="1234440"/>
            <a:ext cx="8229600" cy="62179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234440"/>
            <a:ext cx="64008" cy="621792"/>
          </a:xfrm>
          <a:prstGeom prst="rect">
            <a:avLst/>
          </a:prstGeom>
          <a:solidFill>
            <a:srgbClr val="2C5BD8"/>
          </a:solidFill>
          <a:ln w="12700">
            <a:solidFill>
              <a:srgbClr val="2C5BD8"/>
            </a:solidFill>
            <a:prstDash val="solid"/>
          </a:ln>
        </p:spPr>
        <p:txBody>
          <a:bodyPr/>
          <a:lstStyle/>
          <a:p>
            <a:endParaRPr lang="uk-UA"/>
          </a:p>
        </p:txBody>
      </p:sp>
      <p:sp>
        <p:nvSpPr>
          <p:cNvPr id="7" name="Text 5"/>
          <p:cNvSpPr/>
          <p:nvPr/>
        </p:nvSpPr>
        <p:spPr>
          <a:xfrm>
            <a:off x="640080" y="1325880"/>
            <a:ext cx="731520" cy="438912"/>
          </a:xfrm>
          <a:prstGeom prst="rect">
            <a:avLst/>
          </a:prstGeom>
          <a:noFill/>
          <a:ln/>
        </p:spPr>
        <p:txBody>
          <a:bodyPr wrap="square" lIns="0" tIns="0" rIns="0" bIns="0" rtlCol="0" anchor="ctr"/>
          <a:lstStyle/>
          <a:p>
            <a:pPr marL="0" indent="0" algn="l">
              <a:buNone/>
            </a:pPr>
            <a:r>
              <a:rPr lang="en-US" sz="1800" b="1" dirty="0">
                <a:solidFill>
                  <a:srgbClr val="2C5BD8"/>
                </a:solidFill>
                <a:latin typeface="Calibri" pitchFamily="34" charset="0"/>
                <a:ea typeface="Calibri" pitchFamily="34" charset="-122"/>
                <a:cs typeface="Calibri" pitchFamily="34" charset="-120"/>
              </a:rPr>
              <a:t>01</a:t>
            </a:r>
            <a:endParaRPr lang="en-US" sz="1800" dirty="0"/>
          </a:p>
        </p:txBody>
      </p:sp>
      <p:sp>
        <p:nvSpPr>
          <p:cNvPr id="8" name="Text 6"/>
          <p:cNvSpPr/>
          <p:nvPr/>
        </p:nvSpPr>
        <p:spPr>
          <a:xfrm>
            <a:off x="1554480" y="1298448"/>
            <a:ext cx="2286000" cy="493776"/>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Підготовка даних</a:t>
            </a:r>
            <a:endParaRPr lang="en-US" sz="1200" dirty="0"/>
          </a:p>
        </p:txBody>
      </p:sp>
      <p:sp>
        <p:nvSpPr>
          <p:cNvPr id="9" name="Text 7"/>
          <p:cNvSpPr/>
          <p:nvPr/>
        </p:nvSpPr>
        <p:spPr>
          <a:xfrm>
            <a:off x="3931920" y="1298448"/>
            <a:ext cx="4617720" cy="493776"/>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Сформовано експериментальний набір MovieLens та визначено структуру взаємодій між користувачами, групами й елементами.</a:t>
            </a:r>
            <a:endParaRPr lang="en-US" sz="1000" dirty="0"/>
          </a:p>
        </p:txBody>
      </p:sp>
      <p:sp>
        <p:nvSpPr>
          <p:cNvPr id="10" name="Shape 8"/>
          <p:cNvSpPr/>
          <p:nvPr/>
        </p:nvSpPr>
        <p:spPr>
          <a:xfrm>
            <a:off x="457200" y="1920240"/>
            <a:ext cx="8229600" cy="62179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1" name="Shape 9"/>
          <p:cNvSpPr/>
          <p:nvPr/>
        </p:nvSpPr>
        <p:spPr>
          <a:xfrm>
            <a:off x="457200" y="1920240"/>
            <a:ext cx="64008" cy="621792"/>
          </a:xfrm>
          <a:prstGeom prst="rect">
            <a:avLst/>
          </a:prstGeom>
          <a:solidFill>
            <a:srgbClr val="2C5BD8"/>
          </a:solidFill>
          <a:ln w="12700">
            <a:solidFill>
              <a:srgbClr val="2C5BD8"/>
            </a:solidFill>
            <a:prstDash val="solid"/>
          </a:ln>
        </p:spPr>
        <p:txBody>
          <a:bodyPr/>
          <a:lstStyle/>
          <a:p>
            <a:endParaRPr lang="uk-UA"/>
          </a:p>
        </p:txBody>
      </p:sp>
      <p:sp>
        <p:nvSpPr>
          <p:cNvPr id="12" name="Text 10"/>
          <p:cNvSpPr/>
          <p:nvPr/>
        </p:nvSpPr>
        <p:spPr>
          <a:xfrm>
            <a:off x="640080" y="2011680"/>
            <a:ext cx="731520" cy="438912"/>
          </a:xfrm>
          <a:prstGeom prst="rect">
            <a:avLst/>
          </a:prstGeom>
          <a:noFill/>
          <a:ln/>
        </p:spPr>
        <p:txBody>
          <a:bodyPr wrap="square" lIns="0" tIns="0" rIns="0" bIns="0" rtlCol="0" anchor="ctr"/>
          <a:lstStyle/>
          <a:p>
            <a:pPr marL="0" indent="0" algn="l">
              <a:buNone/>
            </a:pPr>
            <a:r>
              <a:rPr lang="en-US" sz="1800" b="1" dirty="0">
                <a:solidFill>
                  <a:srgbClr val="2C5BD8"/>
                </a:solidFill>
                <a:latin typeface="Calibri" pitchFamily="34" charset="0"/>
                <a:ea typeface="Calibri" pitchFamily="34" charset="-122"/>
                <a:cs typeface="Calibri" pitchFamily="34" charset="-120"/>
              </a:rPr>
              <a:t>02</a:t>
            </a:r>
            <a:endParaRPr lang="en-US" sz="1800" dirty="0"/>
          </a:p>
        </p:txBody>
      </p:sp>
      <p:sp>
        <p:nvSpPr>
          <p:cNvPr id="13" name="Text 11"/>
          <p:cNvSpPr/>
          <p:nvPr/>
        </p:nvSpPr>
        <p:spPr>
          <a:xfrm>
            <a:off x="1554480" y="1984248"/>
            <a:ext cx="2286000" cy="493776"/>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Архітектура моделі</a:t>
            </a:r>
            <a:endParaRPr lang="en-US" sz="1200" dirty="0"/>
          </a:p>
        </p:txBody>
      </p:sp>
      <p:sp>
        <p:nvSpPr>
          <p:cNvPr id="14" name="Text 12"/>
          <p:cNvSpPr/>
          <p:nvPr/>
        </p:nvSpPr>
        <p:spPr>
          <a:xfrm>
            <a:off x="3931920" y="1984248"/>
            <a:ext cx="4617720" cy="493776"/>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Розроблено модель «Інтегратор – Актор – Критик» на основі машинного навчання з підкріпленням.</a:t>
            </a:r>
            <a:endParaRPr lang="en-US" sz="1000" dirty="0"/>
          </a:p>
        </p:txBody>
      </p:sp>
      <p:sp>
        <p:nvSpPr>
          <p:cNvPr id="15" name="Shape 13"/>
          <p:cNvSpPr/>
          <p:nvPr/>
        </p:nvSpPr>
        <p:spPr>
          <a:xfrm>
            <a:off x="457200" y="2606040"/>
            <a:ext cx="8229600" cy="62179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6" name="Shape 14"/>
          <p:cNvSpPr/>
          <p:nvPr/>
        </p:nvSpPr>
        <p:spPr>
          <a:xfrm>
            <a:off x="457200" y="2606040"/>
            <a:ext cx="64008" cy="621792"/>
          </a:xfrm>
          <a:prstGeom prst="rect">
            <a:avLst/>
          </a:prstGeom>
          <a:solidFill>
            <a:srgbClr val="2C5BD8"/>
          </a:solidFill>
          <a:ln w="12700">
            <a:solidFill>
              <a:srgbClr val="2C5BD8"/>
            </a:solidFill>
            <a:prstDash val="solid"/>
          </a:ln>
        </p:spPr>
        <p:txBody>
          <a:bodyPr/>
          <a:lstStyle/>
          <a:p>
            <a:endParaRPr lang="uk-UA"/>
          </a:p>
        </p:txBody>
      </p:sp>
      <p:sp>
        <p:nvSpPr>
          <p:cNvPr id="17" name="Text 15"/>
          <p:cNvSpPr/>
          <p:nvPr/>
        </p:nvSpPr>
        <p:spPr>
          <a:xfrm>
            <a:off x="640080" y="2697480"/>
            <a:ext cx="731520" cy="438912"/>
          </a:xfrm>
          <a:prstGeom prst="rect">
            <a:avLst/>
          </a:prstGeom>
          <a:noFill/>
          <a:ln/>
        </p:spPr>
        <p:txBody>
          <a:bodyPr wrap="square" lIns="0" tIns="0" rIns="0" bIns="0" rtlCol="0" anchor="ctr"/>
          <a:lstStyle/>
          <a:p>
            <a:pPr marL="0" indent="0" algn="l">
              <a:buNone/>
            </a:pPr>
            <a:r>
              <a:rPr lang="en-US" sz="1800" b="1" dirty="0">
                <a:solidFill>
                  <a:srgbClr val="2C5BD8"/>
                </a:solidFill>
                <a:latin typeface="Calibri" pitchFamily="34" charset="0"/>
                <a:ea typeface="Calibri" pitchFamily="34" charset="-122"/>
                <a:cs typeface="Calibri" pitchFamily="34" charset="-120"/>
              </a:rPr>
              <a:t>03</a:t>
            </a:r>
            <a:endParaRPr lang="en-US" sz="1800" dirty="0"/>
          </a:p>
        </p:txBody>
      </p:sp>
      <p:sp>
        <p:nvSpPr>
          <p:cNvPr id="18" name="Text 16"/>
          <p:cNvSpPr/>
          <p:nvPr/>
        </p:nvSpPr>
        <p:spPr>
          <a:xfrm>
            <a:off x="1554480" y="2670048"/>
            <a:ext cx="2286000" cy="493776"/>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Експериментальне навчання</a:t>
            </a:r>
            <a:endParaRPr lang="en-US" sz="1200" dirty="0"/>
          </a:p>
        </p:txBody>
      </p:sp>
      <p:sp>
        <p:nvSpPr>
          <p:cNvPr id="19" name="Text 17"/>
          <p:cNvSpPr/>
          <p:nvPr/>
        </p:nvSpPr>
        <p:spPr>
          <a:xfrm>
            <a:off x="3931920" y="2670048"/>
            <a:ext cx="4617720" cy="493776"/>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Модель натреновано та провалідовано в симульованому середовищі з використанням набору даних MovieLens.</a:t>
            </a:r>
            <a:endParaRPr lang="en-US" sz="1000" dirty="0"/>
          </a:p>
        </p:txBody>
      </p:sp>
      <p:sp>
        <p:nvSpPr>
          <p:cNvPr id="20" name="Shape 18"/>
          <p:cNvSpPr/>
          <p:nvPr/>
        </p:nvSpPr>
        <p:spPr>
          <a:xfrm>
            <a:off x="457200" y="3291840"/>
            <a:ext cx="8229600" cy="62179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1" name="Shape 19"/>
          <p:cNvSpPr/>
          <p:nvPr/>
        </p:nvSpPr>
        <p:spPr>
          <a:xfrm>
            <a:off x="457200" y="3291840"/>
            <a:ext cx="64008" cy="621792"/>
          </a:xfrm>
          <a:prstGeom prst="rect">
            <a:avLst/>
          </a:prstGeom>
          <a:solidFill>
            <a:srgbClr val="2C5BD8"/>
          </a:solidFill>
          <a:ln w="12700">
            <a:solidFill>
              <a:srgbClr val="2C5BD8"/>
            </a:solidFill>
            <a:prstDash val="solid"/>
          </a:ln>
        </p:spPr>
        <p:txBody>
          <a:bodyPr/>
          <a:lstStyle/>
          <a:p>
            <a:endParaRPr lang="uk-UA"/>
          </a:p>
        </p:txBody>
      </p:sp>
      <p:sp>
        <p:nvSpPr>
          <p:cNvPr id="22" name="Text 20"/>
          <p:cNvSpPr/>
          <p:nvPr/>
        </p:nvSpPr>
        <p:spPr>
          <a:xfrm>
            <a:off x="640080" y="3383280"/>
            <a:ext cx="731520" cy="438912"/>
          </a:xfrm>
          <a:prstGeom prst="rect">
            <a:avLst/>
          </a:prstGeom>
          <a:noFill/>
          <a:ln/>
        </p:spPr>
        <p:txBody>
          <a:bodyPr wrap="square" lIns="0" tIns="0" rIns="0" bIns="0" rtlCol="0" anchor="ctr"/>
          <a:lstStyle/>
          <a:p>
            <a:pPr marL="0" indent="0" algn="l">
              <a:buNone/>
            </a:pPr>
            <a:r>
              <a:rPr lang="en-US" sz="1800" b="1" dirty="0">
                <a:solidFill>
                  <a:srgbClr val="2C5BD8"/>
                </a:solidFill>
                <a:latin typeface="Calibri" pitchFamily="34" charset="0"/>
                <a:ea typeface="Calibri" pitchFamily="34" charset="-122"/>
                <a:cs typeface="Calibri" pitchFamily="34" charset="-120"/>
              </a:rPr>
              <a:t>04</a:t>
            </a:r>
            <a:endParaRPr lang="en-US" sz="1800" dirty="0"/>
          </a:p>
        </p:txBody>
      </p:sp>
      <p:sp>
        <p:nvSpPr>
          <p:cNvPr id="23" name="Text 21"/>
          <p:cNvSpPr/>
          <p:nvPr/>
        </p:nvSpPr>
        <p:spPr>
          <a:xfrm>
            <a:off x="1554480" y="3355848"/>
            <a:ext cx="2286000" cy="493776"/>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Переваги над DRGR</a:t>
            </a:r>
            <a:endParaRPr lang="en-US" sz="1200" dirty="0"/>
          </a:p>
        </p:txBody>
      </p:sp>
      <p:sp>
        <p:nvSpPr>
          <p:cNvPr id="24" name="Text 22"/>
          <p:cNvSpPr/>
          <p:nvPr/>
        </p:nvSpPr>
        <p:spPr>
          <a:xfrm>
            <a:off x="3931920" y="3355848"/>
            <a:ext cx="4617720" cy="493776"/>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Краще врахування індивідуальних вподобань, формування релевантніших рекомендацій, покращення Recall@k, NDCG@k та Coverage@k.</a:t>
            </a:r>
            <a:endParaRPr lang="en-US" sz="1000" dirty="0"/>
          </a:p>
        </p:txBody>
      </p:sp>
      <p:sp>
        <p:nvSpPr>
          <p:cNvPr id="25" name="Shape 23"/>
          <p:cNvSpPr/>
          <p:nvPr/>
        </p:nvSpPr>
        <p:spPr>
          <a:xfrm>
            <a:off x="457200" y="3977640"/>
            <a:ext cx="8229600" cy="62179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6" name="Shape 24"/>
          <p:cNvSpPr/>
          <p:nvPr/>
        </p:nvSpPr>
        <p:spPr>
          <a:xfrm>
            <a:off x="457200" y="3977640"/>
            <a:ext cx="64008" cy="621792"/>
          </a:xfrm>
          <a:prstGeom prst="rect">
            <a:avLst/>
          </a:prstGeom>
          <a:solidFill>
            <a:srgbClr val="2C5BD8"/>
          </a:solidFill>
          <a:ln w="12700">
            <a:solidFill>
              <a:srgbClr val="2C5BD8"/>
            </a:solidFill>
            <a:prstDash val="solid"/>
          </a:ln>
        </p:spPr>
        <p:txBody>
          <a:bodyPr/>
          <a:lstStyle/>
          <a:p>
            <a:endParaRPr lang="uk-UA"/>
          </a:p>
        </p:txBody>
      </p:sp>
      <p:sp>
        <p:nvSpPr>
          <p:cNvPr id="27" name="Text 25"/>
          <p:cNvSpPr/>
          <p:nvPr/>
        </p:nvSpPr>
        <p:spPr>
          <a:xfrm>
            <a:off x="640080" y="4069080"/>
            <a:ext cx="731520" cy="438912"/>
          </a:xfrm>
          <a:prstGeom prst="rect">
            <a:avLst/>
          </a:prstGeom>
          <a:noFill/>
          <a:ln/>
        </p:spPr>
        <p:txBody>
          <a:bodyPr wrap="square" lIns="0" tIns="0" rIns="0" bIns="0" rtlCol="0" anchor="ctr"/>
          <a:lstStyle/>
          <a:p>
            <a:pPr marL="0" indent="0" algn="l">
              <a:buNone/>
            </a:pPr>
            <a:r>
              <a:rPr lang="en-US" sz="1800" b="1" dirty="0">
                <a:solidFill>
                  <a:srgbClr val="2C5BD8"/>
                </a:solidFill>
                <a:latin typeface="Calibri" pitchFamily="34" charset="0"/>
                <a:ea typeface="Calibri" pitchFamily="34" charset="-122"/>
                <a:cs typeface="Calibri" pitchFamily="34" charset="-120"/>
              </a:rPr>
              <a:t>05</a:t>
            </a:r>
            <a:endParaRPr lang="en-US" sz="1800" dirty="0"/>
          </a:p>
        </p:txBody>
      </p:sp>
      <p:sp>
        <p:nvSpPr>
          <p:cNvPr id="28" name="Text 26"/>
          <p:cNvSpPr/>
          <p:nvPr/>
        </p:nvSpPr>
        <p:spPr>
          <a:xfrm>
            <a:off x="1554480" y="4041648"/>
            <a:ext cx="2286000" cy="493776"/>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Перспективи застосування</a:t>
            </a:r>
            <a:endParaRPr lang="en-US" sz="1200" dirty="0"/>
          </a:p>
        </p:txBody>
      </p:sp>
      <p:sp>
        <p:nvSpPr>
          <p:cNvPr id="29" name="Text 27"/>
          <p:cNvSpPr/>
          <p:nvPr/>
        </p:nvSpPr>
        <p:spPr>
          <a:xfrm>
            <a:off x="3931920" y="4041648"/>
            <a:ext cx="4617720" cy="493776"/>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Підхід є перспективним для потокового мультимедіа, e-commerce, туристичних і соціальних сервісів.</a:t>
            </a:r>
            <a:endParaRPr lang="en-US" sz="1000" dirty="0"/>
          </a:p>
        </p:txBody>
      </p:sp>
      <p:sp>
        <p:nvSpPr>
          <p:cNvPr id="31" name="Shape 28"/>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32" name="Text 29"/>
          <p:cNvSpPr/>
          <p:nvPr/>
        </p:nvSpPr>
        <p:spPr>
          <a:xfrm>
            <a:off x="457200" y="4901184"/>
            <a:ext cx="6858000" cy="228600"/>
          </a:xfrm>
          <a:prstGeom prst="rect">
            <a:avLst/>
          </a:prstGeom>
          <a:noFill/>
          <a:ln/>
        </p:spPr>
        <p:txBody>
          <a:bodyPr wrap="square" lIns="0" tIns="0" rIns="0" bIns="0" rtlCol="0" anchor="ctr"/>
          <a:lstStyle/>
          <a:p>
            <a:pPr marL="0" indent="0">
              <a:buNone/>
            </a:pPr>
            <a:r>
              <a:rPr lang="en-US" sz="90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ML з підкріпленням</a:t>
            </a:r>
            <a:endParaRPr lang="en-US" sz="900" dirty="0"/>
          </a:p>
        </p:txBody>
      </p:sp>
      <p:sp>
        <p:nvSpPr>
          <p:cNvPr id="33" name="Text 30"/>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863840" y="-914400"/>
            <a:ext cx="2011680" cy="2011680"/>
          </a:xfrm>
          <a:prstGeom prst="ellipse">
            <a:avLst/>
          </a:prstGeom>
          <a:solidFill>
            <a:srgbClr val="E8F0FE"/>
          </a:solidFill>
          <a:ln w="12700">
            <a:solidFill>
              <a:srgbClr val="E8F0FE"/>
            </a:solidFill>
            <a:prstDash val="solid"/>
          </a:ln>
        </p:spPr>
        <p:txBody>
          <a:bodyPr/>
          <a:lstStyle/>
          <a:p>
            <a:endParaRPr lang="uk-UA"/>
          </a:p>
        </p:txBody>
      </p:sp>
      <p:sp>
        <p:nvSpPr>
          <p:cNvPr id="3" name="Shape 1"/>
          <p:cNvSpPr/>
          <p:nvPr/>
        </p:nvSpPr>
        <p:spPr>
          <a:xfrm>
            <a:off x="7315200" y="365760"/>
            <a:ext cx="1280160" cy="1280160"/>
          </a:xfrm>
          <a:prstGeom prst="ellipse">
            <a:avLst/>
          </a:prstGeom>
          <a:solidFill>
            <a:srgbClr val="D6F1F7"/>
          </a:solidFill>
          <a:ln w="12700">
            <a:solidFill>
              <a:srgbClr val="D6F1F7"/>
            </a:solidFill>
            <a:prstDash val="solid"/>
          </a:ln>
        </p:spPr>
        <p:txBody>
          <a:bodyPr/>
          <a:lstStyle/>
          <a:p>
            <a:endParaRPr lang="uk-UA"/>
          </a:p>
        </p:txBody>
      </p:sp>
      <p:sp>
        <p:nvSpPr>
          <p:cNvPr id="4" name="Shape 2"/>
          <p:cNvSpPr/>
          <p:nvPr/>
        </p:nvSpPr>
        <p:spPr>
          <a:xfrm>
            <a:off x="-548640" y="4023360"/>
            <a:ext cx="1463040" cy="1463040"/>
          </a:xfrm>
          <a:prstGeom prst="ellipse">
            <a:avLst/>
          </a:prstGeom>
          <a:solidFill>
            <a:srgbClr val="D6F1F7"/>
          </a:solidFill>
          <a:ln w="12700">
            <a:solidFill>
              <a:srgbClr val="D6F1F7"/>
            </a:solidFill>
            <a:prstDash val="solid"/>
          </a:ln>
        </p:spPr>
        <p:txBody>
          <a:bodyPr/>
          <a:lstStyle/>
          <a:p>
            <a:endParaRPr lang="uk-UA"/>
          </a:p>
        </p:txBody>
      </p:sp>
      <p:sp>
        <p:nvSpPr>
          <p:cNvPr id="5" name="Shape 3"/>
          <p:cNvSpPr/>
          <p:nvPr/>
        </p:nvSpPr>
        <p:spPr>
          <a:xfrm>
            <a:off x="-182880" y="-365760"/>
            <a:ext cx="822960" cy="822960"/>
          </a:xfrm>
          <a:prstGeom prst="ellipse">
            <a:avLst/>
          </a:prstGeom>
          <a:solidFill>
            <a:srgbClr val="E8F0FE"/>
          </a:solidFill>
          <a:ln w="12700">
            <a:solidFill>
              <a:srgbClr val="E8F0FE"/>
            </a:solidFill>
            <a:prstDash val="solid"/>
          </a:ln>
        </p:spPr>
        <p:txBody>
          <a:bodyPr/>
          <a:lstStyle/>
          <a:p>
            <a:endParaRPr lang="uk-UA"/>
          </a:p>
        </p:txBody>
      </p:sp>
      <p:sp>
        <p:nvSpPr>
          <p:cNvPr id="6" name="Text 4"/>
          <p:cNvSpPr/>
          <p:nvPr/>
        </p:nvSpPr>
        <p:spPr>
          <a:xfrm>
            <a:off x="457200" y="1371600"/>
            <a:ext cx="8229600" cy="914400"/>
          </a:xfrm>
          <a:prstGeom prst="rect">
            <a:avLst/>
          </a:prstGeom>
          <a:noFill/>
          <a:ln/>
        </p:spPr>
        <p:txBody>
          <a:bodyPr wrap="square" lIns="0" tIns="0" rIns="0" bIns="0" rtlCol="0" anchor="ctr"/>
          <a:lstStyle/>
          <a:p>
            <a:pPr marL="0" indent="0" algn="ctr">
              <a:buNone/>
            </a:pPr>
            <a:r>
              <a:rPr lang="en-US" sz="5400" b="1" dirty="0">
                <a:solidFill>
                  <a:srgbClr val="0F1A35"/>
                </a:solidFill>
                <a:latin typeface="Calibri" pitchFamily="34" charset="0"/>
                <a:ea typeface="Calibri" pitchFamily="34" charset="-122"/>
                <a:cs typeface="Calibri" pitchFamily="34" charset="-120"/>
              </a:rPr>
              <a:t>Дякую за увагу!</a:t>
            </a:r>
            <a:endParaRPr lang="en-US" sz="5400" dirty="0"/>
          </a:p>
        </p:txBody>
      </p:sp>
      <p:sp>
        <p:nvSpPr>
          <p:cNvPr id="7" name="Shape 5"/>
          <p:cNvSpPr/>
          <p:nvPr/>
        </p:nvSpPr>
        <p:spPr>
          <a:xfrm>
            <a:off x="1371600" y="2697480"/>
            <a:ext cx="6400800" cy="14173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8" name="Shape 6"/>
          <p:cNvSpPr/>
          <p:nvPr/>
        </p:nvSpPr>
        <p:spPr>
          <a:xfrm>
            <a:off x="1371600" y="2697480"/>
            <a:ext cx="64008" cy="1417320"/>
          </a:xfrm>
          <a:prstGeom prst="rect">
            <a:avLst/>
          </a:prstGeom>
          <a:solidFill>
            <a:srgbClr val="2C5BD8"/>
          </a:solidFill>
          <a:ln w="12700">
            <a:solidFill>
              <a:srgbClr val="2C5BD8"/>
            </a:solidFill>
            <a:prstDash val="solid"/>
          </a:ln>
        </p:spPr>
        <p:txBody>
          <a:bodyPr/>
          <a:lstStyle/>
          <a:p>
            <a:endParaRPr lang="uk-UA"/>
          </a:p>
        </p:txBody>
      </p:sp>
      <p:sp>
        <p:nvSpPr>
          <p:cNvPr id="9" name="Text 7"/>
          <p:cNvSpPr/>
          <p:nvPr/>
        </p:nvSpPr>
        <p:spPr>
          <a:xfrm>
            <a:off x="1554480" y="2651760"/>
            <a:ext cx="640080" cy="640080"/>
          </a:xfrm>
          <a:prstGeom prst="rect">
            <a:avLst/>
          </a:prstGeom>
          <a:noFill/>
          <a:ln/>
        </p:spPr>
        <p:txBody>
          <a:bodyPr wrap="square" lIns="0" tIns="0" rIns="0" bIns="0" rtlCol="0" anchor="ctr"/>
          <a:lstStyle/>
          <a:p>
            <a:pPr marL="0" indent="0">
              <a:buNone/>
            </a:pPr>
            <a:r>
              <a:rPr lang="en-US" sz="5600" b="1" dirty="0">
                <a:solidFill>
                  <a:srgbClr val="2C5BD8"/>
                </a:solidFill>
                <a:latin typeface="Calibri" pitchFamily="34" charset="0"/>
                <a:ea typeface="Calibri" pitchFamily="34" charset="-122"/>
                <a:cs typeface="Calibri" pitchFamily="34" charset="-120"/>
              </a:rPr>
              <a:t>“</a:t>
            </a:r>
            <a:endParaRPr lang="en-US" sz="5600" dirty="0"/>
          </a:p>
        </p:txBody>
      </p:sp>
      <p:sp>
        <p:nvSpPr>
          <p:cNvPr id="10" name="Text 8"/>
          <p:cNvSpPr/>
          <p:nvPr/>
        </p:nvSpPr>
        <p:spPr>
          <a:xfrm>
            <a:off x="2103120" y="2862072"/>
            <a:ext cx="5532120" cy="777240"/>
          </a:xfrm>
          <a:prstGeom prst="rect">
            <a:avLst/>
          </a:prstGeom>
          <a:noFill/>
          <a:ln/>
        </p:spPr>
        <p:txBody>
          <a:bodyPr wrap="square" lIns="0" tIns="0" rIns="0" bIns="0" rtlCol="0" anchor="ctr"/>
          <a:lstStyle/>
          <a:p>
            <a:pPr marL="0" indent="0">
              <a:lnSpc>
                <a:spcPct val="120000"/>
              </a:lnSpc>
              <a:buNone/>
            </a:pPr>
            <a:r>
              <a:rPr lang="en-US" sz="1300" i="1" dirty="0">
                <a:solidFill>
                  <a:srgbClr val="0F1A35"/>
                </a:solidFill>
                <a:latin typeface="Calibri" pitchFamily="34" charset="0"/>
                <a:ea typeface="Calibri" pitchFamily="34" charset="-122"/>
                <a:cs typeface="Calibri" pitchFamily="34" charset="-120"/>
              </a:rPr>
              <a:t>Завдяки навчанню з підкріпленням ми навчаємо машини долати виклики, які навіть людям важко формалізувати</a:t>
            </a:r>
            <a:endParaRPr lang="en-US" sz="1300" dirty="0"/>
          </a:p>
        </p:txBody>
      </p:sp>
      <p:sp>
        <p:nvSpPr>
          <p:cNvPr id="11" name="Text 9"/>
          <p:cNvSpPr/>
          <p:nvPr/>
        </p:nvSpPr>
        <p:spPr>
          <a:xfrm>
            <a:off x="2103120" y="3657600"/>
            <a:ext cx="5532120" cy="274320"/>
          </a:xfrm>
          <a:prstGeom prst="rect">
            <a:avLst/>
          </a:prstGeom>
          <a:noFill/>
          <a:ln/>
        </p:spPr>
        <p:txBody>
          <a:bodyPr wrap="square" lIns="0" tIns="0" rIns="0" bIns="0" rtlCol="0" anchor="ctr"/>
          <a:lstStyle/>
          <a:p>
            <a:pPr marL="0" indent="0">
              <a:buNone/>
            </a:pPr>
            <a:r>
              <a:rPr lang="en-US" sz="1100" b="1" dirty="0">
                <a:solidFill>
                  <a:srgbClr val="2C5BD8"/>
                </a:solidFill>
                <a:latin typeface="Calibri" pitchFamily="34" charset="0"/>
                <a:ea typeface="Calibri" pitchFamily="34" charset="-122"/>
                <a:cs typeface="Calibri" pitchFamily="34" charset="-120"/>
              </a:rPr>
              <a:t>— Деміс Хассабіс, CEO DeepMind</a:t>
            </a:r>
            <a:endParaRPr lang="en-US" sz="1100" dirty="0"/>
          </a:p>
        </p:txBody>
      </p:sp>
      <p:sp>
        <p:nvSpPr>
          <p:cNvPr id="12" name="Text 10"/>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18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3795</Words>
  <Application>Microsoft Office PowerPoint</Application>
  <PresentationFormat>On-screen Show (16:9)</PresentationFormat>
  <Paragraphs>383</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Розробка групової рекомендаційної системи</dc:title>
  <dc:subject>PptxGenJS Presentation</dc:subject>
  <dc:creator>Романюк Богдан Ігорович</dc:creator>
  <cp:lastModifiedBy>Романюк Богдан</cp:lastModifiedBy>
  <cp:revision>2</cp:revision>
  <dcterms:created xsi:type="dcterms:W3CDTF">2026-05-05T21:18:59Z</dcterms:created>
  <dcterms:modified xsi:type="dcterms:W3CDTF">2026-05-06T20:01:59Z</dcterms:modified>
</cp:coreProperties>
</file>
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35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AEA"/>
    <a:srgbClr val="AEECA6"/>
    <a:srgbClr val="A7F7EF"/>
    <a:srgbClr val="0D9488"/>
    <a:srgbClr val="AAC0E8"/>
    <a:srgbClr val="1ED760"/>
    <a:srgbClr val="1DB954"/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48800" autoAdjust="0"/>
  </p:normalViewPr>
  <p:slideViewPr>
    <p:cSldViewPr snapToGrid="0" snapToObjects="1">
      <p:cViewPr>
        <p:scale>
          <a:sx n="125" d="100"/>
          <a:sy n="125" d="100"/>
        </p:scale>
        <p:origin x="667" y="-21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53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noProof="0" dirty="0"/>
              <a:t>Перш ніж заглибитися у конкретні підходи, варто чітко визначити, що саме розуміється під поняттям рекомендаційної системи. Згідно з класичним визначенням, </a:t>
            </a:r>
            <a:r>
              <a:rPr lang="uk-UA" b="1" noProof="0" dirty="0"/>
              <a:t>рекомендаційна система </a:t>
            </a:r>
            <a:r>
              <a:rPr lang="uk-UA" noProof="0" dirty="0"/>
              <a:t>— це інформаційна система, яка автоматично аналізує вподобання користувача та пропонує релевантні об'єкти з великого каталогу на основі попередніх взаємодій користувача із системою. Ключовим тут є те, що це відбувається </a:t>
            </a:r>
            <a:r>
              <a:rPr lang="uk-UA" b="1" noProof="0" dirty="0"/>
              <a:t>автоматично</a:t>
            </a:r>
            <a:r>
              <a:rPr lang="uk-UA" noProof="0" dirty="0"/>
              <a:t>. На відміну від пошукової системи, де користувач явно формулює запит, рекомендаційна система діє </a:t>
            </a:r>
            <a:r>
              <a:rPr lang="uk-UA" noProof="0" dirty="0" err="1"/>
              <a:t>ініціативно</a:t>
            </a:r>
            <a:r>
              <a:rPr lang="uk-UA" noProof="0" dirty="0"/>
              <a:t>: пропонує контент навіть тоді, коли людина не знає, що шукати. </a:t>
            </a:r>
          </a:p>
          <a:p>
            <a:r>
              <a:rPr lang="uk-UA" b="1" noProof="0" dirty="0"/>
              <a:t>Розглянемо ключові компоненти, які повинні бути присутні для кожної рекомендаційної системи: </a:t>
            </a:r>
          </a:p>
          <a:p>
            <a:r>
              <a:rPr lang="uk-UA" b="1" noProof="0" dirty="0"/>
              <a:t>Перш за все </a:t>
            </a:r>
            <a:r>
              <a:rPr lang="uk-UA" noProof="0" dirty="0"/>
              <a:t>це користувачі — тобто суб'єкти, для яких генеруються рекомендації. </a:t>
            </a:r>
          </a:p>
          <a:p>
            <a:r>
              <a:rPr lang="uk-UA" b="1" noProof="0" dirty="0"/>
              <a:t>Другий</a:t>
            </a:r>
            <a:r>
              <a:rPr lang="uk-UA" noProof="0" dirty="0"/>
              <a:t> — об'єкти або, як їх часто називають, елементи: це можуть бути фільми, товари, статті, новини, музичні треки тощо.</a:t>
            </a:r>
          </a:p>
          <a:p>
            <a:r>
              <a:rPr lang="uk-UA" b="1" i="0" noProof="0" dirty="0"/>
              <a:t>Третій елемент </a:t>
            </a:r>
            <a:r>
              <a:rPr lang="uk-UA" noProof="0" dirty="0"/>
              <a:t>— взаємодії між користувачами та об'єктами: оцінки, кліки, покупки, тривалість перегляду тощо. Саме ці взаємодії є основним сигналом, на якому навчається система. </a:t>
            </a:r>
          </a:p>
          <a:p>
            <a:r>
              <a:rPr lang="uk-UA" b="1" noProof="0" dirty="0"/>
              <a:t>Четвертий компонент </a:t>
            </a:r>
            <a:r>
              <a:rPr lang="uk-UA" noProof="0" dirty="0"/>
              <a:t>— алгоритм, що прогнозує важливість кожного об'єкта для конкретного користувача. </a:t>
            </a:r>
          </a:p>
          <a:p>
            <a:r>
              <a:rPr lang="uk-UA" b="1" noProof="0" dirty="0"/>
              <a:t>І нарешті </a:t>
            </a:r>
            <a:r>
              <a:rPr lang="uk-UA" noProof="0" dirty="0"/>
              <a:t>— інтерфейс, через який рекомендації подаються: списки, </a:t>
            </a:r>
            <a:r>
              <a:rPr lang="uk-UA" noProof="0" dirty="0" err="1"/>
              <a:t>емейли</a:t>
            </a:r>
            <a:r>
              <a:rPr lang="uk-UA" noProof="0" dirty="0"/>
              <a:t>, сповіщення, спливаючі компоненти, тощо. </a:t>
            </a:r>
          </a:p>
          <a:p>
            <a:r>
              <a:rPr lang="uk-UA" b="1" u="sng" noProof="0" dirty="0"/>
              <a:t>На слайді також наведено спрощену схему роботи такої системи: </a:t>
            </a:r>
            <a:r>
              <a:rPr lang="uk-UA" noProof="0" dirty="0"/>
              <a:t>вхідні дані від взаємодій надходять у модель, яка аналізує та генерує посортований список найбільш релевантних об'єктів. Саме така тришарова архітектура — дані, модель, рекомендація — лежить в основі будь-якої системи, незалежно від того, чи це класичний алгоритм для побудови рекомендацій, чи сучасна нейронна модель.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noProof="0" dirty="0"/>
              <a:t>Тема рекомендаційних систем сьогодні є однією з найбільш динамічних і впливових у багатьох сферах людського життя. </a:t>
            </a:r>
          </a:p>
          <a:p>
            <a:r>
              <a:rPr lang="uk-UA" noProof="0" dirty="0"/>
              <a:t>Достатньо проаналізувати їх використання та вплив на великі глобальні компанії, щоб зрозуміти масштаб явища. </a:t>
            </a:r>
          </a:p>
          <a:p>
            <a:pPr marL="228600" indent="-228600">
              <a:buAutoNum type="arabicParenR"/>
            </a:pPr>
            <a:r>
              <a:rPr lang="uk-UA" noProof="0" dirty="0"/>
              <a:t>Близько 35% усього доходу компанії </a:t>
            </a:r>
            <a:r>
              <a:rPr lang="uk-UA" b="1" noProof="0" dirty="0"/>
              <a:t>Amazon</a:t>
            </a:r>
            <a:r>
              <a:rPr lang="uk-UA" noProof="0" dirty="0"/>
              <a:t> генерується саме завдяки рекомендаційним алгоритмам — це мільярди доларів щорічно. </a:t>
            </a:r>
          </a:p>
          <a:p>
            <a:pPr marL="228600" indent="-228600">
              <a:buAutoNum type="arabicParenR"/>
            </a:pPr>
            <a:r>
              <a:rPr lang="uk-UA" noProof="0" dirty="0"/>
              <a:t>Ще більш вражаюча цифра у </a:t>
            </a:r>
            <a:r>
              <a:rPr lang="uk-UA" b="1" noProof="0" dirty="0"/>
              <a:t>Netflix,</a:t>
            </a:r>
            <a:r>
              <a:rPr lang="uk-UA" noProof="0" dirty="0"/>
              <a:t> приблизно 75% усіх переглядів відбувається не через пошук, а через рекомендації, які бачить користувачі на головній сторінці. </a:t>
            </a:r>
          </a:p>
          <a:p>
            <a:pPr marL="228600" indent="-228600">
              <a:buAutoNum type="arabicParenR"/>
            </a:pPr>
            <a:r>
              <a:rPr lang="uk-UA" noProof="0" dirty="0"/>
              <a:t>Платформа </a:t>
            </a:r>
            <a:r>
              <a:rPr lang="uk-UA" b="1" noProof="0" dirty="0" err="1"/>
              <a:t>YouTube</a:t>
            </a:r>
            <a:r>
              <a:rPr lang="uk-UA" noProof="0" dirty="0"/>
              <a:t> в свою чергу щодня обслуговує понад півтора мільярда людей, і кожен з них отримує персоналізовану стрічку, сформовану нейронною моделлю. </a:t>
            </a:r>
          </a:p>
          <a:p>
            <a:pPr marL="228600" indent="-228600">
              <a:buAutoNum type="arabicParenR"/>
            </a:pPr>
            <a:r>
              <a:rPr lang="uk-UA" noProof="0" dirty="0"/>
              <a:t>Музичний сервіс </a:t>
            </a:r>
            <a:r>
              <a:rPr lang="uk-UA" b="1" noProof="0" dirty="0" err="1"/>
              <a:t>Spotify</a:t>
            </a:r>
            <a:r>
              <a:rPr lang="uk-UA" noProof="0" dirty="0"/>
              <a:t> повідомляє, що близько 30% усіх </a:t>
            </a:r>
            <a:r>
              <a:rPr lang="uk-UA" noProof="0" dirty="0" err="1"/>
              <a:t>відтворень</a:t>
            </a:r>
            <a:r>
              <a:rPr lang="uk-UA" noProof="0" dirty="0"/>
              <a:t> припадає на автоматично згенеровані </a:t>
            </a:r>
            <a:r>
              <a:rPr lang="uk-UA" noProof="0" dirty="0" err="1"/>
              <a:t>плейлисти</a:t>
            </a:r>
            <a:r>
              <a:rPr lang="uk-UA" noProof="0" dirty="0"/>
              <a:t> (як-от </a:t>
            </a:r>
            <a:r>
              <a:rPr lang="uk-UA" noProof="0" dirty="0" err="1"/>
              <a:t>Discover</a:t>
            </a:r>
            <a:r>
              <a:rPr lang="uk-UA" noProof="0" dirty="0"/>
              <a:t> </a:t>
            </a:r>
            <a:r>
              <a:rPr lang="uk-UA" noProof="0" dirty="0" err="1"/>
              <a:t>Weekly</a:t>
            </a:r>
            <a:r>
              <a:rPr lang="uk-UA" noProof="0" dirty="0"/>
              <a:t> або </a:t>
            </a:r>
            <a:r>
              <a:rPr lang="uk-UA" noProof="0" dirty="0" err="1"/>
              <a:t>Daily</a:t>
            </a:r>
            <a:r>
              <a:rPr lang="uk-UA" noProof="0" dirty="0"/>
              <a:t> </a:t>
            </a:r>
            <a:r>
              <a:rPr lang="uk-UA" noProof="0" dirty="0" err="1"/>
              <a:t>Mix</a:t>
            </a:r>
            <a:r>
              <a:rPr lang="uk-UA" noProof="0" dirty="0"/>
              <a:t>). </a:t>
            </a:r>
          </a:p>
          <a:p>
            <a:pPr marL="0" indent="0">
              <a:buNone/>
            </a:pPr>
            <a:r>
              <a:rPr lang="uk-UA" noProof="0" dirty="0"/>
              <a:t>Окрім комерційного значення, ця галузь є надзвичайно цікавою з наукової точки зору. Щороку проводиться спеціалізована конференція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RecSys</a:t>
            </a:r>
            <a:r>
              <a:rPr lang="uk-UA" noProof="0" dirty="0"/>
              <a:t>, цього року буде ювілейна 20 конференція в </a:t>
            </a:r>
            <a:r>
              <a:rPr lang="uk-UA" noProof="0" dirty="0" err="1"/>
              <a:t>Мінесоті</a:t>
            </a:r>
            <a:r>
              <a:rPr lang="uk-UA" noProof="0" dirty="0"/>
              <a:t>, США, а тематичні обговорення присвячено рекомендаційним системам на провідних світових конференціях з машинного навчання, таких як </a:t>
            </a:r>
            <a:r>
              <a:rPr lang="en-US" b="1" dirty="0" err="1"/>
              <a:t>NeurIPS</a:t>
            </a:r>
            <a:r>
              <a:rPr lang="en-US" dirty="0"/>
              <a:t> (</a:t>
            </a:r>
            <a:r>
              <a:rPr lang="en-US" i="1" dirty="0"/>
              <a:t>Conference on Neural Information Processing Systems</a:t>
            </a:r>
            <a:r>
              <a:rPr lang="en-US" dirty="0"/>
              <a:t>), </a:t>
            </a:r>
            <a:r>
              <a:rPr lang="en-US" b="1" dirty="0"/>
              <a:t>KDD</a:t>
            </a:r>
            <a:r>
              <a:rPr lang="en-US" dirty="0"/>
              <a:t> (</a:t>
            </a:r>
            <a:r>
              <a:rPr lang="en-US" i="1" dirty="0"/>
              <a:t>Conference on Knowledge Discovery and Data Mining</a:t>
            </a:r>
            <a:r>
              <a:rPr lang="en-US" dirty="0"/>
              <a:t>), </a:t>
            </a:r>
            <a:r>
              <a:rPr lang="en-US" b="1" dirty="0"/>
              <a:t>SIGIR</a:t>
            </a:r>
            <a:r>
              <a:rPr lang="en-US" dirty="0"/>
              <a:t> (</a:t>
            </a:r>
            <a:r>
              <a:rPr lang="en-US" i="1" dirty="0"/>
              <a:t>Conference on Research and Development in Information Retrieval</a:t>
            </a:r>
            <a:r>
              <a:rPr lang="en-US" dirty="0"/>
              <a:t>) </a:t>
            </a:r>
            <a:r>
              <a:rPr lang="uk-UA" dirty="0"/>
              <a:t>та </a:t>
            </a:r>
            <a:r>
              <a:rPr lang="en-US" b="1" dirty="0"/>
              <a:t>WWW</a:t>
            </a:r>
            <a:r>
              <a:rPr lang="en-US" dirty="0"/>
              <a:t> (</a:t>
            </a:r>
            <a:r>
              <a:rPr lang="en-US" i="1" dirty="0"/>
              <a:t>The Web Conference</a:t>
            </a:r>
            <a:r>
              <a:rPr lang="en-US" dirty="0"/>
              <a:t>)</a:t>
            </a:r>
            <a:r>
              <a:rPr lang="uk-UA" noProof="0" dirty="0"/>
              <a:t>. </a:t>
            </a:r>
            <a:endParaRPr lang="en-US" noProof="0" dirty="0"/>
          </a:p>
          <a:p>
            <a:pPr marL="0" indent="0">
              <a:buNone/>
            </a:pPr>
            <a:r>
              <a:rPr lang="uk-UA" b="1" dirty="0"/>
              <a:t>Ця тема є міждисциплінарною: </a:t>
            </a:r>
            <a:r>
              <a:rPr lang="uk-UA" dirty="0"/>
              <a:t>вона поєднує математичні методи, машинне навчання, обробку </a:t>
            </a:r>
            <a:r>
              <a:rPr lang="uk-UA" dirty="0" err="1"/>
              <a:t>прироодньої</a:t>
            </a:r>
            <a:r>
              <a:rPr lang="uk-UA" dirty="0"/>
              <a:t> мови, роботу з графами, а також етичні й соціальні аспекти. Тому рекомендаційні системи можна розглядати як комплексний підхід, у якому поєднуються теорія, реалізація та </a:t>
            </a:r>
            <a:r>
              <a:rPr lang="uk-UA" noProof="0" dirty="0"/>
              <a:t>соціальні наслідки. </a:t>
            </a:r>
          </a:p>
          <a:p>
            <a:pPr marL="0" indent="0">
              <a:buNone/>
            </a:pPr>
            <a:r>
              <a:rPr lang="uk-UA" b="1" u="sng" noProof="0" dirty="0"/>
              <a:t>Залишається чимало відкритих питань</a:t>
            </a:r>
            <a:r>
              <a:rPr lang="uk-UA" noProof="0" dirty="0"/>
              <a:t>, серед яких </a:t>
            </a:r>
            <a:r>
              <a:rPr lang="uk-UA" noProof="0" dirty="0" err="1"/>
              <a:t>пояснюваність</a:t>
            </a:r>
            <a:r>
              <a:rPr lang="uk-UA" noProof="0" dirty="0"/>
              <a:t> моделей, забезпечення справедливості та збереження </a:t>
            </a:r>
            <a:r>
              <a:rPr lang="uk-UA" noProof="0" dirty="0" err="1"/>
              <a:t>приватності</a:t>
            </a:r>
            <a:r>
              <a:rPr lang="uk-UA" noProof="0" dirty="0"/>
              <a:t> користувачів.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noProof="0" dirty="0"/>
              <a:t>Рекомендаційні системи присутні в кожному куточку цифрового середовища — більшість з нас взаємодіє з ними щодня, навіть не усвідомлюючи цього. </a:t>
            </a:r>
          </a:p>
          <a:p>
            <a:r>
              <a:rPr lang="uk-UA" b="1" dirty="0"/>
              <a:t>На цьому слайді показано основні галузі </a:t>
            </a:r>
            <a:r>
              <a:rPr lang="uk-UA" dirty="0"/>
              <a:t>застосування рекомендаційних систем у сучасному цифровому світі. </a:t>
            </a:r>
          </a:p>
          <a:p>
            <a:r>
              <a:rPr lang="uk-UA" b="1" dirty="0"/>
              <a:t>Доцільно, мабуть, почати з </a:t>
            </a:r>
            <a:r>
              <a:rPr lang="uk-UA" b="1" dirty="0" err="1"/>
              <a:t>відеоплатформ</a:t>
            </a:r>
            <a:r>
              <a:rPr lang="uk-UA" dirty="0"/>
              <a:t>, таких як </a:t>
            </a:r>
            <a:r>
              <a:rPr lang="en-US" dirty="0"/>
              <a:t>Netflix, YouTube </a:t>
            </a:r>
            <a:r>
              <a:rPr lang="uk-UA" dirty="0"/>
              <a:t>та </a:t>
            </a:r>
            <a:r>
              <a:rPr lang="en-US" dirty="0"/>
              <a:t>Disney+ </a:t>
            </a:r>
            <a:r>
              <a:rPr lang="uk-UA" dirty="0"/>
              <a:t>які використовують рекомендації для персоналізації стрічки фільмів, серіалів та коротких відеокліпів. Алгоритм визначає не лише те, що показати, </a:t>
            </a:r>
            <a:r>
              <a:rPr lang="ru-RU" dirty="0"/>
              <a:t>а й у </a:t>
            </a:r>
            <a:r>
              <a:rPr lang="uk-UA" noProof="0" dirty="0"/>
              <a:t>якій послідовності та в якому контексті це подати</a:t>
            </a:r>
            <a:r>
              <a:rPr lang="uk-UA" dirty="0"/>
              <a:t>. </a:t>
            </a:r>
          </a:p>
          <a:p>
            <a:r>
              <a:rPr lang="uk-UA" b="1" dirty="0"/>
              <a:t>У сфері музичного </a:t>
            </a:r>
            <a:r>
              <a:rPr lang="uk-UA" b="1" dirty="0" err="1"/>
              <a:t>стрімінгу</a:t>
            </a:r>
            <a:r>
              <a:rPr lang="uk-UA" b="1" dirty="0"/>
              <a:t> </a:t>
            </a:r>
            <a:r>
              <a:rPr lang="uk-UA" dirty="0"/>
              <a:t>— </a:t>
            </a:r>
            <a:r>
              <a:rPr lang="en-US" dirty="0"/>
              <a:t>Spotify, Apple Music, Deezer — </a:t>
            </a:r>
            <a:r>
              <a:rPr lang="uk-UA" dirty="0"/>
              <a:t>рекомендації допомагають відкривати нових виконавців та формувати </a:t>
            </a:r>
            <a:r>
              <a:rPr lang="uk-UA" dirty="0" err="1"/>
              <a:t>плейлисти</a:t>
            </a:r>
            <a:r>
              <a:rPr lang="uk-UA" dirty="0"/>
              <a:t>, які відповідають настрою та контексту слухача. </a:t>
            </a:r>
          </a:p>
          <a:p>
            <a:r>
              <a:rPr lang="uk-UA" b="1" dirty="0"/>
              <a:t>Електронна комерція яка є</a:t>
            </a:r>
            <a:r>
              <a:rPr lang="uk-UA" dirty="0"/>
              <a:t>, мабуть, найдавнішою сферою застосування. </a:t>
            </a:r>
            <a:r>
              <a:rPr lang="en-US" dirty="0"/>
              <a:t>Amazon, </a:t>
            </a:r>
            <a:r>
              <a:rPr lang="en-US" dirty="0" err="1"/>
              <a:t>ebay</a:t>
            </a:r>
            <a:r>
              <a:rPr lang="en-US" dirty="0"/>
              <a:t>, </a:t>
            </a:r>
            <a:r>
              <a:rPr lang="en-US" dirty="0" err="1"/>
              <a:t>rozetka</a:t>
            </a:r>
            <a:r>
              <a:rPr lang="en-US" dirty="0"/>
              <a:t> </a:t>
            </a:r>
            <a:r>
              <a:rPr lang="uk-UA" dirty="0"/>
              <a:t>та інші </a:t>
            </a:r>
            <a:r>
              <a:rPr lang="uk-UA" dirty="0" err="1"/>
              <a:t>маркетплейси</a:t>
            </a:r>
            <a:r>
              <a:rPr lang="uk-UA" dirty="0"/>
              <a:t> пропонують пов'язані товари, аксесуари, комплектуючі та персоналізовані добірки. </a:t>
            </a:r>
          </a:p>
          <a:p>
            <a:r>
              <a:rPr lang="uk-UA" dirty="0"/>
              <a:t>У </a:t>
            </a:r>
            <a:r>
              <a:rPr lang="uk-UA" b="1" dirty="0"/>
              <a:t>новинних </a:t>
            </a:r>
            <a:r>
              <a:rPr lang="uk-UA" b="1" dirty="0" err="1"/>
              <a:t>агрегаторах</a:t>
            </a:r>
            <a:r>
              <a:rPr lang="uk-UA" dirty="0"/>
              <a:t>, таких як </a:t>
            </a:r>
            <a:r>
              <a:rPr lang="en-US" dirty="0"/>
              <a:t>Google News, </a:t>
            </a:r>
            <a:r>
              <a:rPr lang="uk-UA" dirty="0"/>
              <a:t>рекомендації формують стрічку статей за інтересами читача та враховують актуальні тренди. </a:t>
            </a:r>
          </a:p>
          <a:p>
            <a:r>
              <a:rPr lang="uk-UA" b="1" dirty="0"/>
              <a:t>Соціальні мережі </a:t>
            </a:r>
            <a:r>
              <a:rPr lang="uk-UA" dirty="0"/>
              <a:t>— </a:t>
            </a:r>
            <a:r>
              <a:rPr lang="en-US" dirty="0"/>
              <a:t>Instagram, TikTok, Facebook — </a:t>
            </a:r>
            <a:r>
              <a:rPr lang="uk-UA" dirty="0"/>
              <a:t>використовують рекомендації для добору контенту, реклами та пропозицій нових друзів або груп. </a:t>
            </a:r>
          </a:p>
          <a:p>
            <a:r>
              <a:rPr lang="uk-UA" b="1" dirty="0"/>
              <a:t>Також окрема ніша — подорожі</a:t>
            </a:r>
            <a:r>
              <a:rPr lang="uk-UA" dirty="0"/>
              <a:t>: </a:t>
            </a:r>
            <a:r>
              <a:rPr lang="en-US" dirty="0"/>
              <a:t>Booking </a:t>
            </a:r>
            <a:r>
              <a:rPr lang="uk-UA" dirty="0"/>
              <a:t>та </a:t>
            </a:r>
            <a:r>
              <a:rPr lang="en-US" dirty="0"/>
              <a:t>Airbnb </a:t>
            </a:r>
            <a:r>
              <a:rPr lang="uk-UA" dirty="0"/>
              <a:t>рекомендують готелі, квартири та цілі напрямки на основі історії пошуків та поведінки. </a:t>
            </a:r>
          </a:p>
          <a:p>
            <a:r>
              <a:rPr lang="uk-UA" b="1" u="sng" dirty="0"/>
              <a:t>Важливо зазначити</a:t>
            </a:r>
            <a:r>
              <a:rPr lang="uk-UA" dirty="0"/>
              <a:t>, що в усіх цих галузях, попри відмінності у природі контенту, застосовуються по суті одні й ті ж математичні підходи: матрична факторизація, </a:t>
            </a:r>
            <a:r>
              <a:rPr lang="uk-UA" dirty="0" err="1"/>
              <a:t>колаборативна</a:t>
            </a:r>
            <a:r>
              <a:rPr lang="uk-UA" dirty="0"/>
              <a:t> фільтрація, нейронні мережі та гібридні моделі. Це робить рекомендаційні системи універсальним інструментом, який легко переносити з однієї предметної області на іншу.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1" dirty="0"/>
              <a:t>Розглянемо історію розвитку цих систем. </a:t>
            </a:r>
          </a:p>
          <a:p>
            <a:r>
              <a:rPr lang="uk-UA" noProof="0" dirty="0"/>
              <a:t>Все почалося </a:t>
            </a:r>
            <a:r>
              <a:rPr lang="en-US" dirty="0"/>
              <a:t>у </a:t>
            </a:r>
            <a:r>
              <a:rPr lang="uk-UA" b="1" dirty="0"/>
              <a:t>1992</a:t>
            </a:r>
            <a:r>
              <a:rPr lang="uk-UA" dirty="0"/>
              <a:t> </a:t>
            </a:r>
            <a:r>
              <a:rPr lang="uk-UA" noProof="0" dirty="0"/>
              <a:t>році з проєкту GroupLens, розробленого в університеті </a:t>
            </a:r>
            <a:r>
              <a:rPr lang="uk-UA" noProof="0" dirty="0" err="1"/>
              <a:t>Міннесоти</a:t>
            </a:r>
            <a:r>
              <a:rPr lang="uk-UA" noProof="0" dirty="0"/>
              <a:t>. Це була перша система </a:t>
            </a:r>
            <a:r>
              <a:rPr lang="uk-UA" noProof="0" dirty="0" err="1"/>
              <a:t>колаборативної</a:t>
            </a:r>
            <a:r>
              <a:rPr lang="uk-UA" noProof="0" dirty="0"/>
              <a:t> фільтрації, яка допомагала користувачам </a:t>
            </a:r>
            <a:r>
              <a:rPr lang="uk-UA" noProof="0" dirty="0" err="1"/>
              <a:t>Usenet</a:t>
            </a:r>
            <a:r>
              <a:rPr lang="uk-UA" noProof="0" dirty="0"/>
              <a:t> знаходити цікаві новинні групи на основі оцінок інших користувачів зі схожими смаками. </a:t>
            </a:r>
          </a:p>
          <a:p>
            <a:r>
              <a:rPr lang="uk-UA" noProof="0" dirty="0"/>
              <a:t>У </a:t>
            </a:r>
            <a:r>
              <a:rPr lang="uk-UA" b="1" noProof="0" dirty="0"/>
              <a:t>95</a:t>
            </a:r>
            <a:r>
              <a:rPr lang="uk-UA" noProof="0" dirty="0"/>
              <a:t> році компанія Amazon впровадила знаменитий алгоритм «</a:t>
            </a:r>
            <a:r>
              <a:rPr lang="uk-UA" noProof="0" dirty="0" err="1"/>
              <a:t>Customers</a:t>
            </a:r>
            <a:r>
              <a:rPr lang="uk-UA" noProof="0" dirty="0"/>
              <a:t> </a:t>
            </a:r>
            <a:r>
              <a:rPr lang="uk-UA" noProof="0" dirty="0" err="1"/>
              <a:t>also</a:t>
            </a:r>
            <a:r>
              <a:rPr lang="uk-UA" noProof="0" dirty="0"/>
              <a:t> </a:t>
            </a:r>
            <a:r>
              <a:rPr lang="uk-UA" noProof="0" dirty="0" err="1"/>
              <a:t>bought</a:t>
            </a:r>
            <a:r>
              <a:rPr lang="uk-UA" noProof="0" dirty="0"/>
              <a:t>», який згодом став стандартом для електронної комерції в усьому світі. </a:t>
            </a:r>
          </a:p>
          <a:p>
            <a:r>
              <a:rPr lang="uk-UA" b="1" noProof="0" dirty="0" err="1"/>
              <a:t>Двотисячні</a:t>
            </a:r>
            <a:r>
              <a:rPr lang="uk-UA" noProof="0" dirty="0"/>
              <a:t> роки ознаменувалися масштабним впровадженням методів багаторукого бандита, матричної </a:t>
            </a:r>
            <a:r>
              <a:rPr lang="uk-UA" noProof="0" dirty="0" err="1"/>
              <a:t>факторизації</a:t>
            </a:r>
            <a:r>
              <a:rPr lang="uk-UA" noProof="0" dirty="0"/>
              <a:t> та машинного навчання на платформах з мільярдними аудиторіями — </a:t>
            </a:r>
            <a:r>
              <a:rPr lang="uk-UA" b="1" noProof="0" dirty="0"/>
              <a:t>Netflix, </a:t>
            </a:r>
            <a:r>
              <a:rPr lang="uk-UA" b="1" noProof="0" dirty="0" err="1"/>
              <a:t>YouTube</a:t>
            </a:r>
            <a:r>
              <a:rPr lang="uk-UA" noProof="0" dirty="0"/>
              <a:t>. </a:t>
            </a:r>
          </a:p>
          <a:p>
            <a:r>
              <a:rPr lang="uk-UA" noProof="0" dirty="0"/>
              <a:t>Особливо знаковим є період з 2006 по 2009 рік, коли проводився відомий конкурс Netflix </a:t>
            </a:r>
            <a:r>
              <a:rPr lang="uk-UA" noProof="0" dirty="0" err="1"/>
              <a:t>Prize</a:t>
            </a:r>
            <a:r>
              <a:rPr lang="uk-UA" noProof="0" dirty="0"/>
              <a:t>. Компанія Netflix запропонувала один мільйон доларів команді, яка покращить точність прогнозу рекомендацій </a:t>
            </a:r>
            <a:r>
              <a:rPr lang="uk-UA" noProof="0" dirty="0" err="1"/>
              <a:t>хочаби</a:t>
            </a:r>
            <a:r>
              <a:rPr lang="uk-UA" noProof="0" dirty="0"/>
              <a:t> на десять відсотків. Цей конкурс став справжнім каталізатором інновацій: саме тоді популярності набула матрична факторизація, запропонована </a:t>
            </a:r>
            <a:r>
              <a:rPr lang="uk-UA" noProof="0" dirty="0" err="1"/>
              <a:t>Саймоном</a:t>
            </a:r>
            <a:r>
              <a:rPr lang="uk-UA" noProof="0" dirty="0"/>
              <a:t> </a:t>
            </a:r>
            <a:r>
              <a:rPr lang="uk-UA" noProof="0" dirty="0" err="1"/>
              <a:t>Фанком</a:t>
            </a:r>
            <a:r>
              <a:rPr lang="uk-UA" noProof="0" dirty="0"/>
              <a:t>, та моделі на основі ансамблів. З 2016 року почалася ера глибокого навчання у рекомендаційних системах. Було запропоновано архітектуру нейронної </a:t>
            </a:r>
            <a:r>
              <a:rPr lang="uk-UA" noProof="0" dirty="0" err="1"/>
              <a:t>колаборативної</a:t>
            </a:r>
            <a:r>
              <a:rPr lang="uk-UA" noProof="0" dirty="0"/>
              <a:t> фільтрації, модель </a:t>
            </a:r>
            <a:r>
              <a:rPr lang="uk-UA" noProof="0" dirty="0" err="1"/>
              <a:t>Wide</a:t>
            </a:r>
            <a:r>
              <a:rPr lang="uk-UA" noProof="0" dirty="0"/>
              <a:t> </a:t>
            </a:r>
            <a:r>
              <a:rPr lang="uk-UA" noProof="0" dirty="0" err="1"/>
              <a:t>and</a:t>
            </a:r>
            <a:r>
              <a:rPr lang="uk-UA" noProof="0" dirty="0"/>
              <a:t> </a:t>
            </a:r>
            <a:r>
              <a:rPr lang="uk-UA" noProof="0" dirty="0" err="1"/>
              <a:t>Deep</a:t>
            </a:r>
            <a:r>
              <a:rPr lang="uk-UA" noProof="0" dirty="0"/>
              <a:t> від Google, потужну систему </a:t>
            </a:r>
            <a:r>
              <a:rPr lang="uk-UA" noProof="0" dirty="0" err="1"/>
              <a:t>YouTube</a:t>
            </a:r>
            <a:r>
              <a:rPr lang="uk-UA" noProof="0" dirty="0"/>
              <a:t> </a:t>
            </a:r>
            <a:r>
              <a:rPr lang="uk-UA" noProof="0" dirty="0" err="1"/>
              <a:t>Deep</a:t>
            </a:r>
            <a:r>
              <a:rPr lang="uk-UA" noProof="0" dirty="0"/>
              <a:t> </a:t>
            </a:r>
            <a:r>
              <a:rPr lang="uk-UA" noProof="0" dirty="0" err="1"/>
              <a:t>Neural</a:t>
            </a:r>
            <a:r>
              <a:rPr lang="uk-UA" noProof="0" dirty="0"/>
              <a:t> </a:t>
            </a:r>
            <a:r>
              <a:rPr lang="uk-UA" noProof="0" dirty="0" err="1"/>
              <a:t>Network</a:t>
            </a:r>
            <a:r>
              <a:rPr lang="uk-UA" noProof="0" dirty="0"/>
              <a:t>, графові нейронні мережі. </a:t>
            </a:r>
            <a:r>
              <a:rPr lang="uk-UA" b="1" noProof="0" dirty="0"/>
              <a:t>Найновіший етап </a:t>
            </a:r>
            <a:r>
              <a:rPr lang="uk-UA" noProof="0" dirty="0"/>
              <a:t>— з дві тисячі двадцять третього року — пов'язаний з появою великих </a:t>
            </a:r>
            <a:r>
              <a:rPr lang="uk-UA" noProof="0" dirty="0" err="1"/>
              <a:t>мовних</a:t>
            </a:r>
            <a:r>
              <a:rPr lang="uk-UA" noProof="0" dirty="0"/>
              <a:t> моделей, таких як GPT-4 та </a:t>
            </a:r>
            <a:r>
              <a:rPr lang="uk-UA" noProof="0" dirty="0" err="1"/>
              <a:t>LLaMA</a:t>
            </a:r>
            <a:r>
              <a:rPr lang="uk-UA" noProof="0" dirty="0"/>
              <a:t>, які відкрили принципово нові можливості: діалогові рекомендаційні системи та </a:t>
            </a:r>
            <a:r>
              <a:rPr lang="uk-UA" dirty="0"/>
              <a:t>обґрунтування наданих рекомендацій</a:t>
            </a:r>
            <a:r>
              <a:rPr lang="uk-UA" noProof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noProof="0" dirty="0"/>
              <a:t>Взагалі кажучи, фінальна рекомендаційна система — це не якась одна модель, а складний конвеєр з кількох взаємопов'язаних підсистем. На слайді наведено п'ять основних етапів обробки даних. </a:t>
            </a:r>
          </a:p>
          <a:p>
            <a:r>
              <a:rPr lang="uk-UA" b="1" noProof="0" dirty="0"/>
              <a:t>Перший етап </a:t>
            </a:r>
            <a:r>
              <a:rPr lang="uk-UA" noProof="0" dirty="0"/>
              <a:t>— це збір самих даних. Тут збираються всі взаємодії користувачів: оцінки, кліки, покупки, тривалість перегляду, пошукові запити. Якість зібраних даних безпосередньо впливає на якість рекомендацій. </a:t>
            </a:r>
          </a:p>
          <a:p>
            <a:r>
              <a:rPr lang="uk-UA" b="1" noProof="0" dirty="0"/>
              <a:t>Другий етап </a:t>
            </a:r>
            <a:r>
              <a:rPr lang="uk-UA" noProof="0" dirty="0"/>
              <a:t>— обробка та формування ознак. На цьому етапі дані нормалізуються, кодуються </a:t>
            </a:r>
            <a:r>
              <a:rPr lang="uk-UA" noProof="0" dirty="0" err="1"/>
              <a:t>контексні</a:t>
            </a:r>
            <a:r>
              <a:rPr lang="uk-UA" noProof="0" dirty="0"/>
              <a:t> дані, будуються вектори ознак для користувачів, об'єктів та контексту. </a:t>
            </a:r>
          </a:p>
          <a:p>
            <a:r>
              <a:rPr lang="uk-UA" b="1" noProof="0" dirty="0"/>
              <a:t>Третій етап </a:t>
            </a:r>
            <a:r>
              <a:rPr lang="uk-UA" noProof="0" dirty="0"/>
              <a:t>— навчання моделі. Тут застосовується обраний алгоритм: </a:t>
            </a:r>
            <a:r>
              <a:rPr lang="uk-UA" noProof="0" dirty="0" err="1"/>
              <a:t>колаборативна</a:t>
            </a:r>
            <a:r>
              <a:rPr lang="uk-UA" noProof="0" dirty="0"/>
              <a:t> фільтрація, матрична факторизація, нейронна мережа або гібридна архітектура. Навчання зазвичай відбувається в офлайн-режимі на історичних даних. </a:t>
            </a:r>
          </a:p>
          <a:p>
            <a:r>
              <a:rPr lang="uk-UA" b="1" noProof="0" dirty="0"/>
              <a:t>Четвертий етап </a:t>
            </a:r>
            <a:r>
              <a:rPr lang="uk-UA" noProof="0" dirty="0"/>
              <a:t>— генерація рекомендацій. Досить </a:t>
            </a:r>
            <a:r>
              <a:rPr lang="uk-UA" noProof="0" dirty="0" err="1"/>
              <a:t>частом</a:t>
            </a:r>
            <a:r>
              <a:rPr lang="uk-UA" noProof="0" dirty="0"/>
              <a:t> використовується </a:t>
            </a:r>
            <a:r>
              <a:rPr lang="uk-UA" noProof="0" dirty="0" err="1"/>
              <a:t>двостадійний</a:t>
            </a:r>
            <a:r>
              <a:rPr lang="uk-UA" noProof="0" dirty="0"/>
              <a:t> підхід: спочатку відбираються тисячі кандидатів — це етап генерації кандидатів, а потім вузький список </a:t>
            </a:r>
            <a:r>
              <a:rPr lang="uk-UA" noProof="0" dirty="0" err="1"/>
              <a:t>ранжується</a:t>
            </a:r>
            <a:r>
              <a:rPr lang="uk-UA" noProof="0" dirty="0"/>
              <a:t> більш точною моделлю — це етап повторного </a:t>
            </a:r>
            <a:r>
              <a:rPr lang="uk-UA" noProof="0" dirty="0" err="1"/>
              <a:t>впордякування</a:t>
            </a:r>
            <a:r>
              <a:rPr lang="uk-UA" noProof="0" dirty="0"/>
              <a:t>. Такий підхід дозволяє обробляти каталоги з мільйонами об'єктів за частки секунди. </a:t>
            </a:r>
          </a:p>
          <a:p>
            <a:r>
              <a:rPr lang="uk-UA" b="1" noProof="0" dirty="0"/>
              <a:t>П'ятий етап </a:t>
            </a:r>
            <a:r>
              <a:rPr lang="uk-UA" noProof="0" dirty="0"/>
              <a:t>— апробація та тестування на живому трафіку. Жодне покращення не можна вважати реальним, доки воно не підтверджене в онлайн-експерименті. У нижній частині слайду перераховано основні підсистеми: </a:t>
            </a:r>
            <a:r>
              <a:rPr lang="uk-UA" noProof="0" dirty="0" err="1"/>
              <a:t>агрегатор</a:t>
            </a:r>
            <a:r>
              <a:rPr lang="uk-UA" noProof="0" dirty="0"/>
              <a:t> профілів, реєстр об'єктів, система вибору рекомендацій та підсистема оцінювання. Саме така модульна архітектура дозволяє масштабувати рекомендаційні системи для мільярдів користувачів та мільйонів елементів.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Якість рекомендацій безпосередньо залежить від якості та різноманітності вхідних даних. </a:t>
            </a:r>
            <a:r>
              <a:rPr lang="uk-UA" dirty="0"/>
              <a:t>Тут </a:t>
            </a:r>
            <a:r>
              <a:rPr lang="uk-UA" noProof="0" dirty="0"/>
              <a:t>систематизовано чотири основні категорії даних</a:t>
            </a:r>
            <a:r>
              <a:rPr lang="en-US" dirty="0"/>
              <a:t>. </a:t>
            </a:r>
            <a:endParaRPr lang="uk-UA" dirty="0"/>
          </a:p>
          <a:p>
            <a:r>
              <a:rPr lang="uk-UA" b="1" dirty="0"/>
              <a:t>Перша категорія </a:t>
            </a:r>
            <a:r>
              <a:rPr lang="uk-UA" dirty="0"/>
              <a:t>— явні взаємодії. Це ситуація, коли користувач свідомо виражає своє ставлення: ставить оцінку від одного до п'яти, залишає </a:t>
            </a:r>
            <a:r>
              <a:rPr lang="uk-UA" dirty="0" err="1"/>
              <a:t>лайк</a:t>
            </a:r>
            <a:r>
              <a:rPr lang="uk-UA" dirty="0"/>
              <a:t> або </a:t>
            </a:r>
            <a:r>
              <a:rPr lang="uk-UA" dirty="0" err="1"/>
              <a:t>дизлайк</a:t>
            </a:r>
            <a:r>
              <a:rPr lang="uk-UA" dirty="0"/>
              <a:t>, пише відгук, додає об'єкт у список улюблених. Такі дані є найбільш інформативними, проте їх відносно мало — більшість користувачів </a:t>
            </a:r>
            <a:r>
              <a:rPr lang="uk-UA" dirty="0" err="1"/>
              <a:t>рідко</a:t>
            </a:r>
            <a:r>
              <a:rPr lang="uk-UA" dirty="0"/>
              <a:t> витрачають час на оцінки. </a:t>
            </a:r>
          </a:p>
          <a:p>
            <a:r>
              <a:rPr lang="uk-UA" b="1" dirty="0"/>
              <a:t>Друга категорія </a:t>
            </a:r>
            <a:r>
              <a:rPr lang="uk-UA" dirty="0"/>
              <a:t>— неявні взаємодії. Сюди входять кліки, перегляди сторінок, час прослуховування треку, покупки, додавання у кошик. Цих даних значно більше, оскільки вони збираються автоматично без будь яких зусиль з боку користувача. Однак їх інтерпретація складніша: факт того, що користувач переглянув товар, не означає, що він йому сподобався. </a:t>
            </a:r>
          </a:p>
          <a:p>
            <a:r>
              <a:rPr lang="uk-UA" b="1" dirty="0"/>
              <a:t>Третя категорія </a:t>
            </a:r>
            <a:r>
              <a:rPr lang="uk-UA" dirty="0"/>
              <a:t>— ознаки користувача: демографічні дані, такі як вік, стать, географія, а також технічні характеристики — мова інтерфейсу, тип пристрою, час доби активності. Особливу цінність мають соціальні зв'язки, якщо вони доступні. </a:t>
            </a:r>
          </a:p>
          <a:p>
            <a:r>
              <a:rPr lang="uk-UA" b="1" dirty="0"/>
              <a:t>Четверта категорія </a:t>
            </a:r>
            <a:r>
              <a:rPr lang="uk-UA" dirty="0"/>
              <a:t>— ознаки об'єктів. Це жанр, категорія, теги, ціна, рейтинг, текстовий опис, зображення, а також метадані: рік випуску, автор, тривалість тощо. Сучасні рекомендаційні системи прагнуть поєднувати всі чотири категорії, оскільки кожна з них покриває певні слабкі сторони інших. Зокрема, поєднання ознак об'єктів та користувачів допомагають вирішувати проблему холодного старту.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Найпростіші підходи є водночас найефективнішими </a:t>
            </a:r>
            <a:r>
              <a:rPr lang="en-US" dirty="0" err="1"/>
              <a:t>базовими</a:t>
            </a:r>
            <a:r>
              <a:rPr lang="en-US" dirty="0"/>
              <a:t> </a:t>
            </a:r>
            <a:r>
              <a:rPr lang="en-US" dirty="0" err="1"/>
              <a:t>моделями</a:t>
            </a:r>
            <a:r>
              <a:rPr lang="uk-UA" dirty="0"/>
              <a:t> з якими можна проводити </a:t>
            </a:r>
            <a:r>
              <a:rPr lang="en-US" dirty="0" err="1"/>
              <a:t>порівняння</a:t>
            </a:r>
            <a:r>
              <a:rPr lang="en-US" dirty="0"/>
              <a:t>. </a:t>
            </a:r>
            <a:endParaRPr lang="uk-UA" dirty="0"/>
          </a:p>
          <a:p>
            <a:r>
              <a:rPr lang="en-US" b="1" dirty="0"/>
              <a:t>Популярні рекомендації </a:t>
            </a:r>
            <a:r>
              <a:rPr lang="en-US" dirty="0"/>
              <a:t>відмінно працюють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uk-UA" dirty="0"/>
              <a:t>холодному старті</a:t>
            </a:r>
            <a:r>
              <a:rPr lang="en-US" dirty="0"/>
              <a:t>: коли ще немає даних про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uk-UA" dirty="0"/>
              <a:t>користувача</a:t>
            </a:r>
            <a:r>
              <a:rPr lang="en-US" dirty="0"/>
              <a:t>, показуємо глобально або тематично популярний контент. </a:t>
            </a:r>
            <a:endParaRPr lang="uk-UA" dirty="0"/>
          </a:p>
          <a:p>
            <a:r>
              <a:rPr lang="uk-UA" b="1" dirty="0"/>
              <a:t>П</a:t>
            </a:r>
            <a:r>
              <a:rPr lang="en-US" b="1" dirty="0" err="1"/>
              <a:t>ідходи</a:t>
            </a:r>
            <a:r>
              <a:rPr lang="en-US" b="1" dirty="0"/>
              <a:t> </a:t>
            </a:r>
            <a:r>
              <a:rPr lang="uk-UA" b="1" dirty="0"/>
              <a:t>на основі правил </a:t>
            </a:r>
            <a:r>
              <a:rPr lang="en-US" dirty="0" err="1"/>
              <a:t>дозволяють</a:t>
            </a:r>
            <a:r>
              <a:rPr lang="en-US" dirty="0"/>
              <a:t> вбудувати бізнес-логіку безпосередньо в алгоритм: вікові обмеження, регіональна доступність, </a:t>
            </a:r>
            <a:r>
              <a:rPr lang="en-US" dirty="0" err="1"/>
              <a:t>компл</a:t>
            </a:r>
            <a:r>
              <a:rPr lang="uk-UA" dirty="0" err="1"/>
              <a:t>ексні</a:t>
            </a:r>
            <a:r>
              <a:rPr lang="uk-UA" dirty="0"/>
              <a:t> </a:t>
            </a:r>
            <a:r>
              <a:rPr lang="en-US" dirty="0" err="1"/>
              <a:t>вимоги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noProof="0" dirty="0"/>
              <a:t>Перейдемо до першого по-справжньому персоналізованого підходу — фільтрації на основі контенту</a:t>
            </a:r>
            <a:r>
              <a:rPr lang="uk-UA" dirty="0"/>
              <a:t>. </a:t>
            </a:r>
            <a:r>
              <a:rPr lang="uk-UA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на основі </a:t>
            </a:r>
            <a:r>
              <a:rPr lang="uk-UA" sz="12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контетну</a:t>
            </a:r>
            <a:r>
              <a:rPr lang="uk-UA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/>
              <a:t>є інтуїтивно зрозумілим підходом: </a:t>
            </a:r>
            <a:r>
              <a:rPr lang="en-US" dirty="0" err="1"/>
              <a:t>якщо</a:t>
            </a:r>
            <a:r>
              <a:rPr lang="en-US" dirty="0"/>
              <a:t> </a:t>
            </a:r>
            <a:r>
              <a:rPr lang="uk-UA" dirty="0"/>
              <a:t>користувачу</a:t>
            </a:r>
            <a:r>
              <a:rPr lang="en-US" dirty="0"/>
              <a:t> сподобався фільм певного жанру, рекомендуємо схожі фільми того ж </a:t>
            </a:r>
            <a:r>
              <a:rPr lang="en-US" dirty="0" err="1"/>
              <a:t>жанру</a:t>
            </a:r>
            <a:r>
              <a:rPr lang="uk-UA" dirty="0"/>
              <a:t>, режисера, країни випуску, тощо</a:t>
            </a:r>
            <a:r>
              <a:rPr lang="en-US" dirty="0"/>
              <a:t>. </a:t>
            </a:r>
            <a:r>
              <a:rPr lang="uk-UA" noProof="0" dirty="0"/>
              <a:t>Спочатку для кожного об'єкта будується вектор ознак на основі його унікальних характеристик. Текстова інформація обробляється методами на кшталт Word2Vec або сучасними моделями типу BERT та </a:t>
            </a:r>
            <a:r>
              <a:rPr lang="en-US" noProof="0" dirty="0"/>
              <a:t>RoBERTa</a:t>
            </a:r>
            <a:r>
              <a:rPr lang="uk-UA" noProof="0" dirty="0"/>
              <a:t>. Далі формується профіль користувача — це підсумований вектор ознак тих об'єктів, з якими користувач взаємодіяв. І нарешті обчислюється косинус подібності між профілем користувача та невідомими об'єктами, після чого формується рейтинг </a:t>
            </a:r>
            <a:r>
              <a:rPr lang="uk-UA" noProof="0" dirty="0" err="1"/>
              <a:t>top</a:t>
            </a:r>
            <a:r>
              <a:rPr lang="uk-UA" noProof="0" dirty="0"/>
              <a:t>-</a:t>
            </a:r>
            <a:r>
              <a:rPr lang="en-US" noProof="0" dirty="0"/>
              <a:t>k</a:t>
            </a:r>
            <a:r>
              <a:rPr lang="uk-UA" noProof="0" dirty="0"/>
              <a:t> рекомендацій. </a:t>
            </a:r>
            <a:endParaRPr lang="en-US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1" noProof="0" dirty="0"/>
              <a:t>Серед переваг варто відзначити </a:t>
            </a:r>
            <a:r>
              <a:rPr lang="uk-UA" noProof="0" dirty="0"/>
              <a:t>те, що підхід не потребує даних про інших користувачів — це робить його приватним. Він також добре працює з </a:t>
            </a:r>
            <a:r>
              <a:rPr lang="uk-UA" noProof="0" dirty="0" err="1"/>
              <a:t>нішевими</a:t>
            </a:r>
            <a:r>
              <a:rPr lang="uk-UA" noProof="0" dirty="0"/>
              <a:t> інтересами, коли важко знайти схожих користувачів. Окремо слід підкреслити прозорість: завжди можна пояснити рекомендацію — наприклад, рекомендуємо це, тому що ви дивилися щось схоже.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1" noProof="0" dirty="0"/>
              <a:t>Серед недоліків </a:t>
            </a:r>
            <a:r>
              <a:rPr lang="uk-UA" noProof="0" dirty="0"/>
              <a:t>— проблема надмірної спеціалізації, коли система рекомендує користувачу дуже схожий контент. Також підхід вимагає значних зусиль у формуванні ознак, особливо для мультимедійного контенту. Він не виявляє прихованих інтересів користувача і не використовує колективний досвід спільноти.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Collaborative filtering </a:t>
            </a:r>
            <a:r>
              <a:rPr lang="en-US" dirty="0" err="1"/>
              <a:t>базується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принципі</a:t>
            </a:r>
            <a:r>
              <a:rPr lang="en-US" dirty="0"/>
              <a:t> '</a:t>
            </a:r>
            <a:r>
              <a:rPr lang="en-US" dirty="0" err="1"/>
              <a:t>мудрості</a:t>
            </a:r>
            <a:r>
              <a:rPr lang="en-US" dirty="0"/>
              <a:t> </a:t>
            </a:r>
            <a:r>
              <a:rPr lang="en-US" dirty="0" err="1"/>
              <a:t>натовпу</a:t>
            </a:r>
            <a:r>
              <a:rPr lang="en-US" dirty="0"/>
              <a:t>': </a:t>
            </a:r>
            <a:r>
              <a:rPr lang="en-US" dirty="0" err="1"/>
              <a:t>якщо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users </a:t>
            </a:r>
            <a:r>
              <a:rPr lang="en-US" dirty="0" err="1"/>
              <a:t>оцінили</a:t>
            </a:r>
            <a:r>
              <a:rPr lang="en-US" dirty="0"/>
              <a:t> </a:t>
            </a:r>
            <a:r>
              <a:rPr lang="en-US" dirty="0" err="1"/>
              <a:t>схожий</a:t>
            </a:r>
            <a:r>
              <a:rPr lang="en-US" dirty="0"/>
              <a:t> </a:t>
            </a:r>
            <a:r>
              <a:rPr lang="en-US" dirty="0" err="1"/>
              <a:t>набір</a:t>
            </a:r>
            <a:r>
              <a:rPr lang="en-US" dirty="0"/>
              <a:t> items, </a:t>
            </a:r>
            <a:r>
              <a:rPr lang="en-US" dirty="0" err="1"/>
              <a:t>їхні</a:t>
            </a:r>
            <a:r>
              <a:rPr lang="en-US" dirty="0"/>
              <a:t> </a:t>
            </a:r>
            <a:r>
              <a:rPr lang="en-US" dirty="0" err="1"/>
              <a:t>майбутні</a:t>
            </a:r>
            <a:r>
              <a:rPr lang="en-US" dirty="0"/>
              <a:t> </a:t>
            </a:r>
            <a:r>
              <a:rPr lang="en-US" dirty="0" err="1"/>
              <a:t>вподобання</a:t>
            </a:r>
            <a:r>
              <a:rPr lang="en-US" dirty="0"/>
              <a:t> </a:t>
            </a:r>
            <a:r>
              <a:rPr lang="en-US" dirty="0" err="1"/>
              <a:t>також</a:t>
            </a:r>
            <a:r>
              <a:rPr lang="en-US" dirty="0"/>
              <a:t>, </a:t>
            </a:r>
            <a:r>
              <a:rPr lang="en-US" dirty="0" err="1"/>
              <a:t>швидше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, </a:t>
            </a:r>
            <a:r>
              <a:rPr lang="en-US" dirty="0" err="1"/>
              <a:t>збігатимуться</a:t>
            </a:r>
            <a:r>
              <a:rPr lang="en-US" dirty="0"/>
              <a:t>. </a:t>
            </a:r>
            <a:r>
              <a:rPr lang="en-US" dirty="0" err="1"/>
              <a:t>Матриця</a:t>
            </a:r>
            <a:r>
              <a:rPr lang="en-US" dirty="0"/>
              <a:t> user-item є </a:t>
            </a:r>
            <a:r>
              <a:rPr lang="en-US" dirty="0" err="1"/>
              <a:t>центральним</a:t>
            </a:r>
            <a:r>
              <a:rPr lang="en-US" dirty="0"/>
              <a:t> </a:t>
            </a:r>
            <a:r>
              <a:rPr lang="en-US" dirty="0" err="1"/>
              <a:t>об'єктом</a:t>
            </a:r>
            <a:r>
              <a:rPr lang="en-US" dirty="0"/>
              <a:t>: </a:t>
            </a:r>
            <a:r>
              <a:rPr lang="en-US" dirty="0" err="1"/>
              <a:t>рядки</a:t>
            </a:r>
            <a:r>
              <a:rPr lang="en-US" dirty="0"/>
              <a:t> — users, </a:t>
            </a:r>
            <a:r>
              <a:rPr lang="en-US" dirty="0" err="1"/>
              <a:t>стовпці</a:t>
            </a:r>
            <a:r>
              <a:rPr lang="en-US" dirty="0"/>
              <a:t> — items, </a:t>
            </a:r>
            <a:r>
              <a:rPr lang="en-US" dirty="0" err="1"/>
              <a:t>значення</a:t>
            </a:r>
            <a:r>
              <a:rPr lang="en-US" dirty="0"/>
              <a:t> — </a:t>
            </a:r>
            <a:r>
              <a:rPr lang="en-US" dirty="0" err="1"/>
              <a:t>оцінки</a:t>
            </a:r>
            <a:r>
              <a:rPr lang="en-US" dirty="0"/>
              <a:t> </a:t>
            </a:r>
            <a:r>
              <a:rPr lang="en-US" dirty="0" err="1"/>
              <a:t>або</a:t>
            </a:r>
            <a:r>
              <a:rPr lang="en-US" dirty="0"/>
              <a:t> </a:t>
            </a:r>
            <a:r>
              <a:rPr lang="en-US" dirty="0" err="1"/>
              <a:t>факт</a:t>
            </a:r>
            <a:r>
              <a:rPr lang="en-US" dirty="0"/>
              <a:t> </a:t>
            </a:r>
            <a:r>
              <a:rPr lang="en-US" dirty="0" err="1"/>
              <a:t>взаємодії</a:t>
            </a:r>
            <a:r>
              <a:rPr lang="en-US" dirty="0"/>
              <a:t>. </a:t>
            </a:r>
            <a:r>
              <a:rPr lang="en-US" dirty="0" err="1"/>
              <a:t>Розрідженість</a:t>
            </a:r>
            <a:r>
              <a:rPr lang="en-US" dirty="0"/>
              <a:t> </a:t>
            </a:r>
            <a:r>
              <a:rPr lang="en-US" dirty="0" err="1"/>
              <a:t>матриці</a:t>
            </a:r>
            <a:r>
              <a:rPr lang="en-US" dirty="0"/>
              <a:t> — </a:t>
            </a:r>
            <a:r>
              <a:rPr lang="en-US" dirty="0" err="1"/>
              <a:t>ключова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реальних</a:t>
            </a:r>
            <a:r>
              <a:rPr lang="en-US" dirty="0"/>
              <a:t> систем: лише 1-5 </a:t>
            </a:r>
            <a:r>
              <a:rPr lang="en-US" dirty="0" err="1"/>
              <a:t>відсотків</a:t>
            </a:r>
            <a:r>
              <a:rPr lang="en-US" dirty="0"/>
              <a:t> </a:t>
            </a:r>
            <a:r>
              <a:rPr lang="en-US" dirty="0" err="1"/>
              <a:t>клітин</a:t>
            </a:r>
            <a:r>
              <a:rPr lang="en-US" dirty="0"/>
              <a:t> </a:t>
            </a:r>
            <a:r>
              <a:rPr lang="en-US" dirty="0" err="1"/>
              <a:t>заповнені</a:t>
            </a:r>
            <a:r>
              <a:rPr lang="en-US" dirty="0"/>
              <a:t> </a:t>
            </a:r>
            <a:r>
              <a:rPr lang="en-US" dirty="0" err="1"/>
              <a:t>даними</a:t>
            </a:r>
            <a:r>
              <a:rPr lang="en-US" dirty="0"/>
              <a:t>. CF є </a:t>
            </a:r>
            <a:r>
              <a:rPr lang="en-US" dirty="0" err="1"/>
              <a:t>сильнішим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CBF у </a:t>
            </a:r>
            <a:r>
              <a:rPr lang="en-US" dirty="0" err="1"/>
              <a:t>виявленні</a:t>
            </a:r>
            <a:r>
              <a:rPr lang="en-US" dirty="0"/>
              <a:t> </a:t>
            </a:r>
            <a:r>
              <a:rPr lang="en-US" dirty="0" err="1"/>
              <a:t>латентних</a:t>
            </a:r>
            <a:r>
              <a:rPr lang="en-US" dirty="0"/>
              <a:t> </a:t>
            </a:r>
            <a:r>
              <a:rPr lang="en-US" dirty="0" err="1"/>
              <a:t>інтересів</a:t>
            </a:r>
            <a:r>
              <a:rPr lang="en-US" dirty="0"/>
              <a:t>, </a:t>
            </a:r>
            <a:r>
              <a:rPr lang="en-US" dirty="0" err="1"/>
              <a:t>про</a:t>
            </a:r>
            <a:r>
              <a:rPr lang="en-US" dirty="0"/>
              <a:t> які </a:t>
            </a:r>
            <a:r>
              <a:rPr lang="en-US" dirty="0" err="1"/>
              <a:t>сам</a:t>
            </a:r>
            <a:r>
              <a:rPr lang="en-US" dirty="0"/>
              <a:t> user </a:t>
            </a:r>
            <a:r>
              <a:rPr lang="en-US" dirty="0" err="1"/>
              <a:t>може</a:t>
            </a:r>
            <a:r>
              <a:rPr lang="en-US" dirty="0"/>
              <a:t> не </a:t>
            </a:r>
            <a:r>
              <a:rPr lang="en-US" dirty="0" err="1"/>
              <a:t>підозрювати</a:t>
            </a:r>
            <a:r>
              <a:rPr lang="en-US" dirty="0"/>
              <a:t>.</a:t>
            </a:r>
            <a:endParaRPr lang="uk-UA" dirty="0"/>
          </a:p>
          <a:p>
            <a:endParaRPr lang="uk-U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1" noProof="0" dirty="0" err="1"/>
              <a:t>Колаборативна</a:t>
            </a:r>
            <a:r>
              <a:rPr lang="uk-UA" b="1" noProof="0" dirty="0"/>
              <a:t> фільтрація </a:t>
            </a:r>
            <a:r>
              <a:rPr lang="uk-UA" noProof="0" dirty="0"/>
              <a:t>— це найбільш фундаментальний підхід у рекомендаційних системах, і саме на ньому ґрунтується значна частина сучасних алгоритмів. Вона полягає в тому, що </a:t>
            </a:r>
            <a:r>
              <a:rPr lang="en-US" dirty="0" err="1"/>
              <a:t>якщо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uk-UA" dirty="0"/>
              <a:t>користувачі</a:t>
            </a:r>
            <a:r>
              <a:rPr lang="en-US" dirty="0"/>
              <a:t> </a:t>
            </a:r>
            <a:r>
              <a:rPr lang="en-US" dirty="0" err="1"/>
              <a:t>оцінили</a:t>
            </a:r>
            <a:r>
              <a:rPr lang="en-US" dirty="0"/>
              <a:t> </a:t>
            </a:r>
            <a:r>
              <a:rPr lang="en-US" dirty="0" err="1"/>
              <a:t>схожий</a:t>
            </a:r>
            <a:r>
              <a:rPr lang="en-US" dirty="0"/>
              <a:t> </a:t>
            </a:r>
            <a:r>
              <a:rPr lang="en-US" dirty="0" err="1"/>
              <a:t>набір</a:t>
            </a:r>
            <a:r>
              <a:rPr lang="en-US" dirty="0"/>
              <a:t> </a:t>
            </a:r>
            <a:r>
              <a:rPr lang="uk-UA" dirty="0"/>
              <a:t>елементів</a:t>
            </a:r>
            <a:r>
              <a:rPr lang="en-US" dirty="0"/>
              <a:t>, </a:t>
            </a:r>
            <a:r>
              <a:rPr lang="en-US" dirty="0" err="1"/>
              <a:t>їхні</a:t>
            </a:r>
            <a:r>
              <a:rPr lang="en-US" dirty="0"/>
              <a:t> </a:t>
            </a:r>
            <a:r>
              <a:rPr lang="en-US" dirty="0" err="1"/>
              <a:t>майбутні</a:t>
            </a:r>
            <a:r>
              <a:rPr lang="en-US" dirty="0"/>
              <a:t> </a:t>
            </a:r>
            <a:r>
              <a:rPr lang="en-US" dirty="0" err="1"/>
              <a:t>вподобання</a:t>
            </a:r>
            <a:r>
              <a:rPr lang="en-US" dirty="0"/>
              <a:t> </a:t>
            </a:r>
            <a:r>
              <a:rPr lang="en-US" dirty="0" err="1"/>
              <a:t>також</a:t>
            </a:r>
            <a:r>
              <a:rPr lang="en-US" dirty="0"/>
              <a:t>, </a:t>
            </a:r>
            <a:r>
              <a:rPr lang="en-US" dirty="0" err="1"/>
              <a:t>швидше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, </a:t>
            </a:r>
            <a:r>
              <a:rPr lang="en-US" dirty="0" err="1"/>
              <a:t>збігатимуться</a:t>
            </a:r>
            <a:r>
              <a:rPr lang="en-US" dirty="0"/>
              <a:t>.</a:t>
            </a:r>
            <a:r>
              <a:rPr lang="uk-UA" noProof="0" dirty="0"/>
              <a:t> При цьому тут не використовуються властивості самих об'єктів. Все, з чим працює модель, — це матриця взаємодій між користувачами та об'єктами. На прикладі праворуч показано таку матрицю. У рядках — користувачі, у стовпцях — фільми, у клітинках — оцінки. Багато клітинок порожні: насправді на реальних даних розрідженість сягає від 95% до 99% відсотків. Завдання моделі — заповнити цю матрицю, тобто спрогнозувати оцінки в порожніх клітинках. На слайді жовтим виділено комірку, яку потрібно спрогнозувати.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1" noProof="0" dirty="0"/>
              <a:t>Виокремлюють два основні різновиди </a:t>
            </a:r>
            <a:r>
              <a:rPr lang="uk-UA" b="1" noProof="0" dirty="0" err="1"/>
              <a:t>колаборативної</a:t>
            </a:r>
            <a:r>
              <a:rPr lang="uk-UA" b="1" noProof="0" dirty="0"/>
              <a:t> фільтрації. </a:t>
            </a:r>
            <a:r>
              <a:rPr lang="uk-UA" noProof="0" dirty="0"/>
              <a:t>Перший — </a:t>
            </a:r>
            <a:r>
              <a:rPr lang="uk-UA" b="1" noProof="0" dirty="0" err="1"/>
              <a:t>memory-based</a:t>
            </a:r>
            <a:r>
              <a:rPr lang="uk-UA" noProof="0" dirty="0"/>
              <a:t>: схожість між користувачами або об'єктами обчислюється безпосередньо за допомогою </a:t>
            </a:r>
            <a:r>
              <a:rPr lang="uk-UA" noProof="0" dirty="0" err="1"/>
              <a:t>косинусної</a:t>
            </a:r>
            <a:r>
              <a:rPr lang="uk-UA" noProof="0" dirty="0"/>
              <a:t> міри або кореляції </a:t>
            </a:r>
            <a:r>
              <a:rPr lang="uk-UA" noProof="0" dirty="0" err="1"/>
              <a:t>Пірсона</a:t>
            </a:r>
            <a:r>
              <a:rPr lang="uk-UA" noProof="0" dirty="0"/>
              <a:t>. Другий — </a:t>
            </a:r>
            <a:r>
              <a:rPr lang="uk-UA" b="1" noProof="0" dirty="0" err="1"/>
              <a:t>model-based</a:t>
            </a:r>
            <a:r>
              <a:rPr lang="uk-UA" noProof="0" dirty="0"/>
              <a:t>: явно навчається математична модель, наприклад матрична факторизація, нейронна мережа або мережа графів.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1" noProof="0" dirty="0"/>
              <a:t>Перевагою </a:t>
            </a:r>
            <a:r>
              <a:rPr lang="uk-UA" b="1" noProof="0" dirty="0" err="1"/>
              <a:t>колаборативної</a:t>
            </a:r>
            <a:r>
              <a:rPr lang="uk-UA" b="1" noProof="0" dirty="0"/>
              <a:t> фільтрації є те</a:t>
            </a:r>
            <a:r>
              <a:rPr lang="uk-UA" noProof="0" dirty="0"/>
              <a:t>, що вона не потребує знань про властивості об'єктів — достатньо лише матриці взаємодій. Більше того, цей підхід здатен виявляти приховані інтереси, які сам користувач може не усвідомлювати.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1" noProof="0" dirty="0"/>
              <a:t>Однак існує і проблема: </a:t>
            </a:r>
            <a:r>
              <a:rPr lang="uk-UA" noProof="0" dirty="0"/>
              <a:t>розрідженість матриці робить пошук схожих користувачів складним завданням, особливо для нових учасників системи.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на основі користувачів </a:t>
            </a:r>
            <a:r>
              <a:rPr lang="en-US" dirty="0" err="1"/>
              <a:t>знаходить</a:t>
            </a:r>
            <a:r>
              <a:rPr lang="en-US" dirty="0"/>
              <a:t> так званих 'сусідів' — </a:t>
            </a:r>
            <a:r>
              <a:rPr lang="en-US" dirty="0" err="1"/>
              <a:t>схожих</a:t>
            </a:r>
            <a:r>
              <a:rPr lang="en-US" dirty="0"/>
              <a:t> </a:t>
            </a:r>
            <a:r>
              <a:rPr lang="uk-UA" dirty="0"/>
              <a:t>користувачів</a:t>
            </a:r>
            <a:r>
              <a:rPr lang="en-US" dirty="0"/>
              <a:t> — та агрегує їхні оцінки для прогнозування. Схожість обчислюється за косинусом або кореляцією Пірсона між векторами оцінок. Amazon </a:t>
            </a:r>
            <a:r>
              <a:rPr lang="uk-UA" dirty="0"/>
              <a:t>в свою чергу </a:t>
            </a:r>
            <a:r>
              <a:rPr lang="en-US" dirty="0" err="1"/>
              <a:t>запропонував</a:t>
            </a:r>
            <a:r>
              <a:rPr lang="en-US" dirty="0"/>
              <a:t> </a:t>
            </a:r>
            <a:r>
              <a:rPr lang="uk-UA" dirty="0"/>
              <a:t>фільтрацію на основі елементів </a:t>
            </a:r>
            <a:r>
              <a:rPr lang="en-US" dirty="0"/>
              <a:t>у 2001 році саме для вирішення проблеми масштабування: </a:t>
            </a:r>
            <a:r>
              <a:rPr lang="en-US" dirty="0" err="1"/>
              <a:t>матриця</a:t>
            </a:r>
            <a:r>
              <a:rPr lang="en-US" dirty="0"/>
              <a:t> </a:t>
            </a:r>
            <a:r>
              <a:rPr lang="uk-UA" dirty="0" err="1"/>
              <a:t>взаємозвязків</a:t>
            </a:r>
            <a:r>
              <a:rPr lang="uk-UA" dirty="0"/>
              <a:t> елементів</a:t>
            </a:r>
            <a:r>
              <a:rPr lang="en-US" dirty="0"/>
              <a:t> є значно стабільнішою і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uk-UA" dirty="0"/>
              <a:t>попередньо </a:t>
            </a:r>
            <a:r>
              <a:rPr lang="en-US" dirty="0" err="1"/>
              <a:t>обчислюватись</a:t>
            </a:r>
            <a:r>
              <a:rPr lang="en-US" dirty="0"/>
              <a:t> у </a:t>
            </a:r>
            <a:r>
              <a:rPr lang="en-US" dirty="0" err="1"/>
              <a:t>фоновому</a:t>
            </a:r>
            <a:r>
              <a:rPr lang="en-US" dirty="0"/>
              <a:t> </a:t>
            </a:r>
            <a:r>
              <a:rPr lang="en-US" dirty="0" err="1"/>
              <a:t>режимі</a:t>
            </a:r>
            <a:r>
              <a:rPr lang="en-US" dirty="0"/>
              <a:t>. Вибір між підходами залежить від розміру каталогу, частоти оновлення даних та доступних обчислювальних </a:t>
            </a:r>
            <a:r>
              <a:rPr lang="en-US" dirty="0" err="1"/>
              <a:t>ресурсів</a:t>
            </a:r>
            <a:r>
              <a:rPr lang="en-US" dirty="0"/>
              <a:t>.</a:t>
            </a:r>
            <a:endParaRPr lang="uk-UA" dirty="0"/>
          </a:p>
          <a:p>
            <a:endParaRPr lang="uk-U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noProof="0" dirty="0"/>
              <a:t>Мабуть, найвпливовішим алгоритмом у класичних рекомендаційних системах є </a:t>
            </a:r>
            <a:r>
              <a:rPr lang="uk-UA" b="1" noProof="0" dirty="0"/>
              <a:t>матрична факторизація</a:t>
            </a:r>
            <a:r>
              <a:rPr lang="uk-UA" noProof="0" dirty="0"/>
              <a:t>. Ключова ідея, наведена у формулі по центру, полягає в розкладі великої розрідженої матриці оцінок R на добуток двох компактних матриць — P і Q транспонованої. </a:t>
            </a:r>
            <a:r>
              <a:rPr lang="en-US" dirty="0" err="1"/>
              <a:t>Матрична</a:t>
            </a:r>
            <a:r>
              <a:rPr lang="en-US" dirty="0"/>
              <a:t> факторизація </a:t>
            </a:r>
            <a:r>
              <a:rPr lang="en-US" dirty="0" err="1"/>
              <a:t>революціонізувала</a:t>
            </a:r>
            <a:r>
              <a:rPr lang="en-US" dirty="0"/>
              <a:t> </a:t>
            </a:r>
            <a:r>
              <a:rPr lang="en-US" dirty="0" err="1"/>
              <a:t>рекомендаційні</a:t>
            </a:r>
            <a:r>
              <a:rPr lang="en-US" dirty="0"/>
              <a:t> </a:t>
            </a:r>
            <a:r>
              <a:rPr lang="en-US" dirty="0" err="1"/>
              <a:t>системи</a:t>
            </a:r>
            <a:r>
              <a:rPr lang="en-US" dirty="0"/>
              <a:t> </a:t>
            </a:r>
            <a:r>
              <a:rPr lang="en-US" dirty="0" err="1"/>
              <a:t>після</a:t>
            </a:r>
            <a:r>
              <a:rPr lang="en-US" dirty="0"/>
              <a:t> Netflix Prize. Замість </a:t>
            </a:r>
            <a:r>
              <a:rPr lang="en-US" dirty="0" err="1"/>
              <a:t>зберігання</a:t>
            </a:r>
            <a:r>
              <a:rPr lang="en-US" dirty="0"/>
              <a:t> </a:t>
            </a:r>
            <a:r>
              <a:rPr lang="en-US" dirty="0" err="1"/>
              <a:t>повної</a:t>
            </a:r>
            <a:r>
              <a:rPr lang="en-US" dirty="0"/>
              <a:t> </a:t>
            </a:r>
            <a:r>
              <a:rPr lang="en-US" dirty="0" err="1"/>
              <a:t>матриці</a:t>
            </a:r>
            <a:r>
              <a:rPr lang="en-US" dirty="0"/>
              <a:t>, </a:t>
            </a:r>
            <a:r>
              <a:rPr lang="en-US" dirty="0" err="1"/>
              <a:t>ми</a:t>
            </a:r>
            <a:r>
              <a:rPr lang="en-US" dirty="0"/>
              <a:t> </a:t>
            </a:r>
            <a:r>
              <a:rPr lang="en-US" dirty="0" err="1"/>
              <a:t>навчаємо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компактні</a:t>
            </a:r>
            <a:r>
              <a:rPr lang="en-US" dirty="0"/>
              <a:t> </a:t>
            </a:r>
            <a:r>
              <a:rPr lang="en-US" dirty="0" err="1"/>
              <a:t>простори</a:t>
            </a:r>
            <a:r>
              <a:rPr lang="en-US" dirty="0"/>
              <a:t>: </a:t>
            </a:r>
            <a:r>
              <a:rPr lang="en-US" dirty="0" err="1"/>
              <a:t>матрицю</a:t>
            </a:r>
            <a:r>
              <a:rPr lang="en-US" dirty="0"/>
              <a:t> </a:t>
            </a:r>
            <a:r>
              <a:rPr lang="uk-UA" dirty="0"/>
              <a:t>користувачів</a:t>
            </a:r>
            <a:r>
              <a:rPr lang="en-US" dirty="0"/>
              <a:t> P та </a:t>
            </a:r>
            <a:r>
              <a:rPr lang="en-US" dirty="0" err="1"/>
              <a:t>матрицю</a:t>
            </a:r>
            <a:r>
              <a:rPr lang="en-US" dirty="0"/>
              <a:t> </a:t>
            </a:r>
            <a:r>
              <a:rPr lang="uk-UA" dirty="0" err="1"/>
              <a:t>обєктів</a:t>
            </a:r>
            <a:r>
              <a:rPr lang="en-US" dirty="0"/>
              <a:t> Q. Кожен </a:t>
            </a:r>
            <a:r>
              <a:rPr lang="en-US" dirty="0" err="1"/>
              <a:t>рядок</a:t>
            </a:r>
            <a:r>
              <a:rPr lang="en-US" dirty="0"/>
              <a:t> P — </a:t>
            </a:r>
            <a:r>
              <a:rPr lang="en-US" dirty="0" err="1"/>
              <a:t>це</a:t>
            </a:r>
            <a:r>
              <a:rPr lang="en-US" dirty="0"/>
              <a:t> </a:t>
            </a:r>
            <a:r>
              <a:rPr lang="uk-UA" dirty="0"/>
              <a:t>вподобання користувача </a:t>
            </a:r>
            <a:r>
              <a:rPr lang="en-US" dirty="0"/>
              <a:t>у k-</a:t>
            </a:r>
            <a:r>
              <a:rPr lang="en-US" dirty="0" err="1"/>
              <a:t>вимірному</a:t>
            </a:r>
            <a:r>
              <a:rPr lang="en-US" dirty="0"/>
              <a:t> </a:t>
            </a:r>
            <a:r>
              <a:rPr lang="en-US" dirty="0" err="1"/>
              <a:t>просторі</a:t>
            </a:r>
            <a:r>
              <a:rPr lang="en-US" dirty="0"/>
              <a:t>, </a:t>
            </a:r>
            <a:r>
              <a:rPr lang="en-US" dirty="0" err="1"/>
              <a:t>кожен</a:t>
            </a:r>
            <a:r>
              <a:rPr lang="en-US" dirty="0"/>
              <a:t> </a:t>
            </a:r>
            <a:r>
              <a:rPr lang="en-US" dirty="0" err="1"/>
              <a:t>рядок</a:t>
            </a:r>
            <a:r>
              <a:rPr lang="en-US" dirty="0"/>
              <a:t> Q — '</a:t>
            </a:r>
            <a:r>
              <a:rPr lang="en-US" dirty="0" err="1"/>
              <a:t>характеристика</a:t>
            </a:r>
            <a:r>
              <a:rPr lang="en-US" dirty="0"/>
              <a:t>’ </a:t>
            </a:r>
            <a:r>
              <a:rPr lang="uk-UA" dirty="0"/>
              <a:t>елемента</a:t>
            </a:r>
            <a:r>
              <a:rPr lang="en-US" dirty="0"/>
              <a:t>. </a:t>
            </a:r>
            <a:endParaRPr lang="uk-U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="1" noProof="0" dirty="0"/>
              <a:t>У нижній частині слайду розглянуто три ключові алгоритми. </a:t>
            </a:r>
            <a:r>
              <a:rPr lang="uk-UA" b="1" u="sng" noProof="0" dirty="0" err="1"/>
              <a:t>FunkSVD</a:t>
            </a:r>
            <a:r>
              <a:rPr lang="uk-UA" noProof="0" dirty="0"/>
              <a:t> — це алгоритм </a:t>
            </a:r>
            <a:r>
              <a:rPr lang="uk-UA" noProof="0" dirty="0" err="1"/>
              <a:t>Саймона</a:t>
            </a:r>
            <a:r>
              <a:rPr lang="uk-UA" noProof="0" dirty="0"/>
              <a:t> </a:t>
            </a:r>
            <a:r>
              <a:rPr lang="uk-UA" noProof="0" dirty="0" err="1"/>
              <a:t>Фанка</a:t>
            </a:r>
            <a:r>
              <a:rPr lang="uk-UA" noProof="0" dirty="0"/>
              <a:t>, який він розробив під час конкурсу Netflix </a:t>
            </a:r>
            <a:r>
              <a:rPr lang="uk-UA" noProof="0" dirty="0" err="1"/>
              <a:t>Prize</a:t>
            </a:r>
            <a:r>
              <a:rPr lang="uk-UA" noProof="0" dirty="0"/>
              <a:t> у 2006 році. Особливість підходу в тому, що оптимізація відбувається лише на відомих оцінках через стохастичний градієнтний спуск, а не на повній матриці з включенням нулів. Далі — алгоритм </a:t>
            </a:r>
            <a:r>
              <a:rPr lang="uk-UA" b="1" u="sng" noProof="0" dirty="0"/>
              <a:t>ALS</a:t>
            </a:r>
            <a:r>
              <a:rPr lang="uk-UA" noProof="0" dirty="0"/>
              <a:t>, тобто почергові найменші квадрати. Він почергово оптимізує матрицю P при фіксованій Q, а потім навпаки. Алгоритм добре </a:t>
            </a:r>
            <a:r>
              <a:rPr lang="uk-UA" noProof="0" dirty="0" err="1"/>
              <a:t>паралелізується</a:t>
            </a:r>
            <a:r>
              <a:rPr lang="uk-UA" noProof="0" dirty="0"/>
              <a:t> і особливо ефективний для неявного зворотного зв'язку, що було показано авторами у 2008 році. І нарешті </a:t>
            </a:r>
            <a:r>
              <a:rPr lang="uk-UA" b="1" u="sng" noProof="0" dirty="0"/>
              <a:t>BPR</a:t>
            </a:r>
            <a:r>
              <a:rPr lang="uk-UA" noProof="0" dirty="0"/>
              <a:t> — </a:t>
            </a:r>
            <a:r>
              <a:rPr lang="uk-UA" noProof="0" dirty="0" err="1"/>
              <a:t>Bayesian</a:t>
            </a:r>
            <a:r>
              <a:rPr lang="uk-UA" noProof="0" dirty="0"/>
              <a:t> </a:t>
            </a:r>
            <a:r>
              <a:rPr lang="uk-UA" noProof="0" dirty="0" err="1"/>
              <a:t>Personalized</a:t>
            </a:r>
            <a:r>
              <a:rPr lang="uk-UA" noProof="0" dirty="0"/>
              <a:t> </a:t>
            </a:r>
            <a:r>
              <a:rPr lang="uk-UA" noProof="0" dirty="0" err="1"/>
              <a:t>Ranking</a:t>
            </a:r>
            <a:r>
              <a:rPr lang="uk-UA" noProof="0" dirty="0"/>
              <a:t>, або </a:t>
            </a:r>
            <a:r>
              <a:rPr lang="uk-UA" noProof="0" dirty="0" err="1"/>
              <a:t>байєсівське</a:t>
            </a:r>
            <a:r>
              <a:rPr lang="uk-UA" noProof="0" dirty="0"/>
              <a:t> персоналізоване ранжування. Цей алгоритм оптимізує не самі оцінки, а попарне ранжування: модель вчиться ставити переглянуті об'єкти вище за непереглянуті.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Гібридні підходи є стандартом у промислових рекомендаційних системах, оскільки жоден окремий алгоритм не перевершує всіх інших за будь-яких умов. </a:t>
            </a:r>
            <a:endParaRPr lang="uk-UA" dirty="0"/>
          </a:p>
          <a:p>
            <a:r>
              <a:rPr lang="uk-UA" b="1" dirty="0"/>
              <a:t>Усереднена</a:t>
            </a:r>
            <a:r>
              <a:rPr lang="en-US" b="1" dirty="0"/>
              <a:t> </a:t>
            </a:r>
            <a:r>
              <a:rPr lang="en-US" b="1" dirty="0" err="1"/>
              <a:t>гібридизація</a:t>
            </a:r>
            <a:r>
              <a:rPr lang="en-US" dirty="0"/>
              <a:t>, </a:t>
            </a:r>
            <a:r>
              <a:rPr lang="en-US" dirty="0" err="1"/>
              <a:t>яку</a:t>
            </a:r>
            <a:r>
              <a:rPr lang="en-US" dirty="0"/>
              <a:t> </a:t>
            </a:r>
            <a:r>
              <a:rPr lang="en-US" dirty="0" err="1"/>
              <a:t>використовує</a:t>
            </a:r>
            <a:r>
              <a:rPr lang="en-US" dirty="0"/>
              <a:t> Netflix</a:t>
            </a:r>
            <a:r>
              <a:rPr lang="uk-UA" dirty="0"/>
              <a:t>,</a:t>
            </a:r>
            <a:r>
              <a:rPr lang="en-US" b="1" dirty="0"/>
              <a:t> </a:t>
            </a:r>
            <a:r>
              <a:rPr lang="en-US" dirty="0"/>
              <a:t>дозволяє адаптувати ваги залежно від кількості доступних даних про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uk-UA" dirty="0"/>
              <a:t>користувача</a:t>
            </a:r>
            <a:r>
              <a:rPr lang="en-US" dirty="0"/>
              <a:t>. </a:t>
            </a:r>
            <a:endParaRPr lang="uk-UA" dirty="0"/>
          </a:p>
          <a:p>
            <a:r>
              <a:rPr lang="en-US" b="1" dirty="0"/>
              <a:t>Каскадна архітектура</a:t>
            </a:r>
            <a:r>
              <a:rPr lang="en-US" dirty="0"/>
              <a:t>, яку використовує YouTube, є найбільш масштабованою: </a:t>
            </a:r>
            <a:r>
              <a:rPr lang="uk-UA" dirty="0"/>
              <a:t>спочатку алгоритм </a:t>
            </a:r>
            <a:r>
              <a:rPr lang="en-US" dirty="0" err="1"/>
              <a:t>відбирає</a:t>
            </a:r>
            <a:r>
              <a:rPr lang="en-US" dirty="0"/>
              <a:t> тисячі кандидатів за частки секунди, а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uk-UA" dirty="0" err="1"/>
              <a:t>ранжує</a:t>
            </a:r>
            <a:r>
              <a:rPr lang="en-US" dirty="0"/>
              <a:t> кожного з них. </a:t>
            </a:r>
            <a:endParaRPr lang="uk-UA" dirty="0"/>
          </a:p>
          <a:p>
            <a:r>
              <a:rPr lang="en-US" sz="12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Збагачення</a:t>
            </a:r>
            <a:r>
              <a:rPr lang="uk-UA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/>
              <a:t>є найтоншим підходом: </a:t>
            </a:r>
            <a:r>
              <a:rPr lang="uk-UA" dirty="0" err="1"/>
              <a:t>ембедінги</a:t>
            </a:r>
            <a:r>
              <a:rPr lang="en-US" dirty="0"/>
              <a:t> від одної моделі стає ознакою для іншої, дозволяючи моделям взаємно збагачувати одна одну.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Жоден класичний підхід не є позбавленим суттєвих обмежень, і розуміння цих обмежень є ключем до вибору правильного методу. </a:t>
            </a:r>
            <a:r>
              <a:rPr lang="uk-UA" b="1" dirty="0"/>
              <a:t>Проблема холодного старту </a:t>
            </a:r>
            <a:r>
              <a:rPr lang="en-US" dirty="0"/>
              <a:t>є найбільш практично болючою проблемою: що робити з </a:t>
            </a:r>
            <a:r>
              <a:rPr lang="en-US" dirty="0" err="1"/>
              <a:t>новим</a:t>
            </a:r>
            <a:r>
              <a:rPr lang="en-US" dirty="0"/>
              <a:t> </a:t>
            </a:r>
            <a:r>
              <a:rPr lang="uk-UA" dirty="0" err="1"/>
              <a:t>користуваче</a:t>
            </a:r>
            <a:r>
              <a:rPr lang="en-US" dirty="0"/>
              <a:t> або </a:t>
            </a:r>
            <a:r>
              <a:rPr lang="en-US" dirty="0" err="1"/>
              <a:t>новим</a:t>
            </a:r>
            <a:r>
              <a:rPr lang="en-US" dirty="0"/>
              <a:t> </a:t>
            </a:r>
            <a:r>
              <a:rPr lang="uk-UA" dirty="0"/>
              <a:t>елементом</a:t>
            </a:r>
            <a:r>
              <a:rPr lang="en-US" dirty="0"/>
              <a:t>, коли ще немає жодної взаємодії? </a:t>
            </a:r>
            <a:endParaRPr lang="uk-UA" dirty="0"/>
          </a:p>
          <a:p>
            <a:r>
              <a:rPr lang="uk-UA" b="1" dirty="0"/>
              <a:t>Упередженість</a:t>
            </a:r>
            <a:r>
              <a:rPr lang="uk-UA" dirty="0"/>
              <a:t> </a:t>
            </a:r>
            <a:r>
              <a:rPr lang="en-US" dirty="0"/>
              <a:t>— систематичне зміщення: алгоритми надмірно рекомендують популярний контент, </a:t>
            </a:r>
            <a:r>
              <a:rPr lang="en-US" dirty="0" err="1"/>
              <a:t>знецінюючи</a:t>
            </a:r>
            <a:r>
              <a:rPr lang="en-US" dirty="0"/>
              <a:t> </a:t>
            </a:r>
            <a:r>
              <a:rPr lang="uk-UA" dirty="0"/>
              <a:t>унікальні</a:t>
            </a:r>
            <a:r>
              <a:rPr lang="en-US" dirty="0"/>
              <a:t>, але </a:t>
            </a:r>
            <a:r>
              <a:rPr lang="en-US" dirty="0" err="1"/>
              <a:t>якісні</a:t>
            </a:r>
            <a:r>
              <a:rPr lang="en-US" dirty="0"/>
              <a:t> </a:t>
            </a:r>
            <a:r>
              <a:rPr lang="uk-UA" dirty="0"/>
              <a:t>елементи</a:t>
            </a:r>
            <a:r>
              <a:rPr lang="en-US" dirty="0"/>
              <a:t>, що шкодить і </a:t>
            </a:r>
            <a:r>
              <a:rPr lang="uk-UA" dirty="0"/>
              <a:t>досвіду користувачів</a:t>
            </a:r>
            <a:r>
              <a:rPr lang="en-US" dirty="0"/>
              <a:t>, і творцям контенту. </a:t>
            </a:r>
            <a:endParaRPr lang="uk-UA" dirty="0"/>
          </a:p>
          <a:p>
            <a:r>
              <a:rPr lang="uk-UA" b="1" dirty="0"/>
              <a:t>Ефект бульбашки </a:t>
            </a:r>
            <a:r>
              <a:rPr lang="en-US" dirty="0" err="1"/>
              <a:t>формує</a:t>
            </a:r>
            <a:r>
              <a:rPr lang="en-US" dirty="0"/>
              <a:t> </a:t>
            </a:r>
            <a:r>
              <a:rPr lang="en-US" dirty="0" err="1"/>
              <a:t>інформаційну</a:t>
            </a:r>
            <a:r>
              <a:rPr lang="en-US" dirty="0"/>
              <a:t> </a:t>
            </a:r>
            <a:r>
              <a:rPr lang="uk-UA" dirty="0"/>
              <a:t>ізоляцію</a:t>
            </a:r>
            <a:r>
              <a:rPr lang="en-US" dirty="0"/>
              <a:t> з технічними та соціальними </a:t>
            </a:r>
            <a:r>
              <a:rPr lang="en-US" dirty="0" err="1"/>
              <a:t>наслідками</a:t>
            </a:r>
            <a:r>
              <a:rPr lang="en-US" dirty="0"/>
              <a:t>.</a:t>
            </a:r>
            <a:endParaRPr lang="uk-UA" dirty="0"/>
          </a:p>
          <a:p>
            <a:r>
              <a:rPr lang="uk-UA" b="1" dirty="0"/>
              <a:t>Остання це </a:t>
            </a:r>
            <a:r>
              <a:rPr lang="en-US" b="1" dirty="0" err="1"/>
              <a:t>нечутливість</a:t>
            </a:r>
            <a:r>
              <a:rPr lang="en-US" b="1" dirty="0"/>
              <a:t> </a:t>
            </a:r>
            <a:r>
              <a:rPr lang="en-US" b="1" dirty="0" err="1"/>
              <a:t>до</a:t>
            </a:r>
            <a:r>
              <a:rPr lang="en-US" b="1" dirty="0"/>
              <a:t> контексту. </a:t>
            </a:r>
            <a:r>
              <a:rPr lang="en-US" dirty="0" err="1"/>
              <a:t>Класичні</a:t>
            </a:r>
            <a:r>
              <a:rPr lang="en-US" dirty="0"/>
              <a:t> </a:t>
            </a:r>
            <a:r>
              <a:rPr lang="uk-UA" noProof="0" dirty="0"/>
              <a:t>методи не враховують ані часу доби, ані поточного настрою, ані географічного розташування користувача. </a:t>
            </a:r>
          </a:p>
          <a:p>
            <a:r>
              <a:rPr lang="uk-UA" b="1" u="sng" noProof="0" dirty="0"/>
              <a:t>Саме ці шість проблем визначили напрямки досліджень останніх десяти років. Гібридні підходи, нейронні мережі, навчання з підкріпленням та сучасні </a:t>
            </a:r>
            <a:r>
              <a:rPr lang="uk-UA" b="1" u="sng" noProof="0" dirty="0" err="1"/>
              <a:t>мовні</a:t>
            </a:r>
            <a:r>
              <a:rPr lang="uk-UA" b="1" u="sng" noProof="0" dirty="0"/>
              <a:t> моделі значною мірою орієнтовані на вирішення саме цих обмежень.</a:t>
            </a:r>
            <a:endParaRPr lang="en-US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noProof="0" dirty="0"/>
              <a:t>Перехід від евристичних алгоритмів до моделей машинного навчання дозволяє враховувати сотні різнорідних ознак одночасно у єдиній моделі. У лівій частині слайду наведено основні категорії ознак, що використовуються у реальних системах. </a:t>
            </a:r>
          </a:p>
          <a:p>
            <a:r>
              <a:rPr lang="uk-UA" noProof="0" dirty="0"/>
              <a:t>У правій частині слайду розглянуто чотири популярні алгоритми машинного навчання у прикладних інформаційних системах. </a:t>
            </a:r>
            <a:r>
              <a:rPr lang="uk-UA" b="1" noProof="0" dirty="0"/>
              <a:t>Логістична регресія </a:t>
            </a:r>
            <a:r>
              <a:rPr lang="uk-UA" noProof="0" dirty="0"/>
              <a:t>залишається базовою моделлю для задачі прогнозування ймовірності кліку. Незважаючи на простоту, вона добре масштабується і є інтерпретованою. </a:t>
            </a:r>
            <a:r>
              <a:rPr lang="uk-UA" b="1" noProof="0" dirty="0"/>
              <a:t>Градієнтний </a:t>
            </a:r>
            <a:r>
              <a:rPr lang="uk-UA" b="1" noProof="0" dirty="0" err="1"/>
              <a:t>бустинг</a:t>
            </a:r>
            <a:r>
              <a:rPr lang="uk-UA" b="1" noProof="0" dirty="0"/>
              <a:t> </a:t>
            </a:r>
            <a:r>
              <a:rPr lang="uk-UA" noProof="0" dirty="0"/>
              <a:t>— дає найкращі результати на табличних даних і широко використовується у промисловості. </a:t>
            </a:r>
            <a:r>
              <a:rPr lang="uk-UA" b="1" noProof="0" dirty="0" err="1"/>
              <a:t>Random</a:t>
            </a:r>
            <a:r>
              <a:rPr lang="uk-UA" b="1" noProof="0" dirty="0"/>
              <a:t> </a:t>
            </a:r>
            <a:r>
              <a:rPr lang="uk-UA" b="1" noProof="0" dirty="0" err="1"/>
              <a:t>Forest</a:t>
            </a:r>
            <a:r>
              <a:rPr lang="uk-UA" noProof="0" dirty="0"/>
              <a:t>, стійкі до шуму у даних і дають оцінку важливості ознак, що дуже корисно для аналізу та налагодження моделі. </a:t>
            </a:r>
            <a:r>
              <a:rPr lang="uk-UA" b="1" noProof="0" dirty="0"/>
              <a:t>Архітектура типу «Дві вежі» </a:t>
            </a:r>
            <a:r>
              <a:rPr lang="uk-UA" noProof="0" dirty="0"/>
              <a:t>— стала стандартом для задачі швидкого пошуку кандидатів: одна нейронна мережа генерує ознаки користувача, інша — об’єкта, після чого вектори порівнюються через скалярний добуток. Така архітектура дозволяє ефективно обслуговувати мільярди запитів за допомогою попередньо обчислених індексів.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Learning to Rank </a:t>
            </a:r>
            <a:r>
              <a:rPr lang="en-US" dirty="0"/>
              <a:t>формалізує задачу рекомендацій як задачу ранжування: замість прогнозу числової оцінки, ми вчимось </a:t>
            </a:r>
            <a:r>
              <a:rPr lang="en-US" dirty="0" err="1"/>
              <a:t>впорядковувати</a:t>
            </a:r>
            <a:r>
              <a:rPr lang="en-US" dirty="0"/>
              <a:t> </a:t>
            </a:r>
            <a:r>
              <a:rPr lang="uk-UA" dirty="0"/>
              <a:t>елементи</a:t>
            </a:r>
            <a:r>
              <a:rPr lang="en-US" dirty="0"/>
              <a:t> за релевантністю. </a:t>
            </a:r>
            <a:r>
              <a:rPr lang="uk-UA" b="1" noProof="0" dirty="0"/>
              <a:t>Існують три основні підходи. </a:t>
            </a:r>
            <a:r>
              <a:rPr lang="uk-UA" b="1" noProof="0" dirty="0" err="1"/>
              <a:t>Pointwise</a:t>
            </a:r>
            <a:r>
              <a:rPr lang="uk-UA" noProof="0" dirty="0"/>
              <a:t> — незалежна оцінка кожного об'єкта через регресію або класифікацію. </a:t>
            </a:r>
            <a:r>
              <a:rPr lang="uk-UA" b="1" noProof="0" dirty="0" err="1"/>
              <a:t>Pairwise</a:t>
            </a:r>
            <a:r>
              <a:rPr lang="uk-UA" noProof="0" dirty="0"/>
              <a:t> — порівняння пар об'єктів, як у моделях </a:t>
            </a:r>
            <a:r>
              <a:rPr lang="uk-UA" noProof="0" dirty="0" err="1"/>
              <a:t>RankNet</a:t>
            </a:r>
            <a:r>
              <a:rPr lang="uk-UA" noProof="0" dirty="0"/>
              <a:t> та </a:t>
            </a:r>
            <a:r>
              <a:rPr lang="uk-UA" noProof="0" dirty="0" err="1"/>
              <a:t>LambdaRank</a:t>
            </a:r>
            <a:r>
              <a:rPr lang="uk-UA" noProof="0" dirty="0"/>
              <a:t>, розроблених Microsoft. </a:t>
            </a:r>
            <a:r>
              <a:rPr lang="uk-UA" b="1" noProof="0" dirty="0" err="1"/>
              <a:t>Listwise</a:t>
            </a:r>
            <a:r>
              <a:rPr lang="uk-UA" noProof="0" dirty="0"/>
              <a:t> — оптимізація всього </a:t>
            </a:r>
            <a:r>
              <a:rPr lang="uk-UA" noProof="0" dirty="0" err="1"/>
              <a:t>ранжованого</a:t>
            </a:r>
            <a:r>
              <a:rPr lang="uk-UA" noProof="0" dirty="0"/>
              <a:t> списку одночасно, прикладами є </a:t>
            </a:r>
            <a:r>
              <a:rPr lang="uk-UA" noProof="0" dirty="0" err="1"/>
              <a:t>ListNet</a:t>
            </a:r>
            <a:r>
              <a:rPr lang="uk-UA" noProof="0" dirty="0"/>
              <a:t> та </a:t>
            </a:r>
            <a:r>
              <a:rPr lang="uk-UA" noProof="0" dirty="0" err="1"/>
              <a:t>LambdaMART</a:t>
            </a:r>
            <a:r>
              <a:rPr lang="uk-UA" noProof="0" dirty="0"/>
              <a:t>. Цей клас методів широко застосовується у пошукових системах Google та Bing, а також у рекомендаціях </a:t>
            </a:r>
            <a:r>
              <a:rPr lang="uk-UA" noProof="0" dirty="0" err="1"/>
              <a:t>LinkedIn</a:t>
            </a:r>
            <a:r>
              <a:rPr lang="uk-UA" noProof="0" dirty="0"/>
              <a:t> та </a:t>
            </a:r>
            <a:r>
              <a:rPr lang="uk-UA" noProof="0" dirty="0" err="1"/>
              <a:t>Twitter</a:t>
            </a:r>
            <a:r>
              <a:rPr lang="uk-UA" noProof="0" dirty="0"/>
              <a:t>. </a:t>
            </a:r>
          </a:p>
          <a:p>
            <a:r>
              <a:rPr lang="uk-UA" b="1" noProof="0" dirty="0"/>
              <a:t>Праворуч представлено </a:t>
            </a:r>
            <a:r>
              <a:rPr lang="uk-UA" b="1" noProof="0" dirty="0" err="1"/>
              <a:t>факторизаційні</a:t>
            </a:r>
            <a:r>
              <a:rPr lang="uk-UA" b="1" noProof="0" dirty="0"/>
              <a:t> машини</a:t>
            </a:r>
            <a:r>
              <a:rPr lang="uk-UA" noProof="0" dirty="0"/>
              <a:t>. Це узагальнення матричної </a:t>
            </a:r>
            <a:r>
              <a:rPr lang="uk-UA" noProof="0" dirty="0" err="1"/>
              <a:t>факторизації</a:t>
            </a:r>
            <a:r>
              <a:rPr lang="uk-UA" noProof="0" dirty="0"/>
              <a:t> для довільних ознак: не лише ідентифікаторів користувача та об'єкта, а й часу, географії тощо. </a:t>
            </a:r>
            <a:r>
              <a:rPr lang="uk-UA" noProof="0" dirty="0" err="1"/>
              <a:t>Факторизаційні</a:t>
            </a:r>
            <a:r>
              <a:rPr lang="uk-UA" noProof="0" dirty="0"/>
              <a:t> машини моделюють попарні взаємодії між усіма ознаками через прихований векторний простір, що особливо ефективно при розріджених даних. Окремий інтерес становить модель </a:t>
            </a:r>
            <a:r>
              <a:rPr lang="uk-UA" b="1" noProof="0" dirty="0" err="1"/>
              <a:t>DeepFM</a:t>
            </a:r>
            <a:r>
              <a:rPr lang="uk-UA" noProof="0" dirty="0"/>
              <a:t>, що поєднує </a:t>
            </a:r>
            <a:r>
              <a:rPr lang="uk-UA" noProof="0" dirty="0" err="1"/>
              <a:t>факторизаційні</a:t>
            </a:r>
            <a:r>
              <a:rPr lang="uk-UA" noProof="0" dirty="0"/>
              <a:t> машини з глибокою нейронною мережею: перша частина запам'ятовує часті комбінації ознак, друга — узагальнює рідкісні. Поглиблена версія, </a:t>
            </a:r>
            <a:r>
              <a:rPr lang="uk-UA" b="1" noProof="0" dirty="0" err="1"/>
              <a:t>Field-Aware</a:t>
            </a:r>
            <a:r>
              <a:rPr lang="uk-UA" b="1" noProof="0" dirty="0"/>
              <a:t> </a:t>
            </a:r>
            <a:r>
              <a:rPr lang="uk-UA" b="1" noProof="0" dirty="0" err="1"/>
              <a:t>Factorization</a:t>
            </a:r>
            <a:r>
              <a:rPr lang="uk-UA" b="1" noProof="0" dirty="0"/>
              <a:t> </a:t>
            </a:r>
            <a:r>
              <a:rPr lang="uk-UA" b="1" noProof="0" dirty="0" err="1"/>
              <a:t>Machines</a:t>
            </a:r>
            <a:r>
              <a:rPr lang="uk-UA" noProof="0" dirty="0"/>
              <a:t>, навчає окремий вектор для кожної пари полів ознак. Ці моделі активно використовуються в</a:t>
            </a:r>
            <a:r>
              <a:rPr lang="en-US" noProof="0" dirty="0"/>
              <a:t> </a:t>
            </a:r>
            <a:r>
              <a:rPr lang="en-US" noProof="0" dirty="0" err="1"/>
              <a:t>Aliexpress</a:t>
            </a:r>
            <a:r>
              <a:rPr lang="uk-UA" noProof="0" dirty="0"/>
              <a:t> та </a:t>
            </a:r>
            <a:r>
              <a:rPr lang="uk-UA" noProof="0" dirty="0" err="1"/>
              <a:t>TikTok</a:t>
            </a:r>
            <a:r>
              <a:rPr lang="uk-UA" noProof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Нейронні мережі кардинально змінили підхід до рекомендацій після 2016 року, відкривши можливість моделювання нелінійних взаємодій </a:t>
            </a:r>
            <a:r>
              <a:rPr lang="en-US" dirty="0" err="1"/>
              <a:t>між</a:t>
            </a:r>
            <a:r>
              <a:rPr lang="en-US" dirty="0"/>
              <a:t> </a:t>
            </a:r>
            <a:r>
              <a:rPr lang="uk-UA" dirty="0"/>
              <a:t>користувачами та елементами</a:t>
            </a:r>
            <a:r>
              <a:rPr lang="en-US" dirty="0"/>
              <a:t>. </a:t>
            </a:r>
            <a:r>
              <a:rPr lang="uk-UA" b="1" noProof="0" dirty="0"/>
              <a:t>Ключовою працею є стаття </a:t>
            </a:r>
            <a:r>
              <a:rPr lang="en-US" b="1" noProof="0" dirty="0"/>
              <a:t>H</a:t>
            </a:r>
            <a:r>
              <a:rPr lang="uk-UA" b="1" noProof="0" dirty="0"/>
              <a:t>е </a:t>
            </a:r>
            <a:r>
              <a:rPr lang="uk-UA" noProof="0" dirty="0"/>
              <a:t>та співавторів на конференції WWW </a:t>
            </a:r>
            <a:r>
              <a:rPr lang="en-US" noProof="0" dirty="0"/>
              <a:t>2017</a:t>
            </a:r>
            <a:r>
              <a:rPr lang="uk-UA" noProof="0" dirty="0"/>
              <a:t>, де було запропоновано нейронну </a:t>
            </a:r>
            <a:r>
              <a:rPr lang="uk-UA" noProof="0" dirty="0" err="1"/>
              <a:t>колаборативну</a:t>
            </a:r>
            <a:r>
              <a:rPr lang="uk-UA" noProof="0" dirty="0"/>
              <a:t> фільтрацію — </a:t>
            </a:r>
            <a:r>
              <a:rPr lang="uk-UA" noProof="0" dirty="0" err="1"/>
              <a:t>Neural</a:t>
            </a:r>
            <a:r>
              <a:rPr lang="uk-UA" noProof="0" dirty="0"/>
              <a:t> </a:t>
            </a:r>
            <a:r>
              <a:rPr lang="uk-UA" noProof="0" dirty="0" err="1"/>
              <a:t>Collaborative</a:t>
            </a:r>
            <a:r>
              <a:rPr lang="uk-UA" noProof="0" dirty="0"/>
              <a:t> </a:t>
            </a:r>
            <a:r>
              <a:rPr lang="uk-UA" noProof="0" dirty="0" err="1"/>
              <a:t>Filtering</a:t>
            </a:r>
            <a:r>
              <a:rPr lang="uk-UA" noProof="0" dirty="0"/>
              <a:t>. Принцип, виділений у синьому блоці, простий, але глибокий: замість скалярного добутку векторів, як у класичній матричній </a:t>
            </a:r>
            <a:r>
              <a:rPr lang="uk-UA" noProof="0" dirty="0" err="1"/>
              <a:t>факторизації</a:t>
            </a:r>
            <a:r>
              <a:rPr lang="uk-UA" noProof="0" dirty="0"/>
              <a:t>, використовується багатошаровий </a:t>
            </a:r>
            <a:r>
              <a:rPr lang="uk-UA" noProof="0" dirty="0" err="1"/>
              <a:t>перцептрон</a:t>
            </a:r>
            <a:r>
              <a:rPr lang="uk-UA" noProof="0" dirty="0"/>
              <a:t>. Це дозволяє моделювати нелінійні взаємодії між користувачами та об'єктами, які лінійна модель принципово не може виявити. </a:t>
            </a:r>
            <a:endParaRPr lang="en-US" noProof="0" dirty="0"/>
          </a:p>
          <a:p>
            <a:r>
              <a:rPr lang="uk-UA" b="1" noProof="0" dirty="0"/>
              <a:t>У нижній частині слайду наведено чотири еталонні архітектури. </a:t>
            </a:r>
            <a:r>
              <a:rPr lang="uk-UA" b="1" noProof="0" dirty="0" err="1"/>
              <a:t>Wide</a:t>
            </a:r>
            <a:r>
              <a:rPr lang="uk-UA" b="1" noProof="0" dirty="0"/>
              <a:t> </a:t>
            </a:r>
            <a:r>
              <a:rPr lang="uk-UA" b="1" noProof="0" dirty="0" err="1"/>
              <a:t>and</a:t>
            </a:r>
            <a:r>
              <a:rPr lang="uk-UA" b="1" noProof="0" dirty="0"/>
              <a:t> </a:t>
            </a:r>
            <a:r>
              <a:rPr lang="uk-UA" b="1" noProof="0" dirty="0" err="1"/>
              <a:t>Deep</a:t>
            </a:r>
            <a:r>
              <a:rPr lang="uk-UA" b="1" noProof="0" dirty="0"/>
              <a:t> від Google </a:t>
            </a:r>
            <a:r>
              <a:rPr lang="uk-UA" noProof="0" dirty="0"/>
              <a:t>поєднує запам'ятовувальну частину з глибокою </a:t>
            </a:r>
            <a:r>
              <a:rPr lang="uk-UA" noProof="0" dirty="0" err="1"/>
              <a:t>узагальнювальною</a:t>
            </a:r>
            <a:r>
              <a:rPr lang="uk-UA" noProof="0" dirty="0"/>
              <a:t>. Саме ця архітектура лежить в основі рекомендацій </a:t>
            </a:r>
            <a:r>
              <a:rPr lang="uk-UA" b="1" noProof="0" dirty="0"/>
              <a:t>Google </a:t>
            </a:r>
            <a:r>
              <a:rPr lang="uk-UA" b="1" noProof="0" dirty="0" err="1"/>
              <a:t>Play</a:t>
            </a:r>
            <a:r>
              <a:rPr lang="uk-UA" b="1" noProof="0" dirty="0"/>
              <a:t> </a:t>
            </a:r>
            <a:r>
              <a:rPr lang="uk-UA" b="1" noProof="0" dirty="0" err="1"/>
              <a:t>Store</a:t>
            </a:r>
            <a:r>
              <a:rPr lang="uk-UA" noProof="0" dirty="0"/>
              <a:t>. </a:t>
            </a:r>
            <a:r>
              <a:rPr lang="uk-UA" b="1" noProof="0" dirty="0"/>
              <a:t>BERT4Rec</a:t>
            </a:r>
            <a:r>
              <a:rPr lang="uk-UA" noProof="0" dirty="0"/>
              <a:t> — </a:t>
            </a:r>
            <a:r>
              <a:rPr lang="uk-UA" noProof="0" dirty="0" err="1"/>
              <a:t>двонаправлений</a:t>
            </a:r>
            <a:r>
              <a:rPr lang="uk-UA" noProof="0" dirty="0"/>
              <a:t> </a:t>
            </a:r>
            <a:r>
              <a:rPr lang="uk-UA" noProof="0" dirty="0" err="1"/>
              <a:t>трансформер</a:t>
            </a:r>
            <a:r>
              <a:rPr lang="uk-UA" noProof="0" dirty="0"/>
              <a:t> для послідовностей взаємодій. Принцип запозичено з обробки природної мови: маскування випадкових елементів послідовності та їх відновлення. </a:t>
            </a:r>
            <a:r>
              <a:rPr lang="uk-UA" b="1" noProof="0" dirty="0" err="1"/>
              <a:t>SASRec</a:t>
            </a:r>
            <a:r>
              <a:rPr lang="uk-UA" noProof="0" dirty="0"/>
              <a:t> — також </a:t>
            </a:r>
            <a:r>
              <a:rPr lang="uk-UA" noProof="0" dirty="0" err="1"/>
              <a:t>трансформерна</a:t>
            </a:r>
            <a:r>
              <a:rPr lang="uk-UA" noProof="0" dirty="0"/>
              <a:t> архітектура, але з однобічною </a:t>
            </a:r>
            <a:r>
              <a:rPr lang="uk-UA" noProof="0" dirty="0" err="1"/>
              <a:t>самоувагою</a:t>
            </a:r>
            <a:r>
              <a:rPr lang="uk-UA" noProof="0" dirty="0"/>
              <a:t>. Працює швидше за рекурентні мережі і краще на довгих послідовностях. І нарешті </a:t>
            </a:r>
            <a:r>
              <a:rPr lang="uk-UA" b="1" noProof="0" dirty="0" err="1"/>
              <a:t>YouTube</a:t>
            </a:r>
            <a:r>
              <a:rPr lang="uk-UA" b="1" noProof="0" dirty="0"/>
              <a:t> </a:t>
            </a:r>
            <a:r>
              <a:rPr lang="uk-UA" b="1" noProof="0" dirty="0" err="1"/>
              <a:t>Deep</a:t>
            </a:r>
            <a:r>
              <a:rPr lang="uk-UA" b="1" noProof="0" dirty="0"/>
              <a:t> </a:t>
            </a:r>
            <a:r>
              <a:rPr lang="uk-UA" b="1" noProof="0" dirty="0" err="1"/>
              <a:t>Neural</a:t>
            </a:r>
            <a:r>
              <a:rPr lang="uk-UA" b="1" noProof="0" dirty="0"/>
              <a:t> </a:t>
            </a:r>
            <a:r>
              <a:rPr lang="uk-UA" b="1" noProof="0" dirty="0" err="1"/>
              <a:t>Network</a:t>
            </a:r>
            <a:r>
              <a:rPr lang="uk-UA" b="1" noProof="0" dirty="0"/>
              <a:t> </a:t>
            </a:r>
            <a:r>
              <a:rPr lang="uk-UA" noProof="0" dirty="0"/>
              <a:t>— мабуть, найвпливовіша промислова архітектура у галузі. </a:t>
            </a:r>
            <a:r>
              <a:rPr lang="uk-UA" noProof="0" dirty="0" err="1"/>
              <a:t>Двостадійна</a:t>
            </a:r>
            <a:r>
              <a:rPr lang="uk-UA" noProof="0" dirty="0"/>
              <a:t> модель: спочатку глибока нейронна мережа для генерації кандидатів, потім інша — для ранжування. </a:t>
            </a:r>
            <a:r>
              <a:rPr lang="uk-UA" b="1" noProof="0" dirty="0"/>
              <a:t>Саме ця система щодня обслуговує мільярди користувачів і відеозаписів, ставши еталоном для індустрії.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Автоенкодери</a:t>
            </a:r>
            <a:r>
              <a:rPr lang="en-US" dirty="0"/>
              <a:t> природно підходять для задачі рекомендацій: encoder стискає профіль user у компактне latent представлення, decoder відновлює його — прогнозуючи оцінки для всіх items. VAE-CF додає ймовірнісну інтерпретацію: замість точки в латентному просторі, user представляється розподілом, що покращує узагальнення. RNN та GRU моделюють сесійну поведінку: черговість взаємодій має значення — те, що user переглянув три хвилини тому, важливіше за перегляд місячної давності. CNN </a:t>
            </a:r>
            <a:r>
              <a:rPr lang="en-US" dirty="0" err="1"/>
              <a:t>на</a:t>
            </a:r>
            <a:r>
              <a:rPr lang="en-US" dirty="0"/>
              <a:t> зображеннях або аудіо-спектрограмах дозволяє рекомендувати </a:t>
            </a:r>
            <a:r>
              <a:rPr lang="en-US" dirty="0" err="1"/>
              <a:t>на</a:t>
            </a:r>
            <a:r>
              <a:rPr lang="en-US" dirty="0"/>
              <a:t> основі мультимедійного контенту, що особливо важливо для fashion рекомендацій та музичних сервісів.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Transformer-архітектура, спочатку розроблена для NLP, виявилась надзвичайно ефективною і для рекомендацій. BERT4Rec використовує двонаправлений self-attention: маскування випадкових елементів послідовності та їх відновлення є аналогом masked language modeling для послідовностей взаємодій. LLM відкривають принципово нові можливості: zero-shot рекомендації лише </a:t>
            </a:r>
            <a:r>
              <a:rPr lang="en-US" dirty="0" err="1"/>
              <a:t>на</a:t>
            </a:r>
            <a:r>
              <a:rPr lang="en-US" dirty="0"/>
              <a:t> основі текстового опису, генерація персоналізованих пояснень, та conversational recommendations у форматі природного діалогу. P5 є яскравим прикладом unified підходу: єдина LLM для п'яти різних рекомендаційних задач через text-to-text формат, що відкриває шлях до справді загальних рекомендаційних систем.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Граф є природним способом представлення рекомендаційної задачі: users та items як вузли двочасткового графу, взаємодії — як ребра між ними. GNN поширює інформацію вздовж ребер, збагачуючи представлення кожного вузла інформацією про його k-hop сусідів. NGCF уперше застосував цей підхід до CF, але LightGCN показав, що спрощення — видалення нелінійних трансформацій — дає кращий результат і є більш ефективним. PinSage від Pinterest демонструє масштабування GNN до мільярдів вузлів у реальній системі. Knowledge Graph додає семантичні зв'язки між entities, що суттєво покращує cold-start та пояснюваність.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Reinforcement Learning переосмислює рекомендацію як послідовне прийняття рішень: кожна рекомендація — дія агента, користувацька реакція — сигнал нагороди. Ключова перевага RL — оптимізація довгострокової залученості, а не короткострокових кліків, що краще відповідає реальним бізнес-цілям платформ. Multi-armed bandit методи особливо популярні в промисловості: вони швидко адаптуються до нових даних і добре вирішують exploration-exploitation баланс. SlateQ вирішує задачу рекомендації цілого списку items одночасно, що більш реалістично відображає реальні сценарії взаємодії з системою.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Кожна з чотирьох платформ розробила унікальну архітектуру, адаптовану до власного контенту та бізнес-цілей. Netflix інвестує в персоналізацію навіть обкладинок — один фільм може мати різні мініатюри для різних users. YouTube використовує watch-time як основну метрику нагороди — революційне рішення: не те, що клікнули, а те, що подивились до кінця. Spotify вирізняється поєднанням word2vec </a:t>
            </a:r>
            <a:r>
              <a:rPr lang="en-US" dirty="0" err="1"/>
              <a:t>на</a:t>
            </a:r>
            <a:r>
              <a:rPr lang="en-US" dirty="0"/>
              <a:t> текстах плейлистів і CNN </a:t>
            </a:r>
            <a:r>
              <a:rPr lang="en-US" dirty="0" err="1"/>
              <a:t>на</a:t>
            </a:r>
            <a:r>
              <a:rPr lang="en-US" dirty="0"/>
              <a:t> аудіо, що дозволяє долати cold start для нових треків без оцінок від users. Amazon залишається піонером item-based CF і досі ефективно застосовує цей підхід у поєднанні з сучасними нейронними методами.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Оцінка якості рекомендаційних систем є нетривіальним завданням з кількома вимірами. Precision та Recall — класичні метрики з Information Retrieval, адаптовані до top-N задачі: вони вимірюють точність і повноту набору рекомендованих items. NDCG є золотим стандартом для задач ранжування: вона враховує позицію item у списку — чим вища позиція релевантного item, тим більший внесок у підсумкову оцінку. Важливо розуміти різницю між offline та online оцінкою: хороший NDCG </a:t>
            </a:r>
            <a:r>
              <a:rPr lang="en-US" dirty="0" err="1"/>
              <a:t>на</a:t>
            </a:r>
            <a:r>
              <a:rPr lang="en-US" dirty="0"/>
              <a:t> тестовій вибірці не гарантує покращення реальних KPI — необхідне A/B тестування </a:t>
            </a:r>
            <a:r>
              <a:rPr lang="en-US" dirty="0" err="1"/>
              <a:t>на</a:t>
            </a:r>
            <a:r>
              <a:rPr lang="en-US" dirty="0"/>
              <a:t> живому трафіку. Coverage, Diversity та Serendipity вимірюють системні властивості, важливі для бізнесу та user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Етичні аспекти рекомендаційних систем набувають дедалі більшої уваги як у наукових колах, так і в регуляторному просторі. Европейський AI Act та GDPR безпосередньо стосуються рекомендаційних систем: платформи зобов'язані надавати пояснення рекомендацій і забезпечувати user контроль над алгоритмом. Filter bubble — не суто технічна проблема: дослідження показують, що алгоритмічна персоналізація може посилювати поляризацію суспільства та ускладнювати доступ до різноманітних точок зору. Алгоритмічна упередженість відтворює та підсилює соціальні стереотипи, закодовані у навчальних даних, що вимагає активного втручання дослідників і розробників.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Підсумовуючи, рекомендаційні системи пройшли шлях від простих евристик до складних нейронних архітектур, що поєднують embeddings, графові методи та великі мовні моделі. Попри значний прогрес, фундаментальні виклики — cold start, popularity bias, пояснюваність, приватність — залишаються відкритими дослідницькими питаннями і визначають перспективи наукових досліджень. Майбутнє галузі лежить у поєднанні потужності LLM з точністю CF та відповідальністю federated learning. Наведені публікації є відправною точкою для глибшого вивчення конкретних архітектур і методів — рекомендую розпочати з роботи He et al. 2017 та огляду Koren et al. 2009.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5475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994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79202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9578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420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0643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0080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4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92556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0034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7654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154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643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sv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8.svg"/><Relationship Id="rId15" Type="http://schemas.openxmlformats.org/officeDocument/2006/relationships/image" Target="../media/image16.jp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 dirty="0"/>
          </a:p>
        </p:txBody>
      </p:sp>
      <p:sp>
        <p:nvSpPr>
          <p:cNvPr id="6" name="Shape 4"/>
          <p:cNvSpPr/>
          <p:nvPr/>
        </p:nvSpPr>
        <p:spPr>
          <a:xfrm>
            <a:off x="165811" y="3790714"/>
            <a:ext cx="65649" cy="86069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 dirty="0"/>
          </a:p>
        </p:txBody>
      </p:sp>
      <p:sp>
        <p:nvSpPr>
          <p:cNvPr id="7" name="Text 5"/>
          <p:cNvSpPr/>
          <p:nvPr/>
        </p:nvSpPr>
        <p:spPr>
          <a:xfrm>
            <a:off x="981724" y="1968239"/>
            <a:ext cx="727534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800" b="1" noProof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Рекомендаційні</a:t>
            </a:r>
            <a:r>
              <a:rPr lang="en-US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2800" b="1" noProof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</a:t>
            </a:r>
            <a:r>
              <a:rPr lang="en-US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uk-UA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теоретичні підходи</a:t>
            </a:r>
            <a:r>
              <a:rPr lang="en-US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76939" y="2641627"/>
            <a:ext cx="21945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 dirty="0"/>
          </a:p>
        </p:txBody>
      </p:sp>
      <p:sp>
        <p:nvSpPr>
          <p:cNvPr id="15" name="Text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Львів 2026</a:t>
            </a:r>
            <a:endParaRPr lang="en-US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0AF20D-B4FA-A133-8D0B-41F858E5D251}"/>
              </a:ext>
            </a:extLst>
          </p:cNvPr>
          <p:cNvSpPr txBox="1"/>
          <p:nvPr/>
        </p:nvSpPr>
        <p:spPr>
          <a:xfrm>
            <a:off x="165811" y="123478"/>
            <a:ext cx="881237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1050" b="1" dirty="0">
                <a:effectLst/>
                <a:ea typeface="Times New Roman" panose="02020603050405020304" pitchFamily="18" charset="0"/>
              </a:rPr>
              <a:t>МІНІСТЕРСТВО ОСВІТИ І НАУКИ УКРАЇНИ</a:t>
            </a:r>
            <a:endParaRPr lang="uk-UA" sz="1050" dirty="0">
              <a:effectLst/>
              <a:ea typeface="Times New Roman" panose="02020603050405020304" pitchFamily="18" charset="0"/>
            </a:endParaRPr>
          </a:p>
          <a:p>
            <a:pPr algn="ctr"/>
            <a:r>
              <a:rPr lang="uk-UA" sz="1050" b="1" dirty="0">
                <a:effectLst/>
                <a:ea typeface="Times New Roman" panose="02020603050405020304" pitchFamily="18" charset="0"/>
              </a:rPr>
              <a:t>ЛЬВІВСЬКИЙ НАЦІОНАЛЬНИЙ УНІВЕРСИТЕТ ІМЕНІ ІВАНА ФРАНКА</a:t>
            </a:r>
          </a:p>
          <a:p>
            <a:pPr algn="ctr"/>
            <a:r>
              <a:rPr lang="uk-UA" sz="1200" dirty="0">
                <a:effectLst/>
                <a:ea typeface="Times New Roman" panose="02020603050405020304" pitchFamily="18" charset="0"/>
              </a:rPr>
              <a:t>Факультет прикладної математики та інформатики</a:t>
            </a:r>
            <a:endParaRPr lang="uk-UA" sz="1200" b="1" dirty="0">
              <a:ea typeface="Times New Roman" panose="02020603050405020304" pitchFamily="18" charset="0"/>
            </a:endParaRPr>
          </a:p>
          <a:p>
            <a:pPr algn="ctr"/>
            <a:r>
              <a:rPr lang="uk-UA" sz="1200" dirty="0">
                <a:effectLst/>
                <a:ea typeface="Times New Roman" panose="02020603050405020304" pitchFamily="18" charset="0"/>
              </a:rPr>
              <a:t>Кафедра дискретного аналізу та інформаційних систем</a:t>
            </a:r>
          </a:p>
        </p:txBody>
      </p:sp>
      <p:sp>
        <p:nvSpPr>
          <p:cNvPr id="23" name="Підзаголовок 2">
            <a:extLst>
              <a:ext uri="{FF2B5EF4-FFF2-40B4-BE49-F238E27FC236}">
                <a16:creationId xmlns:a16="http://schemas.microsoft.com/office/drawing/2014/main" id="{1E87CA1B-BBA6-6651-4B6A-4910CC291CED}"/>
              </a:ext>
            </a:extLst>
          </p:cNvPr>
          <p:cNvSpPr txBox="1">
            <a:spLocks/>
          </p:cNvSpPr>
          <p:nvPr/>
        </p:nvSpPr>
        <p:spPr>
          <a:xfrm>
            <a:off x="2074503" y="4876006"/>
            <a:ext cx="5089785" cy="2674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sz="1200" dirty="0">
                <a:solidFill>
                  <a:schemeClr val="tx1"/>
                </a:solidFill>
              </a:rPr>
              <a:t>м. Львів - </a:t>
            </a:r>
            <a:r>
              <a:rPr lang="en-US" sz="1200" dirty="0">
                <a:solidFill>
                  <a:schemeClr val="tx1"/>
                </a:solidFill>
              </a:rPr>
              <a:t>2026</a:t>
            </a:r>
            <a:endParaRPr lang="uk-UA" sz="1200" dirty="0">
              <a:solidFill>
                <a:schemeClr val="tx1"/>
              </a:solidFill>
            </a:endParaRPr>
          </a:p>
        </p:txBody>
      </p:sp>
      <p:sp>
        <p:nvSpPr>
          <p:cNvPr id="24" name="Підзаголовок 2">
            <a:extLst>
              <a:ext uri="{FF2B5EF4-FFF2-40B4-BE49-F238E27FC236}">
                <a16:creationId xmlns:a16="http://schemas.microsoft.com/office/drawing/2014/main" id="{F68161B1-D8AD-32E8-5196-FE052F16628B}"/>
              </a:ext>
            </a:extLst>
          </p:cNvPr>
          <p:cNvSpPr txBox="1">
            <a:spLocks/>
          </p:cNvSpPr>
          <p:nvPr/>
        </p:nvSpPr>
        <p:spPr>
          <a:xfrm>
            <a:off x="237391" y="3832843"/>
            <a:ext cx="2469960" cy="108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uk-UA" sz="1400" b="1" dirty="0">
                <a:solidFill>
                  <a:schemeClr val="tx1"/>
                </a:solidFill>
              </a:rPr>
              <a:t>Доповідач:</a:t>
            </a:r>
          </a:p>
          <a:p>
            <a:pPr algn="l"/>
            <a:r>
              <a:rPr lang="uk-UA" sz="1400" dirty="0">
                <a:solidFill>
                  <a:schemeClr val="tx1"/>
                </a:solidFill>
              </a:rPr>
              <a:t>аспірант</a:t>
            </a:r>
          </a:p>
          <a:p>
            <a:pPr algn="l"/>
            <a:r>
              <a:rPr lang="uk-UA" sz="1400" dirty="0">
                <a:solidFill>
                  <a:schemeClr val="tx1"/>
                </a:solidFill>
              </a:rPr>
              <a:t>Романюк Богдан </a:t>
            </a:r>
            <a:r>
              <a:rPr lang="uk-UA" sz="1400" dirty="0" err="1">
                <a:solidFill>
                  <a:schemeClr val="tx1"/>
                </a:solidFill>
              </a:rPr>
              <a:t>Ігорович</a:t>
            </a:r>
            <a:endParaRPr lang="uk-UA" sz="1400" dirty="0">
              <a:solidFill>
                <a:schemeClr val="tx1"/>
              </a:solidFill>
            </a:endParaRPr>
          </a:p>
        </p:txBody>
      </p:sp>
      <p:pic>
        <p:nvPicPr>
          <p:cNvPr id="27" name="Picture 2" descr="ЛНУ Франка - Академія фінансового моніторингу">
            <a:extLst>
              <a:ext uri="{FF2B5EF4-FFF2-40B4-BE49-F238E27FC236}">
                <a16:creationId xmlns:a16="http://schemas.microsoft.com/office/drawing/2014/main" id="{9A93A6F0-2833-F570-8752-376A6BFDF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341" y="941066"/>
            <a:ext cx="753317" cy="78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300" b="1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рекомендаційна система?</a:t>
            </a:r>
            <a:endParaRPr lang="uk-UA" sz="23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0" y="771433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Визначення: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0" y="18848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компоненти: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887" y="2113321"/>
            <a:ext cx="5463657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 — суб'єкти, для яких генеруються рекомендації</a:t>
            </a:r>
            <a:endParaRPr lang="uk-UA" sz="125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Об'єкти — товари, контент або послуги, що рекомендуються</a:t>
            </a:r>
            <a:endParaRPr lang="uk-UA" sz="125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Взаємодії — оцінки, кліки, покупки, тривалість перегляду</a:t>
            </a:r>
            <a:endParaRPr lang="uk-UA" sz="125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— модель, що прогнозує цінність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елементів</a:t>
            </a: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користувача</a:t>
            </a:r>
            <a:endParaRPr lang="uk-UA" sz="125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 — спосіб подачі рекомендацій: карусель, список, </a:t>
            </a:r>
            <a:r>
              <a:rPr lang="uk-UA" sz="125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тощо.</a:t>
            </a:r>
            <a:endParaRPr lang="uk-UA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5532120" y="850392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5532120" y="850392"/>
            <a:ext cx="109728" cy="11430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5715000" y="94183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12801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noProof="0" dirty="0"/>
              <a:t>Оцінки, кліки, покупки</a:t>
            </a:r>
            <a:r>
              <a:rPr lang="en-US" sz="1400" dirty="0"/>
              <a:t>, </a:t>
            </a:r>
            <a:r>
              <a:rPr lang="uk-UA" sz="1400" noProof="0" dirty="0"/>
              <a:t>демографія</a:t>
            </a:r>
            <a:r>
              <a:rPr lang="uk-UA" sz="1400" dirty="0"/>
              <a:t> та контекстна інформація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70395" y="1993392"/>
            <a:ext cx="299085" cy="23774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2221992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5532120" y="2221992"/>
            <a:ext cx="10972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5715000" y="231343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26517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noProof="0" dirty="0"/>
              <a:t>Алгоритм</a:t>
            </a:r>
            <a:r>
              <a:rPr lang="en-US" sz="1400" dirty="0"/>
              <a:t> </a:t>
            </a:r>
            <a:r>
              <a:rPr lang="uk-UA" sz="1400" noProof="0" dirty="0"/>
              <a:t>аналізу</a:t>
            </a:r>
            <a:r>
              <a:rPr lang="uk-UA" sz="1400" dirty="0"/>
              <a:t> даних </a:t>
            </a:r>
            <a:r>
              <a:rPr lang="uk-UA" sz="1400" noProof="0" dirty="0"/>
              <a:t>та прогнозування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70395" y="3371469"/>
            <a:ext cx="320040" cy="256032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3593592"/>
            <a:ext cx="3291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5532120" y="3593592"/>
            <a:ext cx="10972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5715000" y="368503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40233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/>
              <a:t>Список </a:t>
            </a:r>
            <a:r>
              <a:rPr lang="uk-UA" sz="1400" dirty="0" err="1"/>
              <a:t>top</a:t>
            </a:r>
            <a:r>
              <a:rPr lang="uk-UA" sz="1400" dirty="0"/>
              <a:t>-k релевантних об'єктів</a:t>
            </a: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57908B1E-F80C-8222-3F85-474039E43BDD}"/>
              </a:ext>
            </a:extLst>
          </p:cNvPr>
          <p:cNvSpPr/>
          <p:nvPr/>
        </p:nvSpPr>
        <p:spPr>
          <a:xfrm>
            <a:off x="193166" y="1087314"/>
            <a:ext cx="5110353" cy="77062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r>
              <a:rPr lang="uk-UA" sz="1400" noProof="0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Рекомендаційна система — інформаційно-фільтруюча система, що автоматично </a:t>
            </a:r>
            <a:r>
              <a:rPr lang="uk-UA" sz="1400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аналізує</a:t>
            </a:r>
            <a:r>
              <a:rPr lang="uk-UA" sz="1400" noProof="0" dirty="0">
                <a:solidFill>
                  <a:srgbClr val="0070C0"/>
                </a:solidFill>
                <a:ea typeface="Calibri" pitchFamily="34" charset="-122"/>
                <a:cs typeface="Calibri" pitchFamily="34" charset="-120"/>
              </a:rPr>
              <a:t> вподобання користувача та пропонує релевантні об'єкти з великого каталогу елементів.</a:t>
            </a:r>
            <a:endParaRPr lang="uk-UA" sz="1400" noProof="0" dirty="0">
              <a:solidFill>
                <a:srgbClr val="0070C0"/>
              </a:solidFill>
            </a:endParaRPr>
          </a:p>
          <a:p>
            <a:endParaRPr lang="uk-UA" sz="1400" noProof="0" dirty="0">
              <a:solidFill>
                <a:srgbClr val="0070C0"/>
              </a:solidFill>
            </a:endParaRP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69D5E27C-3EF8-2564-CB4A-4588725B684C}"/>
              </a:ext>
            </a:extLst>
          </p:cNvPr>
          <p:cNvSpPr/>
          <p:nvPr/>
        </p:nvSpPr>
        <p:spPr>
          <a:xfrm>
            <a:off x="94869" y="1087313"/>
            <a:ext cx="98298" cy="7706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99F5D85-D3CD-E1C8-1856-B677F26777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367" y="3388095"/>
            <a:ext cx="2633108" cy="17554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теми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850392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20040" y="850392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393192" y="1216152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" y="1627632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Доходів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Amazon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рекомендацій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850392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2468880" y="850392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2542032" y="120700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42032" y="1627632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Переглядів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Netflix</a:t>
            </a:r>
            <a:endParaRPr lang="en-US" sz="1050" dirty="0"/>
          </a:p>
          <a:p>
            <a:pPr marL="0" indent="0" algn="ctr">
              <a:buNone/>
            </a:pPr>
            <a:r>
              <a:rPr lang="uk-UA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завдяки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0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882396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4617720" y="850392"/>
            <a:ext cx="2011680" cy="7315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4690872" y="12039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1.7B+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90872" y="1728216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</a:t>
            </a:r>
            <a:r>
              <a:rPr lang="uk-UA" sz="10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uk-UA" sz="1050" noProof="0" dirty="0"/>
          </a:p>
          <a:p>
            <a:pPr marL="0" indent="0" algn="ctr">
              <a:buNone/>
            </a:pPr>
            <a:r>
              <a:rPr lang="uk-UA" sz="10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щодня отримують </a:t>
            </a:r>
            <a:r>
              <a:rPr lang="uk-UA" sz="105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</a:t>
            </a:r>
            <a:r>
              <a:rPr lang="uk-UA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ації</a:t>
            </a:r>
            <a:endParaRPr lang="uk-UA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6766560" y="850392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6766560" y="850392"/>
            <a:ext cx="2011680" cy="73152"/>
          </a:xfrm>
          <a:prstGeom prst="rect">
            <a:avLst/>
          </a:prstGeom>
          <a:solidFill>
            <a:srgbClr val="1ED760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6839712" y="1207008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000" dirty="0">
              <a:solidFill>
                <a:srgbClr val="1ED76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39712" y="1627632"/>
            <a:ext cx="1865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Відтворень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Spotify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персональних плейлистів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2608" y="23957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це важливо для дослідника: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" y="2688336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b="1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Рекомендаційні системи </a:t>
            </a: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одна з найбільш економічно значущих технологій сучасних цифрових платформ генерують мільярди доларів прибутку щороку</a:t>
            </a:r>
            <a:endParaRPr lang="uk-UA" sz="125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Активна наукова спільнота: щорічна конференція </a:t>
            </a:r>
            <a:r>
              <a:rPr lang="en-US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</a:t>
            </a:r>
            <a:r>
              <a:rPr lang="en-US" sz="125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RecSys</a:t>
            </a: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тематичні секції на </a:t>
            </a:r>
            <a:r>
              <a:rPr lang="en-US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KDD, WWW, SIGIR, </a:t>
            </a:r>
            <a:r>
              <a:rPr lang="en-US" sz="125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</a:t>
            </a:r>
            <a:r>
              <a:rPr lang="en-US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ICML</a:t>
            </a:r>
            <a:endParaRPr lang="en-US" sz="125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b="1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Перетин дисциплін: </a:t>
            </a: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математика (лінійна алгебра, теорія ймовірностей), ML, NLP, графові методи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етика</a:t>
            </a:r>
            <a:endParaRPr lang="uk-UA" sz="125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Відкриті задачі: </a:t>
            </a:r>
          </a:p>
          <a:p>
            <a:pPr marL="742950" lvl="1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q"/>
            </a:pPr>
            <a:r>
              <a:rPr lang="uk-UA" sz="125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Пояснюваність</a:t>
            </a:r>
            <a:endParaRPr lang="uk-UA" sz="125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q"/>
            </a:pP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Справедливість</a:t>
            </a:r>
          </a:p>
          <a:p>
            <a:pPr marL="742950" lvl="1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q"/>
            </a:pPr>
            <a:r>
              <a:rPr lang="uk-UA" sz="125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Приватність</a:t>
            </a:r>
            <a:endParaRPr lang="uk-UA" sz="125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q"/>
            </a:pP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r>
              <a:rPr lang="uk-UA" sz="1250" noProof="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овгострокова</a:t>
            </a:r>
            <a:r>
              <a:rPr lang="uk-UA" sz="125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оптимізація залученості</a:t>
            </a:r>
            <a:endParaRPr lang="uk-UA" sz="1250" noProof="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B59E87-266F-8D07-E47F-11E17426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39" y="1026096"/>
            <a:ext cx="992387" cy="2997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5DC011F-24A2-CE87-693B-A80E1B515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055" y="996696"/>
            <a:ext cx="1068511" cy="28883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4AA76AB-7C19-9B15-1790-A881FC734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408" y="996696"/>
            <a:ext cx="1228304" cy="27514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7985DDE-139E-95A6-46C1-D719947E79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368" y="942368"/>
            <a:ext cx="1211416" cy="36468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8974A82-9611-8BCA-82E7-1BB76BB7F2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2728" y="3995015"/>
            <a:ext cx="3553968" cy="5321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використовуються рекомендаційні системи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29768" y="987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8408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Відеоплатформи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2984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YouTube, Disney+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4340" y="15270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рекомендують: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664208"/>
            <a:ext cx="2377204" cy="334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Фільми, серіали, кліпи за інтересами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72968" y="822960"/>
            <a:ext cx="26974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3172968" y="82296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282696" y="987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31336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Стрімінг музики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31336" y="12984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Spotify, Apple Music, Deezer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82696" y="15483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рекомендують: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82696" y="1659636"/>
            <a:ext cx="24688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Треки, плейлисти, нові виконавці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25896" y="822960"/>
            <a:ext cx="26974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9" name="Shape 17"/>
          <p:cNvSpPr/>
          <p:nvPr/>
        </p:nvSpPr>
        <p:spPr>
          <a:xfrm>
            <a:off x="6025896" y="82296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6135624" y="987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84264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84264" y="12984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ebay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Rozetka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35624" y="1554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рекомендують: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35624" y="1696212"/>
            <a:ext cx="2468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Товари, аксесуари, комплектуючі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880360"/>
            <a:ext cx="26974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26974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Text 25"/>
          <p:cNvSpPr/>
          <p:nvPr/>
        </p:nvSpPr>
        <p:spPr>
          <a:xfrm>
            <a:off x="429768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📰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78408" y="3063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Новини та медіа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" y="33558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News, Flipboard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0624" y="36011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рекомендують: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0624" y="38144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Статті за темами, джерела, тренди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72968" y="2880360"/>
            <a:ext cx="26974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3" name="Shape 31"/>
          <p:cNvSpPr/>
          <p:nvPr/>
        </p:nvSpPr>
        <p:spPr>
          <a:xfrm>
            <a:off x="3172968" y="2880360"/>
            <a:ext cx="26974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4" name="Text 32"/>
          <p:cNvSpPr/>
          <p:nvPr/>
        </p:nvSpPr>
        <p:spPr>
          <a:xfrm>
            <a:off x="3282696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831336" y="3063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Соцмережі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31336" y="33558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TikTok, Facebook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82696" y="3611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рекомендують: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82696" y="38023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Контент, рекламу, нових друзів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25896" y="2880360"/>
            <a:ext cx="26974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0" name="Shape 38"/>
          <p:cNvSpPr/>
          <p:nvPr/>
        </p:nvSpPr>
        <p:spPr>
          <a:xfrm>
            <a:off x="6025896" y="2880360"/>
            <a:ext cx="269748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1" name="Text 39"/>
          <p:cNvSpPr/>
          <p:nvPr/>
        </p:nvSpPr>
        <p:spPr>
          <a:xfrm>
            <a:off x="6135624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🏨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684264" y="3063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Подорожі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684264" y="33558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Airbnb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35624" y="36073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рекомендують: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35624" y="38327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Готелі, квартири, напрямки</a:t>
            </a:r>
            <a:endParaRPr lang="en-US" sz="10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9599F6E-AC94-CA20-E8DF-537E58D6F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15" y="2045021"/>
            <a:ext cx="631034" cy="17057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5D89E7A-0D96-5EFA-8FA8-8E219665E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546" y="2066466"/>
            <a:ext cx="797132" cy="178557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ADFE5AE4-8E22-8872-E574-A3E075DFD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2231" y="2233438"/>
            <a:ext cx="666663" cy="36183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D747EDE-2166-D2F8-1725-05E749A58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5067" y="2034540"/>
            <a:ext cx="799104" cy="240564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3190B660-756B-1753-D9AE-0670D784E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32826" y="2264181"/>
            <a:ext cx="330150" cy="3301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1822E41-EB82-CBBD-BA5D-AE2DA6151C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8424" y="2034540"/>
            <a:ext cx="983369" cy="27298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9CEEF86-E0C4-0ABC-E24A-09643A4CDB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8070" y="2067036"/>
            <a:ext cx="662677" cy="200184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9F544121-745C-875F-3D06-D3C3B87E26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30306" y="2275104"/>
            <a:ext cx="782163" cy="31364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DEE7086-08BC-EE89-6BC3-2ED4852DF1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6096" y="2018792"/>
            <a:ext cx="978408" cy="22623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8C80CE5-869D-B8BA-B105-3CB497B63E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300" y="4062005"/>
            <a:ext cx="922215" cy="692061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8AB0EEC4-8054-A4E6-CDF5-0CC502A6F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43423" y="4255995"/>
            <a:ext cx="1121299" cy="22130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A836E6F-E2D3-9CE8-A6A2-1C37FB007FB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52038" y="4160574"/>
            <a:ext cx="467155" cy="46715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3ACC3B0-3340-F36D-7AAE-3FF7414DFF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46822" y="4177997"/>
            <a:ext cx="432308" cy="432308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D21ADC9C-4BA4-9007-7220-4523C30CB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06759" y="4160574"/>
            <a:ext cx="467155" cy="467155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67541F47-2F78-5F81-996F-CE2262C08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19408" y="4160574"/>
            <a:ext cx="444246" cy="444246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7BC6D3EB-7162-7396-60AE-A455AB8DC2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271520" y="4214946"/>
            <a:ext cx="1072896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Історія розвитку рекомендаційних систем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2331720"/>
            <a:ext cx="85039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905256" y="2231136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1014984" y="1097280"/>
            <a:ext cx="27432" cy="113385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13533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35331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374904" y="896112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" y="1152144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GroupLens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" y="1399032"/>
            <a:ext cx="1243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система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колаборативної фільтрації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новин Usenet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22576" y="2231136"/>
            <a:ext cx="237744" cy="23774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2432304" y="2386584"/>
            <a:ext cx="27432" cy="1005840"/>
          </a:xfrm>
          <a:prstGeom prst="rect">
            <a:avLst/>
          </a:prstGeom>
          <a:solidFill>
            <a:srgbClr val="16A34A">
              <a:alpha val="60000"/>
            </a:srgbClr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Shape 12"/>
          <p:cNvSpPr/>
          <p:nvPr/>
        </p:nvSpPr>
        <p:spPr>
          <a:xfrm>
            <a:off x="1737360" y="3310128"/>
            <a:ext cx="160934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1737360" y="3310128"/>
            <a:ext cx="1609344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1792224" y="3401568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92224" y="3657600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3904488"/>
            <a:ext cx="16093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«Customers also bought»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uk-UA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на основі контенту</a:t>
            </a:r>
            <a:r>
              <a:rPr lang="uk-UA" sz="950" dirty="0"/>
              <a:t>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</a:t>
            </a:r>
            <a:r>
              <a:rPr lang="uk-UA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сфері електронної комерції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39896" y="2231136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3849624" y="1097280"/>
            <a:ext cx="27432" cy="1133856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Shape 19"/>
          <p:cNvSpPr/>
          <p:nvPr/>
        </p:nvSpPr>
        <p:spPr>
          <a:xfrm>
            <a:off x="3035809" y="804672"/>
            <a:ext cx="147218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Shape 20"/>
          <p:cNvSpPr/>
          <p:nvPr/>
        </p:nvSpPr>
        <p:spPr>
          <a:xfrm>
            <a:off x="3035809" y="804672"/>
            <a:ext cx="1472183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3035809" y="896112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35808" y="1133856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Netflix/YouTube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35809" y="1399032"/>
            <a:ext cx="1517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Масштабне впровадження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ML-моделей рекомендацій</a:t>
            </a:r>
            <a:endParaRPr lang="en-US" sz="950" dirty="0"/>
          </a:p>
          <a:p>
            <a:pPr marL="0" indent="0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мільярди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57216" y="2231136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Shape 25"/>
          <p:cNvSpPr/>
          <p:nvPr/>
        </p:nvSpPr>
        <p:spPr>
          <a:xfrm>
            <a:off x="5266944" y="2386584"/>
            <a:ext cx="27432" cy="100584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Shape 26"/>
          <p:cNvSpPr/>
          <p:nvPr/>
        </p:nvSpPr>
        <p:spPr>
          <a:xfrm>
            <a:off x="4572000" y="3310128"/>
            <a:ext cx="148132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9" name="Shape 27"/>
          <p:cNvSpPr/>
          <p:nvPr/>
        </p:nvSpPr>
        <p:spPr>
          <a:xfrm>
            <a:off x="4572000" y="3310128"/>
            <a:ext cx="1481328" cy="4571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0" name="Text 28"/>
          <p:cNvSpPr/>
          <p:nvPr/>
        </p:nvSpPr>
        <p:spPr>
          <a:xfrm>
            <a:off x="4626864" y="3401568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26864" y="3657600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Prize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26864" y="3959350"/>
            <a:ext cx="1417320" cy="905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 конкурс — прорив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матричній факторизації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ансамблях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74536" y="223113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4" name="Shape 32"/>
          <p:cNvSpPr/>
          <p:nvPr/>
        </p:nvSpPr>
        <p:spPr>
          <a:xfrm>
            <a:off x="6684264" y="1097280"/>
            <a:ext cx="27432" cy="1133856"/>
          </a:xfrm>
          <a:prstGeom prst="rect">
            <a:avLst/>
          </a:prstGeom>
          <a:solidFill>
            <a:srgbClr val="DC2626">
              <a:alpha val="60000"/>
            </a:srgbClr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5" name="Shape 33"/>
          <p:cNvSpPr/>
          <p:nvPr/>
        </p:nvSpPr>
        <p:spPr>
          <a:xfrm>
            <a:off x="5989320" y="804672"/>
            <a:ext cx="13533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6" name="Shape 34"/>
          <p:cNvSpPr/>
          <p:nvPr/>
        </p:nvSpPr>
        <p:spPr>
          <a:xfrm>
            <a:off x="5989320" y="804672"/>
            <a:ext cx="1353312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7" name="Text 35"/>
          <p:cNvSpPr/>
          <p:nvPr/>
        </p:nvSpPr>
        <p:spPr>
          <a:xfrm>
            <a:off x="6044184" y="896112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2016+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44184" y="1152144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44184" y="1399032"/>
            <a:ext cx="1243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NCF, YouTubeDNN,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Wide&amp;Deep, GNN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нейронна ера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91856" y="2231136"/>
            <a:ext cx="237744" cy="237744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1" name="Shape 39"/>
          <p:cNvSpPr/>
          <p:nvPr/>
        </p:nvSpPr>
        <p:spPr>
          <a:xfrm>
            <a:off x="8101584" y="2386584"/>
            <a:ext cx="27432" cy="1005840"/>
          </a:xfrm>
          <a:prstGeom prst="rect">
            <a:avLst/>
          </a:prstGeom>
          <a:solidFill>
            <a:srgbClr val="2B6CB0">
              <a:alpha val="60000"/>
            </a:srgbClr>
          </a:solidFill>
          <a:ln w="12700">
            <a:solidFill>
              <a:srgbClr val="2B6C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2" name="Shape 40"/>
          <p:cNvSpPr/>
          <p:nvPr/>
        </p:nvSpPr>
        <p:spPr>
          <a:xfrm>
            <a:off x="7406640" y="3310128"/>
            <a:ext cx="13533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3" name="Shape 41"/>
          <p:cNvSpPr/>
          <p:nvPr/>
        </p:nvSpPr>
        <p:spPr>
          <a:xfrm>
            <a:off x="7406640" y="3310128"/>
            <a:ext cx="1353312" cy="54864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4" name="Text 42"/>
          <p:cNvSpPr/>
          <p:nvPr/>
        </p:nvSpPr>
        <p:spPr>
          <a:xfrm>
            <a:off x="7461504" y="3401568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2023+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61504" y="3657600"/>
            <a:ext cx="1243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Era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61504" y="3904488"/>
            <a:ext cx="1243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LLaMA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conversational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explainable RecSys</a:t>
            </a:r>
            <a:endParaRPr lang="en-US" sz="95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FD54EF4-D195-68E0-CA5D-5B7A2ABD3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40" y="2468880"/>
            <a:ext cx="1095375" cy="1095375"/>
          </a:xfrm>
          <a:prstGeom prst="rect">
            <a:avLst/>
          </a:prstGeom>
        </p:spPr>
      </p:pic>
      <p:pic>
        <p:nvPicPr>
          <p:cNvPr id="51" name="Picture 2" descr="The Netflix Prize: How a $1 Million Coding Contest Changed Streaming -  Thrillist">
            <a:extLst>
              <a:ext uri="{FF2B5EF4-FFF2-40B4-BE49-F238E27FC236}">
                <a16:creationId xmlns:a16="http://schemas.microsoft.com/office/drawing/2014/main" id="{B5E5B9F8-F663-4B87-D23D-31872A7A3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297" y="1357884"/>
            <a:ext cx="1234439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D4FCCA9-4F3A-BBAD-38D0-C382A6934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7656" y="950976"/>
            <a:ext cx="1471168" cy="1471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Загальна архітектура рекомендаційної системи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7276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/>
          <p:nvPr/>
        </p:nvSpPr>
        <p:spPr>
          <a:xfrm>
            <a:off x="329184" y="914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47088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29968" y="868680"/>
            <a:ext cx="1572768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2084832" y="914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02736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85616" y="868680"/>
            <a:ext cx="157276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3840480" y="914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58384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41264" y="868680"/>
            <a:ext cx="1572768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5596128" y="914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14032" y="13258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96912" y="868680"/>
            <a:ext cx="1572768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/>
          <p:nvPr/>
        </p:nvSpPr>
        <p:spPr>
          <a:xfrm>
            <a:off x="7351776" y="9144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Апробація та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2212848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Оцінки, кліки, купівлі, тривалість перегляду, пошукові запити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38528" y="2212848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Нормалізація, побудова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користувача, елементів та контексту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кодування категорій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85616" y="2212848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колаборативної</a:t>
            </a:r>
            <a:r>
              <a:rPr lang="uk-UA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фільтрації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uk-UA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матричної </a:t>
            </a:r>
            <a:r>
              <a:rPr lang="uk-UA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факторизації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нейромережі або гібридного алгоритму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41264" y="2212848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та впорядкування рекомендації, ранжування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фільтрація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96912" y="2212848"/>
            <a:ext cx="1572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Онлайн-оцінка: CTR</a:t>
            </a:r>
            <a:r>
              <a:rPr lang="uk-UA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Trought-Rate</a:t>
            </a:r>
            <a:r>
              <a:rPr lang="uk-UA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uk-UA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дохід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uk-UA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залученість користувачів,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статистика значущості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29443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Основні підсистеми: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8412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Агрегатор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профілю користувача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агрегує та зберігає дані про вподобання, поведінку та контекст кожного user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елементів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каталог об'єктів з ознаками та </a:t>
            </a:r>
            <a:r>
              <a:rPr lang="uk-UA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ембедінгами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швидкого пошуку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схожих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елементів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рекомендації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вибір з великого каталогу згідно певних правил та алгоритмів впорядкування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якості рекомендації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відгуків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оновлення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оцінка метрик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A/B-тестування нових версій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Основні типи даних у рекомендаційних системах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Явні взаємодії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feedback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571750"/>
            <a:ext cx="1847088" cy="2137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Числові оцінки (1–5 зірок)</a:t>
            </a:r>
            <a:endParaRPr lang="en-US" sz="1150" dirty="0"/>
          </a:p>
          <a:p>
            <a:pPr marL="171450" indent="-17145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Лайки / дизлайки</a:t>
            </a:r>
            <a:endParaRPr lang="en-US" sz="1150" dirty="0"/>
          </a:p>
          <a:p>
            <a:pPr marL="171450" indent="-17145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Відгуки та коментарі</a:t>
            </a:r>
            <a:endParaRPr lang="en-US" sz="1150" dirty="0"/>
          </a:p>
          <a:p>
            <a:pPr marL="171450" indent="-17145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Списки вподобань, відтворення, збереженого на потім, тощо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2542032" y="2571750"/>
            <a:ext cx="1847088" cy="2137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Перегляди сторінок та відео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перегляду, </a:t>
            </a:r>
            <a:r>
              <a:rPr lang="uk-UA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прослуховуваня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контенту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Кліки, покупки, додавання в кошик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Пошукові запити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26864" y="822960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4718304" y="2571750"/>
            <a:ext cx="1847088" cy="2137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Вік, стать, геолокація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 та платформа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Пристрій, час доби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Соціальні зв'язки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03136" y="822960"/>
            <a:ext cx="202996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6894576" y="2571750"/>
            <a:ext cx="1847088" cy="2137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Жанр, категорія, теги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Ціна, рейтинг, вік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опису, зображення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Метадані (рік, автор)</a:t>
            </a:r>
            <a:endParaRPr lang="en-US" sz="115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9CB49463-6590-C637-B802-E4934760F374}"/>
              </a:ext>
            </a:extLst>
          </p:cNvPr>
          <p:cNvSpPr/>
          <p:nvPr/>
        </p:nvSpPr>
        <p:spPr>
          <a:xfrm>
            <a:off x="274320" y="822960"/>
            <a:ext cx="2029968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A540E18A-BF20-E27A-DC58-E4DBDD6A0892}"/>
              </a:ext>
            </a:extLst>
          </p:cNvPr>
          <p:cNvSpPr/>
          <p:nvPr/>
        </p:nvSpPr>
        <p:spPr>
          <a:xfrm>
            <a:off x="960120" y="886968"/>
            <a:ext cx="694944" cy="694944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33" name="Image 0" descr="/home/claude/icons/icon_explicit.png">
            <a:extLst>
              <a:ext uri="{FF2B5EF4-FFF2-40B4-BE49-F238E27FC236}">
                <a16:creationId xmlns:a16="http://schemas.microsoft.com/office/drawing/2014/main" id="{F88D550A-0AA7-6638-32F9-DEC39B2C9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932688"/>
            <a:ext cx="603504" cy="603504"/>
          </a:xfrm>
          <a:prstGeom prst="rect">
            <a:avLst/>
          </a:prstGeom>
        </p:spPr>
      </p:pic>
      <p:sp>
        <p:nvSpPr>
          <p:cNvPr id="34" name="Text 5">
            <a:extLst>
              <a:ext uri="{FF2B5EF4-FFF2-40B4-BE49-F238E27FC236}">
                <a16:creationId xmlns:a16="http://schemas.microsoft.com/office/drawing/2014/main" id="{C7D6AB5D-D321-0CB8-4AFD-74B3DB5360B0}"/>
              </a:ext>
            </a:extLst>
          </p:cNvPr>
          <p:cNvSpPr/>
          <p:nvPr/>
        </p:nvSpPr>
        <p:spPr>
          <a:xfrm>
            <a:off x="347472" y="16093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Явні взаємодії</a:t>
            </a:r>
            <a:endParaRPr lang="en-US" sz="125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68CFDCA2-B139-51C8-B415-2C0AE90202BB}"/>
              </a:ext>
            </a:extLst>
          </p:cNvPr>
          <p:cNvSpPr/>
          <p:nvPr/>
        </p:nvSpPr>
        <p:spPr>
          <a:xfrm>
            <a:off x="347472" y="2011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feedback</a:t>
            </a:r>
            <a:endParaRPr lang="en-US" sz="950" dirty="0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33827A87-58B0-E5EB-0A55-3D7815A5ED50}"/>
              </a:ext>
            </a:extLst>
          </p:cNvPr>
          <p:cNvSpPr/>
          <p:nvPr/>
        </p:nvSpPr>
        <p:spPr>
          <a:xfrm>
            <a:off x="2450592" y="822960"/>
            <a:ext cx="2029968" cy="1536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88440B7C-4B71-E9F0-73F6-DEFBF48712CF}"/>
              </a:ext>
            </a:extLst>
          </p:cNvPr>
          <p:cNvSpPr/>
          <p:nvPr/>
        </p:nvSpPr>
        <p:spPr>
          <a:xfrm>
            <a:off x="3118104" y="886968"/>
            <a:ext cx="694944" cy="694944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38" name="Image 1" descr="/home/claude/icons/icon_implicit.png">
            <a:extLst>
              <a:ext uri="{FF2B5EF4-FFF2-40B4-BE49-F238E27FC236}">
                <a16:creationId xmlns:a16="http://schemas.microsoft.com/office/drawing/2014/main" id="{A46CBB22-52AD-92C9-4E41-6D7BC8B2C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932688"/>
            <a:ext cx="603504" cy="603504"/>
          </a:xfrm>
          <a:prstGeom prst="rect">
            <a:avLst/>
          </a:prstGeom>
        </p:spPr>
      </p:pic>
      <p:sp>
        <p:nvSpPr>
          <p:cNvPr id="39" name="Text 11">
            <a:extLst>
              <a:ext uri="{FF2B5EF4-FFF2-40B4-BE49-F238E27FC236}">
                <a16:creationId xmlns:a16="http://schemas.microsoft.com/office/drawing/2014/main" id="{D62A2CED-2954-D9FA-7560-70A1CFF2B0F9}"/>
              </a:ext>
            </a:extLst>
          </p:cNvPr>
          <p:cNvSpPr/>
          <p:nvPr/>
        </p:nvSpPr>
        <p:spPr>
          <a:xfrm>
            <a:off x="2505456" y="16093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Неявні взаємодії</a:t>
            </a:r>
            <a:endParaRPr lang="en-US" sz="125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EEC37B27-5BD7-9FC2-AC83-F791802D9A57}"/>
              </a:ext>
            </a:extLst>
          </p:cNvPr>
          <p:cNvSpPr/>
          <p:nvPr/>
        </p:nvSpPr>
        <p:spPr>
          <a:xfrm>
            <a:off x="2505456" y="2011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feedback</a:t>
            </a:r>
            <a:endParaRPr lang="en-US" sz="95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C20954D2-F9C9-1903-E630-E284F6257FA5}"/>
              </a:ext>
            </a:extLst>
          </p:cNvPr>
          <p:cNvSpPr/>
          <p:nvPr/>
        </p:nvSpPr>
        <p:spPr>
          <a:xfrm>
            <a:off x="4626864" y="822960"/>
            <a:ext cx="2029968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499D6AC4-2C05-09F5-DA59-BDA74B86301B}"/>
              </a:ext>
            </a:extLst>
          </p:cNvPr>
          <p:cNvSpPr/>
          <p:nvPr/>
        </p:nvSpPr>
        <p:spPr>
          <a:xfrm>
            <a:off x="5294376" y="886968"/>
            <a:ext cx="694944" cy="694944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43" name="Image 2" descr="/home/claude/icons/icon_user.png">
            <a:extLst>
              <a:ext uri="{FF2B5EF4-FFF2-40B4-BE49-F238E27FC236}">
                <a16:creationId xmlns:a16="http://schemas.microsoft.com/office/drawing/2014/main" id="{442BF901-FFC5-6679-28CD-FE2D5A926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932688"/>
            <a:ext cx="603504" cy="603504"/>
          </a:xfrm>
          <a:prstGeom prst="rect">
            <a:avLst/>
          </a:prstGeom>
        </p:spPr>
      </p:pic>
      <p:sp>
        <p:nvSpPr>
          <p:cNvPr id="44" name="Text 17">
            <a:extLst>
              <a:ext uri="{FF2B5EF4-FFF2-40B4-BE49-F238E27FC236}">
                <a16:creationId xmlns:a16="http://schemas.microsoft.com/office/drawing/2014/main" id="{C2DE27A3-DD0B-CBE7-BAD6-199A51E01056}"/>
              </a:ext>
            </a:extLst>
          </p:cNvPr>
          <p:cNvSpPr/>
          <p:nvPr/>
        </p:nvSpPr>
        <p:spPr>
          <a:xfrm>
            <a:off x="4681728" y="16093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Ознаки користувача</a:t>
            </a:r>
            <a:endParaRPr lang="en-US" sz="125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6B1E1CB6-8DE1-769B-3A7A-E46976946119}"/>
              </a:ext>
            </a:extLst>
          </p:cNvPr>
          <p:cNvSpPr/>
          <p:nvPr/>
        </p:nvSpPr>
        <p:spPr>
          <a:xfrm>
            <a:off x="4681728" y="2011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features</a:t>
            </a:r>
            <a:endParaRPr lang="en-US" sz="950" dirty="0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55774DA0-1864-A563-3BB0-1E333B97B041}"/>
              </a:ext>
            </a:extLst>
          </p:cNvPr>
          <p:cNvSpPr/>
          <p:nvPr/>
        </p:nvSpPr>
        <p:spPr>
          <a:xfrm>
            <a:off x="6803136" y="822960"/>
            <a:ext cx="2029968" cy="15361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B9C0052D-D209-600C-6BF1-F39797FA9BFA}"/>
              </a:ext>
            </a:extLst>
          </p:cNvPr>
          <p:cNvSpPr/>
          <p:nvPr/>
        </p:nvSpPr>
        <p:spPr>
          <a:xfrm>
            <a:off x="7470648" y="886968"/>
            <a:ext cx="694944" cy="694944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48" name="Image 3" descr="/home/claude/icons/icon_item.png">
            <a:extLst>
              <a:ext uri="{FF2B5EF4-FFF2-40B4-BE49-F238E27FC236}">
                <a16:creationId xmlns:a16="http://schemas.microsoft.com/office/drawing/2014/main" id="{A8B639B0-DE1E-629F-6381-E1C28A0F14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932688"/>
            <a:ext cx="603504" cy="603504"/>
          </a:xfrm>
          <a:prstGeom prst="rect">
            <a:avLst/>
          </a:prstGeom>
        </p:spPr>
      </p:pic>
      <p:sp>
        <p:nvSpPr>
          <p:cNvPr id="49" name="Text 23">
            <a:extLst>
              <a:ext uri="{FF2B5EF4-FFF2-40B4-BE49-F238E27FC236}">
                <a16:creationId xmlns:a16="http://schemas.microsoft.com/office/drawing/2014/main" id="{5E3A0EC0-FF26-D062-FC50-7B2F887D4626}"/>
              </a:ext>
            </a:extLst>
          </p:cNvPr>
          <p:cNvSpPr/>
          <p:nvPr/>
        </p:nvSpPr>
        <p:spPr>
          <a:xfrm>
            <a:off x="6858000" y="16093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Ознаки об'єктів</a:t>
            </a:r>
            <a:endParaRPr lang="en-US" sz="125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1AB39BA4-FD50-6DEE-BA64-519C6A7F423E}"/>
              </a:ext>
            </a:extLst>
          </p:cNvPr>
          <p:cNvSpPr/>
          <p:nvPr/>
        </p:nvSpPr>
        <p:spPr>
          <a:xfrm>
            <a:off x="6858000" y="2011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features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Популярні та рекомендації</a:t>
            </a:r>
            <a:r>
              <a:rPr lang="uk-UA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основі правил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605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57200" y="850392"/>
            <a:ext cx="3886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Популярні рекомендації (</a:t>
            </a:r>
            <a:r>
              <a:rPr lang="uk-UA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персоналізовані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93192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Рекомендують найпопулярніші items однаково для всіх користувачів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Реалізація: сортування за кількістю покупок, переглядів або середнім рейтингом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Варіанти: глобальна популярність, популярність у категорії, тренди за день/тиждень</a:t>
            </a:r>
            <a:endParaRPr lang="en-US" sz="1250" dirty="0"/>
          </a:p>
          <a:p>
            <a:pPr>
              <a:spcAft>
                <a:spcPts val="600"/>
              </a:spcAft>
              <a:buSzPct val="100000"/>
            </a:pPr>
            <a:r>
              <a:rPr lang="en-US" sz="12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Переваги</a:t>
            </a:r>
            <a:r>
              <a:rPr lang="en-US" sz="12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uk-UA" sz="1250" b="1" dirty="0">
              <a:solidFill>
                <a:srgbClr val="00B0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ефективно при cold start, не потребує персональних даних</a:t>
            </a:r>
            <a:endParaRPr lang="en-US" sz="1250" dirty="0"/>
          </a:p>
          <a:p>
            <a:pPr>
              <a:spcAft>
                <a:spcPts val="600"/>
              </a:spcAft>
              <a:buSzPct val="100000"/>
            </a:pPr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Недоліки</a:t>
            </a:r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uk-UA" sz="1250" dirty="0">
              <a:solidFill>
                <a:srgbClr val="FF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відсутність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персоналізації,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зміщення в бік популярності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нудно для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досвідченого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605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4800600" y="850392"/>
            <a:ext cx="3886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екомендації</a:t>
            </a:r>
            <a:r>
              <a:rPr lang="uk-UA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основі правил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389888"/>
            <a:ext cx="393192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Базуються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явно заданих правилах бізнес-логіки: «якщо X, то рекомендуй Y»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Приклади: ціновий діапазон, вікове обмеження, регіональна доступність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 асоціативних правил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алгоритм Apriori та FP-Growth — «Разом купують X і Y»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споживача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знаходить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повторювані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набори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елементів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серед транзакцій</a:t>
            </a:r>
            <a:endParaRPr lang="en-US" sz="1250" dirty="0"/>
          </a:p>
          <a:p>
            <a:pPr>
              <a:spcAft>
                <a:spcPts val="600"/>
              </a:spcAft>
              <a:buSzPct val="100000"/>
            </a:pPr>
            <a:r>
              <a:rPr lang="en-US" sz="12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Переваги</a:t>
            </a:r>
            <a:r>
              <a:rPr lang="en-US" sz="12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uk-UA" sz="1250" b="1" dirty="0">
              <a:solidFill>
                <a:srgbClr val="00B0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розумілі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прозорі</a:t>
            </a:r>
            <a:endParaRPr lang="uk-UA" sz="125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Недоліки</a:t>
            </a:r>
            <a:r>
              <a:rPr lang="en-US" sz="12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uk-UA" sz="1250" dirty="0">
              <a:solidFill>
                <a:srgbClr val="FF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 масштабуються, не персоналізовані, потребують підтримки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на основі </a:t>
            </a:r>
            <a:r>
              <a:rPr lang="uk-UA" sz="23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контетну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аналізує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об'єктів, що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сподобались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користувачу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та рекомендує схожі — незалежно від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інших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196596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347472" y="1435608"/>
            <a:ext cx="1819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 елементів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(текст, теги, жанр)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71907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1389888"/>
            <a:ext cx="196596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2542032" y="1435608"/>
            <a:ext cx="1819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Вектори ознак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(W2V, BERT, RoBERTa)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34840" y="171907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1389888"/>
            <a:ext cx="196596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4736592" y="1435608"/>
            <a:ext cx="1819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Профіль користувача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(зважений вектор)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71907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0" y="1389888"/>
            <a:ext cx="1965960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6931152" y="1435608"/>
            <a:ext cx="18196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Top-k рекоменд.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Переваги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потребує даних про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інших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орієнтований на захист </a:t>
            </a:r>
            <a:r>
              <a:rPr lang="uk-UA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приватності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Добре працює для нішевих інтересів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Прозорість: «рекомендуємо, бо ви дивилися X»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Ефективний при невеликій кількості users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Недоліки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Надмірна спеціалізація рекомендацій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замкнуте коло схожого контенту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Формування ознак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значні зусилля, особливо для медіа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виявляє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приховані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інтереси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використовує колективний досвід спільноти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Колаборативна</a:t>
            </a: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фільтрація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«Люди, схожі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вас, також цікавились цим» — базується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патернах взаємодій, а не властивостях об'єктів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23560" y="804672"/>
            <a:ext cx="2514600" cy="38404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623560" y="804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26480" y="804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29400" y="804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0" y="804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35240" y="804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1188720"/>
            <a:ext cx="502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512064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1188720"/>
            <a:ext cx="50292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562356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50292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612648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9400" y="1188720"/>
            <a:ext cx="5029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662940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0" y="1188720"/>
            <a:ext cx="5029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713232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35240" y="1188720"/>
            <a:ext cx="50292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2" name="Text 20"/>
          <p:cNvSpPr/>
          <p:nvPr/>
        </p:nvSpPr>
        <p:spPr>
          <a:xfrm>
            <a:off x="763524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1572768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5120640" y="15727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23560" y="1572768"/>
            <a:ext cx="5029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6" name="Text 24"/>
          <p:cNvSpPr/>
          <p:nvPr/>
        </p:nvSpPr>
        <p:spPr>
          <a:xfrm>
            <a:off x="5623560" y="15727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1572768"/>
            <a:ext cx="50292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6126480" y="15727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29400" y="1572768"/>
            <a:ext cx="50292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0" name="Text 28"/>
          <p:cNvSpPr/>
          <p:nvPr/>
        </p:nvSpPr>
        <p:spPr>
          <a:xfrm>
            <a:off x="6629400" y="15727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32320" y="1572768"/>
            <a:ext cx="50292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2" name="Text 30"/>
          <p:cNvSpPr/>
          <p:nvPr/>
        </p:nvSpPr>
        <p:spPr>
          <a:xfrm>
            <a:off x="7132320" y="15727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35240" y="1572768"/>
            <a:ext cx="5029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4" name="Text 32"/>
          <p:cNvSpPr/>
          <p:nvPr/>
        </p:nvSpPr>
        <p:spPr>
          <a:xfrm>
            <a:off x="7635240" y="15727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20640" y="195681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User3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120640" y="1965960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8" name="Text 46"/>
          <p:cNvSpPr/>
          <p:nvPr/>
        </p:nvSpPr>
        <p:spPr>
          <a:xfrm>
            <a:off x="5120640" y="197510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User3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23560" y="1965960"/>
            <a:ext cx="5029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0" name="Text 48"/>
          <p:cNvSpPr/>
          <p:nvPr/>
        </p:nvSpPr>
        <p:spPr>
          <a:xfrm>
            <a:off x="5623560" y="19522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26480" y="1965960"/>
            <a:ext cx="50292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2" name="Text 50"/>
          <p:cNvSpPr/>
          <p:nvPr/>
        </p:nvSpPr>
        <p:spPr>
          <a:xfrm>
            <a:off x="6126480" y="19522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629400" y="1965960"/>
            <a:ext cx="5029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4" name="Text 52"/>
          <p:cNvSpPr/>
          <p:nvPr/>
        </p:nvSpPr>
        <p:spPr>
          <a:xfrm>
            <a:off x="6629400" y="19522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132320" y="1965960"/>
            <a:ext cx="50292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6" name="Text 54"/>
          <p:cNvSpPr/>
          <p:nvPr/>
        </p:nvSpPr>
        <p:spPr>
          <a:xfrm>
            <a:off x="7132320" y="19522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635240" y="1965960"/>
            <a:ext cx="5029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9" name="Text 57"/>
          <p:cNvSpPr/>
          <p:nvPr/>
        </p:nvSpPr>
        <p:spPr>
          <a:xfrm>
            <a:off x="7635240" y="20162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Прогноз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154930" y="24185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Таблиця 1. М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атриця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взаємодії користувачів з елементами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(розріджена)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65760" y="1261872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Memory-based: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обчислює схожість (cosine, Pearson)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між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користувачами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елементами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безпосередньо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Model-based: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явне навчання моделі — матрична факторизація, нейромережі, GNN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потребує знань про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властивості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елементів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тільки матриця взаємодій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Виявляє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приховані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інтереси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які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може не усвідомлювати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проблема: розрідженість матриці — в середньому 95–99% клітин порожні</a:t>
            </a:r>
            <a:endParaRPr lang="en-US" sz="12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6413F64-77AC-DC74-831B-690A6AC55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081" y="2654046"/>
            <a:ext cx="2822638" cy="2052828"/>
          </a:xfrm>
          <a:prstGeom prst="rect">
            <a:avLst/>
          </a:prstGeom>
        </p:spPr>
      </p:pic>
      <p:sp>
        <p:nvSpPr>
          <p:cNvPr id="64" name="Text 58">
            <a:extLst>
              <a:ext uri="{FF2B5EF4-FFF2-40B4-BE49-F238E27FC236}">
                <a16:creationId xmlns:a16="http://schemas.microsoft.com/office/drawing/2014/main" id="{4E07AB10-A571-2B1F-9A54-2F988B531B46}"/>
              </a:ext>
            </a:extLst>
          </p:cNvPr>
          <p:cNvSpPr/>
          <p:nvPr/>
        </p:nvSpPr>
        <p:spPr>
          <a:xfrm>
            <a:off x="5218081" y="470839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Рисунок 1. Принцип </a:t>
            </a:r>
            <a:r>
              <a:rPr lang="uk-UA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колаборативної</a:t>
            </a:r>
            <a:r>
              <a:rPr lang="uk-UA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фільтрації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3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Колаборативна</a:t>
            </a:r>
            <a:r>
              <a:rPr lang="uk-UA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фільтрація на основі користувачів та елементів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8795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879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57200" y="850392"/>
            <a:ext cx="3913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на основі користувачів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8912" y="1338834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k найбільш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схожих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(k-NN) та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рекомендувати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елементи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що сподобалися їм, але ще не відомі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поточному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955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Переваги: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57628"/>
            <a:ext cx="393192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Інтуїтивна логіка: «Схожі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вас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мають схожі вподобання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залежить від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властивостей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елементів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враховує соціальний контекст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44037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Недоліки: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90544"/>
            <a:ext cx="393192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Погано масштабується при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мільйонах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с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хожість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змінюється — потрібне часте перерахування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Холодний старт,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немає даних про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нового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18795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4709160" y="822960"/>
            <a:ext cx="418795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4846320" y="850392"/>
            <a:ext cx="39136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 на основі елементів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135559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(2001, Linden et al.):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елементи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схожі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ті, що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вже оцінив, та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рекомендувати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їх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При цьому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матриця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взаємодії елементів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стабільніша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06425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Переваги: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38578"/>
            <a:ext cx="393192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Краще масштабується: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матриця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елементів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стабільна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видке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обслуговування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 чутливий до нових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332613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Недоліки: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3600450"/>
            <a:ext cx="393192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Потребує великого обсягу пам'яті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Обмежена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новизна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переважно схожий контент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Холодний старт для нових </a:t>
            </a:r>
            <a:r>
              <a:rPr lang="uk-UA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елементів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Матрична факторизація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ідея: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розкласти велику розріджену матрицю R (users × items)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добуток двох компактних матриць: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1155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731520" y="1316736"/>
            <a:ext cx="50292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≈  P  ×  Qᵀ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0" y="1316736"/>
            <a:ext cx="265176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матриця оцінок (m × n)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матриця users (m × k)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— матриця items (n × k)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— кількість latent factors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267004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FunkSVD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Funk (Netflix Prize, 2006): стохастичний градієнтний спуск для мінімізації RMSE тільки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відомих оцінках, без імпутації нулів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251460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3200400" y="2514600"/>
            <a:ext cx="267004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3291840" y="2542032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3063240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Least Squares: почергова оптимізація P (при фіксованому Q) та Q — паралелізується, ефективний для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неявних </a:t>
            </a:r>
            <a:r>
              <a:rPr lang="uk-UA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звязків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251460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6035040" y="2514600"/>
            <a:ext cx="267004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6126480" y="2542032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3063240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Personalized Ranking: оптимізує попарне ранжування (pair-wise) —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повинен надавати перевагу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переглянутому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елементів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перед непереглянутим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Гібридні</a:t>
            </a: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системи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Гібридні підходи поєднують кілька алгоритмів для подолання обмежень кожного окремо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879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448056" y="140817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448056" y="1408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389888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Усереднена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" y="187452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α·CF + β·CBF: результати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алгоритмів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усереднюються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підсумовуються. Netflix використовує ваги, що залежать від кількості відомих рейтингів.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" y="2651760"/>
            <a:ext cx="3931920" cy="2286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539496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α·CF + β·CBF + γ·Pop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41879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4837176" y="1408176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4837176" y="1408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67528" y="1389888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Перемика</a:t>
            </a:r>
            <a:r>
              <a:rPr lang="uk-UA" sz="13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ння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37176" y="187452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алгоритму залежно від ситуації: cold start → popular / demographic; досвідчений user → CF або MF. Простота реалізації.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37176" y="2651760"/>
            <a:ext cx="3931920" cy="22860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4928616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new_user: pop_recs else CF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41879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448056" y="3282696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448056" y="3282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8408" y="3264408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Каскадна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" y="374904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Перший алгоритм генерує множину кандидатів (тисячі), другий алгоритм точно ранжує (десятки). YouTube: DNN recall + DNN rank.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056" y="4526280"/>
            <a:ext cx="3931920" cy="2286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5" name="Text 23"/>
          <p:cNvSpPr/>
          <p:nvPr/>
        </p:nvSpPr>
        <p:spPr>
          <a:xfrm>
            <a:off x="539496" y="4526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Candidates → Re-Ranker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154680"/>
            <a:ext cx="41879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7" name="Shape 25"/>
          <p:cNvSpPr/>
          <p:nvPr/>
        </p:nvSpPr>
        <p:spPr>
          <a:xfrm>
            <a:off x="4837176" y="3282696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4837176" y="3282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67528" y="3264408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Збагачення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37176" y="374904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Вихід одного алгоритму стає ознаками для іншого. Наприклад: user embedding від MF → додається до ознак CBF-моделі.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37176" y="4526280"/>
            <a:ext cx="3931920" cy="228600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2" name="Text 30"/>
          <p:cNvSpPr/>
          <p:nvPr/>
        </p:nvSpPr>
        <p:spPr>
          <a:xfrm>
            <a:off x="4928616" y="4526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CF.embeddings → CBF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Проблеми класичних підходів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10241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Холодний старт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463040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Новим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користувачам та елементам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бракує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даних для якісних рекомендацій. Особливо критично для нових платформ.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72968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3172968" y="82296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3310128" y="9875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310128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94760" y="10241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Розрідженість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82696" y="1463040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Матриця оцінок заповнена лише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1–5%. Важко знайти дійсно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схожих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елементи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25896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6025896" y="82296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Shape 16"/>
          <p:cNvSpPr/>
          <p:nvPr/>
        </p:nvSpPr>
        <p:spPr>
          <a:xfrm>
            <a:off x="6163056" y="987552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/>
          <p:nvPr/>
        </p:nvSpPr>
        <p:spPr>
          <a:xfrm>
            <a:off x="6163056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47688" y="10241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Масштабованість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35624" y="1463040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Обчислення схожостей для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мільйонів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користувачів та елементів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потребує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O(n²) операцій — надто повільно.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3" name="Shape 21"/>
          <p:cNvSpPr/>
          <p:nvPr/>
        </p:nvSpPr>
        <p:spPr>
          <a:xfrm>
            <a:off x="320040" y="283464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Shape 22"/>
          <p:cNvSpPr/>
          <p:nvPr/>
        </p:nvSpPr>
        <p:spPr>
          <a:xfrm>
            <a:off x="457200" y="299923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5" name="Text 23"/>
          <p:cNvSpPr/>
          <p:nvPr/>
        </p:nvSpPr>
        <p:spPr>
          <a:xfrm>
            <a:off x="45720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1832" y="303580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Упередженість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" y="3474720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 систематично рекомендують популярне,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знецінюючи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унікальні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якісні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uk-UA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єкти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172968" y="2834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9" name="Shape 27"/>
          <p:cNvSpPr/>
          <p:nvPr/>
        </p:nvSpPr>
        <p:spPr>
          <a:xfrm>
            <a:off x="3172968" y="2834640"/>
            <a:ext cx="26974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0" name="Shape 28"/>
          <p:cNvSpPr/>
          <p:nvPr/>
        </p:nvSpPr>
        <p:spPr>
          <a:xfrm>
            <a:off x="3310128" y="299923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1" name="Text 29"/>
          <p:cNvSpPr/>
          <p:nvPr/>
        </p:nvSpPr>
        <p:spPr>
          <a:xfrm>
            <a:off x="3310128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3794760" y="303580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Інформаційна бульбашка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82696" y="3474720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Замкнуте коло схожого контенту: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бачить тільки те, що вже знає. Знижує різноманітність.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25896" y="2834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5" name="Shape 33"/>
          <p:cNvSpPr/>
          <p:nvPr/>
        </p:nvSpPr>
        <p:spPr>
          <a:xfrm>
            <a:off x="6025896" y="2834640"/>
            <a:ext cx="2697480" cy="6400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6" name="Shape 34"/>
          <p:cNvSpPr/>
          <p:nvPr/>
        </p:nvSpPr>
        <p:spPr>
          <a:xfrm>
            <a:off x="6163056" y="2999232"/>
            <a:ext cx="384048" cy="384048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7" name="Text 35"/>
          <p:cNvSpPr/>
          <p:nvPr/>
        </p:nvSpPr>
        <p:spPr>
          <a:xfrm>
            <a:off x="6163056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647688" y="303580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Контекстна сліпота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35624" y="3474720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Класичні методи не враховують час, місце, настрій та поточну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ситуацію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Машинне навчання в рекомендаційних системах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Перехід від евристик до навченої моделі дозволяє враховувати сотні різнорідних ознак одночасно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Категорії ознак: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530352" y="16824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Ознаки користувачів</a:t>
            </a: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Вік, стать, географія, пристрій, мова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6400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530352" y="24323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Ознаки елементів</a:t>
            </a: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6883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Жанр, ціна, рейтинг, вік контенту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530352" y="31821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Контекстні ознаки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4381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 доби, день тижня, тип сесії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95344"/>
            <a:ext cx="6400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530352" y="39319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Ознаки взаємодій</a:t>
            </a: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41879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Тривалість перегляду, завершення, кліки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129844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підходи в industry: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0" y="1664208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4389120" y="1664208"/>
            <a:ext cx="7315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4553712" y="1719072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20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Логістина</a:t>
            </a:r>
            <a:r>
              <a:rPr lang="uk-UA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регресія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53712" y="2011680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prediction: бінарна класифікація «клік / не клік»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9120" y="2487168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4" name="Shape 22"/>
          <p:cNvSpPr/>
          <p:nvPr/>
        </p:nvSpPr>
        <p:spPr>
          <a:xfrm>
            <a:off x="4389120" y="2487168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5" name="Text 23"/>
          <p:cNvSpPr/>
          <p:nvPr/>
        </p:nvSpPr>
        <p:spPr>
          <a:xfrm>
            <a:off x="4553712" y="2542032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r>
              <a:rPr lang="uk-UA" sz="1200" dirty="0"/>
              <a:t> 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(XGBoost, LightGBM)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53712" y="2834640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Найкращий результат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табличних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даних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Популярне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промисловості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89120" y="3310128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8" name="Shape 26"/>
          <p:cNvSpPr/>
          <p:nvPr/>
        </p:nvSpPr>
        <p:spPr>
          <a:xfrm>
            <a:off x="4389120" y="3310128"/>
            <a:ext cx="73152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9" name="Text 27"/>
          <p:cNvSpPr/>
          <p:nvPr/>
        </p:nvSpPr>
        <p:spPr>
          <a:xfrm>
            <a:off x="4553712" y="3364992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53712" y="3657600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Стійкий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шуму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дає оцінку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важливості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озна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89120" y="4133088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2" name="Shape 30"/>
          <p:cNvSpPr/>
          <p:nvPr/>
        </p:nvSpPr>
        <p:spPr>
          <a:xfrm>
            <a:off x="4389120" y="4133088"/>
            <a:ext cx="7315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3" name="Text 31"/>
          <p:cNvSpPr/>
          <p:nvPr/>
        </p:nvSpPr>
        <p:spPr>
          <a:xfrm>
            <a:off x="4553712" y="4187952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Two-tower Model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53712" y="4480560"/>
            <a:ext cx="4187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окремі DNN: user-tower + item-tower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фективний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швидкого пошуку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Rank та </a:t>
            </a:r>
            <a:r>
              <a:rPr lang="uk-UA" sz="23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факторизаційні</a:t>
            </a:r>
            <a:r>
              <a:rPr lang="uk-UA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машини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87952" cy="3995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879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57200" y="832104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Rank (LTR)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08176"/>
            <a:ext cx="3931920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впорядкувати список кандидатів для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конкретного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релевантністю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Pointwise: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незалежна оцінка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кожного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елемента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(регресія або класифікація) — простіша постановка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порівнюємо пари items — RankNet, LambdaRank (Microsoft)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оптимізація всього ранжованого списку — ListNet, LambdaMART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оцінки: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 — нормалізований дисконтований кумулятивний прибуток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Застосовується: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Google/Bing, рекомендації LinkedIn, Twitter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45152" y="804672"/>
            <a:ext cx="4178808" cy="3995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4645152" y="804672"/>
            <a:ext cx="4178808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4773168" y="832104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Факторизаційні</a:t>
            </a:r>
            <a:r>
              <a:rPr lang="uk-UA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машини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(FM)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73168" y="1408176"/>
            <a:ext cx="3931920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Узагальнення MF для довільних ознак (user ID, item ID, час, географія тощо)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Моделюють попарні взаємодії між усіма ознаками через прихований векторний простір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Ефективні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 розріджених даних (sparse features) — краще LR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таких задачах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DeepFM: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поєднання FM (запам'ятовування) + DNN (узагальнення) — найкращий результат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Field-Aware FM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(FFM): окремий вектор для кожної пари полів ознак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prediction: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Aliexpress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TikTok широко застосовують FM-based підходи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Нейронні рекомендаційні системи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Нейронні мережі замінюють лінійні операції нелінійними — вловлюючи складні взаємодії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між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користувачами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</a:t>
            </a:r>
            <a:r>
              <a:rPr lang="uk-UA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елементами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126187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402336" y="1746504"/>
            <a:ext cx="8229600" cy="4434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Замінює скалярний добуток (MF) </a:t>
            </a:r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Multilayer Perceptron: дозволяє моделювати нелінійні взаємодії. Архітектура: Embedding → Concat → MLP → Sigmoid. </a:t>
            </a:r>
            <a:endParaRPr lang="uk-UA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Перевершує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MF </a:t>
            </a:r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MovieLens та Pinterest.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2697480"/>
            <a:ext cx="20299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320040" y="2697480"/>
            <a:ext cx="202996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411480" y="27249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&amp; Deep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(Google, 2016)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= запам'ятовування популярних взаємодій; Deep = узагальнення. Основа 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2697480"/>
            <a:ext cx="20299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2487168" y="2697480"/>
            <a:ext cx="202996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2578608" y="27249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BERT4Rec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(Sun et al., 2019)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3383280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Transformer для послідовностей взаємодій: маскування елементів → відновлення — аналог BERT для NLP.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54296" y="2697480"/>
            <a:ext cx="20299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4654296" y="2697480"/>
            <a:ext cx="202996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4745736" y="27249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SASRec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(Kang et al., 2018)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45736" y="3383280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Sequential Recommendation: однобічна увага для довгих послідовностей. Швидше та точніше ніж RNN.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21424" y="2697480"/>
            <a:ext cx="202996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1" name="Shape 19"/>
          <p:cNvSpPr/>
          <p:nvPr/>
        </p:nvSpPr>
        <p:spPr>
          <a:xfrm>
            <a:off x="6821424" y="2697480"/>
            <a:ext cx="202996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2" name="Text 20"/>
          <p:cNvSpPr/>
          <p:nvPr/>
        </p:nvSpPr>
        <p:spPr>
          <a:xfrm>
            <a:off x="6912864" y="272491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YouTubeDNN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(Google, 2016)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2864" y="3383280"/>
            <a:ext cx="18470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Two-stage: DNN candidate generation + DNN ranking. Мільярди відео та users — еталонна промислова архітектура.</a:t>
            </a:r>
            <a:endParaRPr lang="en-US" sz="11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246472B8-1A3F-D5E7-E1BC-4255EEF89526}"/>
              </a:ext>
            </a:extLst>
          </p:cNvPr>
          <p:cNvSpPr/>
          <p:nvPr/>
        </p:nvSpPr>
        <p:spPr>
          <a:xfrm>
            <a:off x="411480" y="12893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Collaborative Filtering (NCF) — He et al., WWW 2017</a:t>
            </a:r>
            <a:endParaRPr lang="en-US" sz="1400" u="sng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300" b="1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Автоенкодери</a:t>
            </a: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RNN та CNN у рекомендаційних системах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2491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2491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Енкодер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стискає вектор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взаємодій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латентний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Декодер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відновлює — прогнозуючи оцінки для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непереглянутих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елементів.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49631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застосування: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770632"/>
            <a:ext cx="25420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AutoRec (2015): FC-autoencoder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рядках/стовпцях матриці R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CDAE: Denoising autoencoder — стійкіший до шуму у даних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VAE-CF (Liang et al., 2018): variational bayes — розподіл, а не точка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804672"/>
            <a:ext cx="272491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3172968" y="804672"/>
            <a:ext cx="272491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3264408" y="822960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GRU / LSTM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1444752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Моделюють послідовні сесійні взаємодії та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еволюцію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вподобань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користувача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часом.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Прихований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«пам'ять» про попередні дії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4408" y="249631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застосування: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2770632"/>
            <a:ext cx="25420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GRU4Rec (Hidasi, 2016): перша успішна RNN для session-based рекомендацій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HRNN: Hierarchical RNN — пам'ятає і сесію, і загальну поведінку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Attention+RNN: механізм уваги вибирає важливі попередні items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25896" y="804672"/>
            <a:ext cx="272491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6025896" y="804672"/>
            <a:ext cx="272491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6117336" y="822960"/>
            <a:ext cx="25420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для рекомендацій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17336" y="146304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Аналізує текстові описи, зображення товарів, аудіо-спектрограми — збагачуючи item representation мультимедійними ознаками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17336" y="249631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застосування: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17336" y="2770632"/>
            <a:ext cx="254203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ConvMF: CNN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текстових відгуках + Matrix Factorization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VBPR (He et al., 2016): CNN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зображеннях товарів для BPR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Spotify: CNN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mel-spectrograms для музичних рекомендацій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та LLM у рекомендаційних системах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Трансформерні архітектури та великі мовні моделі відкрили нові можливості для розуміння контексту та природної мови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60520" cy="53035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429768" y="13533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RecSys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" y="1938528"/>
            <a:ext cx="39319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BERT4Rec: bidirectional self-attention для послідовностей взаємодій — маскування + відновлення елементів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SASRec: однобічна (causal) attention — ефективніша при довгих послідовностях взаємодій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(Alibaba): Transformer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послідовностях кліків та покупок — використовується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Taobao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(Geng et al., 2022): unified text-to-text framework — одна LLM для 5 різних задач рекомендацій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16052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1605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4818888" y="13533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для рекомендацій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18888" y="1938528"/>
            <a:ext cx="39319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recommendations: GPT-4 рекомендує лише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основі текстового опису профілю user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як re-ranker: CF генерує кандидатів → LLM переранжовує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основі семантичного розуміння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RecSys: «Знайди мені щось схоже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Inception, але легше» — діалог у природній мові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recommendations: LLM генерує персоналізоване пояснення чому рекомендований item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enrichment: LLM аналізує текстові відгуки та будує семантичний профіль user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 у рекомендаційних системах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Рекомендаційні системи природно моделюються як двочастковий граф: users та items — вузли, взаємодії — ребра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07008" y="2029968"/>
            <a:ext cx="265176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1207008" y="2029968"/>
            <a:ext cx="1828800" cy="12801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2395728" y="1435608"/>
            <a:ext cx="1463040" cy="7772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Shape 6"/>
          <p:cNvSpPr/>
          <p:nvPr/>
        </p:nvSpPr>
        <p:spPr>
          <a:xfrm>
            <a:off x="2395728" y="1435608"/>
            <a:ext cx="21945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749808" y="3127248"/>
            <a:ext cx="2286000" cy="1828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749808" y="3127248"/>
            <a:ext cx="31089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1005840" y="182880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23444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2194560" y="1234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01168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3657600" y="2011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310896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/>
          <p:nvPr/>
        </p:nvSpPr>
        <p:spPr>
          <a:xfrm>
            <a:off x="2834640" y="3108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118872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2" name="Text 20"/>
          <p:cNvSpPr/>
          <p:nvPr/>
        </p:nvSpPr>
        <p:spPr>
          <a:xfrm>
            <a:off x="4389120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713232" y="3794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0" y="38221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6" name="Text 24"/>
          <p:cNvSpPr/>
          <p:nvPr/>
        </p:nvSpPr>
        <p:spPr>
          <a:xfrm>
            <a:off x="2542032" y="3794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0" y="82296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8" name="Shape 26"/>
          <p:cNvSpPr/>
          <p:nvPr/>
        </p:nvSpPr>
        <p:spPr>
          <a:xfrm>
            <a:off x="5303520" y="822960"/>
            <a:ext cx="7315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9" name="Text 27"/>
          <p:cNvSpPr/>
          <p:nvPr/>
        </p:nvSpPr>
        <p:spPr>
          <a:xfrm>
            <a:off x="5468112" y="8869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NGCF (Wang et al., 2019)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68112" y="118872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Graph CF: поширення embeddings вздовж ребер графу user-item, зберігаючи CF-сигнал у структурі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03520" y="187452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2" name="Shape 30"/>
          <p:cNvSpPr/>
          <p:nvPr/>
        </p:nvSpPr>
        <p:spPr>
          <a:xfrm>
            <a:off x="5303520" y="1874520"/>
            <a:ext cx="73152" cy="91440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3" name="Text 31"/>
          <p:cNvSpPr/>
          <p:nvPr/>
        </p:nvSpPr>
        <p:spPr>
          <a:xfrm>
            <a:off x="5468112" y="19385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 (He et al., 2020)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68112" y="22402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Спрощена GCN без нелінійних активацій та трансформацій: лише лінійне propagation — швидша та точніша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03520" y="292608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6" name="Shape 34"/>
          <p:cNvSpPr/>
          <p:nvPr/>
        </p:nvSpPr>
        <p:spPr>
          <a:xfrm>
            <a:off x="5303520" y="292608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7" name="Text 35"/>
          <p:cNvSpPr/>
          <p:nvPr/>
        </p:nvSpPr>
        <p:spPr>
          <a:xfrm>
            <a:off x="5468112" y="29900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PinSage (Pinterest, 2018)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68112" y="329184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для мільярдів вузлів: importance-based mini-batch sampling </a:t>
            </a:r>
            <a:r>
              <a:rPr lang="en-US" sz="10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графі Pinterest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03520" y="3977640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0" name="Shape 38"/>
          <p:cNvSpPr/>
          <p:nvPr/>
        </p:nvSpPr>
        <p:spPr>
          <a:xfrm>
            <a:off x="5303520" y="3977640"/>
            <a:ext cx="73152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1" name="Text 39"/>
          <p:cNvSpPr/>
          <p:nvPr/>
        </p:nvSpPr>
        <p:spPr>
          <a:xfrm>
            <a:off x="5468112" y="4041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+ GNN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68112" y="434340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додає семантичні відносини між entities → покращує cold-start та пояснюваність рекомендацій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у рекомендаційних системах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RL: рекомендація — це інтерактивний процес, де агент навчається максимізувати довгострокове задоволення user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3000" y="1389888"/>
            <a:ext cx="24688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1143000" y="1389888"/>
            <a:ext cx="2468880" cy="429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1234440" y="1444752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 (State)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928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Профіль user + контекст + послідовність взаємодій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69080" y="1389888"/>
            <a:ext cx="24688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4069080" y="1389888"/>
            <a:ext cx="2468880" cy="429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4160520" y="1444752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 (Action)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18928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item для рекомендації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69080" y="2926080"/>
            <a:ext cx="24688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Shape 12"/>
          <p:cNvSpPr/>
          <p:nvPr/>
        </p:nvSpPr>
        <p:spPr>
          <a:xfrm>
            <a:off x="4069080" y="2926080"/>
            <a:ext cx="2468880" cy="4297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4160520" y="2980944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Нагорода (Reward)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3429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Клік, тривалість, оцінка, утримання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143000" y="2926080"/>
            <a:ext cx="24688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Shape 16"/>
          <p:cNvSpPr/>
          <p:nvPr/>
        </p:nvSpPr>
        <p:spPr>
          <a:xfrm>
            <a:off x="1143000" y="2926080"/>
            <a:ext cx="2468880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/>
          <p:nvPr/>
        </p:nvSpPr>
        <p:spPr>
          <a:xfrm>
            <a:off x="1234440" y="2980944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Оновлення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політики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429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оновлює стратегію вибору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1188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66360" y="2496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11880" y="33101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828800" y="24963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0" y="804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 та підходи: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1353312"/>
            <a:ext cx="20574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DQN: Deep Q-Network для вибору оптимального item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(A3C/PPO): пряма оптимізація policy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Multi-armed Bandit: швидка адаптація до feedback (Thompson Sampling, UCB)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SlateQ: RL для рекомендаційних slate (списків із k items одночасно)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MARL: мультиагентний RL для групових рекомендацій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Netflix, YouTube, Amazon і Spotify використовують рекомендації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8795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87952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391363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переглядів — через рекомендації (не пошук)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Персоналізовані мініатюри (thumbnail A/B-tested per user)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Row-based UI: «Бо ви дивилися…», «Популярне зараз в Україні»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Контекстні рекоменд.: час доби, пристрій, тривалість сесії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8795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87952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4846320" y="877824"/>
            <a:ext cx="391363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DNN (2016): candidate gen + ranking DNN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Watch-time як основна reward-функція (→ engagement)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Multi-objective: залученість + задоволення + novelty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RL-агент оптимізує довгострокове задоволення від сесії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80944"/>
            <a:ext cx="418795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3" name="Shape 11"/>
          <p:cNvSpPr/>
          <p:nvPr/>
        </p:nvSpPr>
        <p:spPr>
          <a:xfrm>
            <a:off x="320040" y="2980944"/>
            <a:ext cx="41879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457200" y="3054096"/>
            <a:ext cx="391363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3547872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Item-to-item CF (2001) — алгоритм, що став стандартом галузі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«Customers also viewed/bought» у кожній точці воронки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personalization: адаптація за секунди після дії user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CF + CBF + Knowledge Graph для новинок (cold-start)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80944"/>
            <a:ext cx="4187952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4709160" y="2980944"/>
            <a:ext cx="4187952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4846320" y="3054096"/>
            <a:ext cx="391363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46320" y="3547872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Weekly: CF + NLP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текстах плейлистів (word2vec)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CNN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mel-spectrograms: cold-start для нових треків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track2vec + BPR: музичні embeddings для Radio та Autoplay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Multi-armed bandit: вибір наступного треку в режимі Radio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оцінювання рекомендаційних систем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37947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Задача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вимірює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Частка релевантних items серед перших k рекомендацій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Частка знайдених релевантних items від усіх можливих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Ранжування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Нормалізований дисконтований прибуток: вищі позиції мають більшу вагу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Ранжування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Average Precision — середня точність по всіх queries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Частка users, для яких цільовий item потрапив у top-k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/ 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Рейтинги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Похибка передбачення числової оцінки (prediction error)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Бізнес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Частка каталогу, що з'являється в рекомендаціях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Якість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Різноманітність items у рекомендаційному списку (ILD metric)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Serendipity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Досвід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Несподівані, але релевантні рекомендації — «приємний сюрприз»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05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Етичні виклики та ризики рекомендаційних систем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8795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91440" cy="1316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365760" cy="36576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89611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Прозорість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(Explainability)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33272" y="1280160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Користувачі не знають, чому бачать певний контент. GDPR та AI Act вимагають права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пояснення рекомендацій.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8795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91440" cy="13167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4937760" y="914400"/>
            <a:ext cx="365760" cy="365760"/>
          </a:xfrm>
          <a:prstGeom prst="ellipse">
            <a:avLst/>
          </a:prstGeom>
          <a:solidFill>
            <a:srgbClr val="DC2626">
              <a:alpha val="8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493776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22392" y="89611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Конфіденційність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даних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22392" y="1280160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 збирають великі обсяги персональних даних: переміщення, звички, психологічний профіль.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418795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320040" y="2286000"/>
            <a:ext cx="91440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Shape 16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33272" y="235915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Bubble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33272" y="2743200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замикає user у «бульбашці» подібного контенту, викривляючи сприйняття реальності та думок.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286000"/>
            <a:ext cx="418795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3" name="Shape 21"/>
          <p:cNvSpPr/>
          <p:nvPr/>
        </p:nvSpPr>
        <p:spPr>
          <a:xfrm>
            <a:off x="4709160" y="2286000"/>
            <a:ext cx="91440" cy="13167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Shape 22"/>
          <p:cNvSpPr/>
          <p:nvPr/>
        </p:nvSpPr>
        <p:spPr>
          <a:xfrm>
            <a:off x="4937760" y="2377440"/>
            <a:ext cx="365760" cy="36576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5" name="Text 23"/>
          <p:cNvSpPr/>
          <p:nvPr/>
        </p:nvSpPr>
        <p:spPr>
          <a:xfrm>
            <a:off x="49377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22392" y="235915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Маніпуляція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поведінкою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22392" y="2743200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Максимізація engagement (не добробуту): соцмережі, ігри, відео можуть формувати залежність.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749040"/>
            <a:ext cx="418795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91440" cy="13167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1" name="Text 29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33272" y="382219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Алгоритмічна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упередженість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33272" y="4206240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 відтворюють та підсилюють соціальні упередження з даних (gender bias, racial bias, age bias).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749040"/>
            <a:ext cx="4187952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5" name="Shape 33"/>
          <p:cNvSpPr/>
          <p:nvPr/>
        </p:nvSpPr>
        <p:spPr>
          <a:xfrm>
            <a:off x="4709160" y="3749040"/>
            <a:ext cx="91440" cy="1316736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6" name="Shape 34"/>
          <p:cNvSpPr/>
          <p:nvPr/>
        </p:nvSpPr>
        <p:spPr>
          <a:xfrm>
            <a:off x="4937760" y="3840480"/>
            <a:ext cx="365760" cy="365760"/>
          </a:xfrm>
          <a:prstGeom prst="ellipse">
            <a:avLst/>
          </a:prstGeom>
          <a:solidFill>
            <a:srgbClr val="2B6CB0">
              <a:alpha val="85000"/>
            </a:srgbClr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7" name="Text 35"/>
          <p:cNvSpPr/>
          <p:nvPr/>
        </p:nvSpPr>
        <p:spPr>
          <a:xfrm>
            <a:off x="493776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22392" y="382219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Відповідальність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22392" y="4206240"/>
            <a:ext cx="3364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несе відповідальність за шкідливий рекомендований контент: платформа, алгоритм чи user?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 та перспективи розвитку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висновки: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418795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Рекомендаційні системи еволюціонували від простих правил до складних нейронних архітектур з LLM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Сучасні системи поєднують MF, GNN, Transformer та RL для досягнення найвищої якості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ключові виклики залишаються: cold start та алгоритмічна упередженість (bias)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 вимірюється комплексно: точність + різноманітність + новизна + бізнес-показники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0" y="8412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Перспективи дослідження: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170432"/>
            <a:ext cx="40233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— пояснюваність рекомендацій для довіри та регуляторних вимог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— персоналізація без передачі сирих даних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сервер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Мультимодальні системи — інтеграція тексту, зображень, аудіо та відео в єдину модель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RecSys — діалогові системи </a:t>
            </a:r>
            <a:r>
              <a:rPr lang="en-US" sz="12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базі LLM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RL — адаптація рекомендацій у режимі реального часу</a:t>
            </a:r>
            <a:endParaRPr lang="en-US" sz="1250" dirty="0"/>
          </a:p>
        </p:txBody>
      </p:sp>
      <p:pic>
        <p:nvPicPr>
          <p:cNvPr id="11" name="Picture 10" descr="A blue and white rocket&#10;&#10;AI-generated content may be incorrect.">
            <a:extLst>
              <a:ext uri="{FF2B5EF4-FFF2-40B4-BE49-F238E27FC236}">
                <a16:creationId xmlns:a16="http://schemas.microsoft.com/office/drawing/2014/main" id="{D34B6B27-82C2-2BDB-FA57-C9AD3F5AD3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816" y="3721608"/>
            <a:ext cx="998580" cy="9985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0A10EE-BB6A-603C-76D0-692E76920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014" y="3721608"/>
            <a:ext cx="998580" cy="9985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048" y="45720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Контрольне запитання 1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338328"/>
            <a:ext cx="8375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Яке з тверджень найточніше описує призначення рекомендаційної системи?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0" y="969264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26464" y="1161288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Система, що індексує та шукає документи за ключовими словами у великих базах даних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2613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" y="179405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26464" y="1766621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Алгоритм, який автоматично прогнозує вподобання користувача та пропонує релевантні об'єкти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307946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239938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26464" y="2371954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Підсистема аутентифікації для персоналізованого доступу до захищеного контенту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291327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Shape 20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300471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26464" y="2977286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Статистична модель для аналізу часових рядів та прогнозування попиту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товари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" y="3518611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7" name="Shape 25"/>
          <p:cNvSpPr/>
          <p:nvPr/>
        </p:nvSpPr>
        <p:spPr>
          <a:xfrm>
            <a:off x="347472" y="3518611"/>
            <a:ext cx="5486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347472" y="351861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7552" y="361005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426464" y="3582619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кластеризації даних для групування схожих користувачів без врахування вподобань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ECFAEA"/>
          </a:solidFill>
          <a:ln w="12700">
            <a:noFill/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2" name="Text 30"/>
          <p:cNvSpPr/>
          <p:nvPr/>
        </p:nvSpPr>
        <p:spPr>
          <a:xfrm>
            <a:off x="384048" y="4709160"/>
            <a:ext cx="8375904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 Правильна відповідь: Б — Рекомендаційна система — інформаційно-фільтруючий алгоритм, що прогнозує вподобання та пропонує релевантні items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048" y="45720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Контрольне запитання 2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338328"/>
            <a:ext cx="8375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Яка ключова характеристика відрізняє Content-based filtering від Collaborative filtering?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0" y="969264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26464" y="1161288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 потребує великої кількості users для обчислення схожості та формування рекомендацій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2613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" y="179405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26464" y="1766621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 аналізує ознаки (features) самих об'єктів і не потребує даних про інших користувачів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307946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239938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26464" y="2371954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 використовує матричну факторизацію для розкладу user-item матриці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латентні фактори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291327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Shape 20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300471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26464" y="2977286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CBF базується виключно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явних числових оцінках (рейтингах) від усіх користувачів системи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ECFAEA"/>
          </a:solidFill>
          <a:ln w="12700">
            <a:noFill/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Text 25"/>
          <p:cNvSpPr/>
          <p:nvPr/>
        </p:nvSpPr>
        <p:spPr>
          <a:xfrm>
            <a:off x="384048" y="4709160"/>
            <a:ext cx="8375904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 Правильна відповідь: Б — CBF порівнює ознаки items (жанр, теги, текст) з профілем user — без залучення даних інших users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048" y="45720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Контрольне запитання 3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338328"/>
            <a:ext cx="8375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Чому Item-based Collaborative Filtering зазвичай масштабується краще, ніж User-based CF?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0" y="969264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26464" y="1161288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Матриця схожості items є стабільнішою та оновлюється рідше, ніж матриця users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2613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" y="179405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26464" y="1766621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CF не потребує обчислення косинусної схожості між векторами вподобань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307946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239938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26464" y="2371954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товарів у каталозі завжди менша за кількість зареєстрованих користувачів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291327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Shape 20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300471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26464" y="2977286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Item-based CF використовує глибокі нейромережі, тоді як User-based CF — лише евристики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ECFAEA"/>
          </a:solidFill>
          <a:ln w="12700">
            <a:noFill/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Text 25"/>
          <p:cNvSpPr/>
          <p:nvPr/>
        </p:nvSpPr>
        <p:spPr>
          <a:xfrm>
            <a:off x="384048" y="4709160"/>
            <a:ext cx="8375904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 Правильна відповідь: А — Матриця item-item стабільніша — items рідко змінюються, що дозволяє передобчислення offline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048" y="45720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Контрольне запитання 4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338328"/>
            <a:ext cx="8375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Що відбувається під час навчання моделі Matrix Factorization (FunkSVD)?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0" y="969264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26464" y="1161288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Матриця оцінок заповнюється нулями, після чого застосовується стандартне PCA-розкладання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2613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" y="179405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26464" y="1766621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Матриця R розкладається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 x Qt, де P та Q навчаються мінімізуючи похибку лише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відомих оцінках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307946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239938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26464" y="2371954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users кластеризуються методом k-means, а items призначаються до найближчого кластеру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291327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Shape 20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300471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26464" y="2977286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Будується граф users та items із подальшим спектральним розкладанням матриці суміжності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" y="3518611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7" name="Shape 25"/>
          <p:cNvSpPr/>
          <p:nvPr/>
        </p:nvSpPr>
        <p:spPr>
          <a:xfrm>
            <a:off x="347472" y="3518611"/>
            <a:ext cx="5486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347472" y="351861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7552" y="361005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426464" y="3582619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user та item отримує one-hot вектор, який подається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вхід логістичної регресії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ECFAEA"/>
          </a:solidFill>
          <a:ln w="12700">
            <a:noFill/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2" name="Text 30"/>
          <p:cNvSpPr/>
          <p:nvPr/>
        </p:nvSpPr>
        <p:spPr>
          <a:xfrm>
            <a:off x="384048" y="4709160"/>
            <a:ext cx="8375904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 Правильна відповідь: Б — FunkSVD мінімізує MSE лише </a:t>
            </a:r>
            <a:r>
              <a:rPr lang="en-US" sz="11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відомих елементах через SGD, навчаючи latent-вектори P та Q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048" y="45720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Контрольне запитання 5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338328"/>
            <a:ext cx="8375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Яка зі стратегій НЕ є типовим способом пом'якшення Cold Start проблеми для нового користувача?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0" y="969264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26464" y="1161288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Onboarding-опитування: явне з'ясування інтересів нового user під час реєстрації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2613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" y="179405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26464" y="1766621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Рекомендації за демографічними ознаками (вік, геолокація, мова) без персональних даних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307946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239938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26464" y="2371954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Збільшення розмірності latent-простору матричної факторизації до 1024 факторів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291327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Shape 20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300471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26464" y="2977286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Popularity-based рекомендації глобально популярного контенту для всіх нових users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ECFAEA"/>
          </a:solidFill>
          <a:ln w="12700">
            <a:noFill/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Text 25"/>
          <p:cNvSpPr/>
          <p:nvPr/>
        </p:nvSpPr>
        <p:spPr>
          <a:xfrm>
            <a:off x="384048" y="4709160"/>
            <a:ext cx="8375904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 Правильна відповідь: В — Збільшення latent-факторів не вирішує cold start — для нового user немає взаємодій для навчання вектора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048" y="45720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Контрольне запитання 6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338328"/>
            <a:ext cx="8375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У чому головна перевага Neural Collaborative Filtering (NCF) перед класичним Matrix Factorization?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0" y="969264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26464" y="1161288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не потребує навчання та працює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основі детерміністичних правил ранжування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2613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" y="179405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26464" y="1766621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замінює скалярний добуток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MLP, що дозволяє моделювати нелінійні взаємодії між user та item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307946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239938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26464" y="2371954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використовує виключно контентні ознаки та не залежить від матриці взаємодій користувачів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291327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Shape 20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300471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26464" y="2977286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NCF навчається швидше за MF завдяки відсутності ітеративної оптимізації градієнтним спуском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ECFAEA"/>
          </a:solidFill>
          <a:ln w="12700">
            <a:noFill/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Text 25"/>
          <p:cNvSpPr/>
          <p:nvPr/>
        </p:nvSpPr>
        <p:spPr>
          <a:xfrm>
            <a:off x="384048" y="4709160"/>
            <a:ext cx="8375904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 Правильна відповідь: Б — He et al. (2017): MLP над конкатенацією embeddings виявляє нелінійні залежності, недоступні лінійному MF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048" y="45720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Контрольне запитання 7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338328"/>
            <a:ext cx="8375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Яку задачу вирішує LightGCN </a:t>
            </a:r>
            <a:r>
              <a:rPr lang="en-US" sz="155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5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відміну від класичного GCN у рекомендаційних системах?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0" y="969264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26464" y="1161288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 додає нелінійні активаційні функції та feature transformation для кращого узагальнення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2613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" y="179405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26464" y="1766621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 видаляє нелінійні трансформації та навчає лише лінійне поширення сигналу по ребрах графу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307946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239938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26464" y="2371954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 замінює граф user-item </a:t>
            </a:r>
            <a:r>
              <a:rPr lang="en-U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повністю зв'язаний граф item-item для прискорення обчислень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291327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Shape 20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300471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26464" y="2977286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 застосовує Self-Attention замість graph propagation для кодування послідовностей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" y="3518611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7" name="Shape 25"/>
          <p:cNvSpPr/>
          <p:nvPr/>
        </p:nvSpPr>
        <p:spPr>
          <a:xfrm>
            <a:off x="347472" y="3518611"/>
            <a:ext cx="5486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347472" y="351861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7552" y="361005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426464" y="3582619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LightGCN використовує трансферне навчання з LLM для ініціалізації вузлових embeddings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ECFAEA"/>
          </a:solidFill>
          <a:ln w="12700">
            <a:noFill/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2" name="Text 30"/>
          <p:cNvSpPr/>
          <p:nvPr/>
        </p:nvSpPr>
        <p:spPr>
          <a:xfrm>
            <a:off x="384048" y="4709160"/>
            <a:ext cx="8375904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 Правильна відповідь: Б — He et al. (2020): спрощення GCN без нелінійностей — лише sum aggregation — дає кращий результат і швидкість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048" y="45720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Контрольне запитання 8 /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338328"/>
            <a:ext cx="8375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Яка метрика враховує позицію релевантного item у ранжованому списку, штрафуючи за низькі позиції?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0" y="969264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26464" y="1161288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— частка релевантних items серед перших k рекомендацій, незалежно від позиції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1702613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Shape 10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/>
          <p:nvPr/>
        </p:nvSpPr>
        <p:spPr>
          <a:xfrm>
            <a:off x="347472" y="170261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" y="179405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26464" y="1766621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— частка знайдених релевантних items від загальної їх кількості у каталозі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307946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7" name="Shape 15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347472" y="230794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239938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26464" y="2371954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 — нормалізований дисконтований кумулятивний прибуток: вищі позиції мають більшу вагу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2913278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Shape 20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/>
          <p:nvPr/>
        </p:nvSpPr>
        <p:spPr>
          <a:xfrm>
            <a:off x="347472" y="29132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300471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26464" y="2977286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Rate@k — бінарна метрика: чи потрапив хоча б один релевантний item у top-k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" y="3518611"/>
            <a:ext cx="844905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7" name="Shape 25"/>
          <p:cNvSpPr/>
          <p:nvPr/>
        </p:nvSpPr>
        <p:spPr>
          <a:xfrm>
            <a:off x="347472" y="3518611"/>
            <a:ext cx="54864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347472" y="351861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7552" y="361005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☐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426464" y="3582619"/>
            <a:ext cx="7260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квадратний корінь із середньої квадратичної похибки між прогнозами та реальними оцінками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672584"/>
            <a:ext cx="9144000" cy="470916"/>
          </a:xfrm>
          <a:prstGeom prst="rect">
            <a:avLst/>
          </a:prstGeom>
          <a:solidFill>
            <a:srgbClr val="ECFAEA"/>
          </a:solidFill>
          <a:ln w="12700">
            <a:noFill/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2" name="Text 30"/>
          <p:cNvSpPr/>
          <p:nvPr/>
        </p:nvSpPr>
        <p:spPr>
          <a:xfrm>
            <a:off x="384048" y="4709160"/>
            <a:ext cx="8375904" cy="39776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✔  Правильна відповідь: В — NDCG@k дисконтує прибуток за log2(позиція+1): item </a:t>
            </a:r>
            <a:r>
              <a:rPr lang="en-US" sz="11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1-му місці цінується значно вище, ніж </a:t>
            </a:r>
            <a:r>
              <a:rPr lang="en-US" sz="11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10-му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616</TotalTime>
  <Words>7900</Words>
  <Application>Microsoft Office PowerPoint</Application>
  <PresentationFormat>On-screen Show (16:9)</PresentationFormat>
  <Paragraphs>763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Cambria</vt:lpstr>
      <vt:lpstr>Consolas</vt:lpstr>
      <vt:lpstr>Segoe UI Emoji</vt:lpstr>
      <vt:lpstr>Segoe UI Symbol</vt:lpstr>
      <vt:lpstr>Times New Roman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Рекомендаційні системи: теоретичні підходи</dc:title>
  <dc:subject>PptxGenJS Presentation</dc:subject>
  <dc:creator>PptxGenJS</dc:creator>
  <cp:lastModifiedBy>Романюк Богдан</cp:lastModifiedBy>
  <cp:revision>153</cp:revision>
  <dcterms:created xsi:type="dcterms:W3CDTF">2026-04-24T15:45:58Z</dcterms:created>
  <dcterms:modified xsi:type="dcterms:W3CDTF">2026-05-05T19:44:45Z</dcterms:modified>
</cp:coreProperties>
</file>
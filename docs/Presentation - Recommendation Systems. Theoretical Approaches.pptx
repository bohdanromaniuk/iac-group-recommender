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6" r:id="rId1"/>
  </p:sldMasterIdLst>
  <p:notesMasterIdLst>
    <p:notesMasterId r:id="rId32"/>
  </p:notes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5" r:id="rId30"/>
    <p:sldId id="288" r:id="rId31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CFAEA"/>
    <a:srgbClr val="AEECA6"/>
    <a:srgbClr val="A7F7EF"/>
    <a:srgbClr val="0D9488"/>
    <a:srgbClr val="AAC0E8"/>
    <a:srgbClr val="1ED760"/>
    <a:srgbClr val="1DB954"/>
    <a:srgbClr val="F8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74151" autoAdjust="0"/>
  </p:normalViewPr>
  <p:slideViewPr>
    <p:cSldViewPr snapToGrid="0" snapToObjects="1">
      <p:cViewPr varScale="1">
        <p:scale>
          <a:sx n="81" d="100"/>
          <a:sy n="81" d="100"/>
        </p:scale>
        <p:origin x="1526" y="53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7534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noProof="0" dirty="0"/>
              <a:t>Перш ніж заглибитися у конкретні підходи, варто чітко визначити, що саме розуміється під поняттям рекомендаційної системи. Згідно з класичним визначенням, </a:t>
            </a:r>
            <a:r>
              <a:rPr lang="uk-UA" b="1" noProof="0" dirty="0"/>
              <a:t>рекомендаційна система </a:t>
            </a:r>
            <a:r>
              <a:rPr lang="uk-UA" noProof="0" dirty="0"/>
              <a:t>— це інформаційна система, яка автоматично аналізує вподобання користувача та пропонує релевантні об'єкти з великого каталогу на основі попередніх взаємодій користувача із системою. Ключовим тут є те, що це відбувається </a:t>
            </a:r>
            <a:r>
              <a:rPr lang="uk-UA" b="1" noProof="0" dirty="0"/>
              <a:t>автоматично</a:t>
            </a:r>
            <a:r>
              <a:rPr lang="uk-UA" noProof="0" dirty="0"/>
              <a:t>. На відміну від пошукової системи, де користувач явно формулює запит, рекомендаційна система діє </a:t>
            </a:r>
            <a:r>
              <a:rPr lang="uk-UA" noProof="0" dirty="0" err="1"/>
              <a:t>ініціативно</a:t>
            </a:r>
            <a:r>
              <a:rPr lang="uk-UA" noProof="0" dirty="0"/>
              <a:t>: пропонує контент навіть тоді, коли людина не знає, що шукати. </a:t>
            </a:r>
          </a:p>
          <a:p>
            <a:r>
              <a:rPr lang="uk-UA" b="1" noProof="0" dirty="0"/>
              <a:t>Розглянемо ключові компоненти, які повинні бути присутні для кожної рекомендаційної системи: </a:t>
            </a:r>
          </a:p>
          <a:p>
            <a:r>
              <a:rPr lang="uk-UA" b="1" noProof="0" dirty="0"/>
              <a:t>Перш за все </a:t>
            </a:r>
            <a:r>
              <a:rPr lang="uk-UA" noProof="0" dirty="0"/>
              <a:t>це користувачі — тобто суб'єкти, для яких генеруються рекомендації. </a:t>
            </a:r>
          </a:p>
          <a:p>
            <a:r>
              <a:rPr lang="uk-UA" b="1" noProof="0" dirty="0"/>
              <a:t>Другий</a:t>
            </a:r>
            <a:r>
              <a:rPr lang="uk-UA" noProof="0" dirty="0"/>
              <a:t> — об'єкти або, як їх часто називають, елементи: це можуть бути фільми, товари, статті, новини, музичні треки тощо.</a:t>
            </a:r>
          </a:p>
          <a:p>
            <a:r>
              <a:rPr lang="uk-UA" b="1" i="0" noProof="0" dirty="0"/>
              <a:t>Третій елемент </a:t>
            </a:r>
            <a:r>
              <a:rPr lang="uk-UA" noProof="0" dirty="0"/>
              <a:t>— взаємодії між користувачами та об'єктами: оцінки, кліки, покупки, тривалість перегляду тощо. Саме ці взаємодії є основним сигналом, на якому навчається система. </a:t>
            </a:r>
          </a:p>
          <a:p>
            <a:r>
              <a:rPr lang="uk-UA" b="1" noProof="0" dirty="0"/>
              <a:t>Четвертий компонент </a:t>
            </a:r>
            <a:r>
              <a:rPr lang="uk-UA" noProof="0" dirty="0"/>
              <a:t>— алгоритм, що прогнозує важливість кожного об'єкта для конкретного користувача. </a:t>
            </a:r>
          </a:p>
          <a:p>
            <a:r>
              <a:rPr lang="uk-UA" b="1" noProof="0" dirty="0"/>
              <a:t>І нарешті </a:t>
            </a:r>
            <a:r>
              <a:rPr lang="uk-UA" noProof="0" dirty="0"/>
              <a:t>— інтерфейс, через який рекомендації подаються: списки, </a:t>
            </a:r>
            <a:r>
              <a:rPr lang="uk-UA" noProof="0" dirty="0" err="1"/>
              <a:t>емейли</a:t>
            </a:r>
            <a:r>
              <a:rPr lang="uk-UA" noProof="0" dirty="0"/>
              <a:t>, сповіщення, спливаючі компоненти, тощо. </a:t>
            </a:r>
          </a:p>
          <a:p>
            <a:r>
              <a:rPr lang="uk-UA" b="1" u="sng" noProof="0" dirty="0"/>
              <a:t>На слайді також наведено спрощену схему роботи такої системи: </a:t>
            </a:r>
            <a:r>
              <a:rPr lang="uk-UA" noProof="0" dirty="0"/>
              <a:t>вхідні дані від взаємодій надходять у модель, яка аналізує та генерує посортований список найбільш релевантних об'єктів. Саме така тришарова архітектура — дані, модель, рекомендація — лежить в основі будь-якої системи, незалежно від того, чи це класичний алгоритм для побудови рекомендацій, чи сучасна нейронна 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noProof="0" dirty="0"/>
              <a:t>Тема рекомендаційних систем сьогодні є однією з найбільш динамічних і впливових у багатьох сферах людського життя. </a:t>
            </a:r>
          </a:p>
          <a:p>
            <a:r>
              <a:rPr lang="uk-UA" noProof="0" dirty="0"/>
              <a:t>Достатньо проаналізувати їх використання та вплив на великі глобальні компанії, щоб зрозуміти масштаб явища. </a:t>
            </a:r>
          </a:p>
          <a:p>
            <a:pPr marL="228600" indent="-228600">
              <a:buAutoNum type="arabicParenR"/>
            </a:pPr>
            <a:r>
              <a:rPr lang="uk-UA" noProof="0" dirty="0"/>
              <a:t>Близько 35% усього доходу компанії </a:t>
            </a:r>
            <a:r>
              <a:rPr lang="uk-UA" b="1" noProof="0" dirty="0"/>
              <a:t>Amazon</a:t>
            </a:r>
            <a:r>
              <a:rPr lang="uk-UA" noProof="0" dirty="0"/>
              <a:t> генерується саме завдяки рекомендаційним алгоритмам — це мільярди доларів щорічно. </a:t>
            </a:r>
          </a:p>
          <a:p>
            <a:pPr marL="228600" indent="-228600">
              <a:buAutoNum type="arabicParenR"/>
            </a:pPr>
            <a:r>
              <a:rPr lang="uk-UA" noProof="0" dirty="0"/>
              <a:t>Ще більш вражаюча цифра у </a:t>
            </a:r>
            <a:r>
              <a:rPr lang="uk-UA" b="1" noProof="0" dirty="0"/>
              <a:t>Netflix,</a:t>
            </a:r>
            <a:r>
              <a:rPr lang="uk-UA" noProof="0" dirty="0"/>
              <a:t> приблизно 75% усіх переглядів відбувається не через пошук, а через рекомендації, які бачить користувачі на головній сторінці. </a:t>
            </a:r>
          </a:p>
          <a:p>
            <a:pPr marL="228600" indent="-228600">
              <a:buAutoNum type="arabicParenR"/>
            </a:pPr>
            <a:r>
              <a:rPr lang="uk-UA" noProof="0" dirty="0"/>
              <a:t>Платформа </a:t>
            </a:r>
            <a:r>
              <a:rPr lang="uk-UA" b="1" noProof="0" dirty="0" err="1"/>
              <a:t>YouTube</a:t>
            </a:r>
            <a:r>
              <a:rPr lang="uk-UA" noProof="0" dirty="0"/>
              <a:t> в свою чергу щодня обслуговує понад півтора мільярда людей, і кожен з них отримує персоналізовану стрічку, сформовану нейронною моделлю. </a:t>
            </a:r>
          </a:p>
          <a:p>
            <a:pPr marL="228600" indent="-228600">
              <a:buAutoNum type="arabicParenR"/>
            </a:pPr>
            <a:r>
              <a:rPr lang="uk-UA" noProof="0" dirty="0"/>
              <a:t>Музичний сервіс </a:t>
            </a:r>
            <a:r>
              <a:rPr lang="uk-UA" b="1" noProof="0" dirty="0" err="1"/>
              <a:t>Spotify</a:t>
            </a:r>
            <a:r>
              <a:rPr lang="uk-UA" noProof="0" dirty="0"/>
              <a:t> повідомляє, що близько 30% усіх </a:t>
            </a:r>
            <a:r>
              <a:rPr lang="uk-UA" noProof="0" dirty="0" err="1"/>
              <a:t>відтворень</a:t>
            </a:r>
            <a:r>
              <a:rPr lang="uk-UA" noProof="0" dirty="0"/>
              <a:t> припадає на автоматично згенеровані </a:t>
            </a:r>
            <a:r>
              <a:rPr lang="uk-UA" noProof="0" dirty="0" err="1"/>
              <a:t>плейлисти</a:t>
            </a:r>
            <a:r>
              <a:rPr lang="uk-UA" noProof="0" dirty="0"/>
              <a:t> (як-от </a:t>
            </a:r>
            <a:r>
              <a:rPr lang="uk-UA" noProof="0" dirty="0" err="1"/>
              <a:t>Discover</a:t>
            </a:r>
            <a:r>
              <a:rPr lang="uk-UA" noProof="0" dirty="0"/>
              <a:t> </a:t>
            </a:r>
            <a:r>
              <a:rPr lang="uk-UA" noProof="0" dirty="0" err="1"/>
              <a:t>Weekly</a:t>
            </a:r>
            <a:r>
              <a:rPr lang="uk-UA" noProof="0" dirty="0"/>
              <a:t> або </a:t>
            </a:r>
            <a:r>
              <a:rPr lang="uk-UA" noProof="0" dirty="0" err="1"/>
              <a:t>Daily</a:t>
            </a:r>
            <a:r>
              <a:rPr lang="uk-UA" noProof="0" dirty="0"/>
              <a:t> </a:t>
            </a:r>
            <a:r>
              <a:rPr lang="uk-UA" noProof="0" dirty="0" err="1"/>
              <a:t>Mix</a:t>
            </a:r>
            <a:r>
              <a:rPr lang="uk-UA" noProof="0" dirty="0"/>
              <a:t>). </a:t>
            </a:r>
          </a:p>
          <a:p>
            <a:pPr marL="0" indent="0">
              <a:buNone/>
            </a:pPr>
            <a:r>
              <a:rPr lang="uk-UA" noProof="0" dirty="0"/>
              <a:t>Окрім комерційного значення, ця галузь є надзвичайно цікавою з наукової точки зору. Щороку проводиться спеціалізована конференція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ACM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RecSys</a:t>
            </a:r>
            <a:r>
              <a:rPr lang="uk-UA" noProof="0" dirty="0"/>
              <a:t>, цього року буде ювілейна 20 конференція в </a:t>
            </a:r>
            <a:r>
              <a:rPr lang="uk-UA" noProof="0" dirty="0" err="1"/>
              <a:t>Мінесоті</a:t>
            </a:r>
            <a:r>
              <a:rPr lang="uk-UA" noProof="0" dirty="0"/>
              <a:t>, США, а тематичні обговорення присвячено рекомендаційним системам на провідних світових конференціях з машинного навчання, таких як </a:t>
            </a:r>
            <a:r>
              <a:rPr lang="en-US" b="1" dirty="0" err="1"/>
              <a:t>NeurIPS</a:t>
            </a:r>
            <a:r>
              <a:rPr lang="en-US" dirty="0"/>
              <a:t> (</a:t>
            </a:r>
            <a:r>
              <a:rPr lang="en-US" i="1" dirty="0"/>
              <a:t>Conference on Neural Information Processing Systems</a:t>
            </a:r>
            <a:r>
              <a:rPr lang="en-US" dirty="0"/>
              <a:t>), </a:t>
            </a:r>
            <a:r>
              <a:rPr lang="en-US" b="1" dirty="0"/>
              <a:t>KDD</a:t>
            </a:r>
            <a:r>
              <a:rPr lang="en-US" dirty="0"/>
              <a:t> (</a:t>
            </a:r>
            <a:r>
              <a:rPr lang="en-US" i="1" dirty="0"/>
              <a:t>Conference on Knowledge Discovery and Data Mining</a:t>
            </a:r>
            <a:r>
              <a:rPr lang="en-US" dirty="0"/>
              <a:t>), </a:t>
            </a:r>
            <a:r>
              <a:rPr lang="en-US" b="1" dirty="0"/>
              <a:t>SIGIR</a:t>
            </a:r>
            <a:r>
              <a:rPr lang="en-US" dirty="0"/>
              <a:t> (</a:t>
            </a:r>
            <a:r>
              <a:rPr lang="en-US" i="1" dirty="0"/>
              <a:t>Conference on Research and Development in Information Retrieval</a:t>
            </a:r>
            <a:r>
              <a:rPr lang="en-US" dirty="0"/>
              <a:t>) </a:t>
            </a:r>
            <a:r>
              <a:rPr lang="uk-UA" dirty="0"/>
              <a:t>та </a:t>
            </a:r>
            <a:r>
              <a:rPr lang="en-US" b="1" dirty="0"/>
              <a:t>WWW</a:t>
            </a:r>
            <a:r>
              <a:rPr lang="en-US" dirty="0"/>
              <a:t> (</a:t>
            </a:r>
            <a:r>
              <a:rPr lang="en-US" i="1" dirty="0"/>
              <a:t>The Web Conference</a:t>
            </a:r>
            <a:r>
              <a:rPr lang="en-US" dirty="0"/>
              <a:t>)</a:t>
            </a:r>
            <a:r>
              <a:rPr lang="uk-UA" noProof="0" dirty="0"/>
              <a:t>. </a:t>
            </a:r>
            <a:endParaRPr lang="en-US" noProof="0" dirty="0"/>
          </a:p>
          <a:p>
            <a:pPr marL="0" indent="0">
              <a:buNone/>
            </a:pPr>
            <a:r>
              <a:rPr lang="uk-UA" b="1" dirty="0"/>
              <a:t>Ця тема є міждисциплінарною: </a:t>
            </a:r>
            <a:r>
              <a:rPr lang="uk-UA" dirty="0"/>
              <a:t>вона поєднує математичні методи, машинне навчання, обробку </a:t>
            </a:r>
            <a:r>
              <a:rPr lang="uk-UA" dirty="0" err="1"/>
              <a:t>прироодньої</a:t>
            </a:r>
            <a:r>
              <a:rPr lang="uk-UA" dirty="0"/>
              <a:t> мови, роботу з графами, а також етичні й соціальні аспекти. Тому рекомендаційні системи можна розглядати як комплексний підхід, у якому поєднуються теорія, реалізація та </a:t>
            </a:r>
            <a:r>
              <a:rPr lang="uk-UA" noProof="0" dirty="0"/>
              <a:t>соціальні наслідки. </a:t>
            </a:r>
          </a:p>
          <a:p>
            <a:pPr marL="0" indent="0">
              <a:buNone/>
            </a:pPr>
            <a:r>
              <a:rPr lang="uk-UA" b="1" u="sng" noProof="0" dirty="0"/>
              <a:t>Залишається чимало відкритих питань</a:t>
            </a:r>
            <a:r>
              <a:rPr lang="uk-UA" noProof="0" dirty="0"/>
              <a:t>, серед яких </a:t>
            </a:r>
            <a:r>
              <a:rPr lang="uk-UA" noProof="0" dirty="0" err="1"/>
              <a:t>пояснюваність</a:t>
            </a:r>
            <a:r>
              <a:rPr lang="uk-UA" noProof="0" dirty="0"/>
              <a:t> моделей, забезпечення справедливості та збереження </a:t>
            </a:r>
            <a:r>
              <a:rPr lang="uk-UA" noProof="0" dirty="0" err="1"/>
              <a:t>приватності</a:t>
            </a:r>
            <a:r>
              <a:rPr lang="uk-UA" noProof="0" dirty="0"/>
              <a:t> користувачів.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noProof="0" dirty="0"/>
              <a:t>Рекомендаційні системи присутні в кожному куточку цифрового середовища — більшість з нас взаємодіє з ними щодня, навіть не усвідомлюючи цього. </a:t>
            </a:r>
          </a:p>
          <a:p>
            <a:r>
              <a:rPr lang="uk-UA" b="1" dirty="0"/>
              <a:t>На цьому слайді показано основні галузі </a:t>
            </a:r>
            <a:r>
              <a:rPr lang="uk-UA" dirty="0"/>
              <a:t>застосування рекомендаційних систем у сучасному цифровому світі. </a:t>
            </a:r>
          </a:p>
          <a:p>
            <a:r>
              <a:rPr lang="uk-UA" b="1" dirty="0"/>
              <a:t>Доцільно, мабуть, почати з </a:t>
            </a:r>
            <a:r>
              <a:rPr lang="uk-UA" b="1" dirty="0" err="1"/>
              <a:t>відеоплатформ</a:t>
            </a:r>
            <a:r>
              <a:rPr lang="uk-UA" dirty="0"/>
              <a:t>, таких як </a:t>
            </a:r>
            <a:r>
              <a:rPr lang="en-US" dirty="0"/>
              <a:t>Netflix, YouTube </a:t>
            </a:r>
            <a:r>
              <a:rPr lang="uk-UA" dirty="0"/>
              <a:t>та </a:t>
            </a:r>
            <a:r>
              <a:rPr lang="en-US" dirty="0"/>
              <a:t>Disney+ </a:t>
            </a:r>
            <a:r>
              <a:rPr lang="uk-UA" dirty="0"/>
              <a:t>які використовують рекомендації для персоналізації стрічки фільмів, серіалів та коротких відеокліпів. Алгоритм визначає не лише те, що показати, </a:t>
            </a:r>
            <a:r>
              <a:rPr lang="ru-RU" dirty="0"/>
              <a:t>а й у </a:t>
            </a:r>
            <a:r>
              <a:rPr lang="uk-UA" noProof="0" dirty="0"/>
              <a:t>якій послідовності та в якому контексті це подати</a:t>
            </a:r>
            <a:r>
              <a:rPr lang="uk-UA" dirty="0"/>
              <a:t>. </a:t>
            </a:r>
          </a:p>
          <a:p>
            <a:r>
              <a:rPr lang="uk-UA" b="1" dirty="0"/>
              <a:t>У сфері музичного </a:t>
            </a:r>
            <a:r>
              <a:rPr lang="uk-UA" b="1" dirty="0" err="1"/>
              <a:t>стрімінгу</a:t>
            </a:r>
            <a:r>
              <a:rPr lang="uk-UA" b="1" dirty="0"/>
              <a:t> </a:t>
            </a:r>
            <a:r>
              <a:rPr lang="uk-UA" dirty="0"/>
              <a:t>— </a:t>
            </a:r>
            <a:r>
              <a:rPr lang="en-US" dirty="0"/>
              <a:t>Spotify, Apple Music, Deezer — </a:t>
            </a:r>
            <a:r>
              <a:rPr lang="uk-UA" dirty="0"/>
              <a:t>рекомендації допомагають відкривати нових виконавців та формувати </a:t>
            </a:r>
            <a:r>
              <a:rPr lang="uk-UA" dirty="0" err="1"/>
              <a:t>плейлисти</a:t>
            </a:r>
            <a:r>
              <a:rPr lang="uk-UA" dirty="0"/>
              <a:t>, які відповідають настрою та контексту слухача. </a:t>
            </a:r>
          </a:p>
          <a:p>
            <a:r>
              <a:rPr lang="uk-UA" b="1" dirty="0"/>
              <a:t>Електронна комерція яка є</a:t>
            </a:r>
            <a:r>
              <a:rPr lang="uk-UA" dirty="0"/>
              <a:t>, мабуть, найдавнішою сферою застосування. </a:t>
            </a:r>
            <a:r>
              <a:rPr lang="en-US" dirty="0"/>
              <a:t>Amazon, </a:t>
            </a:r>
            <a:r>
              <a:rPr lang="en-US" dirty="0" err="1"/>
              <a:t>ebay</a:t>
            </a:r>
            <a:r>
              <a:rPr lang="en-US" dirty="0"/>
              <a:t>, </a:t>
            </a:r>
            <a:r>
              <a:rPr lang="en-US" dirty="0" err="1"/>
              <a:t>rozetka</a:t>
            </a:r>
            <a:r>
              <a:rPr lang="en-US" dirty="0"/>
              <a:t> </a:t>
            </a:r>
            <a:r>
              <a:rPr lang="uk-UA" dirty="0"/>
              <a:t>та інші </a:t>
            </a:r>
            <a:r>
              <a:rPr lang="uk-UA" dirty="0" err="1"/>
              <a:t>маркетплейси</a:t>
            </a:r>
            <a:r>
              <a:rPr lang="uk-UA" dirty="0"/>
              <a:t> пропонують пов'язані товари, аксесуари, комплектуючі та персоналізовані добірки. </a:t>
            </a:r>
          </a:p>
          <a:p>
            <a:r>
              <a:rPr lang="uk-UA" dirty="0"/>
              <a:t>У </a:t>
            </a:r>
            <a:r>
              <a:rPr lang="uk-UA" b="1" dirty="0"/>
              <a:t>новинних </a:t>
            </a:r>
            <a:r>
              <a:rPr lang="uk-UA" b="1" dirty="0" err="1"/>
              <a:t>агрегаторах</a:t>
            </a:r>
            <a:r>
              <a:rPr lang="uk-UA" dirty="0"/>
              <a:t>, таких як </a:t>
            </a:r>
            <a:r>
              <a:rPr lang="en-US" dirty="0"/>
              <a:t>Google News, </a:t>
            </a:r>
            <a:r>
              <a:rPr lang="uk-UA" dirty="0"/>
              <a:t>рекомендації формують стрічку статей за інтересами читача та враховують актуальні тренди. </a:t>
            </a:r>
          </a:p>
          <a:p>
            <a:r>
              <a:rPr lang="uk-UA" b="1" dirty="0"/>
              <a:t>Соціальні мережі </a:t>
            </a:r>
            <a:r>
              <a:rPr lang="uk-UA" dirty="0"/>
              <a:t>— </a:t>
            </a:r>
            <a:r>
              <a:rPr lang="en-US" dirty="0"/>
              <a:t>Instagram, TikTok, Facebook — </a:t>
            </a:r>
            <a:r>
              <a:rPr lang="uk-UA" dirty="0"/>
              <a:t>використовують рекомендації для добору контенту, реклами та пропозицій нових друзів або груп. </a:t>
            </a:r>
          </a:p>
          <a:p>
            <a:r>
              <a:rPr lang="uk-UA" b="1" dirty="0"/>
              <a:t>Також окрема ніша — подорожі</a:t>
            </a:r>
            <a:r>
              <a:rPr lang="uk-UA" dirty="0"/>
              <a:t>: </a:t>
            </a:r>
            <a:r>
              <a:rPr lang="en-US" dirty="0"/>
              <a:t>Booking </a:t>
            </a:r>
            <a:r>
              <a:rPr lang="uk-UA" dirty="0"/>
              <a:t>та </a:t>
            </a:r>
            <a:r>
              <a:rPr lang="en-US" dirty="0"/>
              <a:t>Airbnb </a:t>
            </a:r>
            <a:r>
              <a:rPr lang="uk-UA" dirty="0"/>
              <a:t>рекомендують готелі, квартири та цілі напрямки на основі історії пошуків та поведінки. </a:t>
            </a:r>
          </a:p>
          <a:p>
            <a:r>
              <a:rPr lang="uk-UA" b="1" u="sng" dirty="0"/>
              <a:t>Важливо зазначити</a:t>
            </a:r>
            <a:r>
              <a:rPr lang="uk-UA" dirty="0"/>
              <a:t>, що в усіх цих галузях, попри відмінності у природі контенту, застосовуються по суті одні й ті ж математичні підходи: матрична факторизація, </a:t>
            </a:r>
            <a:r>
              <a:rPr lang="uk-UA" dirty="0" err="1"/>
              <a:t>колаборативна</a:t>
            </a:r>
            <a:r>
              <a:rPr lang="uk-UA" dirty="0"/>
              <a:t> фільтрація, нейронні мережі та гібридні моделі. Це робить рекомендаційні системи універсальним інструментом, який легко переносити з однієї предметної області на іншу.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b="1" dirty="0"/>
              <a:t>Розглянемо історію розвитку цих систем. </a:t>
            </a:r>
          </a:p>
          <a:p>
            <a:r>
              <a:rPr lang="uk-UA" noProof="0" dirty="0"/>
              <a:t>Все почалося </a:t>
            </a:r>
            <a:r>
              <a:rPr lang="en-US" dirty="0"/>
              <a:t>у </a:t>
            </a:r>
            <a:r>
              <a:rPr lang="uk-UA" b="1" dirty="0"/>
              <a:t>1992</a:t>
            </a:r>
            <a:r>
              <a:rPr lang="uk-UA" dirty="0"/>
              <a:t> </a:t>
            </a:r>
            <a:r>
              <a:rPr lang="uk-UA" noProof="0" dirty="0"/>
              <a:t>році з проєкту GroupLens, розробленого в університеті </a:t>
            </a:r>
            <a:r>
              <a:rPr lang="uk-UA" noProof="0" dirty="0" err="1"/>
              <a:t>Міннесоти</a:t>
            </a:r>
            <a:r>
              <a:rPr lang="uk-UA" noProof="0" dirty="0"/>
              <a:t>. Це була перша система </a:t>
            </a:r>
            <a:r>
              <a:rPr lang="uk-UA" noProof="0" dirty="0" err="1"/>
              <a:t>колаборативної</a:t>
            </a:r>
            <a:r>
              <a:rPr lang="uk-UA" noProof="0" dirty="0"/>
              <a:t> фільтрації, яка допомагала користувачам </a:t>
            </a:r>
            <a:r>
              <a:rPr lang="uk-UA" noProof="0" dirty="0" err="1"/>
              <a:t>Usenet</a:t>
            </a:r>
            <a:r>
              <a:rPr lang="uk-UA" noProof="0" dirty="0"/>
              <a:t> знаходити цікаві новинні групи на основі оцінок інших користувачів зі схожими смаками. </a:t>
            </a:r>
          </a:p>
          <a:p>
            <a:r>
              <a:rPr lang="uk-UA" noProof="0" dirty="0"/>
              <a:t>У </a:t>
            </a:r>
            <a:r>
              <a:rPr lang="uk-UA" b="1" noProof="0" dirty="0"/>
              <a:t>95</a:t>
            </a:r>
            <a:r>
              <a:rPr lang="uk-UA" noProof="0" dirty="0"/>
              <a:t> році компанія Amazon впровадила знаменитий алгоритм «</a:t>
            </a:r>
            <a:r>
              <a:rPr lang="uk-UA" noProof="0" dirty="0" err="1"/>
              <a:t>Customers</a:t>
            </a:r>
            <a:r>
              <a:rPr lang="uk-UA" noProof="0" dirty="0"/>
              <a:t> </a:t>
            </a:r>
            <a:r>
              <a:rPr lang="uk-UA" noProof="0" dirty="0" err="1"/>
              <a:t>also</a:t>
            </a:r>
            <a:r>
              <a:rPr lang="uk-UA" noProof="0" dirty="0"/>
              <a:t> </a:t>
            </a:r>
            <a:r>
              <a:rPr lang="uk-UA" noProof="0" dirty="0" err="1"/>
              <a:t>bought</a:t>
            </a:r>
            <a:r>
              <a:rPr lang="uk-UA" noProof="0" dirty="0"/>
              <a:t>», який згодом став стандартом для електронної комерції в усьому світі. </a:t>
            </a:r>
          </a:p>
          <a:p>
            <a:r>
              <a:rPr lang="uk-UA" b="1" noProof="0" dirty="0" err="1"/>
              <a:t>Двотисячні</a:t>
            </a:r>
            <a:r>
              <a:rPr lang="uk-UA" noProof="0" dirty="0"/>
              <a:t> роки ознаменувалися масштабним впровадженням методів багаторукого бандита, матричної </a:t>
            </a:r>
            <a:r>
              <a:rPr lang="uk-UA" noProof="0" dirty="0" err="1"/>
              <a:t>факторизації</a:t>
            </a:r>
            <a:r>
              <a:rPr lang="uk-UA" noProof="0" dirty="0"/>
              <a:t> та машинного навчання на платформах з мільярдними аудиторіями — </a:t>
            </a:r>
            <a:r>
              <a:rPr lang="uk-UA" b="1" noProof="0" dirty="0"/>
              <a:t>Netflix, </a:t>
            </a:r>
            <a:r>
              <a:rPr lang="uk-UA" b="1" noProof="0" dirty="0" err="1"/>
              <a:t>YouTube</a:t>
            </a:r>
            <a:r>
              <a:rPr lang="uk-UA" noProof="0" dirty="0"/>
              <a:t>. </a:t>
            </a:r>
          </a:p>
          <a:p>
            <a:r>
              <a:rPr lang="uk-UA" noProof="0" dirty="0"/>
              <a:t>Особливо знаковим є період з 2006 по 2009 рік, коли проводився відомий конкурс Netflix </a:t>
            </a:r>
            <a:r>
              <a:rPr lang="uk-UA" noProof="0" dirty="0" err="1"/>
              <a:t>Prize</a:t>
            </a:r>
            <a:r>
              <a:rPr lang="uk-UA" noProof="0" dirty="0"/>
              <a:t>. Компанія Netflix запропонувала один мільйон доларів команді, яка покращить точність прогнозу рекомендацій </a:t>
            </a:r>
            <a:r>
              <a:rPr lang="uk-UA" noProof="0" dirty="0" err="1"/>
              <a:t>хочаби</a:t>
            </a:r>
            <a:r>
              <a:rPr lang="uk-UA" noProof="0" dirty="0"/>
              <a:t> на десять відсотків. Цей конкурс став справжнім каталізатором інновацій: саме тоді популярності набула матрична факторизація, запропонована </a:t>
            </a:r>
            <a:r>
              <a:rPr lang="uk-UA" noProof="0" dirty="0" err="1"/>
              <a:t>Саймоном</a:t>
            </a:r>
            <a:r>
              <a:rPr lang="uk-UA" noProof="0" dirty="0"/>
              <a:t> </a:t>
            </a:r>
            <a:r>
              <a:rPr lang="uk-UA" noProof="0" dirty="0" err="1"/>
              <a:t>Фанком</a:t>
            </a:r>
            <a:r>
              <a:rPr lang="uk-UA" noProof="0" dirty="0"/>
              <a:t>, та моделі на основі ансамблів. З 2016 року почалася ера глибокого навчання у рекомендаційних системах. Було запропоновано архітектуру нейронної </a:t>
            </a:r>
            <a:r>
              <a:rPr lang="uk-UA" noProof="0" dirty="0" err="1"/>
              <a:t>колаборативної</a:t>
            </a:r>
            <a:r>
              <a:rPr lang="uk-UA" noProof="0" dirty="0"/>
              <a:t> фільтрації, модель </a:t>
            </a:r>
            <a:r>
              <a:rPr lang="uk-UA" noProof="0" dirty="0" err="1"/>
              <a:t>Wide</a:t>
            </a:r>
            <a:r>
              <a:rPr lang="uk-UA" noProof="0" dirty="0"/>
              <a:t> </a:t>
            </a:r>
            <a:r>
              <a:rPr lang="uk-UA" noProof="0" dirty="0" err="1"/>
              <a:t>and</a:t>
            </a:r>
            <a:r>
              <a:rPr lang="uk-UA" noProof="0" dirty="0"/>
              <a:t> </a:t>
            </a:r>
            <a:r>
              <a:rPr lang="uk-UA" noProof="0" dirty="0" err="1"/>
              <a:t>Deep</a:t>
            </a:r>
            <a:r>
              <a:rPr lang="uk-UA" noProof="0" dirty="0"/>
              <a:t> від Google, потужну систему </a:t>
            </a:r>
            <a:r>
              <a:rPr lang="uk-UA" noProof="0" dirty="0" err="1"/>
              <a:t>YouTube</a:t>
            </a:r>
            <a:r>
              <a:rPr lang="uk-UA" noProof="0" dirty="0"/>
              <a:t> </a:t>
            </a:r>
            <a:r>
              <a:rPr lang="uk-UA" noProof="0" dirty="0" err="1"/>
              <a:t>Deep</a:t>
            </a:r>
            <a:r>
              <a:rPr lang="uk-UA" noProof="0" dirty="0"/>
              <a:t> </a:t>
            </a:r>
            <a:r>
              <a:rPr lang="uk-UA" noProof="0" dirty="0" err="1"/>
              <a:t>Neural</a:t>
            </a:r>
            <a:r>
              <a:rPr lang="uk-UA" noProof="0" dirty="0"/>
              <a:t> </a:t>
            </a:r>
            <a:r>
              <a:rPr lang="uk-UA" noProof="0" dirty="0" err="1"/>
              <a:t>Network</a:t>
            </a:r>
            <a:r>
              <a:rPr lang="uk-UA" noProof="0" dirty="0"/>
              <a:t>, графові нейронні мережі. </a:t>
            </a:r>
            <a:r>
              <a:rPr lang="uk-UA" b="1" noProof="0" dirty="0"/>
              <a:t>Найновіший етап </a:t>
            </a:r>
            <a:r>
              <a:rPr lang="uk-UA" noProof="0" dirty="0"/>
              <a:t>— з дві тисячі двадцять третього року — пов'язаний з появою великих </a:t>
            </a:r>
            <a:r>
              <a:rPr lang="uk-UA" noProof="0" dirty="0" err="1"/>
              <a:t>мовних</a:t>
            </a:r>
            <a:r>
              <a:rPr lang="uk-UA" noProof="0" dirty="0"/>
              <a:t> моделей, таких як GPT-4 та </a:t>
            </a:r>
            <a:r>
              <a:rPr lang="uk-UA" noProof="0" dirty="0" err="1"/>
              <a:t>LLaMA</a:t>
            </a:r>
            <a:r>
              <a:rPr lang="uk-UA" noProof="0" dirty="0"/>
              <a:t>, які відкрили принципово нові можливості: діалогові рекомендаційні системи та </a:t>
            </a:r>
            <a:r>
              <a:rPr lang="uk-UA" dirty="0"/>
              <a:t>обґрунтування наданих рекомендацій</a:t>
            </a:r>
            <a:r>
              <a:rPr lang="uk-UA" noProof="0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noProof="0" dirty="0"/>
              <a:t>Взагалі кажучи, фінальна рекомендаційна система — це не якась одна модель, а складний конвеєр з кількох взаємопов'язаних підсистем. На слайді наведено п'ять основних етапів обробки даних. </a:t>
            </a:r>
          </a:p>
          <a:p>
            <a:r>
              <a:rPr lang="uk-UA" b="1" noProof="0" dirty="0"/>
              <a:t>Перший етап </a:t>
            </a:r>
            <a:r>
              <a:rPr lang="uk-UA" noProof="0" dirty="0"/>
              <a:t>— це збір самих даних. Тут збираються всі взаємодії користувачів: оцінки, кліки, покупки, тривалість перегляду, пошукові запити. Якість зібраних даних безпосередньо впливає на якість рекомендацій. </a:t>
            </a:r>
          </a:p>
          <a:p>
            <a:r>
              <a:rPr lang="uk-UA" b="1" noProof="0" dirty="0"/>
              <a:t>Другий етап </a:t>
            </a:r>
            <a:r>
              <a:rPr lang="uk-UA" noProof="0" dirty="0"/>
              <a:t>— обробка та формування ознак. На цьому етапі дані нормалізуються, кодуються </a:t>
            </a:r>
            <a:r>
              <a:rPr lang="uk-UA" noProof="0" dirty="0" err="1"/>
              <a:t>контексні</a:t>
            </a:r>
            <a:r>
              <a:rPr lang="uk-UA" noProof="0" dirty="0"/>
              <a:t> дані, будуються вектори ознак для користувачів, об'єктів та контексту. </a:t>
            </a:r>
          </a:p>
          <a:p>
            <a:r>
              <a:rPr lang="uk-UA" b="1" noProof="0" dirty="0"/>
              <a:t>Третій етап </a:t>
            </a:r>
            <a:r>
              <a:rPr lang="uk-UA" noProof="0" dirty="0"/>
              <a:t>— навчання моделі. Тут застосовується обраний алгоритм: </a:t>
            </a:r>
            <a:r>
              <a:rPr lang="uk-UA" noProof="0" dirty="0" err="1"/>
              <a:t>колаборативна</a:t>
            </a:r>
            <a:r>
              <a:rPr lang="uk-UA" noProof="0" dirty="0"/>
              <a:t> фільтрація, матрична факторизація, нейронна мережа або гібридна архітектура. Навчання зазвичай відбувається в офлайн-режимі на історичних даних. </a:t>
            </a:r>
          </a:p>
          <a:p>
            <a:r>
              <a:rPr lang="uk-UA" b="1" noProof="0" dirty="0"/>
              <a:t>Четвертий етап </a:t>
            </a:r>
            <a:r>
              <a:rPr lang="uk-UA" noProof="0" dirty="0"/>
              <a:t>— генерація рекомендацій. Досить </a:t>
            </a:r>
            <a:r>
              <a:rPr lang="uk-UA" noProof="0" dirty="0" err="1"/>
              <a:t>частом</a:t>
            </a:r>
            <a:r>
              <a:rPr lang="uk-UA" noProof="0" dirty="0"/>
              <a:t> використовується </a:t>
            </a:r>
            <a:r>
              <a:rPr lang="uk-UA" noProof="0" dirty="0" err="1"/>
              <a:t>двостадійний</a:t>
            </a:r>
            <a:r>
              <a:rPr lang="uk-UA" noProof="0" dirty="0"/>
              <a:t> підхід: спочатку відбираються тисячі кандидатів — це етап генерації кандидатів, а потім вузький список </a:t>
            </a:r>
            <a:r>
              <a:rPr lang="uk-UA" noProof="0" dirty="0" err="1"/>
              <a:t>ранжується</a:t>
            </a:r>
            <a:r>
              <a:rPr lang="uk-UA" noProof="0" dirty="0"/>
              <a:t> більш точною моделлю — це етап повторного </a:t>
            </a:r>
            <a:r>
              <a:rPr lang="uk-UA" noProof="0" dirty="0" err="1"/>
              <a:t>впордякування</a:t>
            </a:r>
            <a:r>
              <a:rPr lang="uk-UA" noProof="0" dirty="0"/>
              <a:t>. Такий підхід дозволяє обробляти каталоги з мільйонами об'єктів за частки секунди. </a:t>
            </a:r>
          </a:p>
          <a:p>
            <a:r>
              <a:rPr lang="uk-UA" b="1" noProof="0" dirty="0"/>
              <a:t>П'ятий етап </a:t>
            </a:r>
            <a:r>
              <a:rPr lang="uk-UA" noProof="0" dirty="0"/>
              <a:t>— апробація та тестування на живому трафіку. Жодне покращення не можна вважати реальним, доки воно не підтверджене в онлайн-експерименті. У нижній частині слайду перераховано основні підсистеми: </a:t>
            </a:r>
            <a:r>
              <a:rPr lang="uk-UA" noProof="0" dirty="0" err="1"/>
              <a:t>агрегатор</a:t>
            </a:r>
            <a:r>
              <a:rPr lang="uk-UA" noProof="0" dirty="0"/>
              <a:t> профілів, реєстр об'єктів, система вибору рекомендацій та підсистема оцінювання. Саме така модульна архітектура дозволяє масштабувати рекомендаційні системи для мільярдів користувачів та мільйонів елементів.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Якість рекомендацій безпосередньо залежить від якості та різноманітності вхідних даних. </a:t>
            </a:r>
            <a:r>
              <a:rPr lang="uk-UA" dirty="0"/>
              <a:t>Тут </a:t>
            </a:r>
            <a:r>
              <a:rPr lang="uk-UA" noProof="0" dirty="0"/>
              <a:t>систематизовано чотири основні категорії даних</a:t>
            </a:r>
            <a:r>
              <a:rPr lang="en-US" dirty="0"/>
              <a:t>. </a:t>
            </a:r>
            <a:endParaRPr lang="uk-UA" dirty="0"/>
          </a:p>
          <a:p>
            <a:r>
              <a:rPr lang="uk-UA" b="1" dirty="0"/>
              <a:t>Перша категорія </a:t>
            </a:r>
            <a:r>
              <a:rPr lang="uk-UA" dirty="0"/>
              <a:t>— явні взаємодії. Це ситуація, коли користувач свідомо виражає своє ставлення: ставить оцінку від одного до п'яти, залишає </a:t>
            </a:r>
            <a:r>
              <a:rPr lang="uk-UA" dirty="0" err="1"/>
              <a:t>лайк</a:t>
            </a:r>
            <a:r>
              <a:rPr lang="uk-UA" dirty="0"/>
              <a:t> або </a:t>
            </a:r>
            <a:r>
              <a:rPr lang="uk-UA" dirty="0" err="1"/>
              <a:t>дизлайк</a:t>
            </a:r>
            <a:r>
              <a:rPr lang="uk-UA" dirty="0"/>
              <a:t>, пише відгук, додає об'єкт у список улюблених. Такі дані є найбільш інформативними, проте їх відносно мало — більшість користувачів </a:t>
            </a:r>
            <a:r>
              <a:rPr lang="uk-UA" dirty="0" err="1"/>
              <a:t>рідко</a:t>
            </a:r>
            <a:r>
              <a:rPr lang="uk-UA" dirty="0"/>
              <a:t> витрачають час на оцінки. </a:t>
            </a:r>
          </a:p>
          <a:p>
            <a:r>
              <a:rPr lang="uk-UA" b="1" dirty="0"/>
              <a:t>Друга категорія </a:t>
            </a:r>
            <a:r>
              <a:rPr lang="uk-UA" dirty="0"/>
              <a:t>— неявні взаємодії. Сюди входять кліки, перегляди сторінок, час прослуховування треку, покупки, додавання у кошик. Цих даних значно більше, оскільки вони збираються автоматично без будь яких зусиль з боку користувача. Однак їх інтерпретація складніша: факт того, що користувач переглянув товар, не означає, що він йому сподобався. </a:t>
            </a:r>
          </a:p>
          <a:p>
            <a:r>
              <a:rPr lang="uk-UA" b="1" dirty="0"/>
              <a:t>Третя категорія </a:t>
            </a:r>
            <a:r>
              <a:rPr lang="uk-UA" dirty="0"/>
              <a:t>— ознаки користувача: демографічні дані, такі як вік, стать, географія, а також технічні характеристики — мова інтерфейсу, тип пристрою, час доби активності. Особливу цінність мають соціальні зв'язки, якщо вони доступні. </a:t>
            </a:r>
          </a:p>
          <a:p>
            <a:r>
              <a:rPr lang="uk-UA" b="1" dirty="0"/>
              <a:t>Четверта категорія </a:t>
            </a:r>
            <a:r>
              <a:rPr lang="uk-UA" dirty="0"/>
              <a:t>— ознаки об'єктів. Це жанр, категорія, теги, ціна, рейтинг, текстовий опис, зображення, а також метадані: рік випуску, автор, тривалість тощо. Сучасні рекомендаційні системи прагнуть поєднувати всі чотири категорії, оскільки кожна з них покриває певні слабкі сторони інших. Зокрема, поєднання ознак об'єктів та користувачів допомагають вирішувати проблему холодного старту.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Найпростіші підходи є водночас найефективнішими </a:t>
            </a:r>
            <a:r>
              <a:rPr lang="en-US" dirty="0" err="1"/>
              <a:t>базовими</a:t>
            </a:r>
            <a:r>
              <a:rPr lang="en-US" dirty="0"/>
              <a:t> </a:t>
            </a:r>
            <a:r>
              <a:rPr lang="en-US" dirty="0" err="1"/>
              <a:t>моделями</a:t>
            </a:r>
            <a:r>
              <a:rPr lang="uk-UA" dirty="0"/>
              <a:t> з якими можна проводити </a:t>
            </a:r>
            <a:r>
              <a:rPr lang="en-US" dirty="0" err="1"/>
              <a:t>порівняння</a:t>
            </a:r>
            <a:r>
              <a:rPr lang="en-US" dirty="0"/>
              <a:t>. </a:t>
            </a:r>
            <a:endParaRPr lang="uk-UA" dirty="0"/>
          </a:p>
          <a:p>
            <a:r>
              <a:rPr lang="en-US" b="1" dirty="0"/>
              <a:t>Популярні рекомендації </a:t>
            </a:r>
            <a:r>
              <a:rPr lang="en-US" dirty="0"/>
              <a:t>відмінно працюють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uk-UA" dirty="0"/>
              <a:t>холодному старті</a:t>
            </a:r>
            <a:r>
              <a:rPr lang="en-US" dirty="0"/>
              <a:t>: коли ще немає даних про </a:t>
            </a:r>
            <a:r>
              <a:rPr lang="en-US" dirty="0" err="1"/>
              <a:t>нового</a:t>
            </a:r>
            <a:r>
              <a:rPr lang="en-US" dirty="0"/>
              <a:t> </a:t>
            </a:r>
            <a:r>
              <a:rPr lang="uk-UA" dirty="0"/>
              <a:t>користувача</a:t>
            </a:r>
            <a:r>
              <a:rPr lang="en-US" dirty="0"/>
              <a:t>, показуємо глобально або тематично популярний контент. </a:t>
            </a:r>
            <a:endParaRPr lang="uk-UA" dirty="0"/>
          </a:p>
          <a:p>
            <a:r>
              <a:rPr lang="uk-UA" b="1" dirty="0"/>
              <a:t>П</a:t>
            </a:r>
            <a:r>
              <a:rPr lang="en-US" b="1" dirty="0" err="1"/>
              <a:t>ідходи</a:t>
            </a:r>
            <a:r>
              <a:rPr lang="en-US" b="1" dirty="0"/>
              <a:t> </a:t>
            </a:r>
            <a:r>
              <a:rPr lang="uk-UA" b="1" dirty="0"/>
              <a:t>на основі правил </a:t>
            </a:r>
            <a:r>
              <a:rPr lang="en-US" dirty="0" err="1"/>
              <a:t>дозволяють</a:t>
            </a:r>
            <a:r>
              <a:rPr lang="en-US" dirty="0"/>
              <a:t> вбудувати бізнес-логіку безпосередньо в алгоритм: вікові обмеження, регіональна доступність, </a:t>
            </a:r>
            <a:r>
              <a:rPr lang="en-US" dirty="0" err="1"/>
              <a:t>компл</a:t>
            </a:r>
            <a:r>
              <a:rPr lang="uk-UA" dirty="0" err="1"/>
              <a:t>ексні</a:t>
            </a:r>
            <a:r>
              <a:rPr lang="uk-UA" dirty="0"/>
              <a:t> </a:t>
            </a:r>
            <a:r>
              <a:rPr lang="en-US" dirty="0" err="1"/>
              <a:t>вимоги</a:t>
            </a:r>
            <a:r>
              <a:rPr lang="en-US" dirty="0"/>
              <a:t>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noProof="0" dirty="0"/>
              <a:t>Перейдемо до першого по-справжньому персоналізованого підходу — фільтрації на основі контенту</a:t>
            </a:r>
            <a:r>
              <a:rPr lang="uk-UA" dirty="0"/>
              <a:t>. </a:t>
            </a:r>
            <a:r>
              <a:rPr lang="uk-UA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Фільтрація на основі </a:t>
            </a:r>
            <a:r>
              <a:rPr lang="uk-UA" sz="120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контетну</a:t>
            </a:r>
            <a:r>
              <a:rPr lang="uk-UA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/>
              <a:t>є інтуїтивно зрозумілим підходом: </a:t>
            </a:r>
            <a:r>
              <a:rPr lang="en-US" dirty="0" err="1"/>
              <a:t>якщо</a:t>
            </a:r>
            <a:r>
              <a:rPr lang="en-US" dirty="0"/>
              <a:t> </a:t>
            </a:r>
            <a:r>
              <a:rPr lang="uk-UA" dirty="0"/>
              <a:t>користувачу</a:t>
            </a:r>
            <a:r>
              <a:rPr lang="en-US" dirty="0"/>
              <a:t> сподобався фільм певного жанру, рекомендуємо схожі фільми того ж </a:t>
            </a:r>
            <a:r>
              <a:rPr lang="en-US" dirty="0" err="1"/>
              <a:t>жанру</a:t>
            </a:r>
            <a:r>
              <a:rPr lang="uk-UA" dirty="0"/>
              <a:t>, режисера, країни випуску, тощо</a:t>
            </a:r>
            <a:r>
              <a:rPr lang="en-US" dirty="0"/>
              <a:t>. </a:t>
            </a:r>
            <a:r>
              <a:rPr lang="uk-UA" noProof="0" dirty="0"/>
              <a:t>Спочатку для кожного об'єкта будується вектор ознак на основі його унікальних характеристик. Текстова інформація обробляється методами на кшталт Word2Vec або сучасними моделями типу BERT та </a:t>
            </a:r>
            <a:r>
              <a:rPr lang="en-US" noProof="0" dirty="0"/>
              <a:t>RoBERTa</a:t>
            </a:r>
            <a:r>
              <a:rPr lang="uk-UA" noProof="0" dirty="0"/>
              <a:t>. Далі формується профіль користувача — це підсумований вектор ознак тих об'єктів, з якими користувач взаємодіяв. І нарешті обчислюється косинус подібності між профілем користувача та невідомими об'єктами, після чого формується рейтинг </a:t>
            </a:r>
            <a:r>
              <a:rPr lang="uk-UA" noProof="0" dirty="0" err="1"/>
              <a:t>top</a:t>
            </a:r>
            <a:r>
              <a:rPr lang="uk-UA" noProof="0" dirty="0"/>
              <a:t>-</a:t>
            </a:r>
            <a:r>
              <a:rPr lang="en-US" noProof="0" dirty="0"/>
              <a:t>k</a:t>
            </a:r>
            <a:r>
              <a:rPr lang="uk-UA" noProof="0" dirty="0"/>
              <a:t> рекомендацій. </a:t>
            </a:r>
            <a:endParaRPr lang="en-US" noProof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Серед переваг варто відзначити </a:t>
            </a:r>
            <a:r>
              <a:rPr lang="uk-UA" noProof="0" dirty="0"/>
              <a:t>те, що підхід не потребує даних про інших користувачів — це робить його приватним. Він також добре працює з </a:t>
            </a:r>
            <a:r>
              <a:rPr lang="uk-UA" noProof="0" dirty="0" err="1"/>
              <a:t>нішевими</a:t>
            </a:r>
            <a:r>
              <a:rPr lang="uk-UA" noProof="0" dirty="0"/>
              <a:t> інтересами, коли важко знайти схожих користувачів. Окремо слід підкреслити прозорість: завжди можна пояснити рекомендацію — наприклад, рекомендуємо це, тому що ви дивилися щось схоже.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Серед недоліків </a:t>
            </a:r>
            <a:r>
              <a:rPr lang="uk-UA" noProof="0" dirty="0"/>
              <a:t>— проблема надмірної спеціалізації, коли система рекомендує користувачу дуже схожий контент. Також підхід вимагає значних зусиль у формуванні ознак, особливо для мультимедійного контенту. Він не виявляє прихованих інтересів користувача і не використовує колективний досвід спільноти.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 err="1"/>
              <a:t>Колаборативна</a:t>
            </a:r>
            <a:r>
              <a:rPr lang="uk-UA" b="1" noProof="0" dirty="0"/>
              <a:t> фільтрація </a:t>
            </a:r>
            <a:r>
              <a:rPr lang="uk-UA" noProof="0" dirty="0"/>
              <a:t>— це найбільш фундаментальний підхід у рекомендаційних системах, і саме на ньому ґрунтується значна частина сучасних алгоритмів. Вона полягає в тому, що </a:t>
            </a:r>
            <a:r>
              <a:rPr lang="en-US" dirty="0" err="1"/>
              <a:t>якщо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uk-UA" dirty="0"/>
              <a:t>користувачі</a:t>
            </a:r>
            <a:r>
              <a:rPr lang="en-US" dirty="0"/>
              <a:t> </a:t>
            </a:r>
            <a:r>
              <a:rPr lang="en-US" dirty="0" err="1"/>
              <a:t>оцінили</a:t>
            </a:r>
            <a:r>
              <a:rPr lang="en-US" dirty="0"/>
              <a:t> </a:t>
            </a:r>
            <a:r>
              <a:rPr lang="en-US" dirty="0" err="1"/>
              <a:t>схожий</a:t>
            </a:r>
            <a:r>
              <a:rPr lang="en-US" dirty="0"/>
              <a:t> </a:t>
            </a:r>
            <a:r>
              <a:rPr lang="en-US" dirty="0" err="1"/>
              <a:t>набір</a:t>
            </a:r>
            <a:r>
              <a:rPr lang="en-US" dirty="0"/>
              <a:t> </a:t>
            </a:r>
            <a:r>
              <a:rPr lang="uk-UA" dirty="0"/>
              <a:t>елементів</a:t>
            </a:r>
            <a:r>
              <a:rPr lang="en-US" dirty="0"/>
              <a:t>, </a:t>
            </a:r>
            <a:r>
              <a:rPr lang="en-US" dirty="0" err="1"/>
              <a:t>їхні</a:t>
            </a:r>
            <a:r>
              <a:rPr lang="en-US" dirty="0"/>
              <a:t> </a:t>
            </a:r>
            <a:r>
              <a:rPr lang="en-US" dirty="0" err="1"/>
              <a:t>майбутні</a:t>
            </a:r>
            <a:r>
              <a:rPr lang="en-US" dirty="0"/>
              <a:t> </a:t>
            </a:r>
            <a:r>
              <a:rPr lang="en-US" dirty="0" err="1"/>
              <a:t>вподобання</a:t>
            </a:r>
            <a:r>
              <a:rPr lang="en-US" dirty="0"/>
              <a:t> </a:t>
            </a:r>
            <a:r>
              <a:rPr lang="en-US" dirty="0" err="1"/>
              <a:t>також</a:t>
            </a:r>
            <a:r>
              <a:rPr lang="en-US" dirty="0"/>
              <a:t>, </a:t>
            </a:r>
            <a:r>
              <a:rPr lang="en-US" dirty="0" err="1"/>
              <a:t>швидше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, </a:t>
            </a:r>
            <a:r>
              <a:rPr lang="en-US" dirty="0" err="1"/>
              <a:t>збігатимуться</a:t>
            </a:r>
            <a:r>
              <a:rPr lang="en-US" dirty="0"/>
              <a:t>.</a:t>
            </a:r>
            <a:r>
              <a:rPr lang="uk-UA" noProof="0" dirty="0"/>
              <a:t> При цьому тут не використовуються властивості самих об'єктів. Все, з чим працює модель, — це матриця взаємодій між користувачами та об'єктами. На прикладі праворуч показано таку матрицю. У рядках — користувачі, у стовпцях — фільми, у клітинках — оцінки. Багато клітинок порожні: насправді на реальних даних розрідженість сягає від 95% до 99% відсотків. Завдання моделі — заповнити цю матрицю, тобто спрогнозувати оцінки в порожніх клітинках. На слайді жовтим виділено комірку, яку потрібно спрогнозувати.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Виокремлюють два основні різновиди </a:t>
            </a:r>
            <a:r>
              <a:rPr lang="uk-UA" b="1" noProof="0" dirty="0" err="1"/>
              <a:t>колаборативної</a:t>
            </a:r>
            <a:r>
              <a:rPr lang="uk-UA" b="1" noProof="0" dirty="0"/>
              <a:t> фільтрації. </a:t>
            </a:r>
            <a:r>
              <a:rPr lang="uk-UA" noProof="0" dirty="0"/>
              <a:t>Перший — </a:t>
            </a:r>
            <a:r>
              <a:rPr lang="uk-UA" b="1" noProof="0" dirty="0" err="1"/>
              <a:t>memory-based</a:t>
            </a:r>
            <a:r>
              <a:rPr lang="uk-UA" noProof="0" dirty="0"/>
              <a:t>: схожість між користувачами або об'єктами обчислюється безпосередньо за допомогою </a:t>
            </a:r>
            <a:r>
              <a:rPr lang="uk-UA" noProof="0"/>
              <a:t>косинуса подібності або </a:t>
            </a:r>
            <a:r>
              <a:rPr lang="uk-UA" noProof="0" dirty="0"/>
              <a:t>кореляції </a:t>
            </a:r>
            <a:r>
              <a:rPr lang="uk-UA" noProof="0" dirty="0" err="1"/>
              <a:t>Пірсона</a:t>
            </a:r>
            <a:r>
              <a:rPr lang="uk-UA" noProof="0" dirty="0"/>
              <a:t>. Другий — </a:t>
            </a:r>
            <a:r>
              <a:rPr lang="uk-UA" b="1" noProof="0" dirty="0" err="1"/>
              <a:t>model-based</a:t>
            </a:r>
            <a:r>
              <a:rPr lang="uk-UA" noProof="0" dirty="0"/>
              <a:t>: явно навчається математична модель, наприклад матрична факторизація, нейронна мережа або мережа графів.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Перевагою </a:t>
            </a:r>
            <a:r>
              <a:rPr lang="uk-UA" b="1" noProof="0" dirty="0" err="1"/>
              <a:t>колаборативної</a:t>
            </a:r>
            <a:r>
              <a:rPr lang="uk-UA" b="1" noProof="0" dirty="0"/>
              <a:t> фільтрації є те</a:t>
            </a:r>
            <a:r>
              <a:rPr lang="uk-UA" noProof="0" dirty="0"/>
              <a:t>, що вона не потребує знань про властивості об'єктів — достатньо лише матриці взаємодій. Більше того, цей підхід здатен виявляти приховані інтереси, які сам користувач може не усвідомлювати.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Однак існує і проблема: </a:t>
            </a:r>
            <a:r>
              <a:rPr lang="uk-UA" noProof="0" dirty="0"/>
              <a:t>розрідженість матриці робить пошук схожих користувачів складним завданням, особливо для нових учасників системи.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Фільтрація на основі користувачів </a:t>
            </a:r>
            <a:r>
              <a:rPr lang="en-US" dirty="0" err="1"/>
              <a:t>знаходить</a:t>
            </a:r>
            <a:r>
              <a:rPr lang="en-US" dirty="0"/>
              <a:t> так званих 'сусідів' — </a:t>
            </a:r>
            <a:r>
              <a:rPr lang="en-US" dirty="0" err="1"/>
              <a:t>схожих</a:t>
            </a:r>
            <a:r>
              <a:rPr lang="en-US" dirty="0"/>
              <a:t> </a:t>
            </a:r>
            <a:r>
              <a:rPr lang="uk-UA" dirty="0"/>
              <a:t>користувачів</a:t>
            </a:r>
            <a:r>
              <a:rPr lang="en-US" dirty="0"/>
              <a:t> — та агрегує їхні оцінки для прогнозування. Схожість обчислюється за косинусом або кореляцією Пірсона між векторами оцінок. Amazon </a:t>
            </a:r>
            <a:r>
              <a:rPr lang="uk-UA" dirty="0"/>
              <a:t>в свою чергу </a:t>
            </a:r>
            <a:r>
              <a:rPr lang="en-US" dirty="0" err="1"/>
              <a:t>запропонував</a:t>
            </a:r>
            <a:r>
              <a:rPr lang="en-US" dirty="0"/>
              <a:t> </a:t>
            </a:r>
            <a:r>
              <a:rPr lang="uk-UA" dirty="0"/>
              <a:t>фільтрацію на основі елементів </a:t>
            </a:r>
            <a:r>
              <a:rPr lang="en-US" dirty="0"/>
              <a:t>у 2001 році саме для вирішення проблеми масштабування: </a:t>
            </a:r>
            <a:r>
              <a:rPr lang="en-US" dirty="0" err="1"/>
              <a:t>матриця</a:t>
            </a:r>
            <a:r>
              <a:rPr lang="en-US" dirty="0"/>
              <a:t> </a:t>
            </a:r>
            <a:r>
              <a:rPr lang="uk-UA" dirty="0" err="1"/>
              <a:t>взаємозвязків</a:t>
            </a:r>
            <a:r>
              <a:rPr lang="uk-UA" dirty="0"/>
              <a:t> елементів</a:t>
            </a:r>
            <a:r>
              <a:rPr lang="en-US" dirty="0"/>
              <a:t> є значно стабільнішою і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uk-UA" dirty="0"/>
              <a:t>попередньо </a:t>
            </a:r>
            <a:r>
              <a:rPr lang="en-US" dirty="0" err="1"/>
              <a:t>обчислюватись</a:t>
            </a:r>
            <a:r>
              <a:rPr lang="en-US" dirty="0"/>
              <a:t> у </a:t>
            </a:r>
            <a:r>
              <a:rPr lang="en-US" dirty="0" err="1"/>
              <a:t>фоновому</a:t>
            </a:r>
            <a:r>
              <a:rPr lang="en-US" dirty="0"/>
              <a:t> </a:t>
            </a:r>
            <a:r>
              <a:rPr lang="en-US" dirty="0" err="1"/>
              <a:t>режимі</a:t>
            </a:r>
            <a:r>
              <a:rPr lang="en-US" dirty="0"/>
              <a:t>. Вибір між підходами залежить від розміру каталогу, частоти оновлення даних та доступних обчислювальних </a:t>
            </a:r>
            <a:r>
              <a:rPr lang="en-US" dirty="0" err="1"/>
              <a:t>ресурсів</a:t>
            </a:r>
            <a:r>
              <a:rPr lang="en-US" dirty="0"/>
              <a:t>.</a:t>
            </a:r>
            <a:endParaRPr lang="uk-UA" dirty="0"/>
          </a:p>
          <a:p>
            <a:endParaRPr lang="uk-UA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noProof="0" dirty="0"/>
              <a:t>Мабуть, найвпливовішим алгоритмом у класичних рекомендаційних системах є </a:t>
            </a:r>
            <a:r>
              <a:rPr lang="uk-UA" b="1" noProof="0" dirty="0"/>
              <a:t>матрична факторизація</a:t>
            </a:r>
            <a:r>
              <a:rPr lang="uk-UA" noProof="0" dirty="0"/>
              <a:t>. Ключова ідея, наведена у формулі по центру, полягає в розкладі великої розрідженої матриці оцінок R на добуток двох компактних матриць — P і Q транспонованої. </a:t>
            </a:r>
            <a:r>
              <a:rPr lang="en-US" dirty="0" err="1"/>
              <a:t>Матрична</a:t>
            </a:r>
            <a:r>
              <a:rPr lang="en-US" dirty="0"/>
              <a:t> факторизація </a:t>
            </a:r>
            <a:r>
              <a:rPr lang="en-US" dirty="0" err="1"/>
              <a:t>революціонізувала</a:t>
            </a:r>
            <a:r>
              <a:rPr lang="en-US" dirty="0"/>
              <a:t> </a:t>
            </a:r>
            <a:r>
              <a:rPr lang="en-US" dirty="0" err="1"/>
              <a:t>рекомендаційні</a:t>
            </a:r>
            <a:r>
              <a:rPr lang="en-US" dirty="0"/>
              <a:t> </a:t>
            </a:r>
            <a:r>
              <a:rPr lang="en-US" dirty="0" err="1"/>
              <a:t>системи</a:t>
            </a:r>
            <a:r>
              <a:rPr lang="en-US" dirty="0"/>
              <a:t> </a:t>
            </a:r>
            <a:r>
              <a:rPr lang="en-US" dirty="0" err="1"/>
              <a:t>після</a:t>
            </a:r>
            <a:r>
              <a:rPr lang="en-US" dirty="0"/>
              <a:t> Netflix Prize. Замість </a:t>
            </a:r>
            <a:r>
              <a:rPr lang="en-US" dirty="0" err="1"/>
              <a:t>зберігання</a:t>
            </a:r>
            <a:r>
              <a:rPr lang="en-US" dirty="0"/>
              <a:t> </a:t>
            </a:r>
            <a:r>
              <a:rPr lang="en-US" dirty="0" err="1"/>
              <a:t>повної</a:t>
            </a:r>
            <a:r>
              <a:rPr lang="en-US" dirty="0"/>
              <a:t> </a:t>
            </a:r>
            <a:r>
              <a:rPr lang="en-US" dirty="0" err="1"/>
              <a:t>матриці</a:t>
            </a:r>
            <a:r>
              <a:rPr lang="en-US" dirty="0"/>
              <a:t>, </a:t>
            </a:r>
            <a:r>
              <a:rPr lang="en-US" dirty="0" err="1"/>
              <a:t>ми</a:t>
            </a:r>
            <a:r>
              <a:rPr lang="en-US" dirty="0"/>
              <a:t> </a:t>
            </a:r>
            <a:r>
              <a:rPr lang="en-US" dirty="0" err="1"/>
              <a:t>навчаємо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компактні</a:t>
            </a:r>
            <a:r>
              <a:rPr lang="en-US" dirty="0"/>
              <a:t> </a:t>
            </a:r>
            <a:r>
              <a:rPr lang="en-US" dirty="0" err="1"/>
              <a:t>простори</a:t>
            </a:r>
            <a:r>
              <a:rPr lang="en-US" dirty="0"/>
              <a:t>: </a:t>
            </a:r>
            <a:r>
              <a:rPr lang="en-US" dirty="0" err="1"/>
              <a:t>матрицю</a:t>
            </a:r>
            <a:r>
              <a:rPr lang="en-US" dirty="0"/>
              <a:t> </a:t>
            </a:r>
            <a:r>
              <a:rPr lang="uk-UA" dirty="0"/>
              <a:t>користувачів</a:t>
            </a:r>
            <a:r>
              <a:rPr lang="en-US" dirty="0"/>
              <a:t> P та </a:t>
            </a:r>
            <a:r>
              <a:rPr lang="en-US" dirty="0" err="1"/>
              <a:t>матрицю</a:t>
            </a:r>
            <a:r>
              <a:rPr lang="en-US" dirty="0"/>
              <a:t> </a:t>
            </a:r>
            <a:r>
              <a:rPr lang="uk-UA" dirty="0" err="1"/>
              <a:t>обєктів</a:t>
            </a:r>
            <a:r>
              <a:rPr lang="en-US" dirty="0"/>
              <a:t> Q. Кожен </a:t>
            </a:r>
            <a:r>
              <a:rPr lang="en-US" dirty="0" err="1"/>
              <a:t>рядок</a:t>
            </a:r>
            <a:r>
              <a:rPr lang="en-US" dirty="0"/>
              <a:t> P — </a:t>
            </a:r>
            <a:r>
              <a:rPr lang="en-US" dirty="0" err="1"/>
              <a:t>це</a:t>
            </a:r>
            <a:r>
              <a:rPr lang="en-US" dirty="0"/>
              <a:t> </a:t>
            </a:r>
            <a:r>
              <a:rPr lang="uk-UA" dirty="0"/>
              <a:t>вподобання користувача </a:t>
            </a:r>
            <a:r>
              <a:rPr lang="en-US" dirty="0"/>
              <a:t>у k-</a:t>
            </a:r>
            <a:r>
              <a:rPr lang="en-US" dirty="0" err="1"/>
              <a:t>вимірному</a:t>
            </a:r>
            <a:r>
              <a:rPr lang="en-US" dirty="0"/>
              <a:t> </a:t>
            </a:r>
            <a:r>
              <a:rPr lang="en-US" dirty="0" err="1"/>
              <a:t>просторі</a:t>
            </a:r>
            <a:r>
              <a:rPr lang="en-US" dirty="0"/>
              <a:t>, </a:t>
            </a:r>
            <a:r>
              <a:rPr lang="en-US" dirty="0" err="1"/>
              <a:t>кожен</a:t>
            </a:r>
            <a:r>
              <a:rPr lang="en-US" dirty="0"/>
              <a:t> </a:t>
            </a:r>
            <a:r>
              <a:rPr lang="en-US" dirty="0" err="1"/>
              <a:t>рядок</a:t>
            </a:r>
            <a:r>
              <a:rPr lang="en-US" dirty="0"/>
              <a:t> Q — '</a:t>
            </a:r>
            <a:r>
              <a:rPr lang="en-US" dirty="0" err="1"/>
              <a:t>характеристика</a:t>
            </a:r>
            <a:r>
              <a:rPr lang="en-US" dirty="0"/>
              <a:t>’ </a:t>
            </a:r>
            <a:r>
              <a:rPr lang="uk-UA" dirty="0"/>
              <a:t>елемента</a:t>
            </a:r>
            <a:r>
              <a:rPr lang="en-US" dirty="0"/>
              <a:t>. </a:t>
            </a:r>
            <a:endParaRPr lang="uk-UA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У нижній частині слайду розглянуто три ключові алгоритми. </a:t>
            </a:r>
            <a:r>
              <a:rPr lang="uk-UA" b="1" u="sng" noProof="0" dirty="0" err="1"/>
              <a:t>FunkSVD</a:t>
            </a:r>
            <a:r>
              <a:rPr lang="uk-UA" noProof="0" dirty="0"/>
              <a:t> — це алгоритм </a:t>
            </a:r>
            <a:r>
              <a:rPr lang="uk-UA" noProof="0" dirty="0" err="1"/>
              <a:t>Саймона</a:t>
            </a:r>
            <a:r>
              <a:rPr lang="uk-UA" noProof="0" dirty="0"/>
              <a:t> </a:t>
            </a:r>
            <a:r>
              <a:rPr lang="uk-UA" noProof="0" dirty="0" err="1"/>
              <a:t>Фанка</a:t>
            </a:r>
            <a:r>
              <a:rPr lang="uk-UA" noProof="0" dirty="0"/>
              <a:t>, який він розробив під час конкурсу Netflix </a:t>
            </a:r>
            <a:r>
              <a:rPr lang="uk-UA" noProof="0" dirty="0" err="1"/>
              <a:t>Prize</a:t>
            </a:r>
            <a:r>
              <a:rPr lang="uk-UA" noProof="0" dirty="0"/>
              <a:t> у 2006 році. Особливість підходу в тому, що оптимізація відбувається лише на відомих оцінках через стохастичний градієнтний спуск, а не на повній матриці з включенням нулів. Далі — алгоритм </a:t>
            </a:r>
            <a:r>
              <a:rPr lang="uk-UA" b="1" u="sng" noProof="0" dirty="0"/>
              <a:t>ALS</a:t>
            </a:r>
            <a:r>
              <a:rPr lang="uk-UA" noProof="0" dirty="0"/>
              <a:t>, тобто почергові найменші квадрати. Він почергово оптимізує матрицю P при фіксованій Q, а потім навпаки. Алгоритм добре </a:t>
            </a:r>
            <a:r>
              <a:rPr lang="uk-UA" noProof="0" dirty="0" err="1"/>
              <a:t>паралелізується</a:t>
            </a:r>
            <a:r>
              <a:rPr lang="uk-UA" noProof="0" dirty="0"/>
              <a:t> і особливо ефективний для неявного зворотного зв'язку, що було показано авторами у 2008 році. І нарешті </a:t>
            </a:r>
            <a:r>
              <a:rPr lang="uk-UA" b="1" u="sng" noProof="0" dirty="0"/>
              <a:t>BPR</a:t>
            </a:r>
            <a:r>
              <a:rPr lang="uk-UA" noProof="0" dirty="0"/>
              <a:t> — </a:t>
            </a:r>
            <a:r>
              <a:rPr lang="uk-UA" noProof="0" dirty="0" err="1"/>
              <a:t>Bayesian</a:t>
            </a:r>
            <a:r>
              <a:rPr lang="uk-UA" noProof="0" dirty="0"/>
              <a:t> </a:t>
            </a:r>
            <a:r>
              <a:rPr lang="uk-UA" noProof="0" dirty="0" err="1"/>
              <a:t>Personalized</a:t>
            </a:r>
            <a:r>
              <a:rPr lang="uk-UA" noProof="0" dirty="0"/>
              <a:t> </a:t>
            </a:r>
            <a:r>
              <a:rPr lang="uk-UA" noProof="0" dirty="0" err="1"/>
              <a:t>Ranking</a:t>
            </a:r>
            <a:r>
              <a:rPr lang="uk-UA" noProof="0" dirty="0"/>
              <a:t>, або </a:t>
            </a:r>
            <a:r>
              <a:rPr lang="uk-UA" noProof="0" dirty="0" err="1"/>
              <a:t>байєсівське</a:t>
            </a:r>
            <a:r>
              <a:rPr lang="uk-UA" noProof="0" dirty="0"/>
              <a:t> персоналізоване ранжування. Цей алгоритм оптимізує не самі оцінки, а попарне ранжування: модель вчиться ставити переглянуті об'єкти вище за непереглянуті.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Гібридні підходи є стандартом у промислових рекомендаційних системах, оскільки жоден окремий алгоритм не перевершує всіх інших за будь-яких умов. </a:t>
            </a:r>
            <a:endParaRPr lang="uk-UA" dirty="0"/>
          </a:p>
          <a:p>
            <a:r>
              <a:rPr lang="uk-UA" b="1" dirty="0"/>
              <a:t>Усереднена</a:t>
            </a:r>
            <a:r>
              <a:rPr lang="en-US" b="1" dirty="0"/>
              <a:t> </a:t>
            </a:r>
            <a:r>
              <a:rPr lang="en-US" b="1" dirty="0" err="1"/>
              <a:t>гібридизація</a:t>
            </a:r>
            <a:r>
              <a:rPr lang="en-US" dirty="0"/>
              <a:t>, </a:t>
            </a:r>
            <a:r>
              <a:rPr lang="en-US" dirty="0" err="1"/>
              <a:t>яку</a:t>
            </a:r>
            <a:r>
              <a:rPr lang="en-US" dirty="0"/>
              <a:t> </a:t>
            </a:r>
            <a:r>
              <a:rPr lang="en-US" dirty="0" err="1"/>
              <a:t>використовує</a:t>
            </a:r>
            <a:r>
              <a:rPr lang="en-US" dirty="0"/>
              <a:t> Netflix</a:t>
            </a:r>
            <a:r>
              <a:rPr lang="uk-UA" dirty="0"/>
              <a:t>,</a:t>
            </a:r>
            <a:r>
              <a:rPr lang="en-US" b="1" dirty="0"/>
              <a:t> </a:t>
            </a:r>
            <a:r>
              <a:rPr lang="en-US" dirty="0"/>
              <a:t>дозволяє адаптувати ваги залежно від кількості доступних даних про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uk-UA" dirty="0"/>
              <a:t>користувача</a:t>
            </a:r>
            <a:r>
              <a:rPr lang="en-US" dirty="0"/>
              <a:t>. </a:t>
            </a:r>
            <a:endParaRPr lang="uk-UA" dirty="0"/>
          </a:p>
          <a:p>
            <a:r>
              <a:rPr lang="en-US" b="1" dirty="0"/>
              <a:t>Каскадна архітектура</a:t>
            </a:r>
            <a:r>
              <a:rPr lang="en-US" dirty="0"/>
              <a:t>, яку використовує YouTube, є найбільш масштабованою: </a:t>
            </a:r>
            <a:r>
              <a:rPr lang="uk-UA" dirty="0"/>
              <a:t>спочатку алгоритм </a:t>
            </a:r>
            <a:r>
              <a:rPr lang="en-US" dirty="0" err="1"/>
              <a:t>відбирає</a:t>
            </a:r>
            <a:r>
              <a:rPr lang="en-US" dirty="0"/>
              <a:t> тисячі кандидатів за частки секунди, а </a:t>
            </a:r>
            <a:r>
              <a:rPr lang="en-US" dirty="0" err="1"/>
              <a:t>точно</a:t>
            </a:r>
            <a:r>
              <a:rPr lang="en-US" dirty="0"/>
              <a:t> </a:t>
            </a:r>
            <a:r>
              <a:rPr lang="uk-UA" dirty="0" err="1"/>
              <a:t>ранжує</a:t>
            </a:r>
            <a:r>
              <a:rPr lang="en-US" dirty="0"/>
              <a:t> кожного з них. </a:t>
            </a:r>
            <a:endParaRPr lang="uk-UA" dirty="0"/>
          </a:p>
          <a:p>
            <a:r>
              <a:rPr lang="en-US" sz="1200" b="1" dirty="0" err="1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Збагачення</a:t>
            </a:r>
            <a:r>
              <a:rPr lang="uk-UA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/>
              <a:t>є найтоншим підходом: </a:t>
            </a:r>
            <a:r>
              <a:rPr lang="uk-UA" dirty="0" err="1"/>
              <a:t>ембедінги</a:t>
            </a:r>
            <a:r>
              <a:rPr lang="en-US" dirty="0"/>
              <a:t> від одної моделі стає ознакою для іншої, дозволяючи моделям взаємно збагачувати одна одну.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Жоден класичний підхід не є позбавленим суттєвих обмежень, і розуміння цих обмежень є ключем до вибору правильного методу. </a:t>
            </a:r>
            <a:r>
              <a:rPr lang="uk-UA" b="1" dirty="0"/>
              <a:t>Проблема холодного старту </a:t>
            </a:r>
            <a:r>
              <a:rPr lang="en-US" dirty="0"/>
              <a:t>є найбільш практично болючою проблемою: що робити з </a:t>
            </a:r>
            <a:r>
              <a:rPr lang="en-US" dirty="0" err="1"/>
              <a:t>новим</a:t>
            </a:r>
            <a:r>
              <a:rPr lang="en-US" dirty="0"/>
              <a:t> </a:t>
            </a:r>
            <a:r>
              <a:rPr lang="uk-UA" dirty="0" err="1"/>
              <a:t>користуваче</a:t>
            </a:r>
            <a:r>
              <a:rPr lang="en-US" dirty="0"/>
              <a:t> або </a:t>
            </a:r>
            <a:r>
              <a:rPr lang="en-US" dirty="0" err="1"/>
              <a:t>новим</a:t>
            </a:r>
            <a:r>
              <a:rPr lang="en-US" dirty="0"/>
              <a:t> </a:t>
            </a:r>
            <a:r>
              <a:rPr lang="uk-UA" dirty="0"/>
              <a:t>елементом</a:t>
            </a:r>
            <a:r>
              <a:rPr lang="en-US" dirty="0"/>
              <a:t>, коли ще немає жодної взаємодії? </a:t>
            </a:r>
            <a:endParaRPr lang="uk-UA" dirty="0"/>
          </a:p>
          <a:p>
            <a:r>
              <a:rPr lang="uk-UA" b="1" dirty="0"/>
              <a:t>Упередженість</a:t>
            </a:r>
            <a:r>
              <a:rPr lang="uk-UA" dirty="0"/>
              <a:t> </a:t>
            </a:r>
            <a:r>
              <a:rPr lang="en-US" dirty="0"/>
              <a:t>— систематичне зміщення: алгоритми надмірно рекомендують популярний контент, </a:t>
            </a:r>
            <a:r>
              <a:rPr lang="en-US" dirty="0" err="1"/>
              <a:t>знецінюючи</a:t>
            </a:r>
            <a:r>
              <a:rPr lang="en-US" dirty="0"/>
              <a:t> </a:t>
            </a:r>
            <a:r>
              <a:rPr lang="uk-UA" dirty="0"/>
              <a:t>унікальні</a:t>
            </a:r>
            <a:r>
              <a:rPr lang="en-US" dirty="0"/>
              <a:t>, але </a:t>
            </a:r>
            <a:r>
              <a:rPr lang="en-US" dirty="0" err="1"/>
              <a:t>якісні</a:t>
            </a:r>
            <a:r>
              <a:rPr lang="en-US" dirty="0"/>
              <a:t> </a:t>
            </a:r>
            <a:r>
              <a:rPr lang="uk-UA" dirty="0"/>
              <a:t>елементи</a:t>
            </a:r>
            <a:r>
              <a:rPr lang="en-US" dirty="0"/>
              <a:t>, що шкодить і </a:t>
            </a:r>
            <a:r>
              <a:rPr lang="uk-UA" dirty="0"/>
              <a:t>досвіду користувачів</a:t>
            </a:r>
            <a:r>
              <a:rPr lang="en-US" dirty="0"/>
              <a:t>, і творцям контенту. </a:t>
            </a:r>
            <a:endParaRPr lang="uk-UA" dirty="0"/>
          </a:p>
          <a:p>
            <a:r>
              <a:rPr lang="uk-UA" b="1" dirty="0"/>
              <a:t>Ефект бульбашки </a:t>
            </a:r>
            <a:r>
              <a:rPr lang="en-US" dirty="0" err="1"/>
              <a:t>формує</a:t>
            </a:r>
            <a:r>
              <a:rPr lang="en-US" dirty="0"/>
              <a:t> </a:t>
            </a:r>
            <a:r>
              <a:rPr lang="en-US" dirty="0" err="1"/>
              <a:t>інформаційну</a:t>
            </a:r>
            <a:r>
              <a:rPr lang="en-US" dirty="0"/>
              <a:t> </a:t>
            </a:r>
            <a:r>
              <a:rPr lang="uk-UA" dirty="0"/>
              <a:t>ізоляцію</a:t>
            </a:r>
            <a:r>
              <a:rPr lang="en-US" dirty="0"/>
              <a:t> з технічними та соціальними </a:t>
            </a:r>
            <a:r>
              <a:rPr lang="en-US" dirty="0" err="1"/>
              <a:t>наслідками</a:t>
            </a:r>
            <a:r>
              <a:rPr lang="en-US" dirty="0"/>
              <a:t>.</a:t>
            </a:r>
            <a:endParaRPr lang="uk-UA" dirty="0"/>
          </a:p>
          <a:p>
            <a:r>
              <a:rPr lang="uk-UA" b="1" dirty="0"/>
              <a:t>Остання це </a:t>
            </a:r>
            <a:r>
              <a:rPr lang="en-US" b="1" dirty="0" err="1"/>
              <a:t>нечутливість</a:t>
            </a:r>
            <a:r>
              <a:rPr lang="en-US" b="1" dirty="0"/>
              <a:t> </a:t>
            </a:r>
            <a:r>
              <a:rPr lang="en-US" b="1" dirty="0" err="1"/>
              <a:t>до</a:t>
            </a:r>
            <a:r>
              <a:rPr lang="en-US" b="1" dirty="0"/>
              <a:t> контексту. </a:t>
            </a:r>
            <a:r>
              <a:rPr lang="en-US" dirty="0" err="1"/>
              <a:t>Класичні</a:t>
            </a:r>
            <a:r>
              <a:rPr lang="en-US" dirty="0"/>
              <a:t> </a:t>
            </a:r>
            <a:r>
              <a:rPr lang="uk-UA" noProof="0" dirty="0"/>
              <a:t>методи не враховують ані часу доби, ані поточного настрою, ані географічного розташування користувача. </a:t>
            </a:r>
          </a:p>
          <a:p>
            <a:r>
              <a:rPr lang="uk-UA" b="1" u="sng" noProof="0" dirty="0"/>
              <a:t>Саме ці шість проблем визначили напрямки досліджень останніх десяти років. Гібридні підходи, нейронні мережі, навчання з підкріпленням та сучасні </a:t>
            </a:r>
            <a:r>
              <a:rPr lang="uk-UA" b="1" u="sng" noProof="0" dirty="0" err="1"/>
              <a:t>мовні</a:t>
            </a:r>
            <a:r>
              <a:rPr lang="uk-UA" b="1" u="sng" noProof="0" dirty="0"/>
              <a:t> моделі значною мірою орієнтовані на вирішення саме цих обмежень.</a:t>
            </a:r>
            <a:endParaRPr lang="en-US" b="1" u="sn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noProof="0" dirty="0"/>
              <a:t>Перехід від евристичних алгоритмів до моделей машинного навчання дозволяє враховувати сотні різнорідних ознак одночасно у єдиній моделі. У лівій частині слайду наведено основні категорії ознак, що використовуються у реальних системах. </a:t>
            </a:r>
          </a:p>
          <a:p>
            <a:r>
              <a:rPr lang="uk-UA" noProof="0" dirty="0"/>
              <a:t>У правій частині слайду розглянуто чотири популярні алгоритми машинного навчання у прикладних інформаційних системах. </a:t>
            </a:r>
            <a:r>
              <a:rPr lang="uk-UA" b="1" noProof="0" dirty="0"/>
              <a:t>Логістична регресія </a:t>
            </a:r>
            <a:r>
              <a:rPr lang="uk-UA" noProof="0" dirty="0"/>
              <a:t>залишається базовою моделлю для задачі прогнозування ймовірності кліку. Незважаючи на простоту, вона добре масштабується і є інтерпретованою. </a:t>
            </a:r>
            <a:r>
              <a:rPr lang="uk-UA" b="1" noProof="0" dirty="0"/>
              <a:t>Градієнтний </a:t>
            </a:r>
            <a:r>
              <a:rPr lang="uk-UA" b="1" noProof="0" dirty="0" err="1"/>
              <a:t>бустинг</a:t>
            </a:r>
            <a:r>
              <a:rPr lang="uk-UA" b="1" noProof="0" dirty="0"/>
              <a:t> </a:t>
            </a:r>
            <a:r>
              <a:rPr lang="uk-UA" noProof="0" dirty="0"/>
              <a:t>— дає найкращі результати на табличних даних і широко використовується у промисловості. </a:t>
            </a:r>
            <a:r>
              <a:rPr lang="uk-UA" b="1" noProof="0" dirty="0" err="1"/>
              <a:t>Random</a:t>
            </a:r>
            <a:r>
              <a:rPr lang="uk-UA" b="1" noProof="0" dirty="0"/>
              <a:t> </a:t>
            </a:r>
            <a:r>
              <a:rPr lang="uk-UA" b="1" noProof="0" dirty="0" err="1"/>
              <a:t>Forest</a:t>
            </a:r>
            <a:r>
              <a:rPr lang="uk-UA" noProof="0" dirty="0"/>
              <a:t>, стійкі до шуму у даних і дають оцінку важливості ознак, що дуже корисно для аналізу та налагодження моделі. </a:t>
            </a:r>
            <a:r>
              <a:rPr lang="uk-UA" b="1" noProof="0" dirty="0"/>
              <a:t>Архітектура типу «Дві вежі» </a:t>
            </a:r>
            <a:r>
              <a:rPr lang="uk-UA" noProof="0" dirty="0"/>
              <a:t>— стала стандартом для задачі швидкого пошуку кандидатів: одна нейронна мережа генерує ознаки користувача, інша — об’єкта, після чого вектори порівнюються через скалярний добуток. Така архітектура дозволяє ефективно обслуговувати мільярди запитів за допомогою попередньо обчислених індексів.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Learning to Rank </a:t>
            </a:r>
            <a:r>
              <a:rPr lang="en-US" dirty="0"/>
              <a:t>формалізує задачу рекомендацій як задачу ранжування: замість прогнозу числової оцінки, ми вчимось </a:t>
            </a:r>
            <a:r>
              <a:rPr lang="en-US" dirty="0" err="1"/>
              <a:t>впорядковувати</a:t>
            </a:r>
            <a:r>
              <a:rPr lang="en-US" dirty="0"/>
              <a:t> </a:t>
            </a:r>
            <a:r>
              <a:rPr lang="uk-UA" dirty="0"/>
              <a:t>елементи</a:t>
            </a:r>
            <a:r>
              <a:rPr lang="en-US" dirty="0"/>
              <a:t> за релевантністю. </a:t>
            </a:r>
            <a:r>
              <a:rPr lang="uk-UA" b="1" noProof="0" dirty="0"/>
              <a:t>Існують три основні підходи. </a:t>
            </a:r>
            <a:r>
              <a:rPr lang="uk-UA" b="1" noProof="0" dirty="0" err="1"/>
              <a:t>Pointwise</a:t>
            </a:r>
            <a:r>
              <a:rPr lang="uk-UA" noProof="0" dirty="0"/>
              <a:t> — незалежна оцінка кожного об'єкта через регресію або класифікацію. </a:t>
            </a:r>
            <a:r>
              <a:rPr lang="uk-UA" b="1" noProof="0" dirty="0" err="1"/>
              <a:t>Pairwise</a:t>
            </a:r>
            <a:r>
              <a:rPr lang="uk-UA" noProof="0" dirty="0"/>
              <a:t> — порівняння пар об'єктів, як у моделях </a:t>
            </a:r>
            <a:r>
              <a:rPr lang="uk-UA" noProof="0" dirty="0" err="1"/>
              <a:t>RankNet</a:t>
            </a:r>
            <a:r>
              <a:rPr lang="uk-UA" noProof="0" dirty="0"/>
              <a:t> та </a:t>
            </a:r>
            <a:r>
              <a:rPr lang="uk-UA" noProof="0" dirty="0" err="1"/>
              <a:t>LambdaRank</a:t>
            </a:r>
            <a:r>
              <a:rPr lang="uk-UA" noProof="0" dirty="0"/>
              <a:t>, розроблених Microsoft. </a:t>
            </a:r>
            <a:r>
              <a:rPr lang="uk-UA" b="1" noProof="0" dirty="0" err="1"/>
              <a:t>Listwise</a:t>
            </a:r>
            <a:r>
              <a:rPr lang="uk-UA" noProof="0" dirty="0"/>
              <a:t> — оптимізація всього </a:t>
            </a:r>
            <a:r>
              <a:rPr lang="uk-UA" noProof="0" dirty="0" err="1"/>
              <a:t>ранжованого</a:t>
            </a:r>
            <a:r>
              <a:rPr lang="uk-UA" noProof="0" dirty="0"/>
              <a:t> списку одночасно, прикладами є </a:t>
            </a:r>
            <a:r>
              <a:rPr lang="uk-UA" noProof="0" dirty="0" err="1"/>
              <a:t>ListNet</a:t>
            </a:r>
            <a:r>
              <a:rPr lang="uk-UA" noProof="0" dirty="0"/>
              <a:t> та </a:t>
            </a:r>
            <a:r>
              <a:rPr lang="uk-UA" noProof="0" dirty="0" err="1"/>
              <a:t>LambdaMART</a:t>
            </a:r>
            <a:r>
              <a:rPr lang="uk-UA" noProof="0" dirty="0"/>
              <a:t>. Цей клас методів широко застосовується у пошукових системах Google та Bing, а також у рекомендаціях </a:t>
            </a:r>
            <a:r>
              <a:rPr lang="uk-UA" noProof="0" dirty="0" err="1"/>
              <a:t>LinkedIn</a:t>
            </a:r>
            <a:r>
              <a:rPr lang="uk-UA" noProof="0" dirty="0"/>
              <a:t> та </a:t>
            </a:r>
            <a:r>
              <a:rPr lang="uk-UA" noProof="0" dirty="0" err="1"/>
              <a:t>Twitter</a:t>
            </a:r>
            <a:r>
              <a:rPr lang="uk-UA" noProof="0" dirty="0"/>
              <a:t>. </a:t>
            </a:r>
          </a:p>
          <a:p>
            <a:r>
              <a:rPr lang="uk-UA" b="1" noProof="0" dirty="0"/>
              <a:t>Праворуч представлено </a:t>
            </a:r>
            <a:r>
              <a:rPr lang="uk-UA" b="1" noProof="0" dirty="0" err="1"/>
              <a:t>факторизаційні</a:t>
            </a:r>
            <a:r>
              <a:rPr lang="uk-UA" b="1" noProof="0" dirty="0"/>
              <a:t> машини</a:t>
            </a:r>
            <a:r>
              <a:rPr lang="uk-UA" noProof="0" dirty="0"/>
              <a:t>. Це узагальнення матричної </a:t>
            </a:r>
            <a:r>
              <a:rPr lang="uk-UA" noProof="0" dirty="0" err="1"/>
              <a:t>факторизації</a:t>
            </a:r>
            <a:r>
              <a:rPr lang="uk-UA" noProof="0" dirty="0"/>
              <a:t> для довільних ознак: не лише ідентифікаторів користувача та об'єкта, а й часу, географії тощо. </a:t>
            </a:r>
            <a:r>
              <a:rPr lang="uk-UA" noProof="0" dirty="0" err="1"/>
              <a:t>Факторизаційні</a:t>
            </a:r>
            <a:r>
              <a:rPr lang="uk-UA" noProof="0" dirty="0"/>
              <a:t> машини моделюють попарні взаємодії між усіма ознаками через прихований векторний простір, що особливо ефективно при розріджених даних. Окремий інтерес становить модель </a:t>
            </a:r>
            <a:r>
              <a:rPr lang="uk-UA" b="1" noProof="0" dirty="0" err="1"/>
              <a:t>DeepFM</a:t>
            </a:r>
            <a:r>
              <a:rPr lang="uk-UA" noProof="0" dirty="0"/>
              <a:t>, що поєднує </a:t>
            </a:r>
            <a:r>
              <a:rPr lang="uk-UA" noProof="0" dirty="0" err="1"/>
              <a:t>факторизаційні</a:t>
            </a:r>
            <a:r>
              <a:rPr lang="uk-UA" noProof="0" dirty="0"/>
              <a:t> машини з глибокою нейронною мережею: перша частина запам'ятовує часті комбінації ознак, друга — узагальнює рідкісні. Поглиблена версія, </a:t>
            </a:r>
            <a:r>
              <a:rPr lang="uk-UA" b="1" noProof="0" dirty="0" err="1"/>
              <a:t>Field-Aware</a:t>
            </a:r>
            <a:r>
              <a:rPr lang="uk-UA" b="1" noProof="0" dirty="0"/>
              <a:t> </a:t>
            </a:r>
            <a:r>
              <a:rPr lang="uk-UA" b="1" noProof="0" dirty="0" err="1"/>
              <a:t>Factorization</a:t>
            </a:r>
            <a:r>
              <a:rPr lang="uk-UA" b="1" noProof="0" dirty="0"/>
              <a:t> </a:t>
            </a:r>
            <a:r>
              <a:rPr lang="uk-UA" b="1" noProof="0" dirty="0" err="1"/>
              <a:t>Machines</a:t>
            </a:r>
            <a:r>
              <a:rPr lang="uk-UA" noProof="0" dirty="0"/>
              <a:t>, навчає окремий вектор для кожної пари полів ознак. Ці моделі активно використовуються в</a:t>
            </a:r>
            <a:r>
              <a:rPr lang="en-US" noProof="0" dirty="0"/>
              <a:t> </a:t>
            </a:r>
            <a:r>
              <a:rPr lang="en-US" noProof="0" dirty="0" err="1"/>
              <a:t>Aliexpress</a:t>
            </a:r>
            <a:r>
              <a:rPr lang="uk-UA" noProof="0" dirty="0"/>
              <a:t> та </a:t>
            </a:r>
            <a:r>
              <a:rPr lang="uk-UA" noProof="0" dirty="0" err="1"/>
              <a:t>TikTok</a:t>
            </a:r>
            <a:r>
              <a:rPr lang="uk-UA" noProof="0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Нейронні мережі кардинально змінили підхід до рекомендацій після 2016 року, відкривши можливість моделювання нелінійних взаємодій </a:t>
            </a:r>
            <a:r>
              <a:rPr lang="en-US" dirty="0" err="1"/>
              <a:t>між</a:t>
            </a:r>
            <a:r>
              <a:rPr lang="en-US" dirty="0"/>
              <a:t> </a:t>
            </a:r>
            <a:r>
              <a:rPr lang="uk-UA" dirty="0"/>
              <a:t>користувачами та елементами</a:t>
            </a:r>
            <a:r>
              <a:rPr lang="en-US" dirty="0"/>
              <a:t>. </a:t>
            </a:r>
            <a:r>
              <a:rPr lang="uk-UA" b="1" noProof="0" dirty="0"/>
              <a:t>Ключовою працею є стаття </a:t>
            </a:r>
            <a:r>
              <a:rPr lang="en-US" b="1" noProof="0" dirty="0"/>
              <a:t>H</a:t>
            </a:r>
            <a:r>
              <a:rPr lang="uk-UA" b="1" noProof="0" dirty="0"/>
              <a:t>е </a:t>
            </a:r>
            <a:r>
              <a:rPr lang="uk-UA" noProof="0" dirty="0"/>
              <a:t>та співавторів на конференції WWW </a:t>
            </a:r>
            <a:r>
              <a:rPr lang="en-US" noProof="0" dirty="0"/>
              <a:t>2017</a:t>
            </a:r>
            <a:r>
              <a:rPr lang="uk-UA" noProof="0" dirty="0"/>
              <a:t>, де було запропоновано нейронну </a:t>
            </a:r>
            <a:r>
              <a:rPr lang="uk-UA" noProof="0" dirty="0" err="1"/>
              <a:t>колаборативну</a:t>
            </a:r>
            <a:r>
              <a:rPr lang="uk-UA" noProof="0" dirty="0"/>
              <a:t> фільтрацію — </a:t>
            </a:r>
            <a:r>
              <a:rPr lang="uk-UA" noProof="0" dirty="0" err="1"/>
              <a:t>Neural</a:t>
            </a:r>
            <a:r>
              <a:rPr lang="uk-UA" noProof="0" dirty="0"/>
              <a:t> </a:t>
            </a:r>
            <a:r>
              <a:rPr lang="uk-UA" noProof="0" dirty="0" err="1"/>
              <a:t>Collaborative</a:t>
            </a:r>
            <a:r>
              <a:rPr lang="uk-UA" noProof="0" dirty="0"/>
              <a:t> </a:t>
            </a:r>
            <a:r>
              <a:rPr lang="uk-UA" noProof="0" dirty="0" err="1"/>
              <a:t>Filtering</a:t>
            </a:r>
            <a:r>
              <a:rPr lang="uk-UA" noProof="0" dirty="0"/>
              <a:t>. Принцип, виділений у синьому блоці, простий, але глибокий: замість скалярного добутку векторів, як у класичній матричній </a:t>
            </a:r>
            <a:r>
              <a:rPr lang="uk-UA" noProof="0" dirty="0" err="1"/>
              <a:t>факторизації</a:t>
            </a:r>
            <a:r>
              <a:rPr lang="uk-UA" noProof="0" dirty="0"/>
              <a:t>, використовується багатошаровий </a:t>
            </a:r>
            <a:r>
              <a:rPr lang="uk-UA" noProof="0" dirty="0" err="1"/>
              <a:t>перцептрон</a:t>
            </a:r>
            <a:r>
              <a:rPr lang="uk-UA" noProof="0" dirty="0"/>
              <a:t>. Це дозволяє моделювати нелінійні взаємодії між користувачами та об'єктами, які лінійна модель принципово не може виявити. </a:t>
            </a:r>
            <a:endParaRPr lang="en-US" noProof="0" dirty="0"/>
          </a:p>
          <a:p>
            <a:r>
              <a:rPr lang="uk-UA" b="1" noProof="0" dirty="0"/>
              <a:t>У нижній частині слайду наведено чотири еталонні архітектури. </a:t>
            </a:r>
            <a:r>
              <a:rPr lang="uk-UA" b="1" noProof="0" dirty="0" err="1"/>
              <a:t>Wide</a:t>
            </a:r>
            <a:r>
              <a:rPr lang="uk-UA" b="1" noProof="0" dirty="0"/>
              <a:t> </a:t>
            </a:r>
            <a:r>
              <a:rPr lang="uk-UA" b="1" noProof="0" dirty="0" err="1"/>
              <a:t>and</a:t>
            </a:r>
            <a:r>
              <a:rPr lang="uk-UA" b="1" noProof="0" dirty="0"/>
              <a:t> </a:t>
            </a:r>
            <a:r>
              <a:rPr lang="uk-UA" b="1" noProof="0" dirty="0" err="1"/>
              <a:t>Deep</a:t>
            </a:r>
            <a:r>
              <a:rPr lang="uk-UA" b="1" noProof="0" dirty="0"/>
              <a:t> від Google </a:t>
            </a:r>
            <a:r>
              <a:rPr lang="uk-UA" noProof="0" dirty="0"/>
              <a:t>поєднує запам'ятовувальну частину з глибокою </a:t>
            </a:r>
            <a:r>
              <a:rPr lang="uk-UA" noProof="0" dirty="0" err="1"/>
              <a:t>узагальнювальною</a:t>
            </a:r>
            <a:r>
              <a:rPr lang="uk-UA" noProof="0" dirty="0"/>
              <a:t>. Саме ця архітектура лежить в основі рекомендацій </a:t>
            </a:r>
            <a:r>
              <a:rPr lang="uk-UA" b="1" noProof="0" dirty="0"/>
              <a:t>Google </a:t>
            </a:r>
            <a:r>
              <a:rPr lang="uk-UA" b="1" noProof="0" dirty="0" err="1"/>
              <a:t>Play</a:t>
            </a:r>
            <a:r>
              <a:rPr lang="uk-UA" b="1" noProof="0" dirty="0"/>
              <a:t> </a:t>
            </a:r>
            <a:r>
              <a:rPr lang="uk-UA" b="1" noProof="0" dirty="0" err="1"/>
              <a:t>Store</a:t>
            </a:r>
            <a:r>
              <a:rPr lang="uk-UA" noProof="0" dirty="0"/>
              <a:t>. </a:t>
            </a:r>
            <a:r>
              <a:rPr lang="uk-UA" b="1" noProof="0" dirty="0"/>
              <a:t>BERT4Rec</a:t>
            </a:r>
            <a:r>
              <a:rPr lang="uk-UA" noProof="0" dirty="0"/>
              <a:t> — </a:t>
            </a:r>
            <a:r>
              <a:rPr lang="uk-UA" noProof="0" dirty="0" err="1"/>
              <a:t>двонаправлений</a:t>
            </a:r>
            <a:r>
              <a:rPr lang="uk-UA" noProof="0" dirty="0"/>
              <a:t> </a:t>
            </a:r>
            <a:r>
              <a:rPr lang="uk-UA" noProof="0" dirty="0" err="1"/>
              <a:t>трансформер</a:t>
            </a:r>
            <a:r>
              <a:rPr lang="uk-UA" noProof="0" dirty="0"/>
              <a:t> для послідовностей взаємодій. Принцип запозичено з обробки природної мови: маскування випадкових елементів послідовності та їх відновлення. </a:t>
            </a:r>
            <a:r>
              <a:rPr lang="uk-UA" b="1" noProof="0" dirty="0" err="1"/>
              <a:t>SASRec</a:t>
            </a:r>
            <a:r>
              <a:rPr lang="uk-UA" noProof="0" dirty="0"/>
              <a:t> — також </a:t>
            </a:r>
            <a:r>
              <a:rPr lang="uk-UA" noProof="0" dirty="0" err="1"/>
              <a:t>трансформерна</a:t>
            </a:r>
            <a:r>
              <a:rPr lang="uk-UA" noProof="0" dirty="0"/>
              <a:t> архітектура, але з однобічною </a:t>
            </a:r>
            <a:r>
              <a:rPr lang="uk-UA" noProof="0" dirty="0" err="1"/>
              <a:t>самоувагою</a:t>
            </a:r>
            <a:r>
              <a:rPr lang="uk-UA" noProof="0" dirty="0"/>
              <a:t>. Працює швидше за рекурентні мережі і краще на довгих послідовностях. І нарешті </a:t>
            </a:r>
            <a:r>
              <a:rPr lang="uk-UA" b="1" noProof="0" dirty="0" err="1"/>
              <a:t>YouTube</a:t>
            </a:r>
            <a:r>
              <a:rPr lang="uk-UA" b="1" noProof="0" dirty="0"/>
              <a:t> </a:t>
            </a:r>
            <a:r>
              <a:rPr lang="uk-UA" b="1" noProof="0" dirty="0" err="1"/>
              <a:t>Deep</a:t>
            </a:r>
            <a:r>
              <a:rPr lang="uk-UA" b="1" noProof="0" dirty="0"/>
              <a:t> </a:t>
            </a:r>
            <a:r>
              <a:rPr lang="uk-UA" b="1" noProof="0" dirty="0" err="1"/>
              <a:t>Neural</a:t>
            </a:r>
            <a:r>
              <a:rPr lang="uk-UA" b="1" noProof="0" dirty="0"/>
              <a:t> </a:t>
            </a:r>
            <a:r>
              <a:rPr lang="uk-UA" b="1" noProof="0" dirty="0" err="1"/>
              <a:t>Network</a:t>
            </a:r>
            <a:r>
              <a:rPr lang="uk-UA" b="1" noProof="0" dirty="0"/>
              <a:t> </a:t>
            </a:r>
            <a:r>
              <a:rPr lang="uk-UA" noProof="0" dirty="0"/>
              <a:t>— мабуть, найвпливовіша промислова архітектура у галузі. </a:t>
            </a:r>
            <a:r>
              <a:rPr lang="uk-UA" noProof="0" dirty="0" err="1"/>
              <a:t>Двостадійна</a:t>
            </a:r>
            <a:r>
              <a:rPr lang="uk-UA" noProof="0" dirty="0"/>
              <a:t> модель: спочатку глибока нейронна мережа для генерації кандидатів, потім інша — для ранжування. </a:t>
            </a:r>
            <a:r>
              <a:rPr lang="uk-UA" b="1" noProof="0" dirty="0"/>
              <a:t>Саме ця система щодня обслуговує мільярди користувачів і відеозаписів, ставши еталоном для індустрії.</a:t>
            </a: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На цьому слайді розглянуто три різні типи нейронних архітектур, які добре показали себе у задачах рекомендацій.</a:t>
            </a:r>
          </a:p>
          <a:p>
            <a:r>
              <a:rPr lang="uk-UA" b="1" dirty="0"/>
              <a:t>Перший тип — </a:t>
            </a:r>
            <a:r>
              <a:rPr lang="uk-UA" b="1" dirty="0" err="1"/>
              <a:t>автоенкодери</a:t>
            </a:r>
            <a:r>
              <a:rPr lang="uk-UA" dirty="0"/>
              <a:t>. Принцип роботи простий: беремо профіль користувача, тобто всі його оцінки, і стискаємо у невеликий набір чисел — це </a:t>
            </a:r>
            <a:r>
              <a:rPr lang="uk-UA" dirty="0" err="1"/>
              <a:t>енкодер</a:t>
            </a:r>
            <a:r>
              <a:rPr lang="uk-UA" dirty="0"/>
              <a:t>. Потім декодер намагається відновити початковий профіль назад. Але оскільки більшість оцінок відсутня, модель змушена їх придумати — і саме це і є рекомендація. </a:t>
            </a:r>
            <a:r>
              <a:rPr lang="en-US" b="1" dirty="0" err="1"/>
              <a:t>AutoRec</a:t>
            </a:r>
            <a:r>
              <a:rPr lang="en-US" dirty="0"/>
              <a:t> 2015 </a:t>
            </a:r>
            <a:r>
              <a:rPr lang="uk-UA" dirty="0"/>
              <a:t>року перший це реалізував. </a:t>
            </a:r>
            <a:r>
              <a:rPr lang="en-US" b="1" dirty="0"/>
              <a:t>CDAE</a:t>
            </a:r>
            <a:r>
              <a:rPr lang="en-US" dirty="0"/>
              <a:t> </a:t>
            </a:r>
            <a:r>
              <a:rPr lang="uk-UA" dirty="0"/>
              <a:t>навмисно псує вхід шумом, щоб модель навчилась краще відновлювати. </a:t>
            </a:r>
            <a:r>
              <a:rPr lang="en-US" b="1" dirty="0"/>
              <a:t>VAE-CF</a:t>
            </a:r>
            <a:r>
              <a:rPr lang="en-US" dirty="0"/>
              <a:t> </a:t>
            </a:r>
            <a:r>
              <a:rPr lang="uk-UA" dirty="0"/>
              <a:t>пішов іще далі — там користувач описується не одним вектором, а цілим розподілом, що дає кращі результати.</a:t>
            </a:r>
          </a:p>
          <a:p>
            <a:endParaRPr lang="uk-UA" dirty="0"/>
          </a:p>
          <a:p>
            <a:r>
              <a:rPr lang="uk-UA" b="1" dirty="0"/>
              <a:t>Другий тип </a:t>
            </a:r>
            <a:r>
              <a:rPr lang="uk-UA" dirty="0"/>
              <a:t>— рекурентні мережі, зокрема </a:t>
            </a:r>
            <a:r>
              <a:rPr lang="en-US" b="1" dirty="0"/>
              <a:t>GRU</a:t>
            </a:r>
            <a:r>
              <a:rPr lang="en-US" dirty="0"/>
              <a:t> </a:t>
            </a:r>
            <a:r>
              <a:rPr lang="uk-UA" dirty="0"/>
              <a:t>та </a:t>
            </a:r>
            <a:r>
              <a:rPr lang="en-US" b="1" dirty="0"/>
              <a:t>LSTM</a:t>
            </a:r>
            <a:r>
              <a:rPr lang="en-US" dirty="0"/>
              <a:t>. </a:t>
            </a:r>
            <a:r>
              <a:rPr lang="uk-UA" dirty="0"/>
              <a:t>Вони враховують не просто що дивився користувач, а в якому порядку. Переглянуте п'ять хвилин тому важливіше за переглянуте минулого місяця. </a:t>
            </a:r>
            <a:r>
              <a:rPr lang="en-US" b="1" dirty="0"/>
              <a:t>GRU4Rec</a:t>
            </a:r>
            <a:r>
              <a:rPr lang="en-US" dirty="0"/>
              <a:t> </a:t>
            </a:r>
            <a:r>
              <a:rPr lang="uk-UA" dirty="0"/>
              <a:t>перший успішно застосував цю ідею до сесійних рекомендацій. З механізмом уваги модель ще й сама вирішує, які саме дії варто запам'ятати. </a:t>
            </a:r>
            <a:r>
              <a:rPr lang="en-US" b="1" dirty="0"/>
              <a:t>HRNN</a:t>
            </a:r>
            <a:r>
              <a:rPr lang="en-US" dirty="0"/>
              <a:t> </a:t>
            </a:r>
            <a:r>
              <a:rPr lang="uk-UA" dirty="0"/>
              <a:t>працює на двох рівнях: одна мережа пам'ятає поточну сесію, інша — загальну поведінку користувача.</a:t>
            </a:r>
          </a:p>
          <a:p>
            <a:r>
              <a:rPr lang="en-US" b="1" dirty="0" err="1"/>
              <a:t>Attention+RNN</a:t>
            </a:r>
            <a:r>
              <a:rPr lang="en-US" b="1" dirty="0"/>
              <a:t> </a:t>
            </a:r>
            <a:r>
              <a:rPr lang="uk-UA" dirty="0"/>
              <a:t>дозволяє моделі самій вирішувати, які попередні дії важливі, а які ігнорувати.</a:t>
            </a:r>
          </a:p>
          <a:p>
            <a:endParaRPr lang="uk-UA" dirty="0"/>
          </a:p>
          <a:p>
            <a:r>
              <a:rPr lang="uk-UA" b="1" dirty="0"/>
              <a:t>Третій тип </a:t>
            </a:r>
            <a:r>
              <a:rPr lang="uk-UA" dirty="0"/>
              <a:t>— згорткові мережі. Вони добре працюють там, де є текст, зображення або аудіо. </a:t>
            </a:r>
            <a:r>
              <a:rPr lang="en-US" b="1" dirty="0" err="1"/>
              <a:t>ConvMF</a:t>
            </a:r>
            <a:r>
              <a:rPr lang="en-US" dirty="0"/>
              <a:t> </a:t>
            </a:r>
            <a:r>
              <a:rPr lang="uk-UA" dirty="0"/>
              <a:t>аналізує текстові відгуки та застосовує матричну </a:t>
            </a:r>
            <a:r>
              <a:rPr lang="uk-UA" dirty="0" err="1"/>
              <a:t>факторизацію</a:t>
            </a:r>
            <a:r>
              <a:rPr lang="uk-UA" dirty="0"/>
              <a:t>. </a:t>
            </a:r>
            <a:r>
              <a:rPr lang="en-US" b="1" dirty="0"/>
              <a:t>VBPR</a:t>
            </a:r>
            <a:r>
              <a:rPr lang="en-US" dirty="0"/>
              <a:t> </a:t>
            </a:r>
            <a:r>
              <a:rPr lang="uk-UA" dirty="0"/>
              <a:t>враховує, як товар виглядає на фото. А </a:t>
            </a:r>
            <a:r>
              <a:rPr lang="en-US" b="1" dirty="0"/>
              <a:t>Spotify</a:t>
            </a:r>
            <a:r>
              <a:rPr lang="en-US" dirty="0"/>
              <a:t> </a:t>
            </a:r>
            <a:r>
              <a:rPr lang="uk-UA" dirty="0"/>
              <a:t>рекомендує нові треки просто на основі того, як вони звучать — ще до того, як хтось їх оцінив.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noProof="0" dirty="0"/>
              <a:t>Архітектура трансформерів, спочатку розроблена для обробки природної мови, виявилась ефективною і у задачах рекомендацій. </a:t>
            </a:r>
          </a:p>
          <a:p>
            <a:r>
              <a:rPr lang="uk-UA" noProof="0" dirty="0"/>
              <a:t>Зліва наведено основні трансформерні моделі. </a:t>
            </a:r>
          </a:p>
          <a:p>
            <a:r>
              <a:rPr lang="en-US" b="1" dirty="0"/>
              <a:t>BERT4Rec</a:t>
            </a:r>
            <a:r>
              <a:rPr lang="en-US" dirty="0"/>
              <a:t> </a:t>
            </a:r>
            <a:r>
              <a:rPr lang="uk-UA" dirty="0"/>
              <a:t>використовує </a:t>
            </a:r>
            <a:r>
              <a:rPr lang="uk-UA" dirty="0" err="1"/>
              <a:t>двонаправлену</a:t>
            </a:r>
            <a:r>
              <a:rPr lang="uk-UA" dirty="0"/>
              <a:t> </a:t>
            </a:r>
            <a:r>
              <a:rPr lang="uk-UA" dirty="0" err="1"/>
              <a:t>самоувагу</a:t>
            </a:r>
            <a:r>
              <a:rPr lang="uk-UA" dirty="0"/>
              <a:t> для послідовностей взаємодій. Принцип навчання — маскування випадкових елементів і їх відновлення — повністю аналогічний моделі </a:t>
            </a:r>
            <a:r>
              <a:rPr lang="en-US" dirty="0"/>
              <a:t>BERT </a:t>
            </a:r>
            <a:r>
              <a:rPr lang="uk-UA" dirty="0"/>
              <a:t>в обробці тексту. Перевага </a:t>
            </a:r>
            <a:r>
              <a:rPr lang="uk-UA" dirty="0" err="1"/>
              <a:t>двонаправленості</a:t>
            </a:r>
            <a:r>
              <a:rPr lang="uk-UA" dirty="0"/>
              <a:t> в тому, що модель бачить контекст з обох сторін — і що було до, і що після.</a:t>
            </a:r>
          </a:p>
          <a:p>
            <a:r>
              <a:rPr lang="en-US" b="1" dirty="0" err="1"/>
              <a:t>SASRec</a:t>
            </a:r>
            <a:r>
              <a:rPr lang="en-US" dirty="0"/>
              <a:t> — </a:t>
            </a:r>
            <a:r>
              <a:rPr lang="uk-UA" dirty="0" err="1"/>
              <a:t>однонаправлений</a:t>
            </a:r>
            <a:r>
              <a:rPr lang="uk-UA" dirty="0"/>
              <a:t> варіант з причинною увагою. Він ефективніший на довгих послідовностях, що важливо для реальних промислових систем. На відміну від </a:t>
            </a:r>
            <a:r>
              <a:rPr lang="en-US" b="1" dirty="0"/>
              <a:t>BERT4Rec</a:t>
            </a:r>
            <a:r>
              <a:rPr lang="en-US" dirty="0"/>
              <a:t>, </a:t>
            </a:r>
            <a:r>
              <a:rPr lang="uk-UA" dirty="0"/>
              <a:t>дивиться лише назад — що логічніше для рекомендацій в реальному часі.</a:t>
            </a:r>
          </a:p>
          <a:p>
            <a:r>
              <a:rPr lang="uk-UA" dirty="0"/>
              <a:t>Архітектура </a:t>
            </a:r>
            <a:r>
              <a:rPr lang="en-US" b="1" dirty="0"/>
              <a:t>BST </a:t>
            </a:r>
            <a:r>
              <a:rPr lang="uk-UA" b="1" dirty="0"/>
              <a:t>від </a:t>
            </a:r>
            <a:r>
              <a:rPr lang="en-US" b="1" dirty="0"/>
              <a:t>Alibaba </a:t>
            </a:r>
            <a:r>
              <a:rPr lang="uk-UA" dirty="0"/>
              <a:t>застосовує </a:t>
            </a:r>
            <a:r>
              <a:rPr lang="uk-UA" dirty="0" err="1"/>
              <a:t>трансформер</a:t>
            </a:r>
            <a:r>
              <a:rPr lang="uk-UA" dirty="0"/>
              <a:t> до послідовностей </a:t>
            </a:r>
            <a:r>
              <a:rPr lang="uk-UA" dirty="0" err="1"/>
              <a:t>кліків</a:t>
            </a:r>
            <a:r>
              <a:rPr lang="uk-UA" dirty="0"/>
              <a:t> та покупок на платформі </a:t>
            </a:r>
            <a:r>
              <a:rPr lang="en-US" dirty="0"/>
              <a:t>Taobao. </a:t>
            </a:r>
            <a:r>
              <a:rPr lang="uk-UA" dirty="0"/>
              <a:t>Особливість у тому, що разом із послідовністю враховуються і статичні ознаки користувача та товару.</a:t>
            </a:r>
          </a:p>
          <a:p>
            <a:r>
              <a:rPr lang="uk-UA" dirty="0"/>
              <a:t>І нарешті </a:t>
            </a:r>
            <a:r>
              <a:rPr lang="en-US" b="1" dirty="0"/>
              <a:t>P5</a:t>
            </a:r>
            <a:r>
              <a:rPr lang="en-US" dirty="0"/>
              <a:t> 2022 </a:t>
            </a:r>
            <a:r>
              <a:rPr lang="uk-UA" dirty="0"/>
              <a:t>року — уніфікована архітектура текст-текст, де одна </a:t>
            </a:r>
            <a:r>
              <a:rPr lang="uk-UA" dirty="0" err="1"/>
              <a:t>мовна</a:t>
            </a:r>
            <a:r>
              <a:rPr lang="uk-UA" dirty="0"/>
              <a:t> модель розв'язує п'ять різних рекомендаційних задач. Замість окремих моделей для кожної задачі — одна універсальна, якій просто формулюють задачу текстом.</a:t>
            </a:r>
          </a:p>
          <a:p>
            <a:endParaRPr lang="uk-UA" noProof="0" dirty="0"/>
          </a:p>
          <a:p>
            <a:r>
              <a:rPr lang="uk-UA" b="1" noProof="0" dirty="0"/>
              <a:t>Праворуч розглянуто застосування великих </a:t>
            </a:r>
            <a:r>
              <a:rPr lang="uk-UA" b="1" noProof="0" dirty="0" err="1"/>
              <a:t>мовних</a:t>
            </a:r>
            <a:r>
              <a:rPr lang="uk-UA" b="1" noProof="0" dirty="0"/>
              <a:t> моделей. </a:t>
            </a:r>
          </a:p>
          <a:p>
            <a:r>
              <a:rPr lang="uk-UA" noProof="0" dirty="0"/>
              <a:t>По-перше, можливі рекомендації без попередніх прикладів (</a:t>
            </a:r>
            <a:r>
              <a:rPr lang="en-US" noProof="0" dirty="0"/>
              <a:t>zero-shot</a:t>
            </a:r>
            <a:r>
              <a:rPr lang="uk-UA" noProof="0" dirty="0"/>
              <a:t>), коли модель пропонує об'єкти лише на основі текстового опису профілю користувача. По-друге, велику </a:t>
            </a:r>
            <a:r>
              <a:rPr lang="uk-UA" noProof="0" dirty="0" err="1"/>
              <a:t>мовну</a:t>
            </a:r>
            <a:r>
              <a:rPr lang="uk-UA" noProof="0" dirty="0"/>
              <a:t> модель можна використовувати як модуль повторного ранжування: класична </a:t>
            </a:r>
            <a:r>
              <a:rPr lang="uk-UA" noProof="0" dirty="0" err="1"/>
              <a:t>колаборативна</a:t>
            </a:r>
            <a:r>
              <a:rPr lang="uk-UA" noProof="0" dirty="0"/>
              <a:t> фільтрація генерує кандидатів, а </a:t>
            </a:r>
            <a:r>
              <a:rPr lang="uk-UA" noProof="0" dirty="0" err="1"/>
              <a:t>мовна</a:t>
            </a:r>
            <a:r>
              <a:rPr lang="uk-UA" noProof="0" dirty="0"/>
              <a:t> модель </a:t>
            </a:r>
            <a:r>
              <a:rPr lang="uk-UA" noProof="0" dirty="0" err="1"/>
              <a:t>переупорядковує</a:t>
            </a:r>
            <a:r>
              <a:rPr lang="uk-UA" noProof="0" dirty="0"/>
              <a:t> їх з урахуванням контексту. Особливо цікавий напрям — діалогові рекомендації, коли користувач у природному діалозі формулює запит на кшталт «знайди мені щось схоже на фільм Початок (2010), але менш фантастичний». Окрім того, </a:t>
            </a:r>
            <a:r>
              <a:rPr lang="uk-UA" noProof="0" dirty="0" err="1"/>
              <a:t>мовні</a:t>
            </a:r>
            <a:r>
              <a:rPr lang="uk-UA" noProof="0" dirty="0"/>
              <a:t> моделі здатні генерувати персоналізовані пояснення рекомендацій, що критично важливо для виконання регуляторних вимог щодо прозорості алгоритмів.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noProof="0" dirty="0"/>
              <a:t>Графові нейронні мережі, є природним інструментом для рекомендаційних систем. Причина проста: рекомендаційна задача за своєю суттю </a:t>
            </a:r>
            <a:r>
              <a:rPr lang="uk-UA" noProof="0" dirty="0" err="1"/>
              <a:t>графова</a:t>
            </a:r>
            <a:r>
              <a:rPr lang="uk-UA" noProof="0" dirty="0"/>
              <a:t>. На лівій частині слайду схематично зображено двочастковий граф. Вершини — це користувачі, позначені зеленим, та об'єкти, позначені жовтим. Ребра графа відповідають взаємодіям: оцінкам, переглядам, покупкам. </a:t>
            </a:r>
          </a:p>
          <a:p>
            <a:r>
              <a:rPr lang="uk-UA" b="1" dirty="0"/>
              <a:t>Розглянемо чотири ключові архітектури.</a:t>
            </a:r>
          </a:p>
          <a:p>
            <a:r>
              <a:rPr lang="en-US" b="1" dirty="0"/>
              <a:t>NGCF</a:t>
            </a:r>
            <a:r>
              <a:rPr lang="en-US" dirty="0"/>
              <a:t> 2019 </a:t>
            </a:r>
            <a:r>
              <a:rPr lang="uk-UA" dirty="0"/>
              <a:t>року — перша успішна спроба поєднати графові мережі з </a:t>
            </a:r>
            <a:r>
              <a:rPr lang="uk-UA" dirty="0" err="1"/>
              <a:t>колаборативною</a:t>
            </a:r>
            <a:r>
              <a:rPr lang="uk-UA" dirty="0"/>
              <a:t> фільтрацією. Принцип простий: кожен вузол графа збирає інформацію від своїх сусідів. Користувач дізнається про об'єкти, з якими взаємодіяв, ті об'єкти — про інших користувачів, які їх переглядали. Так інформація поступово розповсюджується по всьому графу.</a:t>
            </a:r>
          </a:p>
          <a:p>
            <a:r>
              <a:rPr lang="en-US" b="1" dirty="0" err="1"/>
              <a:t>LightGCN</a:t>
            </a:r>
            <a:r>
              <a:rPr lang="en-US" dirty="0"/>
              <a:t> 2020 </a:t>
            </a:r>
            <a:r>
              <a:rPr lang="uk-UA" dirty="0"/>
              <a:t>року зробив несподіваний крок назад — прибрав із </a:t>
            </a:r>
            <a:r>
              <a:rPr lang="en-US" b="1" dirty="0"/>
              <a:t>NGCF</a:t>
            </a:r>
            <a:r>
              <a:rPr lang="en-US" dirty="0"/>
              <a:t> </a:t>
            </a:r>
            <a:r>
              <a:rPr lang="uk-UA" dirty="0"/>
              <a:t>нелінійні перетворення та активаційні функції, залишивши лише просте усереднення сусідів. Результат парадоксальний: спрощена модель виявилась точнішою і швидшою. Це один з </a:t>
            </a:r>
            <a:r>
              <a:rPr lang="uk-UA" dirty="0" err="1"/>
              <a:t>найцитованіших</a:t>
            </a:r>
            <a:r>
              <a:rPr lang="uk-UA" dirty="0"/>
              <a:t> результатів у галузі останніх років.</a:t>
            </a:r>
          </a:p>
          <a:p>
            <a:r>
              <a:rPr lang="en-US" b="1" dirty="0" err="1"/>
              <a:t>PinSage</a:t>
            </a:r>
            <a:r>
              <a:rPr lang="en-US" dirty="0"/>
              <a:t> </a:t>
            </a:r>
            <a:r>
              <a:rPr lang="uk-UA" dirty="0"/>
              <a:t>розробила компанія </a:t>
            </a:r>
            <a:r>
              <a:rPr lang="en-US" dirty="0"/>
              <a:t>Pinterest </a:t>
            </a:r>
            <a:r>
              <a:rPr lang="uk-UA" dirty="0"/>
              <a:t>у 2018 році для власної платформи з мільярдами зображень та користувачів. Головна складність — масштабування: обробити граф такого розміру повністю неможливо, тому модель навчається на невеликих </a:t>
            </a:r>
            <a:r>
              <a:rPr lang="uk-UA" dirty="0" err="1"/>
              <a:t>підграфах</a:t>
            </a:r>
            <a:r>
              <a:rPr lang="uk-UA" dirty="0"/>
              <a:t>, відібраних за важливістю.</a:t>
            </a:r>
          </a:p>
          <a:p>
            <a:r>
              <a:rPr lang="uk-UA" dirty="0"/>
              <a:t>І нарешті — поєднання </a:t>
            </a:r>
            <a:r>
              <a:rPr lang="uk-UA" dirty="0" err="1"/>
              <a:t>графових</a:t>
            </a:r>
            <a:r>
              <a:rPr lang="uk-UA" dirty="0"/>
              <a:t> мереж з графами знань. Граф знань — це база фактів про об'єкти: режисер, актор, жанр, студія. Якщо додати цю інформацію до графа взаємодій, модель краще розуміє об'єкти і може рекомендувати навіть ті, про які ще немає оцінок.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noProof="0" dirty="0"/>
              <a:t>Навчання з підкріпленням, пропонує принципово інший погляд на рекомендаційну задачу. Тут рекомендація розглядається не як одноразовий прогноз, а як інтерактивний процес, де агент навчається максимізувати довгострокове задоволення користувача. У центрі слайду схематично зображено цикл процесу прийняття рішень Маркова. Стан системи — це профіль користувача, контекст і послідовність попередніх взаємодій. Дія — вибір конкретного об'єкта для рекомендації. Нагорода — реакція користувача: клік, тривалість перегляду, оцінка, факт повернення на платформу. Після отримання нагороди агент оновлює свою політику вибору і цикл повторюється. Ключова перевага навчання з підкріпленням — оптимізація саме довгострокового задоволення, а не короткочасних </a:t>
            </a:r>
            <a:r>
              <a:rPr lang="uk-UA" noProof="0" dirty="0" err="1"/>
              <a:t>кліків</a:t>
            </a:r>
            <a:r>
              <a:rPr lang="uk-UA" noProof="0" dirty="0"/>
              <a:t>. </a:t>
            </a:r>
          </a:p>
          <a:p>
            <a:r>
              <a:rPr lang="uk-UA" b="1" noProof="0" dirty="0"/>
              <a:t>Праворуч перераховано основні алгоритми. </a:t>
            </a:r>
            <a:r>
              <a:rPr lang="uk-UA" noProof="0" dirty="0"/>
              <a:t>Глибока Q-мережа DQN — для вибору оптимальної дії в дискретному просторі. Актор-критик у варіантах A3C та PPO — для прямої оптимізації політики. Особливо популярним є метод багаторукого бандита </a:t>
            </a:r>
            <a:r>
              <a:rPr lang="uk-UA" noProof="0" dirty="0" err="1"/>
              <a:t>Multi-armed</a:t>
            </a:r>
            <a:r>
              <a:rPr lang="uk-UA" noProof="0" dirty="0"/>
              <a:t> </a:t>
            </a:r>
            <a:r>
              <a:rPr lang="uk-UA" noProof="0" dirty="0" err="1"/>
              <a:t>Bandit</a:t>
            </a:r>
            <a:r>
              <a:rPr lang="uk-UA" noProof="0" dirty="0"/>
              <a:t>, зокрема стратегії </a:t>
            </a:r>
            <a:r>
              <a:rPr lang="uk-UA" noProof="0" dirty="0" err="1"/>
              <a:t>Thompson</a:t>
            </a:r>
            <a:r>
              <a:rPr lang="uk-UA" noProof="0" dirty="0"/>
              <a:t> </a:t>
            </a:r>
            <a:r>
              <a:rPr lang="uk-UA" noProof="0" dirty="0" err="1"/>
              <a:t>Sampling</a:t>
            </a:r>
            <a:r>
              <a:rPr lang="uk-UA" noProof="0" dirty="0"/>
              <a:t> та UCB, які добре справляються з компромісом між використанням відомих знань та дослідженням нового. </a:t>
            </a:r>
            <a:r>
              <a:rPr lang="uk-UA" noProof="0" dirty="0" err="1"/>
              <a:t>SlateQ</a:t>
            </a:r>
            <a:r>
              <a:rPr lang="uk-UA" noProof="0" dirty="0"/>
              <a:t> — спеціалізований алгоритм для рекомендації цілих списків об'єктів, що більш </a:t>
            </a:r>
            <a:r>
              <a:rPr lang="uk-UA" noProof="0" dirty="0" err="1"/>
              <a:t>реалістично</a:t>
            </a:r>
            <a:r>
              <a:rPr lang="uk-UA" noProof="0" dirty="0"/>
              <a:t> відображає реальні інтерфейси.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Кожна з чотирьох платформ розробила унікальну архітектуру, адаптовану до власного контенту та бізнес-цілей. </a:t>
            </a:r>
            <a:endParaRPr lang="uk-UA" dirty="0"/>
          </a:p>
          <a:p>
            <a:r>
              <a:rPr lang="en-US" b="1" dirty="0"/>
              <a:t>Netflix</a:t>
            </a:r>
            <a:r>
              <a:rPr lang="en-US" dirty="0"/>
              <a:t> інвестує в персоналізацію навіть обкладинок — один фільм може мати різні мініатюри для </a:t>
            </a:r>
            <a:r>
              <a:rPr lang="en-US" dirty="0" err="1"/>
              <a:t>різних</a:t>
            </a:r>
            <a:r>
              <a:rPr lang="en-US" dirty="0"/>
              <a:t> </a:t>
            </a:r>
            <a:r>
              <a:rPr lang="uk-UA" dirty="0"/>
              <a:t>користувачів</a:t>
            </a:r>
            <a:r>
              <a:rPr lang="en-US" dirty="0"/>
              <a:t>. </a:t>
            </a:r>
            <a:endParaRPr lang="uk-UA" dirty="0"/>
          </a:p>
          <a:p>
            <a:r>
              <a:rPr lang="en-US" b="1" dirty="0"/>
              <a:t>YouTube</a:t>
            </a:r>
            <a:r>
              <a:rPr lang="en-US" dirty="0"/>
              <a:t> </a:t>
            </a:r>
            <a:r>
              <a:rPr lang="en-US" dirty="0" err="1"/>
              <a:t>використовує</a:t>
            </a:r>
            <a:r>
              <a:rPr lang="en-US" dirty="0"/>
              <a:t> </a:t>
            </a:r>
            <a:r>
              <a:rPr lang="uk-UA" dirty="0"/>
              <a:t>час перегляду</a:t>
            </a:r>
            <a:r>
              <a:rPr lang="en-US" dirty="0"/>
              <a:t> як основну метрику нагороди — революційне рішення: не те, що клікнули, а те, що подивились до </a:t>
            </a:r>
            <a:r>
              <a:rPr lang="en-US" dirty="0" err="1"/>
              <a:t>кінця</a:t>
            </a:r>
            <a:r>
              <a:rPr lang="en-US" dirty="0"/>
              <a:t>.</a:t>
            </a:r>
            <a:endParaRPr lang="uk-UA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Amazon</a:t>
            </a:r>
            <a:r>
              <a:rPr lang="en-US" dirty="0"/>
              <a:t> </a:t>
            </a:r>
            <a:r>
              <a:rPr lang="en-US" dirty="0" err="1"/>
              <a:t>залишається</a:t>
            </a:r>
            <a:r>
              <a:rPr lang="en-US" dirty="0"/>
              <a:t> </a:t>
            </a:r>
            <a:r>
              <a:rPr lang="en-US" dirty="0" err="1"/>
              <a:t>піонером</a:t>
            </a:r>
            <a:r>
              <a:rPr lang="en-US" dirty="0"/>
              <a:t> </a:t>
            </a:r>
            <a:r>
              <a:rPr lang="uk-UA" dirty="0" err="1"/>
              <a:t>колаборативної</a:t>
            </a:r>
            <a:r>
              <a:rPr lang="uk-UA" dirty="0"/>
              <a:t> </a:t>
            </a:r>
            <a:r>
              <a:rPr lang="uk-UA" dirty="0" err="1"/>
              <a:t>фільтраці</a:t>
            </a:r>
            <a:r>
              <a:rPr lang="uk-UA" dirty="0"/>
              <a:t> </a:t>
            </a:r>
            <a:r>
              <a:rPr lang="en-US" dirty="0"/>
              <a:t>і </a:t>
            </a:r>
            <a:r>
              <a:rPr lang="en-US" dirty="0" err="1"/>
              <a:t>досі</a:t>
            </a:r>
            <a:r>
              <a:rPr lang="en-US" dirty="0"/>
              <a:t> </a:t>
            </a:r>
            <a:r>
              <a:rPr lang="en-US" dirty="0" err="1"/>
              <a:t>ефективно</a:t>
            </a:r>
            <a:r>
              <a:rPr lang="en-US" dirty="0"/>
              <a:t> </a:t>
            </a:r>
            <a:r>
              <a:rPr lang="en-US" dirty="0" err="1"/>
              <a:t>застосовує</a:t>
            </a:r>
            <a:r>
              <a:rPr lang="en-US" dirty="0"/>
              <a:t> </a:t>
            </a:r>
            <a:r>
              <a:rPr lang="en-US" dirty="0" err="1"/>
              <a:t>цей</a:t>
            </a:r>
            <a:r>
              <a:rPr lang="en-US" dirty="0"/>
              <a:t> </a:t>
            </a:r>
            <a:r>
              <a:rPr lang="en-US" dirty="0" err="1"/>
              <a:t>підхід</a:t>
            </a:r>
            <a:r>
              <a:rPr lang="en-US" dirty="0"/>
              <a:t> у </a:t>
            </a:r>
            <a:r>
              <a:rPr lang="en-US" dirty="0" err="1"/>
              <a:t>поєднанні</a:t>
            </a:r>
            <a:r>
              <a:rPr lang="en-US" dirty="0"/>
              <a:t> з </a:t>
            </a:r>
            <a:r>
              <a:rPr lang="en-US" dirty="0" err="1"/>
              <a:t>сучасними</a:t>
            </a:r>
            <a:r>
              <a:rPr lang="en-US" dirty="0"/>
              <a:t> </a:t>
            </a:r>
            <a:r>
              <a:rPr lang="en-US" dirty="0" err="1"/>
              <a:t>нейронними</a:t>
            </a:r>
            <a:r>
              <a:rPr lang="en-US" dirty="0"/>
              <a:t> </a:t>
            </a:r>
            <a:r>
              <a:rPr lang="en-US" dirty="0" err="1"/>
              <a:t>методами</a:t>
            </a:r>
            <a:r>
              <a:rPr lang="en-US" dirty="0"/>
              <a:t>. </a:t>
            </a:r>
            <a:endParaRPr lang="uk-UA" dirty="0"/>
          </a:p>
          <a:p>
            <a:r>
              <a:rPr lang="en-US" b="1" dirty="0"/>
              <a:t>Spotify</a:t>
            </a:r>
            <a:r>
              <a:rPr lang="en-US" dirty="0"/>
              <a:t> вирізняється поєднанням </a:t>
            </a:r>
            <a:r>
              <a:rPr lang="en-US" b="1" dirty="0"/>
              <a:t>word2vec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текстах плейлистів і </a:t>
            </a:r>
            <a:r>
              <a:rPr lang="en-US" b="1" dirty="0"/>
              <a:t>CNN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аудіо, що дозволяє </a:t>
            </a:r>
            <a:r>
              <a:rPr lang="en-US" dirty="0" err="1"/>
              <a:t>долати</a:t>
            </a:r>
            <a:r>
              <a:rPr lang="en-US" dirty="0"/>
              <a:t> </a:t>
            </a:r>
            <a:r>
              <a:rPr lang="uk-UA" dirty="0"/>
              <a:t>проблему холодного старту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нових</a:t>
            </a:r>
            <a:r>
              <a:rPr lang="en-US" dirty="0"/>
              <a:t> </a:t>
            </a:r>
            <a:r>
              <a:rPr lang="en-US" dirty="0" err="1"/>
              <a:t>треків</a:t>
            </a:r>
            <a:r>
              <a:rPr lang="en-US" dirty="0"/>
              <a:t>. 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b="1" noProof="0" dirty="0"/>
              <a:t>Оцінювання якості рекомендаційних систем — це нетривіальне завдання, що має одразу кілька вимірів. </a:t>
            </a:r>
            <a:r>
              <a:rPr lang="uk-UA" noProof="0" dirty="0"/>
              <a:t>У таблиці систематизовано основні метрики, з якими доводиться працювати на практиці. </a:t>
            </a:r>
            <a:r>
              <a:rPr lang="uk-UA" noProof="0" dirty="0" err="1"/>
              <a:t>Точність@k</a:t>
            </a:r>
            <a:r>
              <a:rPr lang="uk-UA" noProof="0" dirty="0"/>
              <a:t>, або </a:t>
            </a:r>
            <a:r>
              <a:rPr lang="uk-UA" noProof="0" dirty="0" err="1"/>
              <a:t>Precision@k</a:t>
            </a:r>
            <a:r>
              <a:rPr lang="uk-UA" noProof="0" dirty="0"/>
              <a:t>, — це частка релевантних об'єктів серед перших k рекомендацій. </a:t>
            </a:r>
            <a:r>
              <a:rPr lang="uk-UA" noProof="0" dirty="0" err="1"/>
              <a:t>Повнота@k</a:t>
            </a:r>
            <a:r>
              <a:rPr lang="uk-UA" noProof="0" dirty="0"/>
              <a:t>, тобто Recall@k, — частка знайдених релевантних об'єктів від загальної їх кількості у каталозі. Ці дві метрики прийшли з галузі інформаційного пошуку. NDCG@k — нормалізований дисконтований кумулятивний прибуток. Це золотий стандарт для задач ранжування: метрика враховує позицію об'єкта у списку. Об'єкт на першій позиції цінується значно вище, ніж той самий об'єкт на десятій. MAP — середня точність по запитах, тобто </a:t>
            </a:r>
            <a:r>
              <a:rPr lang="uk-UA" noProof="0" dirty="0" err="1"/>
              <a:t>Mean</a:t>
            </a:r>
            <a:r>
              <a:rPr lang="uk-UA" noProof="0" dirty="0"/>
              <a:t> </a:t>
            </a:r>
            <a:r>
              <a:rPr lang="uk-UA" noProof="0" dirty="0" err="1"/>
              <a:t>Average</a:t>
            </a:r>
            <a:r>
              <a:rPr lang="uk-UA" noProof="0" dirty="0"/>
              <a:t> </a:t>
            </a:r>
            <a:r>
              <a:rPr lang="uk-UA" noProof="0" dirty="0" err="1"/>
              <a:t>Precision</a:t>
            </a:r>
            <a:r>
              <a:rPr lang="uk-UA" noProof="0" dirty="0"/>
              <a:t>. </a:t>
            </a:r>
            <a:r>
              <a:rPr lang="uk-UA" noProof="0" dirty="0" err="1"/>
              <a:t>Hit</a:t>
            </a:r>
            <a:r>
              <a:rPr lang="uk-UA" noProof="0" dirty="0"/>
              <a:t> </a:t>
            </a:r>
            <a:r>
              <a:rPr lang="uk-UA" noProof="0" dirty="0" err="1"/>
              <a:t>Rate@k</a:t>
            </a:r>
            <a:r>
              <a:rPr lang="uk-UA" noProof="0" dirty="0"/>
              <a:t> — бінарна метрика: чи потрапив хоча б один цільовий об'єкт у перші k рекомендацій. Окрема група метрик — для задачі прогнозування числових оцінок: RMSE — корінь середньоквадратичної похибки, та MAE — середня абсолютна похибка. </a:t>
            </a:r>
          </a:p>
          <a:p>
            <a:r>
              <a:rPr lang="uk-UA" b="1" noProof="0" dirty="0"/>
              <a:t>Однак найцікавіше — це бізнес метрики у нижній частині таблиці. </a:t>
            </a:r>
            <a:r>
              <a:rPr lang="uk-UA" noProof="0" dirty="0" err="1"/>
              <a:t>Coverage</a:t>
            </a:r>
            <a:r>
              <a:rPr lang="uk-UA" noProof="0" dirty="0"/>
              <a:t> — покриття каталогу: яка частка об'єктів взагалі з'являється у рекомендаціях. </a:t>
            </a:r>
            <a:r>
              <a:rPr lang="uk-UA" noProof="0" dirty="0" err="1"/>
              <a:t>Diversity</a:t>
            </a:r>
            <a:r>
              <a:rPr lang="uk-UA" noProof="0" dirty="0"/>
              <a:t> — різноманітність об'єктів у списку, що важливо для уникнення інформаційної бульбашки. І нарешті </a:t>
            </a:r>
            <a:r>
              <a:rPr lang="uk-UA" noProof="0" dirty="0" err="1"/>
              <a:t>Serendipity</a:t>
            </a:r>
            <a:r>
              <a:rPr lang="uk-UA" noProof="0" dirty="0"/>
              <a:t> — несподіваність рекомендацій. Рекомендація може бути водночас релевантною і приємно несподіваною — це і є приклад успішної </a:t>
            </a:r>
            <a:r>
              <a:rPr lang="uk-UA" noProof="0" dirty="0" err="1"/>
              <a:t>Serendipity</a:t>
            </a:r>
            <a:r>
              <a:rPr lang="uk-UA" noProof="0" dirty="0"/>
              <a:t>. Поза цією таблицею необхідно завжди пам'ятати про офлайн-онлайн розрив: хороші офлайн-метрики не гарантують покращення реальних бізнес-показників, тому A/B-тестування є обов'язковим.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Етичні аспекти рекомендаційних систем набувають дедалі більшої уваги як у наукових колах, так і в регуляторному просторі. </a:t>
            </a:r>
            <a:endParaRPr lang="uk-UA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Перший</a:t>
            </a:r>
            <a:r>
              <a:rPr lang="uk-UA" noProof="0" dirty="0"/>
              <a:t> – прозорість, регуляторні документи, такі як GDPR в Європі, прямо вимагають права на пояснення алгоритмічних рішень.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Другий виклик </a:t>
            </a:r>
            <a:r>
              <a:rPr lang="uk-UA" noProof="0" dirty="0"/>
              <a:t>— конфіденційність даних. Сучасні рекомендаційні системи акумулюють величезні обсяги особистих даних: географічні переміщення, споживчі звички, психологічні профілі. Захист цих даних є відповідальністю платформ.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Третій</a:t>
            </a:r>
            <a:r>
              <a:rPr lang="uk-UA" noProof="0" dirty="0"/>
              <a:t> — інформаційна бульбашка. Алгоритм замикає користувача у колі схожого контенту, що викривляє сприйняття реальності. Це вже не лише технічна, а й соціально-політична проблема.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Четвертий</a:t>
            </a:r>
            <a:r>
              <a:rPr lang="uk-UA" noProof="0" dirty="0"/>
              <a:t> виклик — маніпуляція поведінкою. Якщо система оптимізується виключно на залученість, а не на добробут користувача, це може формувати залежність від платформи. Дослідження </a:t>
            </a:r>
            <a:r>
              <a:rPr lang="uk-UA" noProof="0" dirty="0" err="1"/>
              <a:t>TikTok</a:t>
            </a:r>
            <a:r>
              <a:rPr lang="uk-UA" noProof="0" dirty="0"/>
              <a:t> та </a:t>
            </a:r>
            <a:r>
              <a:rPr lang="uk-UA" noProof="0" dirty="0" err="1"/>
              <a:t>Instagram</a:t>
            </a:r>
            <a:r>
              <a:rPr lang="uk-UA" noProof="0" dirty="0"/>
              <a:t> показали зв'язок між тривалим використанням та погіршенням ментального здоров'я підлітків.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П'ятий</a:t>
            </a:r>
            <a:r>
              <a:rPr lang="uk-UA" noProof="0" dirty="0"/>
              <a:t> — алгоритмічна упередженість. Системи відтворюють і навіть підсилюють соціальні упередження, присутні у даних: гендерну, расову, вікову. Якщо у даних історично було менше жінок-програмістів, рекомендаційна система буде менше показувати програмістські вакансії жінкам.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Шостий</a:t>
            </a:r>
            <a:r>
              <a:rPr lang="uk-UA" noProof="0" dirty="0"/>
              <a:t> — питання відповідальності. Хто несе відповідальність за шкідливий рекомендований контент: платформа, розробник алгоритму чи сам користувач? Це питання поки що не має чіткої правової відповіді, але саме воно визначатиме майбутнє галузі.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Підсумовуючи, рекомендаційні системи пройшли шлях від простих евристик до складних нейронних архітектур, що поєднують embeddings, графові методи та великі мовні моделі. Попри значний прогрес, фундаментальні виклики — </a:t>
            </a:r>
            <a:r>
              <a:rPr lang="uk-UA" dirty="0"/>
              <a:t>проблема холодного старту</a:t>
            </a:r>
            <a:r>
              <a:rPr lang="en-US" dirty="0"/>
              <a:t>, </a:t>
            </a:r>
            <a:r>
              <a:rPr lang="uk-UA" dirty="0"/>
              <a:t>упередженість популярних елементів</a:t>
            </a:r>
            <a:r>
              <a:rPr lang="en-US" dirty="0"/>
              <a:t>, пояснюваність, приватність — залишаються відкритими дослідницькими питаннями і визначають перспективи наукових досліджень. Майбутнє галузі лежить у поєднанні потужності </a:t>
            </a:r>
            <a:r>
              <a:rPr lang="en-US" b="1" dirty="0"/>
              <a:t>LLM</a:t>
            </a:r>
            <a:r>
              <a:rPr lang="en-US" dirty="0"/>
              <a:t> з </a:t>
            </a:r>
            <a:r>
              <a:rPr lang="uk-UA" dirty="0"/>
              <a:t>іншими моделями</a:t>
            </a:r>
            <a:r>
              <a:rPr lang="en-US" dirty="0"/>
              <a:t>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7547592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819945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079202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6957880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6442024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806437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5008045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8041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592556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500346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176546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81546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56439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4.svg"/><Relationship Id="rId18" Type="http://schemas.openxmlformats.org/officeDocument/2006/relationships/image" Target="../media/image19.svg"/><Relationship Id="rId3" Type="http://schemas.openxmlformats.org/officeDocument/2006/relationships/image" Target="../media/image4.png"/><Relationship Id="rId7" Type="http://schemas.openxmlformats.org/officeDocument/2006/relationships/image" Target="../media/image9.svg"/><Relationship Id="rId12" Type="http://schemas.openxmlformats.org/officeDocument/2006/relationships/image" Target="../media/image13.png"/><Relationship Id="rId17" Type="http://schemas.openxmlformats.org/officeDocument/2006/relationships/image" Target="../media/image18.sv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7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2.png"/><Relationship Id="rId5" Type="http://schemas.openxmlformats.org/officeDocument/2006/relationships/image" Target="../media/image8.svg"/><Relationship Id="rId15" Type="http://schemas.openxmlformats.org/officeDocument/2006/relationships/image" Target="../media/image16.jpg"/><Relationship Id="rId10" Type="http://schemas.openxmlformats.org/officeDocument/2006/relationships/image" Target="../media/image11.svg"/><Relationship Id="rId4" Type="http://schemas.openxmlformats.org/officeDocument/2006/relationships/image" Target="../media/image5.png"/><Relationship Id="rId9" Type="http://schemas.openxmlformats.org/officeDocument/2006/relationships/image" Target="../media/image3.png"/><Relationship Id="rId1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2.png"/><Relationship Id="rId4" Type="http://schemas.openxmlformats.org/officeDocument/2006/relationships/image" Target="../media/image21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 dirty="0"/>
          </a:p>
        </p:txBody>
      </p:sp>
      <p:sp>
        <p:nvSpPr>
          <p:cNvPr id="6" name="Shape 4"/>
          <p:cNvSpPr/>
          <p:nvPr/>
        </p:nvSpPr>
        <p:spPr>
          <a:xfrm>
            <a:off x="165811" y="3790714"/>
            <a:ext cx="65649" cy="86069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 dirty="0"/>
          </a:p>
        </p:txBody>
      </p:sp>
      <p:sp>
        <p:nvSpPr>
          <p:cNvPr id="7" name="Text 5"/>
          <p:cNvSpPr/>
          <p:nvPr/>
        </p:nvSpPr>
        <p:spPr>
          <a:xfrm>
            <a:off x="981724" y="1968239"/>
            <a:ext cx="727534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2800" b="1" noProof="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Рекомендаційні</a:t>
            </a:r>
            <a:r>
              <a:rPr lang="en-US" sz="28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2800" b="1" noProof="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</a:t>
            </a:r>
            <a:r>
              <a:rPr lang="en-US" sz="28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uk-UA" sz="28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теоретичні підходи</a:t>
            </a:r>
            <a:r>
              <a:rPr lang="en-US" sz="28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1076939" y="2641627"/>
            <a:ext cx="2194560" cy="502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 dirty="0"/>
          </a:p>
        </p:txBody>
      </p:sp>
      <p:sp>
        <p:nvSpPr>
          <p:cNvPr id="15" name="Text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Львів 2026</a:t>
            </a:r>
            <a:endParaRPr lang="en-US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0AF20D-B4FA-A133-8D0B-41F858E5D251}"/>
              </a:ext>
            </a:extLst>
          </p:cNvPr>
          <p:cNvSpPr txBox="1"/>
          <p:nvPr/>
        </p:nvSpPr>
        <p:spPr>
          <a:xfrm>
            <a:off x="165811" y="123478"/>
            <a:ext cx="8812378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uk-UA" sz="1050" b="1" dirty="0">
                <a:effectLst/>
                <a:ea typeface="Times New Roman" panose="02020603050405020304" pitchFamily="18" charset="0"/>
              </a:rPr>
              <a:t>МІНІСТЕРСТВО ОСВІТИ І НАУКИ УКРАЇНИ</a:t>
            </a:r>
            <a:endParaRPr lang="uk-UA" sz="1050" dirty="0">
              <a:effectLst/>
              <a:ea typeface="Times New Roman" panose="02020603050405020304" pitchFamily="18" charset="0"/>
            </a:endParaRPr>
          </a:p>
          <a:p>
            <a:pPr algn="ctr"/>
            <a:r>
              <a:rPr lang="uk-UA" sz="1050" b="1" dirty="0">
                <a:effectLst/>
                <a:ea typeface="Times New Roman" panose="02020603050405020304" pitchFamily="18" charset="0"/>
              </a:rPr>
              <a:t>ЛЬВІВСЬКИЙ НАЦІОНАЛЬНИЙ УНІВЕРСИТЕТ ІМЕНІ ІВАНА ФРАНКА</a:t>
            </a:r>
          </a:p>
          <a:p>
            <a:pPr algn="ctr"/>
            <a:r>
              <a:rPr lang="uk-UA" sz="1200" dirty="0">
                <a:effectLst/>
                <a:ea typeface="Times New Roman" panose="02020603050405020304" pitchFamily="18" charset="0"/>
              </a:rPr>
              <a:t>Факультет прикладної математики та інформатики</a:t>
            </a:r>
            <a:endParaRPr lang="uk-UA" sz="1200" b="1" dirty="0">
              <a:ea typeface="Times New Roman" panose="02020603050405020304" pitchFamily="18" charset="0"/>
            </a:endParaRPr>
          </a:p>
          <a:p>
            <a:pPr algn="ctr"/>
            <a:r>
              <a:rPr lang="uk-UA" sz="1200" dirty="0">
                <a:effectLst/>
                <a:ea typeface="Times New Roman" panose="02020603050405020304" pitchFamily="18" charset="0"/>
              </a:rPr>
              <a:t>Кафедра дискретного аналізу та інформаційних систем</a:t>
            </a:r>
          </a:p>
        </p:txBody>
      </p:sp>
      <p:sp>
        <p:nvSpPr>
          <p:cNvPr id="23" name="Підзаголовок 2">
            <a:extLst>
              <a:ext uri="{FF2B5EF4-FFF2-40B4-BE49-F238E27FC236}">
                <a16:creationId xmlns:a16="http://schemas.microsoft.com/office/drawing/2014/main" id="{1E87CA1B-BBA6-6651-4B6A-4910CC291CED}"/>
              </a:ext>
            </a:extLst>
          </p:cNvPr>
          <p:cNvSpPr txBox="1">
            <a:spLocks/>
          </p:cNvSpPr>
          <p:nvPr/>
        </p:nvSpPr>
        <p:spPr>
          <a:xfrm>
            <a:off x="2074503" y="4876006"/>
            <a:ext cx="5089785" cy="26749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uk-UA" sz="1200" dirty="0">
                <a:solidFill>
                  <a:schemeClr val="tx1"/>
                </a:solidFill>
              </a:rPr>
              <a:t>м. Львів - </a:t>
            </a:r>
            <a:r>
              <a:rPr lang="en-US" sz="1200" dirty="0">
                <a:solidFill>
                  <a:schemeClr val="tx1"/>
                </a:solidFill>
              </a:rPr>
              <a:t>2026</a:t>
            </a:r>
            <a:endParaRPr lang="uk-UA" sz="1200" dirty="0">
              <a:solidFill>
                <a:schemeClr val="tx1"/>
              </a:solidFill>
            </a:endParaRPr>
          </a:p>
        </p:txBody>
      </p:sp>
      <p:sp>
        <p:nvSpPr>
          <p:cNvPr id="24" name="Підзаголовок 2">
            <a:extLst>
              <a:ext uri="{FF2B5EF4-FFF2-40B4-BE49-F238E27FC236}">
                <a16:creationId xmlns:a16="http://schemas.microsoft.com/office/drawing/2014/main" id="{F68161B1-D8AD-32E8-5196-FE052F16628B}"/>
              </a:ext>
            </a:extLst>
          </p:cNvPr>
          <p:cNvSpPr txBox="1">
            <a:spLocks/>
          </p:cNvSpPr>
          <p:nvPr/>
        </p:nvSpPr>
        <p:spPr>
          <a:xfrm>
            <a:off x="237391" y="3832843"/>
            <a:ext cx="2469960" cy="10801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uk-UA" sz="1400" b="1" dirty="0">
                <a:solidFill>
                  <a:schemeClr val="tx1"/>
                </a:solidFill>
              </a:rPr>
              <a:t>Доповідач:</a:t>
            </a:r>
          </a:p>
          <a:p>
            <a:pPr algn="l"/>
            <a:r>
              <a:rPr lang="uk-UA" sz="1400" dirty="0">
                <a:solidFill>
                  <a:schemeClr val="tx1"/>
                </a:solidFill>
              </a:rPr>
              <a:t>аспірант</a:t>
            </a:r>
          </a:p>
          <a:p>
            <a:pPr algn="l"/>
            <a:r>
              <a:rPr lang="uk-UA" sz="1400" dirty="0">
                <a:solidFill>
                  <a:schemeClr val="tx1"/>
                </a:solidFill>
              </a:rPr>
              <a:t>Романюк Богдан </a:t>
            </a:r>
            <a:r>
              <a:rPr lang="uk-UA" sz="1400" dirty="0" err="1">
                <a:solidFill>
                  <a:schemeClr val="tx1"/>
                </a:solidFill>
              </a:rPr>
              <a:t>Ігорович</a:t>
            </a:r>
            <a:endParaRPr lang="uk-UA" sz="1400" dirty="0">
              <a:solidFill>
                <a:schemeClr val="tx1"/>
              </a:solidFill>
            </a:endParaRPr>
          </a:p>
        </p:txBody>
      </p:sp>
      <p:pic>
        <p:nvPicPr>
          <p:cNvPr id="27" name="Picture 2" descr="ЛНУ Франка - Академія фінансового моніторингу">
            <a:extLst>
              <a:ext uri="{FF2B5EF4-FFF2-40B4-BE49-F238E27FC236}">
                <a16:creationId xmlns:a16="http://schemas.microsoft.com/office/drawing/2014/main" id="{9A93A6F0-2833-F570-8752-376A6BFDFE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5341" y="941066"/>
            <a:ext cx="753317" cy="784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300" b="1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таке рекомендаційна система?</a:t>
            </a:r>
            <a:endParaRPr lang="uk-UA" sz="2300" noProof="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0" y="771433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Визначення: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4663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50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0" y="1884892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компоненти: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1887" y="2113321"/>
            <a:ext cx="5463657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 — суб'єкти, для яких генеруються рекомендації</a:t>
            </a:r>
            <a:endParaRPr lang="uk-UA" sz="125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Об'єкти — товари, контент або послуги, що рекомендуються</a:t>
            </a:r>
            <a:endParaRPr lang="uk-UA" sz="125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Взаємодії — оцінки, кліки, покупки, тривалість перегляду</a:t>
            </a:r>
            <a:endParaRPr lang="uk-UA" sz="125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 — модель, що прогнозує цінність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для користувача</a:t>
            </a:r>
            <a:endParaRPr lang="uk-UA" sz="125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Інтерфейс — спосіб подачі рекомендацій: карусель, список, </a:t>
            </a:r>
            <a:r>
              <a:rPr lang="uk-UA" sz="1250" noProof="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тощо.</a:t>
            </a:r>
            <a:endParaRPr lang="uk-UA" sz="1250" noProof="0" dirty="0"/>
          </a:p>
        </p:txBody>
      </p:sp>
      <p:sp>
        <p:nvSpPr>
          <p:cNvPr id="9" name="Shape 7"/>
          <p:cNvSpPr/>
          <p:nvPr/>
        </p:nvSpPr>
        <p:spPr>
          <a:xfrm>
            <a:off x="5532120" y="850392"/>
            <a:ext cx="32918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B6CB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0" name="Shape 8"/>
          <p:cNvSpPr/>
          <p:nvPr/>
        </p:nvSpPr>
        <p:spPr>
          <a:xfrm>
            <a:off x="5532120" y="850392"/>
            <a:ext cx="109728" cy="114300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1" name="Text 9"/>
          <p:cNvSpPr/>
          <p:nvPr/>
        </p:nvSpPr>
        <p:spPr>
          <a:xfrm>
            <a:off x="5715000" y="941832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Дані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715000" y="128016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400" noProof="0" dirty="0"/>
              <a:t>Оцінки, кліки, покупки</a:t>
            </a:r>
            <a:r>
              <a:rPr lang="en-US" sz="1400" dirty="0"/>
              <a:t>, </a:t>
            </a:r>
            <a:r>
              <a:rPr lang="uk-UA" sz="1400" noProof="0" dirty="0"/>
              <a:t>демографія</a:t>
            </a:r>
            <a:r>
              <a:rPr lang="uk-UA" sz="1400" dirty="0"/>
              <a:t> та контекстна інформація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970395" y="1993392"/>
            <a:ext cx="299085" cy="237744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32120" y="2221992"/>
            <a:ext cx="32918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5" name="Shape 13"/>
          <p:cNvSpPr/>
          <p:nvPr/>
        </p:nvSpPr>
        <p:spPr>
          <a:xfrm>
            <a:off x="5532120" y="2221992"/>
            <a:ext cx="109728" cy="1143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6" name="Text 14"/>
          <p:cNvSpPr/>
          <p:nvPr/>
        </p:nvSpPr>
        <p:spPr>
          <a:xfrm>
            <a:off x="5715000" y="2313432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715000" y="265176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400" noProof="0" dirty="0"/>
              <a:t>Алгоритм</a:t>
            </a:r>
            <a:r>
              <a:rPr lang="en-US" sz="1400" dirty="0"/>
              <a:t> </a:t>
            </a:r>
            <a:r>
              <a:rPr lang="uk-UA" sz="1400" noProof="0" dirty="0"/>
              <a:t>аналізу</a:t>
            </a:r>
            <a:r>
              <a:rPr lang="uk-UA" sz="1400" dirty="0"/>
              <a:t> даних </a:t>
            </a:r>
            <a:r>
              <a:rPr lang="uk-UA" sz="1400" noProof="0" dirty="0"/>
              <a:t>та прогнозування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970395" y="3371469"/>
            <a:ext cx="320040" cy="256032"/>
          </a:xfrm>
          <a:prstGeom prst="rect">
            <a:avLst/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532120" y="3593592"/>
            <a:ext cx="32918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0" name="Shape 18"/>
          <p:cNvSpPr/>
          <p:nvPr/>
        </p:nvSpPr>
        <p:spPr>
          <a:xfrm>
            <a:off x="5532120" y="3593592"/>
            <a:ext cx="109728" cy="11430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1" name="Text 19"/>
          <p:cNvSpPr/>
          <p:nvPr/>
        </p:nvSpPr>
        <p:spPr>
          <a:xfrm>
            <a:off x="5715000" y="3685032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Рекомендація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15000" y="402336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400" dirty="0"/>
              <a:t>Список </a:t>
            </a:r>
            <a:r>
              <a:rPr lang="uk-UA" sz="1400" dirty="0" err="1"/>
              <a:t>top</a:t>
            </a:r>
            <a:r>
              <a:rPr lang="uk-UA" sz="1400" dirty="0"/>
              <a:t>-k релевантних об'єктів</a:t>
            </a:r>
          </a:p>
        </p:txBody>
      </p:sp>
      <p:sp>
        <p:nvSpPr>
          <p:cNvPr id="23" name="Shape 7">
            <a:extLst>
              <a:ext uri="{FF2B5EF4-FFF2-40B4-BE49-F238E27FC236}">
                <a16:creationId xmlns:a16="http://schemas.microsoft.com/office/drawing/2014/main" id="{57908B1E-F80C-8222-3F85-474039E43BDD}"/>
              </a:ext>
            </a:extLst>
          </p:cNvPr>
          <p:cNvSpPr/>
          <p:nvPr/>
        </p:nvSpPr>
        <p:spPr>
          <a:xfrm>
            <a:off x="193166" y="1087314"/>
            <a:ext cx="5110353" cy="770620"/>
          </a:xfrm>
          <a:prstGeom prst="rect">
            <a:avLst/>
          </a:prstGeom>
          <a:solidFill>
            <a:srgbClr val="FFFFFF"/>
          </a:solidFill>
          <a:ln w="12700">
            <a:solidFill>
              <a:srgbClr val="2B6CB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r>
              <a:rPr lang="uk-UA" sz="1400" noProof="0" dirty="0">
                <a:solidFill>
                  <a:srgbClr val="0070C0"/>
                </a:solidFill>
                <a:ea typeface="Calibri" pitchFamily="34" charset="-122"/>
                <a:cs typeface="Calibri" pitchFamily="34" charset="-120"/>
              </a:rPr>
              <a:t>Рекомендаційна система — інформаційно-фільтруюча система, що автоматично </a:t>
            </a:r>
            <a:r>
              <a:rPr lang="uk-UA" sz="1400" dirty="0">
                <a:solidFill>
                  <a:srgbClr val="0070C0"/>
                </a:solidFill>
                <a:ea typeface="Calibri" pitchFamily="34" charset="-122"/>
                <a:cs typeface="Calibri" pitchFamily="34" charset="-120"/>
              </a:rPr>
              <a:t>аналізує</a:t>
            </a:r>
            <a:r>
              <a:rPr lang="uk-UA" sz="1400" noProof="0" dirty="0">
                <a:solidFill>
                  <a:srgbClr val="0070C0"/>
                </a:solidFill>
                <a:ea typeface="Calibri" pitchFamily="34" charset="-122"/>
                <a:cs typeface="Calibri" pitchFamily="34" charset="-120"/>
              </a:rPr>
              <a:t> вподобання користувача та пропонує релевантні об'єкти з великого каталогу елементів.</a:t>
            </a:r>
            <a:endParaRPr lang="uk-UA" sz="1400" noProof="0" dirty="0">
              <a:solidFill>
                <a:srgbClr val="0070C0"/>
              </a:solidFill>
            </a:endParaRPr>
          </a:p>
          <a:p>
            <a:endParaRPr lang="uk-UA" sz="1400" noProof="0" dirty="0">
              <a:solidFill>
                <a:srgbClr val="0070C0"/>
              </a:solidFill>
            </a:endParaRPr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69D5E27C-3EF8-2564-CB4A-4588725B684C}"/>
              </a:ext>
            </a:extLst>
          </p:cNvPr>
          <p:cNvSpPr/>
          <p:nvPr/>
        </p:nvSpPr>
        <p:spPr>
          <a:xfrm>
            <a:off x="94869" y="1087313"/>
            <a:ext cx="98298" cy="77062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399F5D85-D3CD-E1C8-1856-B677F267778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8367" y="3388095"/>
            <a:ext cx="2633108" cy="175540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 теми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320040" y="850392"/>
            <a:ext cx="20116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320040" y="850392"/>
            <a:ext cx="20116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393192" y="1216152"/>
            <a:ext cx="18653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93192" y="1627632"/>
            <a:ext cx="18653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Доходів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Amazon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рекомендацій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468880" y="850392"/>
            <a:ext cx="20116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9" name="Shape 7"/>
          <p:cNvSpPr/>
          <p:nvPr/>
        </p:nvSpPr>
        <p:spPr>
          <a:xfrm>
            <a:off x="2468880" y="850392"/>
            <a:ext cx="201168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0" name="Text 8"/>
          <p:cNvSpPr/>
          <p:nvPr/>
        </p:nvSpPr>
        <p:spPr>
          <a:xfrm>
            <a:off x="2542032" y="1207008"/>
            <a:ext cx="18653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542032" y="1627632"/>
            <a:ext cx="18653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Переглядів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Netflix</a:t>
            </a:r>
            <a:endParaRPr lang="en-US" sz="1050" dirty="0"/>
          </a:p>
          <a:p>
            <a:pPr marL="0" indent="0" algn="ctr">
              <a:buNone/>
            </a:pPr>
            <a:r>
              <a:rPr lang="uk-UA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завдяки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05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рекомендації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17720" y="882396"/>
            <a:ext cx="20116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3" name="Shape 11"/>
          <p:cNvSpPr/>
          <p:nvPr/>
        </p:nvSpPr>
        <p:spPr>
          <a:xfrm>
            <a:off x="4617720" y="850392"/>
            <a:ext cx="2011680" cy="73152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Text 12"/>
          <p:cNvSpPr/>
          <p:nvPr/>
        </p:nvSpPr>
        <p:spPr>
          <a:xfrm>
            <a:off x="4690872" y="1203960"/>
            <a:ext cx="18653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1.7B+</a:t>
            </a:r>
            <a:endParaRPr lang="en-US" sz="3000" dirty="0">
              <a:solidFill>
                <a:srgbClr val="FF0000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4690872" y="1728216"/>
            <a:ext cx="18653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r>
              <a:rPr lang="uk-UA" sz="105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</a:t>
            </a:r>
            <a:endParaRPr lang="uk-UA" sz="1050" noProof="0" dirty="0"/>
          </a:p>
          <a:p>
            <a:pPr marL="0" indent="0" algn="ctr">
              <a:buNone/>
            </a:pPr>
            <a:r>
              <a:rPr lang="uk-UA" sz="105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щодня отримують </a:t>
            </a:r>
            <a:r>
              <a:rPr lang="uk-UA" sz="105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</a:t>
            </a:r>
            <a:r>
              <a:rPr lang="uk-UA" sz="10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ації</a:t>
            </a:r>
            <a:endParaRPr lang="uk-UA" sz="1050" noProof="0" dirty="0"/>
          </a:p>
        </p:txBody>
      </p:sp>
      <p:sp>
        <p:nvSpPr>
          <p:cNvPr id="16" name="Shape 14"/>
          <p:cNvSpPr/>
          <p:nvPr/>
        </p:nvSpPr>
        <p:spPr>
          <a:xfrm>
            <a:off x="6766560" y="850392"/>
            <a:ext cx="20116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6766560" y="850392"/>
            <a:ext cx="2011680" cy="73152"/>
          </a:xfrm>
          <a:prstGeom prst="rect">
            <a:avLst/>
          </a:prstGeom>
          <a:solidFill>
            <a:srgbClr val="1ED760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6839712" y="1207008"/>
            <a:ext cx="18653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D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3000" dirty="0">
              <a:solidFill>
                <a:srgbClr val="1ED760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6839712" y="1627632"/>
            <a:ext cx="18653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0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Відтворень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Spotify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персональних плейлистів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92608" y="239572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це важливо для дослідника: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6616" y="2688336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b="1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Рекомендаційні системи </a:t>
            </a: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одна з найбільш економічно значущих технологій сучасних цифрових платформ генерують мільярди доларів прибутку щороку</a:t>
            </a:r>
            <a:endParaRPr lang="uk-UA" sz="125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Активна наукова спільнота: щорічна конференція </a:t>
            </a:r>
            <a:r>
              <a:rPr lang="en-US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 </a:t>
            </a:r>
            <a:r>
              <a:rPr lang="en-US" sz="1250" noProof="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RecSys</a:t>
            </a: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тематичні секції на </a:t>
            </a:r>
            <a:r>
              <a:rPr lang="en-US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KDD, WWW, SIGIR, </a:t>
            </a:r>
            <a:r>
              <a:rPr lang="en-US" sz="1250" noProof="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NeurIPS</a:t>
            </a:r>
            <a:r>
              <a:rPr lang="en-US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ICML</a:t>
            </a:r>
            <a:endParaRPr lang="en-US" sz="125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b="1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Перетин дисциплін: </a:t>
            </a: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математика (лінійна алгебра, теорія ймовірностей), ML, NLP, графові методи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етика</a:t>
            </a:r>
            <a:endParaRPr lang="uk-UA" sz="125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Відкриті задачі: </a:t>
            </a:r>
          </a:p>
          <a:p>
            <a:pPr marL="742950" lvl="1" indent="-285750">
              <a:spcAft>
                <a:spcPts val="600"/>
              </a:spcAft>
              <a:buSzPct val="100000"/>
              <a:buFont typeface="Wingdings" panose="05000000000000000000" pitchFamily="2" charset="2"/>
              <a:buChar char="q"/>
            </a:pPr>
            <a:r>
              <a:rPr lang="uk-UA" sz="1250" noProof="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Пояснюваність</a:t>
            </a:r>
            <a:endParaRPr lang="uk-UA" sz="1250" dirty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742950" lvl="1" indent="-285750">
              <a:spcAft>
                <a:spcPts val="600"/>
              </a:spcAft>
              <a:buSzPct val="100000"/>
              <a:buFont typeface="Wingdings" panose="05000000000000000000" pitchFamily="2" charset="2"/>
              <a:buChar char="q"/>
            </a:pP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Справедливість</a:t>
            </a:r>
          </a:p>
          <a:p>
            <a:pPr marL="742950" lvl="1" indent="-285750">
              <a:spcAft>
                <a:spcPts val="600"/>
              </a:spcAft>
              <a:buSzPct val="100000"/>
              <a:buFont typeface="Wingdings" panose="05000000000000000000" pitchFamily="2" charset="2"/>
              <a:buChar char="q"/>
            </a:pPr>
            <a:r>
              <a:rPr lang="uk-UA" sz="1250" noProof="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Приватність</a:t>
            </a:r>
            <a:endParaRPr lang="uk-UA" sz="1250" dirty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742950" lvl="1" indent="-285750">
              <a:spcAft>
                <a:spcPts val="600"/>
              </a:spcAft>
              <a:buSzPct val="100000"/>
              <a:buFont typeface="Wingdings" panose="05000000000000000000" pitchFamily="2" charset="2"/>
              <a:buChar char="q"/>
            </a:pP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</a:t>
            </a:r>
            <a:r>
              <a:rPr lang="uk-UA" sz="1250" noProof="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овгострокова</a:t>
            </a: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оптимізація залученості</a:t>
            </a:r>
            <a:endParaRPr lang="uk-UA" sz="1250" noProof="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3B59E87-266F-8D07-E47F-11E1742626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839" y="1026096"/>
            <a:ext cx="992387" cy="29978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15DC011F-24A2-CE87-693B-A80E1B5159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2055" y="996696"/>
            <a:ext cx="1068511" cy="288832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4AA76AB-7C19-9B15-1790-A881FC734E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9408" y="996696"/>
            <a:ext cx="1228304" cy="27514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07985DDE-139E-95A6-46C1-D719947E79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87368" y="942368"/>
            <a:ext cx="1211416" cy="364687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8974A82-9611-8BCA-82E7-1BB76BB7F2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62728" y="3995015"/>
            <a:ext cx="3553968" cy="5321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використовуються рекомендаційні системи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2697480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269748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429768" y="9875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🎬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78408" y="10058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Відеоплатформи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78408" y="1298448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Netflix, YouTube, Disney+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34340" y="152704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рекомендують: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29768" y="1664208"/>
            <a:ext cx="2377204" cy="3343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Фільми, серіали, кліпи за інтересами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72968" y="822960"/>
            <a:ext cx="2697480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2" name="Shape 10"/>
          <p:cNvSpPr/>
          <p:nvPr/>
        </p:nvSpPr>
        <p:spPr>
          <a:xfrm>
            <a:off x="3172968" y="822960"/>
            <a:ext cx="2697480" cy="731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1"/>
          <p:cNvSpPr/>
          <p:nvPr/>
        </p:nvSpPr>
        <p:spPr>
          <a:xfrm>
            <a:off x="3282696" y="9875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🎵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831336" y="10058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Стрімінг музики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831336" y="1298448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Spotify, Apple Music, Deezer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282696" y="1548384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рекомендують: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282696" y="1659636"/>
            <a:ext cx="2468880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Треки, плейлисти, нові виконавці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025896" y="822960"/>
            <a:ext cx="2697480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9" name="Shape 17"/>
          <p:cNvSpPr/>
          <p:nvPr/>
        </p:nvSpPr>
        <p:spPr>
          <a:xfrm>
            <a:off x="6025896" y="822960"/>
            <a:ext cx="26974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0" name="Text 18"/>
          <p:cNvSpPr/>
          <p:nvPr/>
        </p:nvSpPr>
        <p:spPr>
          <a:xfrm>
            <a:off x="6135624" y="9875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🛍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684264" y="10058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684264" y="1298448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Amazon, </a:t>
            </a:r>
            <a:r>
              <a:rPr lang="en-US" sz="10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ebay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Rozetka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135624" y="155448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рекомендують: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135624" y="1696212"/>
            <a:ext cx="24688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Товари, аксесуари, комплектуючі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" y="2880360"/>
            <a:ext cx="2697480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6" name="Shape 24"/>
          <p:cNvSpPr/>
          <p:nvPr/>
        </p:nvSpPr>
        <p:spPr>
          <a:xfrm>
            <a:off x="320040" y="2880360"/>
            <a:ext cx="2697480" cy="7315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7" name="Text 25"/>
          <p:cNvSpPr/>
          <p:nvPr/>
        </p:nvSpPr>
        <p:spPr>
          <a:xfrm>
            <a:off x="429768" y="3044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📰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978408" y="30632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Новини та медіа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78408" y="3355848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News, Flipboard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20624" y="360110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рекомендують: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20624" y="3814468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Статті за темами, джерела, тренди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172968" y="2880360"/>
            <a:ext cx="2697480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3" name="Shape 31"/>
          <p:cNvSpPr/>
          <p:nvPr/>
        </p:nvSpPr>
        <p:spPr>
          <a:xfrm>
            <a:off x="3172968" y="2880360"/>
            <a:ext cx="26974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4" name="Text 32"/>
          <p:cNvSpPr/>
          <p:nvPr/>
        </p:nvSpPr>
        <p:spPr>
          <a:xfrm>
            <a:off x="3282696" y="3044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👥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3831336" y="30632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Соцмережі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831336" y="3355848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Instagram, TikTok, Facebook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282696" y="361188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рекомендують: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282696" y="3802380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Контент, рекламу, нових друзів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025896" y="2880360"/>
            <a:ext cx="2697480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40" name="Shape 38"/>
          <p:cNvSpPr/>
          <p:nvPr/>
        </p:nvSpPr>
        <p:spPr>
          <a:xfrm>
            <a:off x="6025896" y="2880360"/>
            <a:ext cx="2697480" cy="73152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1" name="Text 39"/>
          <p:cNvSpPr/>
          <p:nvPr/>
        </p:nvSpPr>
        <p:spPr>
          <a:xfrm>
            <a:off x="6135624" y="3044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🏨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684264" y="30632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Подорожі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684264" y="3355848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Booking, Airbnb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135624" y="360730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рекомендують: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135624" y="3832756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Готелі, квартири, напрямки</a:t>
            </a:r>
            <a:endParaRPr lang="en-US" sz="1050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A9599F6E-AC94-CA20-E8DF-537E58D6F8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615" y="2045021"/>
            <a:ext cx="631034" cy="170577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5D89E7A-0D96-5EFA-8FA8-8E219665EE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9546" y="2066466"/>
            <a:ext cx="797132" cy="178557"/>
          </a:xfrm>
          <a:prstGeom prst="rect">
            <a:avLst/>
          </a:prstGeom>
        </p:spPr>
      </p:pic>
      <p:pic>
        <p:nvPicPr>
          <p:cNvPr id="49" name="Graphic 48">
            <a:extLst>
              <a:ext uri="{FF2B5EF4-FFF2-40B4-BE49-F238E27FC236}">
                <a16:creationId xmlns:a16="http://schemas.microsoft.com/office/drawing/2014/main" id="{ADFE5AE4-8E22-8872-E574-A3E075DFD1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52231" y="2233438"/>
            <a:ext cx="666663" cy="36183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2D747EDE-2166-D2F8-1725-05E749A588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65067" y="2034540"/>
            <a:ext cx="799104" cy="240564"/>
          </a:xfrm>
          <a:prstGeom prst="rect">
            <a:avLst/>
          </a:prstGeom>
        </p:spPr>
      </p:pic>
      <p:pic>
        <p:nvPicPr>
          <p:cNvPr id="52" name="Graphic 51">
            <a:extLst>
              <a:ext uri="{FF2B5EF4-FFF2-40B4-BE49-F238E27FC236}">
                <a16:creationId xmlns:a16="http://schemas.microsoft.com/office/drawing/2014/main" id="{3190B660-756B-1753-D9AE-0670D784E3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32826" y="2264181"/>
            <a:ext cx="330150" cy="33015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81822E41-EB82-CBBD-BA5D-AE2DA6151CB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18424" y="2034540"/>
            <a:ext cx="983369" cy="272988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29CEEF86-E0C4-0ABC-E24A-09643A4CDBA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88070" y="2067036"/>
            <a:ext cx="662677" cy="200184"/>
          </a:xfrm>
          <a:prstGeom prst="rect">
            <a:avLst/>
          </a:prstGeom>
        </p:spPr>
      </p:pic>
      <p:pic>
        <p:nvPicPr>
          <p:cNvPr id="57" name="Graphic 56">
            <a:extLst>
              <a:ext uri="{FF2B5EF4-FFF2-40B4-BE49-F238E27FC236}">
                <a16:creationId xmlns:a16="http://schemas.microsoft.com/office/drawing/2014/main" id="{9F544121-745C-875F-3D06-D3C3B87E26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930306" y="2275104"/>
            <a:ext cx="782163" cy="313647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3DEE7086-08BC-EE89-6BC3-2ED4852DF11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26096" y="2018792"/>
            <a:ext cx="978408" cy="226231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68C80CE5-869D-B8BA-B105-3CB497B63EE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7300" y="4062005"/>
            <a:ext cx="922215" cy="692061"/>
          </a:xfrm>
          <a:prstGeom prst="rect">
            <a:avLst/>
          </a:prstGeom>
        </p:spPr>
      </p:pic>
      <p:pic>
        <p:nvPicPr>
          <p:cNvPr id="63" name="Graphic 62">
            <a:extLst>
              <a:ext uri="{FF2B5EF4-FFF2-40B4-BE49-F238E27FC236}">
                <a16:creationId xmlns:a16="http://schemas.microsoft.com/office/drawing/2014/main" id="{8AB0EEC4-8054-A4E6-CDF5-0CC502A6FE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43423" y="4255995"/>
            <a:ext cx="1121299" cy="22130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DA836E6F-E2D3-9CE8-A6A2-1C37FB007FB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52038" y="4160574"/>
            <a:ext cx="467155" cy="467155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B3ACC3B0-3340-F36D-7AAE-3FF7414DFFB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46822" y="4177997"/>
            <a:ext cx="432308" cy="432308"/>
          </a:xfrm>
          <a:prstGeom prst="rect">
            <a:avLst/>
          </a:prstGeom>
        </p:spPr>
      </p:pic>
      <p:pic>
        <p:nvPicPr>
          <p:cNvPr id="69" name="Graphic 68">
            <a:extLst>
              <a:ext uri="{FF2B5EF4-FFF2-40B4-BE49-F238E27FC236}">
                <a16:creationId xmlns:a16="http://schemas.microsoft.com/office/drawing/2014/main" id="{D21ADC9C-4BA4-9007-7220-4523C30CB3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106759" y="4160574"/>
            <a:ext cx="467155" cy="467155"/>
          </a:xfrm>
          <a:prstGeom prst="rect">
            <a:avLst/>
          </a:prstGeom>
        </p:spPr>
      </p:pic>
      <p:pic>
        <p:nvPicPr>
          <p:cNvPr id="71" name="Graphic 70">
            <a:extLst>
              <a:ext uri="{FF2B5EF4-FFF2-40B4-BE49-F238E27FC236}">
                <a16:creationId xmlns:a16="http://schemas.microsoft.com/office/drawing/2014/main" id="{67541F47-2F78-5F81-996F-CE2262C08A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9408" y="4160574"/>
            <a:ext cx="444246" cy="444246"/>
          </a:xfrm>
          <a:prstGeom prst="rect">
            <a:avLst/>
          </a:prstGeom>
        </p:spPr>
      </p:pic>
      <p:pic>
        <p:nvPicPr>
          <p:cNvPr id="73" name="Graphic 72">
            <a:extLst>
              <a:ext uri="{FF2B5EF4-FFF2-40B4-BE49-F238E27FC236}">
                <a16:creationId xmlns:a16="http://schemas.microsoft.com/office/drawing/2014/main" id="{7BC6D3EB-7162-7396-60AE-A455AB8DC2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271520" y="4214946"/>
            <a:ext cx="1072896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Історія розвитку рекомендаційних систем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320040" y="2331720"/>
            <a:ext cx="8503920" cy="54864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905256" y="2231136"/>
            <a:ext cx="237744" cy="23774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1014984" y="1097280"/>
            <a:ext cx="27432" cy="1133856"/>
          </a:xfrm>
          <a:prstGeom prst="rect">
            <a:avLst/>
          </a:prstGeom>
          <a:solidFill>
            <a:srgbClr val="0D9488">
              <a:alpha val="60000"/>
            </a:srgbClr>
          </a:solidFill>
          <a:ln w="12700">
            <a:solidFill>
              <a:srgbClr val="0D9488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7" name="Shape 5"/>
          <p:cNvSpPr/>
          <p:nvPr/>
        </p:nvSpPr>
        <p:spPr>
          <a:xfrm>
            <a:off x="320040" y="804672"/>
            <a:ext cx="1353312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8" name="Shape 6"/>
          <p:cNvSpPr/>
          <p:nvPr/>
        </p:nvSpPr>
        <p:spPr>
          <a:xfrm>
            <a:off x="320040" y="804672"/>
            <a:ext cx="1353312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9" name="Text 7"/>
          <p:cNvSpPr/>
          <p:nvPr/>
        </p:nvSpPr>
        <p:spPr>
          <a:xfrm>
            <a:off x="374904" y="896112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74904" y="1152144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GroupLens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74904" y="1399032"/>
            <a:ext cx="124358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Перша система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колаборативної фільтрації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новин Usenet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322576" y="2231136"/>
            <a:ext cx="237744" cy="23774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Shape 11"/>
          <p:cNvSpPr/>
          <p:nvPr/>
        </p:nvSpPr>
        <p:spPr>
          <a:xfrm>
            <a:off x="2432304" y="2386584"/>
            <a:ext cx="27432" cy="1005840"/>
          </a:xfrm>
          <a:prstGeom prst="rect">
            <a:avLst/>
          </a:prstGeom>
          <a:solidFill>
            <a:srgbClr val="16A34A">
              <a:alpha val="60000"/>
            </a:srgbClr>
          </a:solidFill>
          <a:ln w="12700">
            <a:solidFill>
              <a:srgbClr val="16A34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Shape 12"/>
          <p:cNvSpPr/>
          <p:nvPr/>
        </p:nvSpPr>
        <p:spPr>
          <a:xfrm>
            <a:off x="1737360" y="3310128"/>
            <a:ext cx="1609344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5" name="Shape 13"/>
          <p:cNvSpPr/>
          <p:nvPr/>
        </p:nvSpPr>
        <p:spPr>
          <a:xfrm>
            <a:off x="1737360" y="3310128"/>
            <a:ext cx="1609344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6" name="Text 14"/>
          <p:cNvSpPr/>
          <p:nvPr/>
        </p:nvSpPr>
        <p:spPr>
          <a:xfrm>
            <a:off x="1792224" y="3401568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792224" y="3657600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737360" y="3904488"/>
            <a:ext cx="160934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«Customers also bought»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фільтрація на основі контенту</a:t>
            </a:r>
            <a:r>
              <a:rPr lang="uk-UA" sz="950" dirty="0"/>
              <a:t> 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сфері електронної комерції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739896" y="2231136"/>
            <a:ext cx="237744" cy="23774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0" name="Shape 18"/>
          <p:cNvSpPr/>
          <p:nvPr/>
        </p:nvSpPr>
        <p:spPr>
          <a:xfrm>
            <a:off x="3849624" y="1097280"/>
            <a:ext cx="27432" cy="1133856"/>
          </a:xfrm>
          <a:prstGeom prst="rect">
            <a:avLst/>
          </a:prstGeom>
          <a:solidFill>
            <a:srgbClr val="7C3AED">
              <a:alpha val="60000"/>
            </a:srgbClr>
          </a:solidFill>
          <a:ln w="12700">
            <a:solidFill>
              <a:srgbClr val="7C3AED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1" name="Shape 19"/>
          <p:cNvSpPr/>
          <p:nvPr/>
        </p:nvSpPr>
        <p:spPr>
          <a:xfrm>
            <a:off x="3035809" y="804672"/>
            <a:ext cx="1472183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2" name="Shape 20"/>
          <p:cNvSpPr/>
          <p:nvPr/>
        </p:nvSpPr>
        <p:spPr>
          <a:xfrm>
            <a:off x="3035809" y="804672"/>
            <a:ext cx="1472183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3" name="Text 21"/>
          <p:cNvSpPr/>
          <p:nvPr/>
        </p:nvSpPr>
        <p:spPr>
          <a:xfrm>
            <a:off x="3035809" y="896112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035808" y="1133856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Netflix/YouTube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035809" y="1399032"/>
            <a:ext cx="151790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Масштабне впровадження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ML-моделей рекомендацій</a:t>
            </a:r>
            <a:endParaRPr lang="en-US" sz="950" dirty="0"/>
          </a:p>
          <a:p>
            <a:pPr marL="0" indent="0">
              <a:buNone/>
            </a:pP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мільярди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157216" y="2231136"/>
            <a:ext cx="237744" cy="23774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7" name="Shape 25"/>
          <p:cNvSpPr/>
          <p:nvPr/>
        </p:nvSpPr>
        <p:spPr>
          <a:xfrm>
            <a:off x="5266944" y="2386584"/>
            <a:ext cx="27432" cy="1005840"/>
          </a:xfrm>
          <a:prstGeom prst="rect">
            <a:avLst/>
          </a:prstGeom>
          <a:solidFill>
            <a:srgbClr val="F59E0B">
              <a:alpha val="60000"/>
            </a:srgbClr>
          </a:solidFill>
          <a:ln w="12700">
            <a:solidFill>
              <a:srgbClr val="F59E0B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8" name="Shape 26"/>
          <p:cNvSpPr/>
          <p:nvPr/>
        </p:nvSpPr>
        <p:spPr>
          <a:xfrm>
            <a:off x="4572000" y="3310128"/>
            <a:ext cx="1481328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9" name="Shape 27"/>
          <p:cNvSpPr/>
          <p:nvPr/>
        </p:nvSpPr>
        <p:spPr>
          <a:xfrm>
            <a:off x="4572000" y="3310128"/>
            <a:ext cx="1481328" cy="45719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0" name="Text 28"/>
          <p:cNvSpPr/>
          <p:nvPr/>
        </p:nvSpPr>
        <p:spPr>
          <a:xfrm>
            <a:off x="4626864" y="3401568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2006–09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626864" y="3657600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Prize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626864" y="3959350"/>
            <a:ext cx="1417320" cy="90525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$1M конкурс — прорив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матричній факторизації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ансамблях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574536" y="223113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4" name="Shape 32"/>
          <p:cNvSpPr/>
          <p:nvPr/>
        </p:nvSpPr>
        <p:spPr>
          <a:xfrm>
            <a:off x="6684264" y="1097280"/>
            <a:ext cx="27432" cy="1133856"/>
          </a:xfrm>
          <a:prstGeom prst="rect">
            <a:avLst/>
          </a:prstGeom>
          <a:solidFill>
            <a:srgbClr val="DC2626">
              <a:alpha val="60000"/>
            </a:srgbClr>
          </a:solidFill>
          <a:ln w="12700">
            <a:solidFill>
              <a:srgbClr val="DC2626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5" name="Shape 33"/>
          <p:cNvSpPr/>
          <p:nvPr/>
        </p:nvSpPr>
        <p:spPr>
          <a:xfrm>
            <a:off x="5989320" y="804672"/>
            <a:ext cx="1353312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6" name="Shape 34"/>
          <p:cNvSpPr/>
          <p:nvPr/>
        </p:nvSpPr>
        <p:spPr>
          <a:xfrm>
            <a:off x="5989320" y="804672"/>
            <a:ext cx="1353312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7" name="Text 35"/>
          <p:cNvSpPr/>
          <p:nvPr/>
        </p:nvSpPr>
        <p:spPr>
          <a:xfrm>
            <a:off x="6044184" y="896112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2016+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044184" y="1152144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044184" y="1399032"/>
            <a:ext cx="124358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NCF, YouTubeDNN,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Wide&amp;Deep, GNN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нейронна ера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991856" y="2231136"/>
            <a:ext cx="237744" cy="237744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1" name="Shape 39"/>
          <p:cNvSpPr/>
          <p:nvPr/>
        </p:nvSpPr>
        <p:spPr>
          <a:xfrm>
            <a:off x="8101584" y="2386584"/>
            <a:ext cx="27432" cy="1005840"/>
          </a:xfrm>
          <a:prstGeom prst="rect">
            <a:avLst/>
          </a:prstGeom>
          <a:solidFill>
            <a:srgbClr val="2B6CB0">
              <a:alpha val="60000"/>
            </a:srgbClr>
          </a:solidFill>
          <a:ln w="12700">
            <a:solidFill>
              <a:srgbClr val="2B6CB0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2" name="Shape 40"/>
          <p:cNvSpPr/>
          <p:nvPr/>
        </p:nvSpPr>
        <p:spPr>
          <a:xfrm>
            <a:off x="7406640" y="3310128"/>
            <a:ext cx="1353312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2B6CB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43" name="Shape 41"/>
          <p:cNvSpPr/>
          <p:nvPr/>
        </p:nvSpPr>
        <p:spPr>
          <a:xfrm>
            <a:off x="7406640" y="3310128"/>
            <a:ext cx="1353312" cy="54864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4" name="Text 42"/>
          <p:cNvSpPr/>
          <p:nvPr/>
        </p:nvSpPr>
        <p:spPr>
          <a:xfrm>
            <a:off x="7461504" y="3401568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2023+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461504" y="3657600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Era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461504" y="3904488"/>
            <a:ext cx="12435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GPT-4, LLaMA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conversational</a:t>
            </a:r>
            <a:endParaRPr lang="en-US" sz="950" dirty="0"/>
          </a:p>
          <a:p>
            <a:pPr marL="0" indent="0">
              <a:buNone/>
            </a:pP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пояснювальні рекомендаційні система</a:t>
            </a:r>
            <a:endParaRPr lang="en-US" sz="950" dirty="0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AFD54EF4-D195-68E0-CA5D-5B7A2ABD37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40" y="2468880"/>
            <a:ext cx="1095375" cy="1095375"/>
          </a:xfrm>
          <a:prstGeom prst="rect">
            <a:avLst/>
          </a:prstGeom>
        </p:spPr>
      </p:pic>
      <p:pic>
        <p:nvPicPr>
          <p:cNvPr id="51" name="Picture 2" descr="The Netflix Prize: How a $1 Million Coding Contest Changed Streaming -  Thrillist">
            <a:extLst>
              <a:ext uri="{FF2B5EF4-FFF2-40B4-BE49-F238E27FC236}">
                <a16:creationId xmlns:a16="http://schemas.microsoft.com/office/drawing/2014/main" id="{B5E5B9F8-F663-4B87-D23D-31872A7A3C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4297" y="1357884"/>
            <a:ext cx="1234439" cy="822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DD4FCCA9-4F3A-BBAD-38D0-C382A6934B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7656" y="950976"/>
            <a:ext cx="1471168" cy="14711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Загальна архітектура рекомендаційної системи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1572768" cy="12801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" name="Text 3"/>
          <p:cNvSpPr/>
          <p:nvPr/>
        </p:nvSpPr>
        <p:spPr>
          <a:xfrm>
            <a:off x="329184" y="914400"/>
            <a:ext cx="1463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Збір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47088" y="13258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029968" y="868680"/>
            <a:ext cx="157276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Text 6"/>
          <p:cNvSpPr/>
          <p:nvPr/>
        </p:nvSpPr>
        <p:spPr>
          <a:xfrm>
            <a:off x="2084832" y="914400"/>
            <a:ext cx="1463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Обробка</a:t>
            </a:r>
            <a:endParaRPr lang="en-US" sz="1300" dirty="0"/>
          </a:p>
          <a:p>
            <a:pPr marL="0" indent="0" algn="ctr">
              <a:buNone/>
            </a:pPr>
            <a:r>
              <a:rPr lang="uk-UA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endParaRPr lang="uk-UA" sz="1300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uk-UA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витягання ознак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02736" y="13258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785616" y="868680"/>
            <a:ext cx="1572768" cy="12801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1" name="Text 9"/>
          <p:cNvSpPr/>
          <p:nvPr/>
        </p:nvSpPr>
        <p:spPr>
          <a:xfrm>
            <a:off x="3840480" y="914400"/>
            <a:ext cx="1463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Навчання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358384" y="13258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541264" y="868680"/>
            <a:ext cx="1572768" cy="1280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Text 12"/>
          <p:cNvSpPr/>
          <p:nvPr/>
        </p:nvSpPr>
        <p:spPr>
          <a:xfrm>
            <a:off x="5596128" y="914400"/>
            <a:ext cx="1463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Генерація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14032" y="13258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296912" y="868680"/>
            <a:ext cx="1572768" cy="12801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7" name="Text 15"/>
          <p:cNvSpPr/>
          <p:nvPr/>
        </p:nvSpPr>
        <p:spPr>
          <a:xfrm>
            <a:off x="7351776" y="914400"/>
            <a:ext cx="1463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та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тестування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74320" y="2212848"/>
            <a:ext cx="157276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Оцінки, кліки, купівлі, тривалість перегляду, пошукові запити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938528" y="2212848"/>
            <a:ext cx="175564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Нормалізація, побудова 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користувача, елементів та контексту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кодування категорій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785616" y="2212848"/>
            <a:ext cx="157276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Навчання 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колаборативної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фільтрації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матричної </a:t>
            </a:r>
            <a:r>
              <a:rPr lang="uk-UA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факторизації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нейромережі або гібридного алгоритму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541264" y="2212848"/>
            <a:ext cx="157276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Генерація та впорядкування рекомендації, ранжування 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фільтрація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296912" y="2212848"/>
            <a:ext cx="157276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Онлайн-оцінка: CTR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Trought-Rate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дохід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залученість користувачів,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статистика значущості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65760" y="294436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підсистеми: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65760" y="3291840"/>
            <a:ext cx="84124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Агрегатор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профілю користувача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агрегує та зберігає дані про вподобання, поведінку та контекст кожного user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елементів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каталог об'єктів з ознаками та </a:t>
            </a:r>
            <a:r>
              <a:rPr lang="uk-UA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ембедінгами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для швидкого пошуку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схожих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Генерація рекомендації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вибір з великого каталогу згідно певних правил та алгоритмів впорядкування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рекомендації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збір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відгуків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оновлення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оцінка метрик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A/B-тестування нових версій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типи даних у рекомендаційних системах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2029968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365760" y="868680"/>
            <a:ext cx="18470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Явні взаємодії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37160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feedback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65760" y="2571750"/>
            <a:ext cx="1847088" cy="21374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Числові оцінки (1–5 зірок)</a:t>
            </a:r>
            <a:endParaRPr lang="en-US" sz="1150" dirty="0"/>
          </a:p>
          <a:p>
            <a:pPr marL="171450" indent="-17145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Лайки / дизлайки</a:t>
            </a:r>
            <a:endParaRPr lang="en-US" sz="1150" dirty="0"/>
          </a:p>
          <a:p>
            <a:pPr marL="171450" indent="-17145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Відгуки та коментарі</a:t>
            </a:r>
            <a:endParaRPr lang="en-US" sz="1150" dirty="0"/>
          </a:p>
          <a:p>
            <a:pPr marL="171450" indent="-17145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Списки вподобань, відтворення, збереженого на потім, тощо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450592" y="822960"/>
            <a:ext cx="2029968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3" name="Text 11"/>
          <p:cNvSpPr/>
          <p:nvPr/>
        </p:nvSpPr>
        <p:spPr>
          <a:xfrm>
            <a:off x="2542032" y="2571750"/>
            <a:ext cx="1847088" cy="21374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Перегляди сторінок та відео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перегляду, </a:t>
            </a:r>
            <a:r>
              <a:rPr lang="uk-UA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прослуховуваня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контенту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Кліки, покупки, додавання в кошик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Пошукові запити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26864" y="822960"/>
            <a:ext cx="2029968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4718304" y="2571750"/>
            <a:ext cx="1847088" cy="21374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Вік, стать, геолокація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Мова та платформа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Пристрій, час доби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Соціальні зв'язки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03136" y="822960"/>
            <a:ext cx="2029968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3" name="Text 21"/>
          <p:cNvSpPr/>
          <p:nvPr/>
        </p:nvSpPr>
        <p:spPr>
          <a:xfrm>
            <a:off x="6894576" y="2571750"/>
            <a:ext cx="1847088" cy="21374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Жанр, категорія, теги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Ціна, рейтинг, вік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опису, зображення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Метадані (рік, автор)</a:t>
            </a:r>
            <a:endParaRPr lang="en-US" sz="1150" dirty="0"/>
          </a:p>
        </p:txBody>
      </p:sp>
      <p:sp>
        <p:nvSpPr>
          <p:cNvPr id="31" name="Shape 3">
            <a:extLst>
              <a:ext uri="{FF2B5EF4-FFF2-40B4-BE49-F238E27FC236}">
                <a16:creationId xmlns:a16="http://schemas.microsoft.com/office/drawing/2014/main" id="{9CB49463-6590-C637-B802-E4934760F374}"/>
              </a:ext>
            </a:extLst>
          </p:cNvPr>
          <p:cNvSpPr/>
          <p:nvPr/>
        </p:nvSpPr>
        <p:spPr>
          <a:xfrm>
            <a:off x="274320" y="822960"/>
            <a:ext cx="2029968" cy="15361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2" name="Shape 4">
            <a:extLst>
              <a:ext uri="{FF2B5EF4-FFF2-40B4-BE49-F238E27FC236}">
                <a16:creationId xmlns:a16="http://schemas.microsoft.com/office/drawing/2014/main" id="{A540E18A-BF20-E27A-DC58-E4DBDD6A0892}"/>
              </a:ext>
            </a:extLst>
          </p:cNvPr>
          <p:cNvSpPr/>
          <p:nvPr/>
        </p:nvSpPr>
        <p:spPr>
          <a:xfrm>
            <a:off x="960120" y="886968"/>
            <a:ext cx="694944" cy="694944"/>
          </a:xfrm>
          <a:prstGeom prst="ellipse">
            <a:avLst/>
          </a:prstGeom>
          <a:solidFill>
            <a:srgbClr val="FFFFFF">
              <a:alpha val="8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pic>
        <p:nvPicPr>
          <p:cNvPr id="33" name="Image 0" descr="/home/claude/icons/icon_explicit.png">
            <a:extLst>
              <a:ext uri="{FF2B5EF4-FFF2-40B4-BE49-F238E27FC236}">
                <a16:creationId xmlns:a16="http://schemas.microsoft.com/office/drawing/2014/main" id="{F88D550A-0AA7-6638-32F9-DEC39B2C95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932688"/>
            <a:ext cx="603504" cy="603504"/>
          </a:xfrm>
          <a:prstGeom prst="rect">
            <a:avLst/>
          </a:prstGeom>
        </p:spPr>
      </p:pic>
      <p:sp>
        <p:nvSpPr>
          <p:cNvPr id="34" name="Text 5">
            <a:extLst>
              <a:ext uri="{FF2B5EF4-FFF2-40B4-BE49-F238E27FC236}">
                <a16:creationId xmlns:a16="http://schemas.microsoft.com/office/drawing/2014/main" id="{C7D6AB5D-D321-0CB8-4AFD-74B3DB5360B0}"/>
              </a:ext>
            </a:extLst>
          </p:cNvPr>
          <p:cNvSpPr/>
          <p:nvPr/>
        </p:nvSpPr>
        <p:spPr>
          <a:xfrm>
            <a:off x="347472" y="1609344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Явні взаємодії</a:t>
            </a:r>
            <a:endParaRPr lang="en-US" sz="1250" dirty="0"/>
          </a:p>
        </p:txBody>
      </p:sp>
      <p:sp>
        <p:nvSpPr>
          <p:cNvPr id="35" name="Text 6">
            <a:extLst>
              <a:ext uri="{FF2B5EF4-FFF2-40B4-BE49-F238E27FC236}">
                <a16:creationId xmlns:a16="http://schemas.microsoft.com/office/drawing/2014/main" id="{68CFDCA2-B139-51C8-B415-2C0AE90202BB}"/>
              </a:ext>
            </a:extLst>
          </p:cNvPr>
          <p:cNvSpPr/>
          <p:nvPr/>
        </p:nvSpPr>
        <p:spPr>
          <a:xfrm>
            <a:off x="347472" y="201168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feedback</a:t>
            </a:r>
            <a:endParaRPr lang="en-US" sz="950" dirty="0"/>
          </a:p>
        </p:txBody>
      </p:sp>
      <p:sp>
        <p:nvSpPr>
          <p:cNvPr id="36" name="Shape 9">
            <a:extLst>
              <a:ext uri="{FF2B5EF4-FFF2-40B4-BE49-F238E27FC236}">
                <a16:creationId xmlns:a16="http://schemas.microsoft.com/office/drawing/2014/main" id="{33827A87-58B0-E5EB-0A55-3D7815A5ED50}"/>
              </a:ext>
            </a:extLst>
          </p:cNvPr>
          <p:cNvSpPr/>
          <p:nvPr/>
        </p:nvSpPr>
        <p:spPr>
          <a:xfrm>
            <a:off x="2450592" y="822960"/>
            <a:ext cx="2029968" cy="15361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7" name="Shape 10">
            <a:extLst>
              <a:ext uri="{FF2B5EF4-FFF2-40B4-BE49-F238E27FC236}">
                <a16:creationId xmlns:a16="http://schemas.microsoft.com/office/drawing/2014/main" id="{88440B7C-4B71-E9F0-73F6-DEFBF48712CF}"/>
              </a:ext>
            </a:extLst>
          </p:cNvPr>
          <p:cNvSpPr/>
          <p:nvPr/>
        </p:nvSpPr>
        <p:spPr>
          <a:xfrm>
            <a:off x="3118104" y="886968"/>
            <a:ext cx="694944" cy="694944"/>
          </a:xfrm>
          <a:prstGeom prst="ellipse">
            <a:avLst/>
          </a:prstGeom>
          <a:solidFill>
            <a:srgbClr val="FFFFFF">
              <a:alpha val="8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pic>
        <p:nvPicPr>
          <p:cNvPr id="38" name="Image 1" descr="/home/claude/icons/icon_implicit.png">
            <a:extLst>
              <a:ext uri="{FF2B5EF4-FFF2-40B4-BE49-F238E27FC236}">
                <a16:creationId xmlns:a16="http://schemas.microsoft.com/office/drawing/2014/main" id="{A46CBB22-52AD-92C9-4E41-6D7BC8B2CA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3824" y="932688"/>
            <a:ext cx="603504" cy="603504"/>
          </a:xfrm>
          <a:prstGeom prst="rect">
            <a:avLst/>
          </a:prstGeom>
        </p:spPr>
      </p:pic>
      <p:sp>
        <p:nvSpPr>
          <p:cNvPr id="39" name="Text 11">
            <a:extLst>
              <a:ext uri="{FF2B5EF4-FFF2-40B4-BE49-F238E27FC236}">
                <a16:creationId xmlns:a16="http://schemas.microsoft.com/office/drawing/2014/main" id="{D62A2CED-2954-D9FA-7560-70A1CFF2B0F9}"/>
              </a:ext>
            </a:extLst>
          </p:cNvPr>
          <p:cNvSpPr/>
          <p:nvPr/>
        </p:nvSpPr>
        <p:spPr>
          <a:xfrm>
            <a:off x="2505456" y="1609344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Неявні взаємодії</a:t>
            </a:r>
            <a:endParaRPr lang="en-US" sz="1250" dirty="0"/>
          </a:p>
        </p:txBody>
      </p:sp>
      <p:sp>
        <p:nvSpPr>
          <p:cNvPr id="40" name="Text 12">
            <a:extLst>
              <a:ext uri="{FF2B5EF4-FFF2-40B4-BE49-F238E27FC236}">
                <a16:creationId xmlns:a16="http://schemas.microsoft.com/office/drawing/2014/main" id="{EEC37B27-5BD7-9FC2-AC83-F791802D9A57}"/>
              </a:ext>
            </a:extLst>
          </p:cNvPr>
          <p:cNvSpPr/>
          <p:nvPr/>
        </p:nvSpPr>
        <p:spPr>
          <a:xfrm>
            <a:off x="2505456" y="201168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Implicit feedback</a:t>
            </a:r>
            <a:endParaRPr lang="en-US" sz="950" dirty="0"/>
          </a:p>
        </p:txBody>
      </p:sp>
      <p:sp>
        <p:nvSpPr>
          <p:cNvPr id="41" name="Shape 15">
            <a:extLst>
              <a:ext uri="{FF2B5EF4-FFF2-40B4-BE49-F238E27FC236}">
                <a16:creationId xmlns:a16="http://schemas.microsoft.com/office/drawing/2014/main" id="{C20954D2-F9C9-1903-E630-E284F6257FA5}"/>
              </a:ext>
            </a:extLst>
          </p:cNvPr>
          <p:cNvSpPr/>
          <p:nvPr/>
        </p:nvSpPr>
        <p:spPr>
          <a:xfrm>
            <a:off x="4626864" y="822960"/>
            <a:ext cx="2029968" cy="15361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2" name="Shape 16">
            <a:extLst>
              <a:ext uri="{FF2B5EF4-FFF2-40B4-BE49-F238E27FC236}">
                <a16:creationId xmlns:a16="http://schemas.microsoft.com/office/drawing/2014/main" id="{499D6AC4-2C05-09F5-DA59-BDA74B86301B}"/>
              </a:ext>
            </a:extLst>
          </p:cNvPr>
          <p:cNvSpPr/>
          <p:nvPr/>
        </p:nvSpPr>
        <p:spPr>
          <a:xfrm>
            <a:off x="5294376" y="886968"/>
            <a:ext cx="694944" cy="694944"/>
          </a:xfrm>
          <a:prstGeom prst="ellipse">
            <a:avLst/>
          </a:prstGeom>
          <a:solidFill>
            <a:srgbClr val="FFFFFF">
              <a:alpha val="8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pic>
        <p:nvPicPr>
          <p:cNvPr id="43" name="Image 2" descr="/home/claude/icons/icon_user.png">
            <a:extLst>
              <a:ext uri="{FF2B5EF4-FFF2-40B4-BE49-F238E27FC236}">
                <a16:creationId xmlns:a16="http://schemas.microsoft.com/office/drawing/2014/main" id="{442BF901-FFC5-6679-28CD-FE2D5A926A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0096" y="932688"/>
            <a:ext cx="603504" cy="603504"/>
          </a:xfrm>
          <a:prstGeom prst="rect">
            <a:avLst/>
          </a:prstGeom>
        </p:spPr>
      </p:pic>
      <p:sp>
        <p:nvSpPr>
          <p:cNvPr id="44" name="Text 17">
            <a:extLst>
              <a:ext uri="{FF2B5EF4-FFF2-40B4-BE49-F238E27FC236}">
                <a16:creationId xmlns:a16="http://schemas.microsoft.com/office/drawing/2014/main" id="{C2DE27A3-DD0B-CBE7-BAD6-199A51E01056}"/>
              </a:ext>
            </a:extLst>
          </p:cNvPr>
          <p:cNvSpPr/>
          <p:nvPr/>
        </p:nvSpPr>
        <p:spPr>
          <a:xfrm>
            <a:off x="4681728" y="1609344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Ознаки користувача</a:t>
            </a:r>
            <a:endParaRPr lang="en-US" sz="1250" dirty="0"/>
          </a:p>
        </p:txBody>
      </p:sp>
      <p:sp>
        <p:nvSpPr>
          <p:cNvPr id="45" name="Text 18">
            <a:extLst>
              <a:ext uri="{FF2B5EF4-FFF2-40B4-BE49-F238E27FC236}">
                <a16:creationId xmlns:a16="http://schemas.microsoft.com/office/drawing/2014/main" id="{6B1E1CB6-8DE1-769B-3A7A-E46976946119}"/>
              </a:ext>
            </a:extLst>
          </p:cNvPr>
          <p:cNvSpPr/>
          <p:nvPr/>
        </p:nvSpPr>
        <p:spPr>
          <a:xfrm>
            <a:off x="4681728" y="201168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features</a:t>
            </a:r>
            <a:endParaRPr lang="en-US" sz="950" dirty="0"/>
          </a:p>
        </p:txBody>
      </p:sp>
      <p:sp>
        <p:nvSpPr>
          <p:cNvPr id="46" name="Shape 21">
            <a:extLst>
              <a:ext uri="{FF2B5EF4-FFF2-40B4-BE49-F238E27FC236}">
                <a16:creationId xmlns:a16="http://schemas.microsoft.com/office/drawing/2014/main" id="{55774DA0-1864-A563-3BB0-1E333B97B041}"/>
              </a:ext>
            </a:extLst>
          </p:cNvPr>
          <p:cNvSpPr/>
          <p:nvPr/>
        </p:nvSpPr>
        <p:spPr>
          <a:xfrm>
            <a:off x="6803136" y="822960"/>
            <a:ext cx="2029968" cy="15361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7" name="Shape 22">
            <a:extLst>
              <a:ext uri="{FF2B5EF4-FFF2-40B4-BE49-F238E27FC236}">
                <a16:creationId xmlns:a16="http://schemas.microsoft.com/office/drawing/2014/main" id="{B9C0052D-D209-600C-6BF1-F39797FA9BFA}"/>
              </a:ext>
            </a:extLst>
          </p:cNvPr>
          <p:cNvSpPr/>
          <p:nvPr/>
        </p:nvSpPr>
        <p:spPr>
          <a:xfrm>
            <a:off x="7470648" y="886968"/>
            <a:ext cx="694944" cy="694944"/>
          </a:xfrm>
          <a:prstGeom prst="ellipse">
            <a:avLst/>
          </a:prstGeom>
          <a:solidFill>
            <a:srgbClr val="FFFFFF">
              <a:alpha val="8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pic>
        <p:nvPicPr>
          <p:cNvPr id="48" name="Image 3" descr="/home/claude/icons/icon_item.png">
            <a:extLst>
              <a:ext uri="{FF2B5EF4-FFF2-40B4-BE49-F238E27FC236}">
                <a16:creationId xmlns:a16="http://schemas.microsoft.com/office/drawing/2014/main" id="{A8B639B0-DE1E-629F-6381-E1C28A0F14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16368" y="932688"/>
            <a:ext cx="603504" cy="603504"/>
          </a:xfrm>
          <a:prstGeom prst="rect">
            <a:avLst/>
          </a:prstGeom>
        </p:spPr>
      </p:pic>
      <p:sp>
        <p:nvSpPr>
          <p:cNvPr id="49" name="Text 23">
            <a:extLst>
              <a:ext uri="{FF2B5EF4-FFF2-40B4-BE49-F238E27FC236}">
                <a16:creationId xmlns:a16="http://schemas.microsoft.com/office/drawing/2014/main" id="{5E3A0EC0-FF26-D062-FC50-7B2F887D4626}"/>
              </a:ext>
            </a:extLst>
          </p:cNvPr>
          <p:cNvSpPr/>
          <p:nvPr/>
        </p:nvSpPr>
        <p:spPr>
          <a:xfrm>
            <a:off x="6858000" y="1609344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Ознаки об'єктів</a:t>
            </a:r>
            <a:endParaRPr lang="en-US" sz="1250" dirty="0"/>
          </a:p>
        </p:txBody>
      </p:sp>
      <p:sp>
        <p:nvSpPr>
          <p:cNvPr id="50" name="Text 24">
            <a:extLst>
              <a:ext uri="{FF2B5EF4-FFF2-40B4-BE49-F238E27FC236}">
                <a16:creationId xmlns:a16="http://schemas.microsoft.com/office/drawing/2014/main" id="{1AB39BA4-FD50-6DEE-BA64-519C6A7F423E}"/>
              </a:ext>
            </a:extLst>
          </p:cNvPr>
          <p:cNvSpPr/>
          <p:nvPr/>
        </p:nvSpPr>
        <p:spPr>
          <a:xfrm>
            <a:off x="6858000" y="201168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features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Популярні </a:t>
            </a:r>
            <a:r>
              <a:rPr lang="uk-UA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рекомендації </a:t>
            </a:r>
            <a:r>
              <a:rPr lang="en-US" sz="230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</a:t>
            </a: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рекомендації</a:t>
            </a:r>
            <a:r>
              <a:rPr lang="uk-UA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на основі правил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416052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457200" y="850392"/>
            <a:ext cx="388620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Популярні рекомендації (</a:t>
            </a:r>
            <a:r>
              <a:rPr lang="uk-UA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персоналізовані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389888"/>
            <a:ext cx="3931920" cy="3273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Рекомендують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найпопулярніші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елементи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однаково для всіх користувачів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Реалізація: сортування за кількістю покупок, переглядів або середнім рейтингом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Варіанти: глобальна популярність, популярність у категорії, тренди за день/тиждень</a:t>
            </a:r>
            <a:endParaRPr lang="en-US" sz="1250" dirty="0"/>
          </a:p>
          <a:p>
            <a:pPr>
              <a:spcAft>
                <a:spcPts val="600"/>
              </a:spcAft>
              <a:buSzPct val="100000"/>
            </a:pPr>
            <a:r>
              <a:rPr lang="en-US" sz="1250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 err="1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Переваги</a:t>
            </a:r>
            <a:r>
              <a:rPr lang="en-US" sz="1250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uk-UA" sz="1250" b="1" dirty="0">
              <a:solidFill>
                <a:srgbClr val="00B05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600"/>
              </a:spcAft>
              <a:buSzPct val="100000"/>
            </a:pP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просто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ефективно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холодному старті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не потребує персональних даних</a:t>
            </a:r>
            <a:endParaRPr lang="en-US" sz="1250" dirty="0"/>
          </a:p>
          <a:p>
            <a:pPr>
              <a:spcAft>
                <a:spcPts val="600"/>
              </a:spcAft>
              <a:buSzPct val="100000"/>
            </a:pPr>
            <a:r>
              <a:rPr lang="en-US" sz="125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 err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Недоліки</a:t>
            </a:r>
            <a:r>
              <a:rPr lang="en-US" sz="125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uk-UA" sz="1250" dirty="0">
              <a:solidFill>
                <a:srgbClr val="FF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600"/>
              </a:spcAft>
              <a:buSzPct val="100000"/>
            </a:pP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персоналізації,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зміщення в бік популярності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нудно для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досвідченого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822960"/>
            <a:ext cx="416052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9" name="Shape 7"/>
          <p:cNvSpPr/>
          <p:nvPr/>
        </p:nvSpPr>
        <p:spPr>
          <a:xfrm>
            <a:off x="4663440" y="822960"/>
            <a:ext cx="4160520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0" name="Text 8"/>
          <p:cNvSpPr/>
          <p:nvPr/>
        </p:nvSpPr>
        <p:spPr>
          <a:xfrm>
            <a:off x="4800600" y="850392"/>
            <a:ext cx="388620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екомендації</a:t>
            </a:r>
            <a:r>
              <a:rPr lang="uk-UA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на основі правил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00600" y="1389888"/>
            <a:ext cx="3931920" cy="3273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Базуються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явно заданих правилах бізнес-логіки: «якщо X, то рекомендуй Y»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Приклади: ціновий діапазон, вікове обмеження, регіональна доступність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Побудова асоціативних правил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алгоритм Apriori та FP-Growth — «Разом купують X і Y»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споживача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знаходить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часто повторювані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набори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серед транзакцій</a:t>
            </a:r>
            <a:endParaRPr lang="en-US" sz="1250" dirty="0"/>
          </a:p>
          <a:p>
            <a:pPr>
              <a:spcAft>
                <a:spcPts val="600"/>
              </a:spcAft>
              <a:buSzPct val="100000"/>
            </a:pPr>
            <a:r>
              <a:rPr lang="en-US" sz="1250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 err="1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Переваги</a:t>
            </a:r>
            <a:r>
              <a:rPr lang="en-US" sz="1250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uk-UA" sz="1250" b="1" dirty="0">
              <a:solidFill>
                <a:srgbClr val="00B05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600"/>
              </a:spcAft>
              <a:buSzPct val="100000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розумілі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прозорі</a:t>
            </a:r>
            <a:endParaRPr lang="uk-UA" sz="1250" dirty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600"/>
              </a:spcAft>
              <a:buSzPct val="100000"/>
            </a:pPr>
            <a:r>
              <a:rPr lang="en-US" sz="125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 err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Недоліки</a:t>
            </a:r>
            <a:r>
              <a:rPr lang="en-US" sz="125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uk-UA" sz="1250" dirty="0">
              <a:solidFill>
                <a:srgbClr val="FF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600"/>
              </a:spcAft>
              <a:buSzPct val="100000"/>
            </a:pP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 масштабуються, не персоналізовані, потребують підтримки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Фільтрація на основі </a:t>
            </a:r>
            <a:r>
              <a:rPr lang="uk-UA" sz="230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контетну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Принцип: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аналізує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характеристики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об'єктів, що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сподобались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користувачу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та рекомендує схожі — незалежно від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інших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389888"/>
            <a:ext cx="1965960" cy="9601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347472" y="1435608"/>
            <a:ext cx="181965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Характеристики елементів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(текст, теги, жанр)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240280" y="1719072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468880" y="1389888"/>
            <a:ext cx="1965960" cy="9601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9" name="Text 7"/>
          <p:cNvSpPr/>
          <p:nvPr/>
        </p:nvSpPr>
        <p:spPr>
          <a:xfrm>
            <a:off x="2542032" y="1435608"/>
            <a:ext cx="181965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 ознак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(W2V, BERT, RoBERTa)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434840" y="1719072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663440" y="1389888"/>
            <a:ext cx="1965960" cy="960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2" name="Text 10"/>
          <p:cNvSpPr/>
          <p:nvPr/>
        </p:nvSpPr>
        <p:spPr>
          <a:xfrm>
            <a:off x="4736592" y="1435608"/>
            <a:ext cx="181965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Профіль користувача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(зважений вектор)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29400" y="1719072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858000" y="1389888"/>
            <a:ext cx="1965960" cy="960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5" name="Text 13"/>
          <p:cNvSpPr/>
          <p:nvPr/>
        </p:nvSpPr>
        <p:spPr>
          <a:xfrm>
            <a:off x="6931152" y="1435608"/>
            <a:ext cx="181965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Косунус</a:t>
            </a:r>
            <a:r>
              <a:rPr lang="uk-UA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подібності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Top-k рекоменд.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25146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Переваги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2834640"/>
            <a:ext cx="4114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потребує даних про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інших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орієнтований на захист </a:t>
            </a:r>
            <a:r>
              <a:rPr lang="uk-UA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приватності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Добре працює для нішевих інтересів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Прозорість: «рекомендуємо, бо ви дивилися X»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Ефективний при невеликій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кількості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663440" y="25146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Недоліки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63440" y="2834640"/>
            <a:ext cx="4114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Надмірна спеціалізація рекомендацій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замкнуте коло схожого контенту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ознак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значні зусилля, особливо для медіа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виявляє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приховані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інтереси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використовує колективний досвід спільноти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Колаборативна</a:t>
            </a: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фільтрація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Принцип: 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«Люди, схожі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вас, також цікавились цим» — базується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патернах взаємодій, а не властивостях об'єктів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23560" y="804672"/>
            <a:ext cx="2514600" cy="384048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5623560" y="80467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126480" y="80467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🎬B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629400" y="80467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🎬C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132320" y="80467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35240" y="80467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1188720"/>
            <a:ext cx="50292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2" name="Text 10"/>
          <p:cNvSpPr/>
          <p:nvPr/>
        </p:nvSpPr>
        <p:spPr>
          <a:xfrm>
            <a:off x="5120640" y="118872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User1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623560" y="1188720"/>
            <a:ext cx="502920" cy="384048"/>
          </a:xfrm>
          <a:prstGeom prst="rect">
            <a:avLst/>
          </a:prstGeom>
          <a:solidFill>
            <a:srgbClr val="DCFCE7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Text 12"/>
          <p:cNvSpPr/>
          <p:nvPr/>
        </p:nvSpPr>
        <p:spPr>
          <a:xfrm>
            <a:off x="5623560" y="118872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26480" y="1188720"/>
            <a:ext cx="502920" cy="384048"/>
          </a:xfrm>
          <a:prstGeom prst="rect">
            <a:avLst/>
          </a:prstGeom>
          <a:solidFill>
            <a:srgbClr val="DCFCE7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6" name="Text 14"/>
          <p:cNvSpPr/>
          <p:nvPr/>
        </p:nvSpPr>
        <p:spPr>
          <a:xfrm>
            <a:off x="6126480" y="118872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629400" y="1188720"/>
            <a:ext cx="50292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6629400" y="118872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132320" y="1188720"/>
            <a:ext cx="50292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0" name="Text 18"/>
          <p:cNvSpPr/>
          <p:nvPr/>
        </p:nvSpPr>
        <p:spPr>
          <a:xfrm>
            <a:off x="7132320" y="118872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635240" y="1188720"/>
            <a:ext cx="502920" cy="384048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2" name="Text 20"/>
          <p:cNvSpPr/>
          <p:nvPr/>
        </p:nvSpPr>
        <p:spPr>
          <a:xfrm>
            <a:off x="7635240" y="118872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120640" y="1572768"/>
            <a:ext cx="502920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4" name="Text 22"/>
          <p:cNvSpPr/>
          <p:nvPr/>
        </p:nvSpPr>
        <p:spPr>
          <a:xfrm>
            <a:off x="5120640" y="157276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User2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623560" y="1572768"/>
            <a:ext cx="50292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6" name="Text 24"/>
          <p:cNvSpPr/>
          <p:nvPr/>
        </p:nvSpPr>
        <p:spPr>
          <a:xfrm>
            <a:off x="5623560" y="157276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26480" y="1572768"/>
            <a:ext cx="502920" cy="384048"/>
          </a:xfrm>
          <a:prstGeom prst="rect">
            <a:avLst/>
          </a:prstGeom>
          <a:solidFill>
            <a:srgbClr val="DCFCE7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8" name="Text 26"/>
          <p:cNvSpPr/>
          <p:nvPr/>
        </p:nvSpPr>
        <p:spPr>
          <a:xfrm>
            <a:off x="6126480" y="157276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629400" y="1572768"/>
            <a:ext cx="502920" cy="384048"/>
          </a:xfrm>
          <a:prstGeom prst="rect">
            <a:avLst/>
          </a:prstGeom>
          <a:solidFill>
            <a:srgbClr val="DCFCE7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0" name="Text 28"/>
          <p:cNvSpPr/>
          <p:nvPr/>
        </p:nvSpPr>
        <p:spPr>
          <a:xfrm>
            <a:off x="6629400" y="157276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132320" y="1572768"/>
            <a:ext cx="502920" cy="384048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2" name="Text 30"/>
          <p:cNvSpPr/>
          <p:nvPr/>
        </p:nvSpPr>
        <p:spPr>
          <a:xfrm>
            <a:off x="7132320" y="157276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635240" y="1572768"/>
            <a:ext cx="50292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4" name="Text 32"/>
          <p:cNvSpPr/>
          <p:nvPr/>
        </p:nvSpPr>
        <p:spPr>
          <a:xfrm>
            <a:off x="7635240" y="157276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120640" y="1956816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User3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120640" y="1965960"/>
            <a:ext cx="502920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8" name="Text 46"/>
          <p:cNvSpPr/>
          <p:nvPr/>
        </p:nvSpPr>
        <p:spPr>
          <a:xfrm>
            <a:off x="5120640" y="1975104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User3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623560" y="1965960"/>
            <a:ext cx="50292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0" name="Text 48"/>
          <p:cNvSpPr/>
          <p:nvPr/>
        </p:nvSpPr>
        <p:spPr>
          <a:xfrm>
            <a:off x="5623560" y="1952244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126480" y="1965960"/>
            <a:ext cx="502920" cy="384048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2" name="Text 50"/>
          <p:cNvSpPr/>
          <p:nvPr/>
        </p:nvSpPr>
        <p:spPr>
          <a:xfrm>
            <a:off x="6126480" y="1952244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6629400" y="1965960"/>
            <a:ext cx="50292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4" name="Text 52"/>
          <p:cNvSpPr/>
          <p:nvPr/>
        </p:nvSpPr>
        <p:spPr>
          <a:xfrm>
            <a:off x="6629400" y="1952244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7132320" y="1965960"/>
            <a:ext cx="502920" cy="384048"/>
          </a:xfrm>
          <a:prstGeom prst="rect">
            <a:avLst/>
          </a:prstGeom>
          <a:solidFill>
            <a:srgbClr val="FEF3C7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6" name="Text 54"/>
          <p:cNvSpPr/>
          <p:nvPr/>
        </p:nvSpPr>
        <p:spPr>
          <a:xfrm>
            <a:off x="7132320" y="1952244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7635240" y="1965960"/>
            <a:ext cx="50292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9" name="Text 57"/>
          <p:cNvSpPr/>
          <p:nvPr/>
        </p:nvSpPr>
        <p:spPr>
          <a:xfrm>
            <a:off x="7635240" y="201625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Прогноз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5154930" y="241858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Таблиця 1. М</a:t>
            </a:r>
            <a:r>
              <a:rPr lang="en-US" sz="10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атриця</a:t>
            </a: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взаємодії користувачів з елементами </a:t>
            </a: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(розріджена)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365760" y="1261872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Memory-based: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обчислює схожість (cosine, Pearson)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між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користувачами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або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елементами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безпосередньо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Model-based: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явне навчання моделі — матрична факторизація, нейромережі, GNN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потребує знань про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властивості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тільки матриця взаємодій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Виявляє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приховані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інтереси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які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може не усвідомлювати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Головна проблема: розрідженість матриці — в середньому 95–99% клітин порожні</a:t>
            </a:r>
            <a:endParaRPr lang="en-US" sz="1250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56413F64-77AC-DC74-831B-690A6AC557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8081" y="2654046"/>
            <a:ext cx="2822638" cy="2052828"/>
          </a:xfrm>
          <a:prstGeom prst="rect">
            <a:avLst/>
          </a:prstGeom>
        </p:spPr>
      </p:pic>
      <p:sp>
        <p:nvSpPr>
          <p:cNvPr id="64" name="Text 58">
            <a:extLst>
              <a:ext uri="{FF2B5EF4-FFF2-40B4-BE49-F238E27FC236}">
                <a16:creationId xmlns:a16="http://schemas.microsoft.com/office/drawing/2014/main" id="{4E07AB10-A571-2B1F-9A54-2F988B531B46}"/>
              </a:ext>
            </a:extLst>
          </p:cNvPr>
          <p:cNvSpPr/>
          <p:nvPr/>
        </p:nvSpPr>
        <p:spPr>
          <a:xfrm>
            <a:off x="5218081" y="470839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Рисунок 1. Принцип </a:t>
            </a:r>
            <a:r>
              <a:rPr lang="uk-UA" sz="10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колаборативної</a:t>
            </a:r>
            <a:r>
              <a:rPr lang="uk-UA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фільтрації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30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Колаборативна</a:t>
            </a:r>
            <a:r>
              <a:rPr lang="uk-UA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фільтрація на основі користувачів та елементів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4187952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87952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457200" y="850392"/>
            <a:ext cx="391363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Фільтрація на основі користувачів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38912" y="1338834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Знайти k найбільш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схожих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(k-NN) та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рекомендувати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елементи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що сподобалися їм, але ще не відомі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поточному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користувачу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0955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Переваги: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357628"/>
            <a:ext cx="393192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Інтуїтивна логіка: «Схожі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вас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мають схожі вподобання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залежить від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властивостей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Легко враховує соціальний контекст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344037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Недоліки: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590544"/>
            <a:ext cx="393192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Погано масштабується при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мільйонах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 с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хожість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змінюється — потрібне часте перерахування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Холодний старт,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немає даних про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нового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822960"/>
            <a:ext cx="4187952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3" name="Shape 11"/>
          <p:cNvSpPr/>
          <p:nvPr/>
        </p:nvSpPr>
        <p:spPr>
          <a:xfrm>
            <a:off x="4709160" y="822960"/>
            <a:ext cx="4187952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Text 12"/>
          <p:cNvSpPr/>
          <p:nvPr/>
        </p:nvSpPr>
        <p:spPr>
          <a:xfrm>
            <a:off x="4846320" y="850392"/>
            <a:ext cx="391363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Фільтрація на основі елементів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846320" y="1355598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(2001, Linden et al.):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знайти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елементи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схожі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ті, що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вже оцінив, та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рекомендувати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їх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При цьому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матриця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взаємодії елементів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стабільніша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206425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Переваги: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2338578"/>
            <a:ext cx="393192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Краще масштабується: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матриця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стабільна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видке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обслуговування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Менш чутливий до нових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28032" y="332613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Недоліки: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28032" y="3600450"/>
            <a:ext cx="393192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Потребує великого обсягу пам'яті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Обмежена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новизна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переважно схожий контент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Холодний старт для нових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Матрична факторизація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Ключова ідея: 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розкласти велику розріджену матрицю R (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елементи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добуток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двох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менших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матриць: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8412480" cy="1115568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731520" y="1316736"/>
            <a:ext cx="502920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 ≈  P  ×  Qᵀ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943600" y="1316736"/>
            <a:ext cx="265176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— матриця оцінок (m × n)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— матриця users (m × k)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— матриця items (n × k)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— кількість latent factors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365760" y="2514600"/>
            <a:ext cx="267004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9" name="Shape 7"/>
          <p:cNvSpPr/>
          <p:nvPr/>
        </p:nvSpPr>
        <p:spPr>
          <a:xfrm>
            <a:off x="365760" y="2514600"/>
            <a:ext cx="267004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0" name="Text 8"/>
          <p:cNvSpPr/>
          <p:nvPr/>
        </p:nvSpPr>
        <p:spPr>
          <a:xfrm>
            <a:off x="457200" y="2542032"/>
            <a:ext cx="24871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FunkSVD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3063240"/>
            <a:ext cx="248716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Simon Funk (Netflix Prize, 2006): стохастичний градієнтний спуск для мінімізації RMSE тільки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відомих оцінках,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видалення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нулів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0" y="2514600"/>
            <a:ext cx="267004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3" name="Shape 11"/>
          <p:cNvSpPr/>
          <p:nvPr/>
        </p:nvSpPr>
        <p:spPr>
          <a:xfrm>
            <a:off x="3200400" y="2514600"/>
            <a:ext cx="2670048" cy="4754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Text 12"/>
          <p:cNvSpPr/>
          <p:nvPr/>
        </p:nvSpPr>
        <p:spPr>
          <a:xfrm>
            <a:off x="3291840" y="2542032"/>
            <a:ext cx="24871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291840" y="3063240"/>
            <a:ext cx="248716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Alternating Least Squares: почергова оптимізація P (при фіксованому Q) та Q — паралелізується, ефективний для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неявних </a:t>
            </a:r>
            <a:r>
              <a:rPr lang="uk-UA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звязків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35040" y="2514600"/>
            <a:ext cx="267004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6035040" y="2514600"/>
            <a:ext cx="2670048" cy="4754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6126480" y="2542032"/>
            <a:ext cx="24871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126480" y="3063240"/>
            <a:ext cx="248716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Personalized Ranking: оптимізує попарне ранжування (pair-wise) —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повинен надавати перевагу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переглянутому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перед непереглянутим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Гібридні</a:t>
            </a: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системи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Гібридні підходи поєднують кілька алгоритмів для подолання обмежень кожного окремо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280160"/>
            <a:ext cx="41879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448056" y="1408176"/>
            <a:ext cx="411480" cy="4114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7" name="Text 5"/>
          <p:cNvSpPr/>
          <p:nvPr/>
        </p:nvSpPr>
        <p:spPr>
          <a:xfrm>
            <a:off x="448056" y="140817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78408" y="1389888"/>
            <a:ext cx="3401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Усереднена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8056" y="1874520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α·CF + β·CBF: результати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алгоритмів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усереднюються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підсумовуються. Netflix використовує ваги, що залежать від кількості відомих рейтингів.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8056" y="2651760"/>
            <a:ext cx="3931920" cy="228600"/>
          </a:xfrm>
          <a:prstGeom prst="rect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1" name="Text 9"/>
          <p:cNvSpPr/>
          <p:nvPr/>
        </p:nvSpPr>
        <p:spPr>
          <a:xfrm>
            <a:off x="539496" y="265176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 = α·CF + β·CBF + γ·Pop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1280160"/>
            <a:ext cx="41879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3" name="Shape 11"/>
          <p:cNvSpPr/>
          <p:nvPr/>
        </p:nvSpPr>
        <p:spPr>
          <a:xfrm>
            <a:off x="4837176" y="1408176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Text 12"/>
          <p:cNvSpPr/>
          <p:nvPr/>
        </p:nvSpPr>
        <p:spPr>
          <a:xfrm>
            <a:off x="4837176" y="140817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67528" y="1389888"/>
            <a:ext cx="3401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Перемика</a:t>
            </a:r>
            <a:r>
              <a:rPr lang="uk-UA" sz="1300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ння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37176" y="1874520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 алгоритму залежно від ситуації: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холодний старт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популярні 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демографічні.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освідчений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CF або MF. Простота реалізації.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837176" y="2651760"/>
            <a:ext cx="3931920" cy="228600"/>
          </a:xfrm>
          <a:prstGeom prst="rect">
            <a:avLst/>
          </a:prstGeom>
          <a:solidFill>
            <a:srgbClr val="F59E0B">
              <a:alpha val="12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4928616" y="265176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new_user: pop_recs else CF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" y="3154680"/>
            <a:ext cx="41879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0" name="Shape 18"/>
          <p:cNvSpPr/>
          <p:nvPr/>
        </p:nvSpPr>
        <p:spPr>
          <a:xfrm>
            <a:off x="448056" y="3282696"/>
            <a:ext cx="411480" cy="4114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1" name="Text 19"/>
          <p:cNvSpPr/>
          <p:nvPr/>
        </p:nvSpPr>
        <p:spPr>
          <a:xfrm>
            <a:off x="448056" y="328269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78408" y="3264408"/>
            <a:ext cx="3401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Каскадна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48056" y="3749040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Перший алгоритм генерує множину кандидатів (тисячі), другий алгоритм точно ранжує (десятки). YouTube: DNN recall + DNN rank.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48056" y="4526280"/>
            <a:ext cx="3931920" cy="228600"/>
          </a:xfrm>
          <a:prstGeom prst="rect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Text 23"/>
          <p:cNvSpPr/>
          <p:nvPr/>
        </p:nvSpPr>
        <p:spPr>
          <a:xfrm>
            <a:off x="539496" y="452628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Candidates → Re-Ranker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09160" y="3154680"/>
            <a:ext cx="41879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7" name="Shape 25"/>
          <p:cNvSpPr/>
          <p:nvPr/>
        </p:nvSpPr>
        <p:spPr>
          <a:xfrm>
            <a:off x="4837176" y="3282696"/>
            <a:ext cx="411480" cy="4114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8" name="Text 26"/>
          <p:cNvSpPr/>
          <p:nvPr/>
        </p:nvSpPr>
        <p:spPr>
          <a:xfrm>
            <a:off x="4837176" y="328269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367528" y="3264408"/>
            <a:ext cx="3401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Збагачення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37176" y="3749040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Вихід одного алгоритму стає ознаками для іншого. Наприклад: embedding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MF → додається до ознак CBF-моделі.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837176" y="4526280"/>
            <a:ext cx="3931920" cy="228600"/>
          </a:xfrm>
          <a:prstGeom prst="rect">
            <a:avLst/>
          </a:prstGeom>
          <a:solidFill>
            <a:srgbClr val="16A34A">
              <a:alpha val="12000"/>
            </a:srgbClr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2" name="Text 30"/>
          <p:cNvSpPr/>
          <p:nvPr/>
        </p:nvSpPr>
        <p:spPr>
          <a:xfrm>
            <a:off x="4928616" y="452628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CF.embeddings → CBF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Проблеми класичних підходів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26974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269748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457200" y="987552"/>
            <a:ext cx="384048" cy="38404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7" name="Text 5"/>
          <p:cNvSpPr/>
          <p:nvPr/>
        </p:nvSpPr>
        <p:spPr>
          <a:xfrm>
            <a:off x="457200" y="9875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41832" y="1024128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Холодний старт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9768" y="1463040"/>
            <a:ext cx="24871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Новим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користувачам та елементам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бракує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даних для якісних рекомендацій. Особливо критично для нових платформ.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172968" y="822960"/>
            <a:ext cx="26974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1" name="Shape 9"/>
          <p:cNvSpPr/>
          <p:nvPr/>
        </p:nvSpPr>
        <p:spPr>
          <a:xfrm>
            <a:off x="3172968" y="822960"/>
            <a:ext cx="269748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2" name="Shape 10"/>
          <p:cNvSpPr/>
          <p:nvPr/>
        </p:nvSpPr>
        <p:spPr>
          <a:xfrm>
            <a:off x="3310128" y="98755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1"/>
          <p:cNvSpPr/>
          <p:nvPr/>
        </p:nvSpPr>
        <p:spPr>
          <a:xfrm>
            <a:off x="3310128" y="9875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794760" y="1024128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Розрідженість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82696" y="1463040"/>
            <a:ext cx="24871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Матриця оцінок заповнена лише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1–5%. Важко знайти дійсно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схожих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елементи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25896" y="822960"/>
            <a:ext cx="26974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6025896" y="822960"/>
            <a:ext cx="269748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Shape 16"/>
          <p:cNvSpPr/>
          <p:nvPr/>
        </p:nvSpPr>
        <p:spPr>
          <a:xfrm>
            <a:off x="6163056" y="987552"/>
            <a:ext cx="384048" cy="38404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9" name="Text 17"/>
          <p:cNvSpPr/>
          <p:nvPr/>
        </p:nvSpPr>
        <p:spPr>
          <a:xfrm>
            <a:off x="6163056" y="9875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647688" y="1024128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Масштабованість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35624" y="1463040"/>
            <a:ext cx="24871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Обчислення схожостей для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мільйонів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 та елементів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потребує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O(n²) операцій — надто повільно.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0040" y="2834640"/>
            <a:ext cx="26974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3" name="Shape 21"/>
          <p:cNvSpPr/>
          <p:nvPr/>
        </p:nvSpPr>
        <p:spPr>
          <a:xfrm>
            <a:off x="320040" y="2834640"/>
            <a:ext cx="2697480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4" name="Shape 22"/>
          <p:cNvSpPr/>
          <p:nvPr/>
        </p:nvSpPr>
        <p:spPr>
          <a:xfrm>
            <a:off x="457200" y="2999232"/>
            <a:ext cx="384048" cy="38404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Text 23"/>
          <p:cNvSpPr/>
          <p:nvPr/>
        </p:nvSpPr>
        <p:spPr>
          <a:xfrm>
            <a:off x="457200" y="29992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41832" y="3035808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Упередженість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29768" y="3474720"/>
            <a:ext cx="24871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Алгоритми систематично рекомендують популярне,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знецінюючи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унікальні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якісні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’</a:t>
            </a:r>
            <a:r>
              <a:rPr lang="uk-UA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єкти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172968" y="2834640"/>
            <a:ext cx="26974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9" name="Shape 27"/>
          <p:cNvSpPr/>
          <p:nvPr/>
        </p:nvSpPr>
        <p:spPr>
          <a:xfrm>
            <a:off x="3172968" y="2834640"/>
            <a:ext cx="2697480" cy="640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0" name="Shape 28"/>
          <p:cNvSpPr/>
          <p:nvPr/>
        </p:nvSpPr>
        <p:spPr>
          <a:xfrm>
            <a:off x="3310128" y="2999232"/>
            <a:ext cx="384048" cy="38404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1" name="Text 29"/>
          <p:cNvSpPr/>
          <p:nvPr/>
        </p:nvSpPr>
        <p:spPr>
          <a:xfrm>
            <a:off x="3310128" y="29992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3794760" y="3035808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Інформаційна бульбашка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282696" y="3474720"/>
            <a:ext cx="24871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Замкнуте коло схожого контенту: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бачить тільки те, що вже знає. Знижує різноманітність.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025896" y="2834640"/>
            <a:ext cx="26974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5" name="Shape 33"/>
          <p:cNvSpPr/>
          <p:nvPr/>
        </p:nvSpPr>
        <p:spPr>
          <a:xfrm>
            <a:off x="6025896" y="2834640"/>
            <a:ext cx="2697480" cy="64008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6" name="Shape 34"/>
          <p:cNvSpPr/>
          <p:nvPr/>
        </p:nvSpPr>
        <p:spPr>
          <a:xfrm>
            <a:off x="6163056" y="2999232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7" name="Text 35"/>
          <p:cNvSpPr/>
          <p:nvPr/>
        </p:nvSpPr>
        <p:spPr>
          <a:xfrm>
            <a:off x="6163056" y="29992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6647688" y="3035808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Контекстна сліпота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135624" y="3474720"/>
            <a:ext cx="24871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Класичні методи не враховують час, місце, настрій та поточну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ситуацію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Машинне навчання в рекомендаційних системах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Перехід від евристик до навченої моделі дозволяє враховувати сотні різнорідних ознак одночасно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129844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Категорії ознак: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45920"/>
            <a:ext cx="64008" cy="548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7" name="Text 5"/>
          <p:cNvSpPr/>
          <p:nvPr/>
        </p:nvSpPr>
        <p:spPr>
          <a:xfrm>
            <a:off x="530352" y="1682496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Ознаки користувачів</a:t>
            </a: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30352" y="1938528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Вік, стать, географія, пристрій, мова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95728"/>
            <a:ext cx="64008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0" name="Text 8"/>
          <p:cNvSpPr/>
          <p:nvPr/>
        </p:nvSpPr>
        <p:spPr>
          <a:xfrm>
            <a:off x="530352" y="2432304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Ознаки елементів</a:t>
            </a: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0352" y="2688336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Жанр, ціна, рейтинг, вік контенту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145536"/>
            <a:ext cx="64008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1"/>
          <p:cNvSpPr/>
          <p:nvPr/>
        </p:nvSpPr>
        <p:spPr>
          <a:xfrm>
            <a:off x="530352" y="3182112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 ознаки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30352" y="3438144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доби, день тижня, тип сесії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895344"/>
            <a:ext cx="64008" cy="548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6" name="Text 14"/>
          <p:cNvSpPr/>
          <p:nvPr/>
        </p:nvSpPr>
        <p:spPr>
          <a:xfrm>
            <a:off x="530352" y="393192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Ознаки взаємодій</a:t>
            </a: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0352" y="4187952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Тривалість перегляду, завершення, кліки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0" y="1298448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підходи в industry: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389120" y="1664208"/>
            <a:ext cx="44348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0" name="Shape 18"/>
          <p:cNvSpPr/>
          <p:nvPr/>
        </p:nvSpPr>
        <p:spPr>
          <a:xfrm>
            <a:off x="4389120" y="1664208"/>
            <a:ext cx="73152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1" name="Text 19"/>
          <p:cNvSpPr/>
          <p:nvPr/>
        </p:nvSpPr>
        <p:spPr>
          <a:xfrm>
            <a:off x="4553712" y="1719072"/>
            <a:ext cx="4187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200" b="1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Логістина</a:t>
            </a:r>
            <a:r>
              <a:rPr lang="uk-UA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регресія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53712" y="2011680"/>
            <a:ext cx="41879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 prediction: бінарна класифікація «клік / не клік»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89120" y="2487168"/>
            <a:ext cx="44348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4" name="Shape 22"/>
          <p:cNvSpPr/>
          <p:nvPr/>
        </p:nvSpPr>
        <p:spPr>
          <a:xfrm>
            <a:off x="4389120" y="2487168"/>
            <a:ext cx="73152" cy="7132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Text 23"/>
          <p:cNvSpPr/>
          <p:nvPr/>
        </p:nvSpPr>
        <p:spPr>
          <a:xfrm>
            <a:off x="4553712" y="2542032"/>
            <a:ext cx="4187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r>
              <a:rPr lang="uk-UA" sz="1200" dirty="0"/>
              <a:t> 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(XGBoost, LightGBM)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53712" y="2834640"/>
            <a:ext cx="41879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Найкращий результат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табличних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Популярне 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промисловості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389120" y="3310128"/>
            <a:ext cx="44348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8" name="Shape 26"/>
          <p:cNvSpPr/>
          <p:nvPr/>
        </p:nvSpPr>
        <p:spPr>
          <a:xfrm>
            <a:off x="4389120" y="3310128"/>
            <a:ext cx="73152" cy="71323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9" name="Text 27"/>
          <p:cNvSpPr/>
          <p:nvPr/>
        </p:nvSpPr>
        <p:spPr>
          <a:xfrm>
            <a:off x="4553712" y="3364992"/>
            <a:ext cx="4187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53712" y="3657600"/>
            <a:ext cx="41879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Стійкий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шуму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дає оцінку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важливості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389120" y="4133088"/>
            <a:ext cx="44348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2" name="Shape 30"/>
          <p:cNvSpPr/>
          <p:nvPr/>
        </p:nvSpPr>
        <p:spPr>
          <a:xfrm>
            <a:off x="4389120" y="4133088"/>
            <a:ext cx="73152" cy="7132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3" name="Text 31"/>
          <p:cNvSpPr/>
          <p:nvPr/>
        </p:nvSpPr>
        <p:spPr>
          <a:xfrm>
            <a:off x="4553712" y="4187952"/>
            <a:ext cx="4187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Two-tower Model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53712" y="4480560"/>
            <a:ext cx="41879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Дві окремі DNN: user-tower + item-tower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фективний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для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швидкого пошуку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to Rank та </a:t>
            </a:r>
            <a:r>
              <a:rPr lang="uk-UA" sz="230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факторизаційні</a:t>
            </a:r>
            <a:r>
              <a:rPr lang="uk-UA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машини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4187952" cy="3995928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4187952" cy="5303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457200" y="832104"/>
            <a:ext cx="39136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to Rank (LTR)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1408176"/>
            <a:ext cx="3931920" cy="3310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Задача: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впорядкувати список кандидатів для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конкретного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 релевантністю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Pointwise: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незалежна оцінка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кожного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елемента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(регресія або класифікація) — простіша постановка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Pairwise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порівнюємо пари items — RankNet, LambdaRank (Microsoft)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Listwise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оптимізація всього ранжованого списку — ListNet, LambdaMART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 оцінки: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NDCG@k — нормалізований дисконтований кумулятивний прибуток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Застосовується: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 Google/Bing, рекомендації LinkedIn, Twitter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45152" y="804672"/>
            <a:ext cx="4178808" cy="3995928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9" name="Shape 7"/>
          <p:cNvSpPr/>
          <p:nvPr/>
        </p:nvSpPr>
        <p:spPr>
          <a:xfrm>
            <a:off x="4645152" y="804672"/>
            <a:ext cx="4178808" cy="5303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0" name="Text 8"/>
          <p:cNvSpPr/>
          <p:nvPr/>
        </p:nvSpPr>
        <p:spPr>
          <a:xfrm>
            <a:off x="4773168" y="832104"/>
            <a:ext cx="39136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Факторизаційні</a:t>
            </a:r>
            <a:r>
              <a:rPr lang="uk-UA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машини 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(FM)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773168" y="1408176"/>
            <a:ext cx="3931920" cy="3310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Узагальнення MF для довільних ознак (user ID, item ID, час, географія тощо)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Моделюють попарні взаємодії між усіма ознаками через прихований векторний простір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Ефективні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при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розріджених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(ознаках)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краще LR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таких задачах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DeepFM: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поєднання FM (запам'ятовування) + DNN (узагальнення) — найкращий результат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Field-Aware FM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(FFM): окремий вектор для кожної пари полів ознак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 prediction: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Aliexpress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TikTok широко застосовують FM-based підходи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Нейронні рекомендаційні системи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Нейронні мережі замінюють лінійні операції нелінійними — вловлюючи складні взаємодії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між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користувачами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елементами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8503920" cy="1261872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7" name="Text 5"/>
          <p:cNvSpPr/>
          <p:nvPr/>
        </p:nvSpPr>
        <p:spPr>
          <a:xfrm>
            <a:off x="402336" y="1746504"/>
            <a:ext cx="8229600" cy="4434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Замінює скалярний добуток (MF) </a:t>
            </a:r>
            <a:r>
              <a:rPr lang="en-US" sz="16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Multilayer Perceptron: дозволяє моделювати нелінійні взаємодії. Архітектура: Embedding → Concat → MLP → Sigmoid. </a:t>
            </a:r>
            <a:endParaRPr lang="uk-UA" sz="1600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Перевершує</a:t>
            </a: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MF </a:t>
            </a:r>
            <a:r>
              <a:rPr lang="en-US" sz="16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MovieLens та Pinterest.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320040" y="2697480"/>
            <a:ext cx="202996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9" name="Shape 7"/>
          <p:cNvSpPr/>
          <p:nvPr/>
        </p:nvSpPr>
        <p:spPr>
          <a:xfrm>
            <a:off x="320040" y="2697480"/>
            <a:ext cx="2029968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0" name="Text 8"/>
          <p:cNvSpPr/>
          <p:nvPr/>
        </p:nvSpPr>
        <p:spPr>
          <a:xfrm>
            <a:off x="411480" y="2724912"/>
            <a:ext cx="18470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&amp; Deep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(Google, 2016)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3383280"/>
            <a:ext cx="1847088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= запам'ятовування популярних взаємодій; Deep = узагальнення. Основа </a:t>
            </a: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Play Store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487168" y="2697480"/>
            <a:ext cx="202996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3" name="Shape 11"/>
          <p:cNvSpPr/>
          <p:nvPr/>
        </p:nvSpPr>
        <p:spPr>
          <a:xfrm>
            <a:off x="2487168" y="2697480"/>
            <a:ext cx="2029968" cy="6217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Text 12"/>
          <p:cNvSpPr/>
          <p:nvPr/>
        </p:nvSpPr>
        <p:spPr>
          <a:xfrm>
            <a:off x="2578608" y="2724912"/>
            <a:ext cx="18470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BERT4Rec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(Sun et al., 2019)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78608" y="3383280"/>
            <a:ext cx="1847088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Transformer для послідовностей взаємодій: маскування елементів → відновлення — аналог BERT для NLP.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54296" y="2697480"/>
            <a:ext cx="202996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4654296" y="2697480"/>
            <a:ext cx="2029968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4745736" y="2724912"/>
            <a:ext cx="18470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SASRec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(Kang et al., 2018)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45736" y="3383280"/>
            <a:ext cx="1847088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 Sequential Recommendation: однобічна увага для довгих послідовностей. Швидше та точніше ніж RNN.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21424" y="2697480"/>
            <a:ext cx="202996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1" name="Shape 19"/>
          <p:cNvSpPr/>
          <p:nvPr/>
        </p:nvSpPr>
        <p:spPr>
          <a:xfrm>
            <a:off x="6821424" y="2697480"/>
            <a:ext cx="2029968" cy="6217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2" name="Text 20"/>
          <p:cNvSpPr/>
          <p:nvPr/>
        </p:nvSpPr>
        <p:spPr>
          <a:xfrm>
            <a:off x="6912864" y="2724912"/>
            <a:ext cx="18470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YouTubeDNN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(Google, 2016)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912864" y="3383280"/>
            <a:ext cx="1847088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Two-stage: DNN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генерування кандидатів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DNN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ранжування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Мільярди відео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еталонна промислова архітектура.</a:t>
            </a:r>
            <a:endParaRPr lang="en-US" sz="1100" dirty="0"/>
          </a:p>
        </p:txBody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246472B8-1A3F-D5E7-E1BC-4255EEF89526}"/>
              </a:ext>
            </a:extLst>
          </p:cNvPr>
          <p:cNvSpPr/>
          <p:nvPr/>
        </p:nvSpPr>
        <p:spPr>
          <a:xfrm>
            <a:off x="411480" y="128930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u="sng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Collaborative Filtering (NCF) — He et al., WWW 2017</a:t>
            </a:r>
            <a:endParaRPr lang="en-US" sz="1400" u="sng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30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Автоенкодери</a:t>
            </a: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RNN та CNN у рекомендаційних системах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2724912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2724912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25420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Autoencoders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463040"/>
            <a:ext cx="254203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15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Енкодер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стискає вектор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взаємодій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у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компактне подання.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Декодер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відновлює — прогнозуючи оцінки для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непереглянутих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11480" y="2496312"/>
            <a:ext cx="2542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застосування: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770632"/>
            <a:ext cx="25420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AutoRec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(2015): FC-autoencoder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рядках/стовпцях матриці R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CDAE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Denoising autoencoder — стійкіший до шуму у даних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VAE-CF 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(Liang et al., 2018): розподіл, а не точка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72968" y="804672"/>
            <a:ext cx="2724912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1" name="Shape 9"/>
          <p:cNvSpPr/>
          <p:nvPr/>
        </p:nvSpPr>
        <p:spPr>
          <a:xfrm>
            <a:off x="3172968" y="804672"/>
            <a:ext cx="2724912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2" name="Text 10"/>
          <p:cNvSpPr/>
          <p:nvPr/>
        </p:nvSpPr>
        <p:spPr>
          <a:xfrm>
            <a:off x="3264408" y="822960"/>
            <a:ext cx="25420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RNN / GRU / LSTM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64408" y="1357884"/>
            <a:ext cx="254203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Моделюють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послідовні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взаємодії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еволюцію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вподобань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 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часом.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Прихований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стан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«пам'ять» про попередні дії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264408" y="2496312"/>
            <a:ext cx="2542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застосування: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64408" y="2770632"/>
            <a:ext cx="25420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GRU4Rec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(Hidasi, 2016): перша успішна RNN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рекомендацій</a:t>
            </a:r>
            <a:r>
              <a:rPr lang="uk-UA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на основі сесій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HRNN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Hierarchical RNN — пам'ятає і сесію, і загальну поведінку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Attention+RNN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механізм уваги вибирає важливі попередні items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25896" y="804672"/>
            <a:ext cx="2724912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6025896" y="804672"/>
            <a:ext cx="2724912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6117336" y="822960"/>
            <a:ext cx="25420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для рекомендацій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17336" y="1463040"/>
            <a:ext cx="2542032" cy="7254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Аналізує текстові описи, зображення товарів, аудіо-спектрограми — збагачуючи item representation мультимедійними ознаками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117336" y="2496312"/>
            <a:ext cx="2542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застосування: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17336" y="2770632"/>
            <a:ext cx="25420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ConvMF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CNN </a:t>
            </a:r>
            <a:r>
              <a:rPr lang="uk-UA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текстових відгуках + Matrix Factorization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VBPR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(He et al., 2016): CNN </a:t>
            </a:r>
            <a:r>
              <a:rPr lang="uk-UA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зображеннях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товарів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Spotify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CNN </a:t>
            </a:r>
            <a:r>
              <a:rPr lang="uk-UA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спектрограм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для музичних рекомендацій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</a:t>
            </a: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LLM у рекомендаційних системах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Трансформерні архітектури та великі мовні моделі відкрили нові можливості для розуміння контексту та природної мови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325880"/>
            <a:ext cx="4160520" cy="3547872"/>
          </a:xfrm>
          <a:prstGeom prst="rect">
            <a:avLst/>
          </a:prstGeom>
          <a:solidFill>
            <a:srgbClr val="FFFFFF"/>
          </a:solidFill>
          <a:ln w="12700">
            <a:solidFill>
              <a:srgbClr val="2B6CB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320040" y="1325880"/>
            <a:ext cx="4160520" cy="530352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7" name="Text 5"/>
          <p:cNvSpPr/>
          <p:nvPr/>
        </p:nvSpPr>
        <p:spPr>
          <a:xfrm>
            <a:off x="429768" y="1353312"/>
            <a:ext cx="3931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 на основі трансформерів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29768" y="1938528"/>
            <a:ext cx="3931920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BERT4Rec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uk-UA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двонаправлений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самоувага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для послідовностей взаємодій — маскування + відновлення елементів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SASRec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однобічна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увага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ефективніша при довгих послідовностях взаємодій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BST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(Alibaba):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послідовностях кліків та покупок — використовується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Taobao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(Geng et al., 2022):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уніфікована текст-текст архітектура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одна LLM для 5 різних задач рекомендацій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1325880"/>
            <a:ext cx="4160520" cy="3547872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0" name="Shape 8"/>
          <p:cNvSpPr/>
          <p:nvPr/>
        </p:nvSpPr>
        <p:spPr>
          <a:xfrm>
            <a:off x="4709160" y="1325880"/>
            <a:ext cx="4160520" cy="5303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1" name="Text 9"/>
          <p:cNvSpPr/>
          <p:nvPr/>
        </p:nvSpPr>
        <p:spPr>
          <a:xfrm>
            <a:off x="4818888" y="1353312"/>
            <a:ext cx="3931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для рекомендацій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18888" y="1938528"/>
            <a:ext cx="3931920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recommendations: 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 рекомендує лише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основі текстового опису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профілю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як re-ranker: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CF генерує кандидатів → LLM переранжовує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основі семантичного розуміння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RecSys: 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«Знайди мені щось схоже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Початок (2010)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менш фантастичний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 — діалог у природній мові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recommendations: 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генерує персоналізоване пояснення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рекомендовано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саме цей елемент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enrichment: 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аналізує текстові відгуки та будує семантичний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профіль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Графові нейромережі </a:t>
            </a: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рекомендаційних системах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262128" y="768097"/>
            <a:ext cx="5041392" cy="4206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Рекомендаційні системи природно моделюються як двочастковий граф: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елементи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вузли, взаємодії — ребра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52144" y="2712720"/>
            <a:ext cx="2651760" cy="18288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1152144" y="2712720"/>
            <a:ext cx="1828800" cy="128016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7" name="Shape 5"/>
          <p:cNvSpPr/>
          <p:nvPr/>
        </p:nvSpPr>
        <p:spPr>
          <a:xfrm>
            <a:off x="2340864" y="2118360"/>
            <a:ext cx="1463040" cy="77724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Shape 6"/>
          <p:cNvSpPr/>
          <p:nvPr/>
        </p:nvSpPr>
        <p:spPr>
          <a:xfrm>
            <a:off x="2340864" y="2118360"/>
            <a:ext cx="219456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9" name="Shape 7"/>
          <p:cNvSpPr/>
          <p:nvPr/>
        </p:nvSpPr>
        <p:spPr>
          <a:xfrm>
            <a:off x="694944" y="3810000"/>
            <a:ext cx="2286000" cy="18288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0" name="Shape 8"/>
          <p:cNvSpPr/>
          <p:nvPr/>
        </p:nvSpPr>
        <p:spPr>
          <a:xfrm flipV="1">
            <a:off x="694943" y="2895599"/>
            <a:ext cx="2926081" cy="914401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1" name="Shape 9"/>
          <p:cNvSpPr/>
          <p:nvPr/>
        </p:nvSpPr>
        <p:spPr>
          <a:xfrm>
            <a:off x="950976" y="2511552"/>
            <a:ext cx="438912" cy="43891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2" name="Text 10"/>
          <p:cNvSpPr/>
          <p:nvPr/>
        </p:nvSpPr>
        <p:spPr>
          <a:xfrm>
            <a:off x="950976" y="251155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39696" y="1917192"/>
            <a:ext cx="438912" cy="43891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Text 12"/>
          <p:cNvSpPr/>
          <p:nvPr/>
        </p:nvSpPr>
        <p:spPr>
          <a:xfrm>
            <a:off x="2157984" y="19050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93776" y="3608832"/>
            <a:ext cx="438912" cy="43891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6" name="Text 14"/>
          <p:cNvSpPr/>
          <p:nvPr/>
        </p:nvSpPr>
        <p:spPr>
          <a:xfrm>
            <a:off x="512064" y="359054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U3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02736" y="2694432"/>
            <a:ext cx="438912" cy="43891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3621025" y="26700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79776" y="3791712"/>
            <a:ext cx="438912" cy="43891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0" name="Text 18"/>
          <p:cNvSpPr/>
          <p:nvPr/>
        </p:nvSpPr>
        <p:spPr>
          <a:xfrm>
            <a:off x="2793492" y="38100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34256" y="1871472"/>
            <a:ext cx="438912" cy="43891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2" name="Text 20"/>
          <p:cNvSpPr/>
          <p:nvPr/>
        </p:nvSpPr>
        <p:spPr>
          <a:xfrm>
            <a:off x="4352544" y="18562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94361" y="4459224"/>
            <a:ext cx="182880" cy="182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4" name="Text 22"/>
          <p:cNvSpPr/>
          <p:nvPr/>
        </p:nvSpPr>
        <p:spPr>
          <a:xfrm>
            <a:off x="813817" y="442264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971801" y="4474464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6" name="Text 24"/>
          <p:cNvSpPr/>
          <p:nvPr/>
        </p:nvSpPr>
        <p:spPr>
          <a:xfrm>
            <a:off x="3154681" y="443788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Елементи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03520" y="822960"/>
            <a:ext cx="35204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8" name="Shape 26"/>
          <p:cNvSpPr/>
          <p:nvPr/>
        </p:nvSpPr>
        <p:spPr>
          <a:xfrm>
            <a:off x="5303520" y="822960"/>
            <a:ext cx="73152" cy="9144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9" name="Text 27"/>
          <p:cNvSpPr/>
          <p:nvPr/>
        </p:nvSpPr>
        <p:spPr>
          <a:xfrm>
            <a:off x="5468112" y="88696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NGCF (Wang et al., 2019)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68112" y="1188720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Graph CF: поширення embeddings вздовж ребер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графу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uk-UA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зберігаючи CF-сигнал у структурі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303520" y="1874520"/>
            <a:ext cx="35204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B6CB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2" name="Shape 30"/>
          <p:cNvSpPr/>
          <p:nvPr/>
        </p:nvSpPr>
        <p:spPr>
          <a:xfrm>
            <a:off x="5303520" y="1874520"/>
            <a:ext cx="73152" cy="91440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3" name="Text 31"/>
          <p:cNvSpPr/>
          <p:nvPr/>
        </p:nvSpPr>
        <p:spPr>
          <a:xfrm>
            <a:off x="5468112" y="193852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LightGCN (He et al., 2020)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68112" y="2240280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Спрощена GCN без нелінійних активацій та трансформацій: лише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лінійне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поширення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швидша та точніша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03520" y="2926080"/>
            <a:ext cx="35204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6" name="Shape 34"/>
          <p:cNvSpPr/>
          <p:nvPr/>
        </p:nvSpPr>
        <p:spPr>
          <a:xfrm>
            <a:off x="5303520" y="2926080"/>
            <a:ext cx="73152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7" name="Text 35"/>
          <p:cNvSpPr/>
          <p:nvPr/>
        </p:nvSpPr>
        <p:spPr>
          <a:xfrm>
            <a:off x="5468112" y="299008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PinSage (Pinterest, 2018)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468112" y="3291840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GraphSAGE для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мільярдів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вузлів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ru-RU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0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навчання на невеликих </a:t>
            </a:r>
            <a:r>
              <a:rPr lang="uk-UA" sz="1050" noProof="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підграфах</a:t>
            </a:r>
            <a:r>
              <a:rPr lang="uk-UA" sz="10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де сусіди відбираються за важливістю, а не випадково — на графі </a:t>
            </a:r>
            <a:r>
              <a:rPr lang="uk-UA" sz="1050" noProof="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Pinterest</a:t>
            </a:r>
            <a:r>
              <a:rPr lang="ru-RU" sz="1050" dirty="0"/>
              <a:t>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303520" y="3977640"/>
            <a:ext cx="35204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40" name="Shape 38"/>
          <p:cNvSpPr/>
          <p:nvPr/>
        </p:nvSpPr>
        <p:spPr>
          <a:xfrm>
            <a:off x="5303520" y="3977640"/>
            <a:ext cx="73152" cy="9144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1" name="Text 39"/>
          <p:cNvSpPr/>
          <p:nvPr/>
        </p:nvSpPr>
        <p:spPr>
          <a:xfrm>
            <a:off x="5468112" y="404164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 + GNN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68112" y="4343400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 додає семантичні відносини між entities →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покращує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холодного старту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пояснюваність рекомендацій</a:t>
            </a:r>
            <a:endParaRPr lang="en-US" sz="1050" dirty="0"/>
          </a:p>
        </p:txBody>
      </p:sp>
      <p:sp>
        <p:nvSpPr>
          <p:cNvPr id="43" name="Text 58">
            <a:extLst>
              <a:ext uri="{FF2B5EF4-FFF2-40B4-BE49-F238E27FC236}">
                <a16:creationId xmlns:a16="http://schemas.microsoft.com/office/drawing/2014/main" id="{9BC5975D-A0C1-9B85-5544-5E8D11CB1CCA}"/>
              </a:ext>
            </a:extLst>
          </p:cNvPr>
          <p:cNvSpPr/>
          <p:nvPr/>
        </p:nvSpPr>
        <p:spPr>
          <a:xfrm>
            <a:off x="896112" y="4776216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Діаграма 1. Принцип взаємодії користувачів і елементів у вигляді </a:t>
            </a:r>
            <a:r>
              <a:rPr lang="uk-UA" sz="10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двочаткового</a:t>
            </a:r>
            <a:r>
              <a:rPr lang="uk-UA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графу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Машинне навчання з підкріпленням </a:t>
            </a: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рекомендаційних системах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198120" y="853440"/>
            <a:ext cx="4876800" cy="5096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Машинне навчання з підкріпленням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рекомендація — це інтерактивний процес, де агент навчається максимізувати довгострокове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задоволення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469136"/>
            <a:ext cx="1953768" cy="1216152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320040" y="1469136"/>
            <a:ext cx="1953768" cy="418185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7" name="Text 5"/>
          <p:cNvSpPr/>
          <p:nvPr/>
        </p:nvSpPr>
        <p:spPr>
          <a:xfrm>
            <a:off x="411480" y="1524000"/>
            <a:ext cx="22860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Стан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972056"/>
            <a:ext cx="1709928" cy="5187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Профіль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контекст + послідовність взаємодій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61488" y="1524000"/>
            <a:ext cx="2026920" cy="1080516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0" name="Shape 8"/>
          <p:cNvSpPr/>
          <p:nvPr/>
        </p:nvSpPr>
        <p:spPr>
          <a:xfrm>
            <a:off x="2761488" y="1524000"/>
            <a:ext cx="2026920" cy="3749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1" name="Text 9"/>
          <p:cNvSpPr/>
          <p:nvPr/>
        </p:nvSpPr>
        <p:spPr>
          <a:xfrm>
            <a:off x="2788920" y="1548994"/>
            <a:ext cx="22860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Дія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852928" y="2026920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для рекомендації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759964" y="2990088"/>
            <a:ext cx="2028444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4" name="Shape 12"/>
          <p:cNvSpPr/>
          <p:nvPr/>
        </p:nvSpPr>
        <p:spPr>
          <a:xfrm>
            <a:off x="2758440" y="2989172"/>
            <a:ext cx="2029968" cy="51511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5" name="Text 13"/>
          <p:cNvSpPr/>
          <p:nvPr/>
        </p:nvSpPr>
        <p:spPr>
          <a:xfrm>
            <a:off x="3337560" y="3060192"/>
            <a:ext cx="22860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Нагорода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910840" y="3484473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Клік, тривалість, оцінка,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негативний відгук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3005328"/>
            <a:ext cx="1953768" cy="1155192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8" name="Shape 16"/>
          <p:cNvSpPr/>
          <p:nvPr/>
        </p:nvSpPr>
        <p:spPr>
          <a:xfrm>
            <a:off x="320040" y="3005327"/>
            <a:ext cx="1953768" cy="498957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9" name="Text 17"/>
          <p:cNvSpPr/>
          <p:nvPr/>
        </p:nvSpPr>
        <p:spPr>
          <a:xfrm>
            <a:off x="411480" y="3060192"/>
            <a:ext cx="22860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Оновлення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політики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11480" y="3508248"/>
            <a:ext cx="13685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оновлює стратегію вибору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19528" y="18669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608832" y="2613964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2302764" y="343204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05840" y="2669286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000" dirty="0"/>
          </a:p>
        </p:txBody>
      </p:sp>
      <p:sp>
        <p:nvSpPr>
          <p:cNvPr id="27" name="Text 58">
            <a:extLst>
              <a:ext uri="{FF2B5EF4-FFF2-40B4-BE49-F238E27FC236}">
                <a16:creationId xmlns:a16="http://schemas.microsoft.com/office/drawing/2014/main" id="{9E0BB272-A3C8-2C45-7979-E94D847F6A9B}"/>
              </a:ext>
            </a:extLst>
          </p:cNvPr>
          <p:cNvSpPr/>
          <p:nvPr/>
        </p:nvSpPr>
        <p:spPr>
          <a:xfrm>
            <a:off x="1095756" y="4417981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Діаграма 2. Процес прийняття рішень Маркова</a:t>
            </a:r>
            <a:endParaRPr lang="en-US" sz="1000" dirty="0"/>
          </a:p>
        </p:txBody>
      </p:sp>
      <p:sp>
        <p:nvSpPr>
          <p:cNvPr id="28" name="Shape 23">
            <a:extLst>
              <a:ext uri="{FF2B5EF4-FFF2-40B4-BE49-F238E27FC236}">
                <a16:creationId xmlns:a16="http://schemas.microsoft.com/office/drawing/2014/main" id="{4C1B99CD-6A55-F370-C1D6-8E6019EF69B0}"/>
              </a:ext>
            </a:extLst>
          </p:cNvPr>
          <p:cNvSpPr/>
          <p:nvPr/>
        </p:nvSpPr>
        <p:spPr>
          <a:xfrm>
            <a:off x="5257800" y="866851"/>
            <a:ext cx="377647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F9888158-3C36-8AEA-F76C-E7F7BB5764AC}"/>
              </a:ext>
            </a:extLst>
          </p:cNvPr>
          <p:cNvSpPr/>
          <p:nvPr/>
        </p:nvSpPr>
        <p:spPr>
          <a:xfrm>
            <a:off x="5257800" y="866851"/>
            <a:ext cx="73152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0" name="Text 25">
            <a:extLst>
              <a:ext uri="{FF2B5EF4-FFF2-40B4-BE49-F238E27FC236}">
                <a16:creationId xmlns:a16="http://schemas.microsoft.com/office/drawing/2014/main" id="{A01AF990-DFF5-A274-4F0B-67C86A4CC796}"/>
              </a:ext>
            </a:extLst>
          </p:cNvPr>
          <p:cNvSpPr/>
          <p:nvPr/>
        </p:nvSpPr>
        <p:spPr>
          <a:xfrm>
            <a:off x="5422392" y="912571"/>
            <a:ext cx="35478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DQN — Глибока Q-мережа</a:t>
            </a:r>
            <a:endParaRPr lang="en-US" sz="1150" dirty="0"/>
          </a:p>
        </p:txBody>
      </p:sp>
      <p:sp>
        <p:nvSpPr>
          <p:cNvPr id="31" name="Text 26">
            <a:extLst>
              <a:ext uri="{FF2B5EF4-FFF2-40B4-BE49-F238E27FC236}">
                <a16:creationId xmlns:a16="http://schemas.microsoft.com/office/drawing/2014/main" id="{730CFF57-E188-BF81-FF9A-945BF9A3DFEB}"/>
              </a:ext>
            </a:extLst>
          </p:cNvPr>
          <p:cNvSpPr/>
          <p:nvPr/>
        </p:nvSpPr>
        <p:spPr>
          <a:xfrm>
            <a:off x="5422392" y="1168603"/>
            <a:ext cx="3547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Обирає оптимальний об'єкт у дискретному просторі дій через навчання Q-функції очікуваної нагороди</a:t>
            </a:r>
            <a:endParaRPr lang="en-US" sz="1050" dirty="0"/>
          </a:p>
        </p:txBody>
      </p:sp>
      <p:sp>
        <p:nvSpPr>
          <p:cNvPr id="32" name="Shape 27">
            <a:extLst>
              <a:ext uri="{FF2B5EF4-FFF2-40B4-BE49-F238E27FC236}">
                <a16:creationId xmlns:a16="http://schemas.microsoft.com/office/drawing/2014/main" id="{609AA975-035B-7685-B725-218EB3443345}"/>
              </a:ext>
            </a:extLst>
          </p:cNvPr>
          <p:cNvSpPr/>
          <p:nvPr/>
        </p:nvSpPr>
        <p:spPr>
          <a:xfrm>
            <a:off x="5257800" y="1678838"/>
            <a:ext cx="377647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DC7A4C75-0DFE-F5AB-B08A-531A571BDA8B}"/>
              </a:ext>
            </a:extLst>
          </p:cNvPr>
          <p:cNvSpPr/>
          <p:nvPr/>
        </p:nvSpPr>
        <p:spPr>
          <a:xfrm>
            <a:off x="5257800" y="1678838"/>
            <a:ext cx="73152" cy="7132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4" name="Text 29">
            <a:extLst>
              <a:ext uri="{FF2B5EF4-FFF2-40B4-BE49-F238E27FC236}">
                <a16:creationId xmlns:a16="http://schemas.microsoft.com/office/drawing/2014/main" id="{32CB9FC0-817D-9DFB-5074-2294293E69E8}"/>
              </a:ext>
            </a:extLst>
          </p:cNvPr>
          <p:cNvSpPr/>
          <p:nvPr/>
        </p:nvSpPr>
        <p:spPr>
          <a:xfrm>
            <a:off x="5422392" y="1724558"/>
            <a:ext cx="35478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Actor-Critic (A3C / PPO)</a:t>
            </a:r>
            <a:endParaRPr lang="en-US" sz="1150" dirty="0"/>
          </a:p>
        </p:txBody>
      </p:sp>
      <p:sp>
        <p:nvSpPr>
          <p:cNvPr id="35" name="Text 30">
            <a:extLst>
              <a:ext uri="{FF2B5EF4-FFF2-40B4-BE49-F238E27FC236}">
                <a16:creationId xmlns:a16="http://schemas.microsoft.com/office/drawing/2014/main" id="{0061A540-6777-6A63-5D10-287B380BE912}"/>
              </a:ext>
            </a:extLst>
          </p:cNvPr>
          <p:cNvSpPr/>
          <p:nvPr/>
        </p:nvSpPr>
        <p:spPr>
          <a:xfrm>
            <a:off x="5422392" y="1980590"/>
            <a:ext cx="3547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Актор обирає дію, критик оцінює її якість. Пряма оптимізація стратегії — стабільніша за DQN на великих каталогах</a:t>
            </a:r>
            <a:endParaRPr lang="en-US" sz="1050" dirty="0"/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2F9C0137-5433-AB31-BFF1-5F13D3887D98}"/>
              </a:ext>
            </a:extLst>
          </p:cNvPr>
          <p:cNvSpPr/>
          <p:nvPr/>
        </p:nvSpPr>
        <p:spPr>
          <a:xfrm>
            <a:off x="5257800" y="2490825"/>
            <a:ext cx="377647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7" name="Shape 32">
            <a:extLst>
              <a:ext uri="{FF2B5EF4-FFF2-40B4-BE49-F238E27FC236}">
                <a16:creationId xmlns:a16="http://schemas.microsoft.com/office/drawing/2014/main" id="{3AB96CC4-A615-ED2E-31F5-90A1E0C5D7CC}"/>
              </a:ext>
            </a:extLst>
          </p:cNvPr>
          <p:cNvSpPr/>
          <p:nvPr/>
        </p:nvSpPr>
        <p:spPr>
          <a:xfrm>
            <a:off x="5257800" y="2490825"/>
            <a:ext cx="73152" cy="7132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8" name="Text 33">
            <a:extLst>
              <a:ext uri="{FF2B5EF4-FFF2-40B4-BE49-F238E27FC236}">
                <a16:creationId xmlns:a16="http://schemas.microsoft.com/office/drawing/2014/main" id="{C4B99690-18EA-6E1E-3906-F807BB69BE07}"/>
              </a:ext>
            </a:extLst>
          </p:cNvPr>
          <p:cNvSpPr/>
          <p:nvPr/>
        </p:nvSpPr>
        <p:spPr>
          <a:xfrm>
            <a:off x="5422392" y="2536545"/>
            <a:ext cx="35478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Багаторукий бандит</a:t>
            </a:r>
            <a:endParaRPr lang="en-US" sz="1150" dirty="0"/>
          </a:p>
        </p:txBody>
      </p:sp>
      <p:sp>
        <p:nvSpPr>
          <p:cNvPr id="39" name="Text 34">
            <a:extLst>
              <a:ext uri="{FF2B5EF4-FFF2-40B4-BE49-F238E27FC236}">
                <a16:creationId xmlns:a16="http://schemas.microsoft.com/office/drawing/2014/main" id="{8CC92E0D-CED1-6DFF-0847-8216FC691820}"/>
              </a:ext>
            </a:extLst>
          </p:cNvPr>
          <p:cNvSpPr/>
          <p:nvPr/>
        </p:nvSpPr>
        <p:spPr>
          <a:xfrm>
            <a:off x="5422392" y="2792577"/>
            <a:ext cx="3547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адаптація до відгуку користувача. Стратегії Thompson Sampling та UCB балансують між відомим і новим</a:t>
            </a:r>
            <a:endParaRPr lang="en-US" sz="1050" dirty="0"/>
          </a:p>
        </p:txBody>
      </p:sp>
      <p:sp>
        <p:nvSpPr>
          <p:cNvPr id="40" name="Shape 35">
            <a:extLst>
              <a:ext uri="{FF2B5EF4-FFF2-40B4-BE49-F238E27FC236}">
                <a16:creationId xmlns:a16="http://schemas.microsoft.com/office/drawing/2014/main" id="{EDB0E0C0-F7AF-1E05-A4E9-0D223A76E556}"/>
              </a:ext>
            </a:extLst>
          </p:cNvPr>
          <p:cNvSpPr/>
          <p:nvPr/>
        </p:nvSpPr>
        <p:spPr>
          <a:xfrm>
            <a:off x="5257800" y="3302813"/>
            <a:ext cx="377647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41" name="Shape 36">
            <a:extLst>
              <a:ext uri="{FF2B5EF4-FFF2-40B4-BE49-F238E27FC236}">
                <a16:creationId xmlns:a16="http://schemas.microsoft.com/office/drawing/2014/main" id="{2D1BCFC9-557F-923B-FA0E-2178643C720D}"/>
              </a:ext>
            </a:extLst>
          </p:cNvPr>
          <p:cNvSpPr/>
          <p:nvPr/>
        </p:nvSpPr>
        <p:spPr>
          <a:xfrm>
            <a:off x="5257800" y="3302813"/>
            <a:ext cx="73152" cy="71323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2" name="Text 37">
            <a:extLst>
              <a:ext uri="{FF2B5EF4-FFF2-40B4-BE49-F238E27FC236}">
                <a16:creationId xmlns:a16="http://schemas.microsoft.com/office/drawing/2014/main" id="{4B347304-2DF2-E3F1-BF10-D5E1F87223E6}"/>
              </a:ext>
            </a:extLst>
          </p:cNvPr>
          <p:cNvSpPr/>
          <p:nvPr/>
        </p:nvSpPr>
        <p:spPr>
          <a:xfrm>
            <a:off x="5422392" y="3348533"/>
            <a:ext cx="35478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SlateQ</a:t>
            </a:r>
            <a:endParaRPr lang="en-US" sz="1150" dirty="0"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38BD7DB5-D6EF-75E2-C9A6-4D1C630640AC}"/>
              </a:ext>
            </a:extLst>
          </p:cNvPr>
          <p:cNvSpPr/>
          <p:nvPr/>
        </p:nvSpPr>
        <p:spPr>
          <a:xfrm>
            <a:off x="5422392" y="3604565"/>
            <a:ext cx="3547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Навчання з підкріпленням для рекомендації цілого списку об'єктів одночасно, а не по одному</a:t>
            </a:r>
            <a:endParaRPr lang="en-US" sz="1050" dirty="0"/>
          </a:p>
        </p:txBody>
      </p:sp>
      <p:sp>
        <p:nvSpPr>
          <p:cNvPr id="44" name="Shape 39">
            <a:extLst>
              <a:ext uri="{FF2B5EF4-FFF2-40B4-BE49-F238E27FC236}">
                <a16:creationId xmlns:a16="http://schemas.microsoft.com/office/drawing/2014/main" id="{F500F912-7013-EA4D-A823-D3E457B33A35}"/>
              </a:ext>
            </a:extLst>
          </p:cNvPr>
          <p:cNvSpPr/>
          <p:nvPr/>
        </p:nvSpPr>
        <p:spPr>
          <a:xfrm>
            <a:off x="5257800" y="4114800"/>
            <a:ext cx="377647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45" name="Shape 40">
            <a:extLst>
              <a:ext uri="{FF2B5EF4-FFF2-40B4-BE49-F238E27FC236}">
                <a16:creationId xmlns:a16="http://schemas.microsoft.com/office/drawing/2014/main" id="{98A4C87E-B5EF-87C8-B5C3-7398FAC77284}"/>
              </a:ext>
            </a:extLst>
          </p:cNvPr>
          <p:cNvSpPr/>
          <p:nvPr/>
        </p:nvSpPr>
        <p:spPr>
          <a:xfrm>
            <a:off x="5257800" y="4114800"/>
            <a:ext cx="73152" cy="71323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6" name="Text 41">
            <a:extLst>
              <a:ext uri="{FF2B5EF4-FFF2-40B4-BE49-F238E27FC236}">
                <a16:creationId xmlns:a16="http://schemas.microsoft.com/office/drawing/2014/main" id="{668367DB-E76F-79C7-FB6A-E98E37047967}"/>
              </a:ext>
            </a:extLst>
          </p:cNvPr>
          <p:cNvSpPr/>
          <p:nvPr/>
        </p:nvSpPr>
        <p:spPr>
          <a:xfrm>
            <a:off x="5422392" y="4160520"/>
            <a:ext cx="35478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MARL — Мультиагентне навчання</a:t>
            </a:r>
            <a:endParaRPr lang="en-US" sz="1150" dirty="0"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2B8FE598-1A2A-0A73-EDBD-890259DA26F6}"/>
              </a:ext>
            </a:extLst>
          </p:cNvPr>
          <p:cNvSpPr/>
          <p:nvPr/>
        </p:nvSpPr>
        <p:spPr>
          <a:xfrm>
            <a:off x="5422392" y="4416552"/>
            <a:ext cx="3547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Кілька агентів взаємодіють одночасно — підходить для групових рекомендацій та сценаріїв зі спільним перегляданням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</a:t>
            </a: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відомі компанії</a:t>
            </a: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30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використовують</a:t>
            </a: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30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рекомендації</a:t>
            </a:r>
            <a:r>
              <a:rPr lang="uk-UA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4187952" cy="2029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4187952" cy="5029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457200" y="877824"/>
            <a:ext cx="3913632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39319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переглядів — через рекомендації (не пошук)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Персоналізовані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мініатюри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мініатюри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тестуються на користувачах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Граф. інтерфейс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«Бо ви дивилися…», «Популярне зараз в Україні»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 рекоменд.: час доби, пристрій, тривалість сесії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09160" y="804672"/>
            <a:ext cx="4187952" cy="20299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000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9" name="Shape 7"/>
          <p:cNvSpPr/>
          <p:nvPr/>
        </p:nvSpPr>
        <p:spPr>
          <a:xfrm>
            <a:off x="4709160" y="804672"/>
            <a:ext cx="4187952" cy="5029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0" name="Text 8"/>
          <p:cNvSpPr/>
          <p:nvPr/>
        </p:nvSpPr>
        <p:spPr>
          <a:xfrm>
            <a:off x="4846320" y="877824"/>
            <a:ext cx="3913632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846320" y="1371600"/>
            <a:ext cx="39319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Двокрокова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DNN (2016):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генерація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ранжування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перегляду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функція винагороди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(→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залученість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Multi-objective: залученість + задоволення +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новизна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RL-агент оптимізує довгострокове задоволення від сесії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980944"/>
            <a:ext cx="4187952" cy="2029968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3" name="Shape 11"/>
          <p:cNvSpPr/>
          <p:nvPr/>
        </p:nvSpPr>
        <p:spPr>
          <a:xfrm>
            <a:off x="320040" y="2980944"/>
            <a:ext cx="4187952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Text 12"/>
          <p:cNvSpPr/>
          <p:nvPr/>
        </p:nvSpPr>
        <p:spPr>
          <a:xfrm>
            <a:off x="457200" y="3054096"/>
            <a:ext cx="3913632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1772" y="3557016"/>
            <a:ext cx="40462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Item-to-item CF (2001) — алгоритм, що став стандартом галузі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«Customers also viewed/bought» у кожній точці воронки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Персоналізація в реальному часу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адаптація за секунди після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дії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Hybrid: CF + CBF + Knowledge Graph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новинок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2980944"/>
            <a:ext cx="4187952" cy="2029968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4709160" y="2980944"/>
            <a:ext cx="4187952" cy="5029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4846320" y="3054096"/>
            <a:ext cx="3913632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Spotify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846320" y="3547872"/>
            <a:ext cx="39319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Weekly: CF + NLP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текстах плейлистів (word2vec)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CNN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спектрах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 холодного старту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нових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треків</a:t>
            </a:r>
            <a:endParaRPr lang="uk-UA" sz="1100" dirty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Багаторукі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бандити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вибір наступного треку в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режимі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радіо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рекомендаційних систем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3034459"/>
              </p:ext>
            </p:extLst>
          </p:nvPr>
        </p:nvGraphicFramePr>
        <p:xfrm>
          <a:off x="320040" y="822960"/>
          <a:ext cx="8503920" cy="379476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9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Метрика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Задача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Що вимірює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6C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Precision@k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Частка </a:t>
                      </a:r>
                      <a:r>
                        <a:rPr lang="en-US" sz="115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релевантних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uk-UA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елементів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серед перших k рекомендацій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Recall@k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Частка знайдених </a:t>
                      </a:r>
                      <a:r>
                        <a:rPr lang="en-US" sz="115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релевантних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uk-UA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елементів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від усіх можливих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NDCG@k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Ранжування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Нормалізований дисконтований прибуток: вищі позиції мають більшу вагу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Ранжування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Average Precision — середня точність по </a:t>
                      </a:r>
                      <a:r>
                        <a:rPr lang="en-US" sz="115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всіх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uk-UA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запитах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 Rate@k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Частка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uk-UA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користувачів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для яких </a:t>
                      </a:r>
                      <a:r>
                        <a:rPr lang="en-US" sz="115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цільовий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uk-UA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елемент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потрапив у top-k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7C3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/ MAE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Рейтинги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Похибка передбачення числової </a:t>
                      </a:r>
                      <a:r>
                        <a:rPr lang="en-US" sz="115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оцінки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</a:t>
                      </a:r>
                      <a:r>
                        <a:rPr lang="uk-UA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помилка прогнозування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Бізнес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Частка каталогу, що з'являється в рекомендаціях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Diversity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Якість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Різноманітність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uk-UA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елементів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у </a:t>
                      </a:r>
                      <a:r>
                        <a:rPr lang="en-US" sz="115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рекомендаційному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15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списку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Serendipity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Досвід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Несподівані, але релевантні рекомендації — «приємний сюрприз»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Етичні виклики та ризики рекомендаційних систем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4187952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91440" cy="13167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548640" y="914400"/>
            <a:ext cx="365760" cy="365760"/>
          </a:xfrm>
          <a:prstGeom prst="ellipse">
            <a:avLst/>
          </a:prstGeom>
          <a:solidFill>
            <a:srgbClr val="0D9488">
              <a:alpha val="85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7" name="Text 5"/>
          <p:cNvSpPr/>
          <p:nvPr/>
        </p:nvSpPr>
        <p:spPr>
          <a:xfrm>
            <a:off x="548640" y="914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33272" y="896112"/>
            <a:ext cx="33649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Прозорість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33272" y="1197864"/>
            <a:ext cx="33649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 не знають, чому бачать певний контент. GDPR та AI Act вимагають права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пояснення рекомендацій.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822960"/>
            <a:ext cx="4187952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1" name="Shape 9"/>
          <p:cNvSpPr/>
          <p:nvPr/>
        </p:nvSpPr>
        <p:spPr>
          <a:xfrm>
            <a:off x="4709160" y="822960"/>
            <a:ext cx="91440" cy="131673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2" name="Shape 10"/>
          <p:cNvSpPr/>
          <p:nvPr/>
        </p:nvSpPr>
        <p:spPr>
          <a:xfrm>
            <a:off x="4937760" y="914400"/>
            <a:ext cx="365760" cy="365760"/>
          </a:xfrm>
          <a:prstGeom prst="ellipse">
            <a:avLst/>
          </a:prstGeom>
          <a:solidFill>
            <a:srgbClr val="DC2626">
              <a:alpha val="85000"/>
            </a:srgbClr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1"/>
          <p:cNvSpPr/>
          <p:nvPr/>
        </p:nvSpPr>
        <p:spPr>
          <a:xfrm>
            <a:off x="4937760" y="914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22392" y="896112"/>
            <a:ext cx="33649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Конфіденційність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22392" y="1280160"/>
            <a:ext cx="33649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 збирають великі обсяги персональних даних: переміщення, звички, психологічний профіль.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286000"/>
            <a:ext cx="4187952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320040" y="2286000"/>
            <a:ext cx="91440" cy="131673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Shape 16"/>
          <p:cNvSpPr/>
          <p:nvPr/>
        </p:nvSpPr>
        <p:spPr>
          <a:xfrm>
            <a:off x="548640" y="2377440"/>
            <a:ext cx="365760" cy="365760"/>
          </a:xfrm>
          <a:prstGeom prst="ellipse">
            <a:avLst/>
          </a:prstGeom>
          <a:solidFill>
            <a:srgbClr val="F59E0B">
              <a:alpha val="85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9" name="Text 17"/>
          <p:cNvSpPr/>
          <p:nvPr/>
        </p:nvSpPr>
        <p:spPr>
          <a:xfrm>
            <a:off x="548640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33272" y="2359152"/>
            <a:ext cx="33649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2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Ефект інформаційної бульбашки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033272" y="2743200"/>
            <a:ext cx="33649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замикає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у «бульбашці» подібного контенту, викривляючи сприйняття реальності та думок.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09160" y="2286000"/>
            <a:ext cx="4187952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3" name="Shape 21"/>
          <p:cNvSpPr/>
          <p:nvPr/>
        </p:nvSpPr>
        <p:spPr>
          <a:xfrm>
            <a:off x="4709160" y="2286000"/>
            <a:ext cx="91440" cy="131673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4" name="Shape 22"/>
          <p:cNvSpPr/>
          <p:nvPr/>
        </p:nvSpPr>
        <p:spPr>
          <a:xfrm>
            <a:off x="4937760" y="2377440"/>
            <a:ext cx="365760" cy="365760"/>
          </a:xfrm>
          <a:prstGeom prst="ellipse">
            <a:avLst/>
          </a:prstGeom>
          <a:solidFill>
            <a:srgbClr val="7C3AED">
              <a:alpha val="85000"/>
            </a:srgbClr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Text 23"/>
          <p:cNvSpPr/>
          <p:nvPr/>
        </p:nvSpPr>
        <p:spPr>
          <a:xfrm>
            <a:off x="4937760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22392" y="2359152"/>
            <a:ext cx="33649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Маніпуляція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поведінкою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22392" y="2743200"/>
            <a:ext cx="33649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Максимізація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залученості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(не добробуту): соцмережі, ігри, відео можуть формувати залежність.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3749040"/>
            <a:ext cx="4187952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9" name="Shape 27"/>
          <p:cNvSpPr/>
          <p:nvPr/>
        </p:nvSpPr>
        <p:spPr>
          <a:xfrm>
            <a:off x="320040" y="3749040"/>
            <a:ext cx="91440" cy="131673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0" name="Shape 28"/>
          <p:cNvSpPr/>
          <p:nvPr/>
        </p:nvSpPr>
        <p:spPr>
          <a:xfrm>
            <a:off x="548640" y="3840480"/>
            <a:ext cx="365760" cy="365760"/>
          </a:xfrm>
          <a:prstGeom prst="ellipse">
            <a:avLst/>
          </a:prstGeom>
          <a:solidFill>
            <a:srgbClr val="16A34A">
              <a:alpha val="85000"/>
            </a:srgbClr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1" name="Text 29"/>
          <p:cNvSpPr/>
          <p:nvPr/>
        </p:nvSpPr>
        <p:spPr>
          <a:xfrm>
            <a:off x="548640" y="3840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33272" y="3822192"/>
            <a:ext cx="33649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Алгоритмічна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упередженість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033272" y="4206240"/>
            <a:ext cx="33649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 відтворюють та підсилюють соціальні упередження з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ru-RU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упередженість</a:t>
            </a:r>
            <a:r>
              <a:rPr lang="ru-RU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 </a:t>
            </a:r>
            <a:r>
              <a:rPr lang="ru-RU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ознакою</a:t>
            </a:r>
            <a:r>
              <a:rPr lang="ru-RU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статі</a:t>
            </a:r>
            <a:r>
              <a:rPr lang="ru-RU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ru-RU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раси</a:t>
            </a:r>
            <a:r>
              <a:rPr lang="ru-RU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</a:t>
            </a:r>
            <a:r>
              <a:rPr lang="ru-RU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віку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09160" y="3749040"/>
            <a:ext cx="4187952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5" name="Shape 33"/>
          <p:cNvSpPr/>
          <p:nvPr/>
        </p:nvSpPr>
        <p:spPr>
          <a:xfrm>
            <a:off x="4709160" y="3749040"/>
            <a:ext cx="91440" cy="1316736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6" name="Shape 34"/>
          <p:cNvSpPr/>
          <p:nvPr/>
        </p:nvSpPr>
        <p:spPr>
          <a:xfrm>
            <a:off x="4937760" y="3840480"/>
            <a:ext cx="365760" cy="365760"/>
          </a:xfrm>
          <a:prstGeom prst="ellipse">
            <a:avLst/>
          </a:prstGeom>
          <a:solidFill>
            <a:srgbClr val="2B6CB0">
              <a:alpha val="85000"/>
            </a:srgbClr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7" name="Text 35"/>
          <p:cNvSpPr/>
          <p:nvPr/>
        </p:nvSpPr>
        <p:spPr>
          <a:xfrm>
            <a:off x="4937760" y="3840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22392" y="3822192"/>
            <a:ext cx="33649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Відповідальність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422392" y="4206240"/>
            <a:ext cx="33649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Хто несе відповідальність за шкідливий рекомендований контент: платформа, алгоритм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 та перспективи розвитку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04088"/>
            <a:ext cx="8229600" cy="457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4187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4187952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Рекомендаційні системи еволюціонували від простих правил до складних нейронних архітектур з LLM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системи поєднують MF, GNN, Transformer та RL для досягнення найвищої якості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ключові виклики залишаються: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холодний старт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алгоритмічна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упередженість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вимірюється комплексно: точність + різноманітність + новизна + бізнес-показники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54880" y="841248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Перспективи дослідження: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54880" y="1170432"/>
            <a:ext cx="402336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AI — пояснюваність рекомендацій для довіри та регуляторних вимог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Learning — персоналізація без передачі сирих даних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сервер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Мультимодальні системи — інтеграція тексту, зображень, аудіо та відео в єдину модель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RecSys — діалогові системи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базі LLM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RL — адаптація рекомендацій у режимі реального часу</a:t>
            </a:r>
            <a:endParaRPr lang="en-US" sz="1250" dirty="0"/>
          </a:p>
        </p:txBody>
      </p:sp>
      <p:pic>
        <p:nvPicPr>
          <p:cNvPr id="11" name="Picture 10" descr="A blue and white rocket&#10;&#10;AI-generated content may be incorrect.">
            <a:extLst>
              <a:ext uri="{FF2B5EF4-FFF2-40B4-BE49-F238E27FC236}">
                <a16:creationId xmlns:a16="http://schemas.microsoft.com/office/drawing/2014/main" id="{D34B6B27-82C2-2BDB-FA57-C9AD3F5AD35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7816" y="3721608"/>
            <a:ext cx="998580" cy="99858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0A10EE-BB6A-603C-76D0-692E769209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3014" y="3721608"/>
            <a:ext cx="998580" cy="9985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84048" y="45720"/>
            <a:ext cx="8375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Контрольне запитання 1 / </a:t>
            </a:r>
            <a:r>
              <a:rPr lang="uk-UA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84048" y="338328"/>
            <a:ext cx="83759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Яке з тверджень найточніше описує призначення рекомендаційної системи?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0" y="969264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347472" y="1097280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7" name="Shape 5"/>
          <p:cNvSpPr/>
          <p:nvPr/>
        </p:nvSpPr>
        <p:spPr>
          <a:xfrm>
            <a:off x="347472" y="1097280"/>
            <a:ext cx="548640" cy="548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Text 6"/>
          <p:cNvSpPr/>
          <p:nvPr/>
        </p:nvSpPr>
        <p:spPr>
          <a:xfrm>
            <a:off x="347472" y="1097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87552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26464" y="1161288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Система, що індексує та шукає документи за ключовими словами у великих базах даних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47472" y="1702613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2" name="Shape 10"/>
          <p:cNvSpPr/>
          <p:nvPr/>
        </p:nvSpPr>
        <p:spPr>
          <a:xfrm>
            <a:off x="347472" y="1702613"/>
            <a:ext cx="54864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1"/>
          <p:cNvSpPr/>
          <p:nvPr/>
        </p:nvSpPr>
        <p:spPr>
          <a:xfrm>
            <a:off x="347472" y="1702613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87552" y="179405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26464" y="1766621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Алгоритм, який автоматично прогнозує вподобання користувача та пропонує релевантні об'єкти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" y="2307946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347472" y="2307946"/>
            <a:ext cx="548640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347472" y="230794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87552" y="239938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426464" y="2371954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Підсистема аутентифікації для персоналізованого доступу до захищеного контенту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47472" y="2913278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2" name="Shape 20"/>
          <p:cNvSpPr/>
          <p:nvPr/>
        </p:nvSpPr>
        <p:spPr>
          <a:xfrm>
            <a:off x="347472" y="2913278"/>
            <a:ext cx="548640" cy="548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3" name="Text 21"/>
          <p:cNvSpPr/>
          <p:nvPr/>
        </p:nvSpPr>
        <p:spPr>
          <a:xfrm>
            <a:off x="347472" y="291327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87552" y="300471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426464" y="2977286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Статистична модель для аналізу часових рядів та прогнозування попиту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товари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47472" y="3518611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7" name="Shape 25"/>
          <p:cNvSpPr/>
          <p:nvPr/>
        </p:nvSpPr>
        <p:spPr>
          <a:xfrm>
            <a:off x="347472" y="3518611"/>
            <a:ext cx="548640" cy="5486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8" name="Text 26"/>
          <p:cNvSpPr/>
          <p:nvPr/>
        </p:nvSpPr>
        <p:spPr>
          <a:xfrm>
            <a:off x="347472" y="3518611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87552" y="3610051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426464" y="3582619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 кластеризації даних для групування схожих користувачів без врахування вподобань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0" y="4672584"/>
            <a:ext cx="9144000" cy="470916"/>
          </a:xfrm>
          <a:prstGeom prst="rect">
            <a:avLst/>
          </a:prstGeom>
          <a:solidFill>
            <a:srgbClr val="ECFAEA"/>
          </a:solidFill>
          <a:ln w="12700">
            <a:noFill/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2" name="Text 30"/>
          <p:cNvSpPr/>
          <p:nvPr/>
        </p:nvSpPr>
        <p:spPr>
          <a:xfrm>
            <a:off x="384048" y="4709160"/>
            <a:ext cx="8375904" cy="3977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✔  Правильна відповідь: Б — Рекомендаційна система — інформаційно-фільтруючий алгоритм, що прогнозує вподобання та пропонує релевантні items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84048" y="45720"/>
            <a:ext cx="8375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Контрольне запитання 2 / </a:t>
            </a:r>
            <a:r>
              <a:rPr lang="uk-UA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84048" y="338328"/>
            <a:ext cx="83759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Яка ключова характеристика </a:t>
            </a:r>
            <a:r>
              <a:rPr lang="en-US" sz="15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відрізняє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фільтрація на основі контенту (ФНЗ)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від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5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колаборативної</a:t>
            </a:r>
            <a:r>
              <a:rPr lang="uk-UA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(КФ)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0" y="969264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347472" y="1097280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7" name="Shape 5"/>
          <p:cNvSpPr/>
          <p:nvPr/>
        </p:nvSpPr>
        <p:spPr>
          <a:xfrm>
            <a:off x="347472" y="1097280"/>
            <a:ext cx="548640" cy="548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Text 6"/>
          <p:cNvSpPr/>
          <p:nvPr/>
        </p:nvSpPr>
        <p:spPr>
          <a:xfrm>
            <a:off x="347472" y="1097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87552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26464" y="1161288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uk-UA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ФНЗ п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отребує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великої кількості users для обчислення схожості та формування рекомендацій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47472" y="1702613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2" name="Shape 10"/>
          <p:cNvSpPr/>
          <p:nvPr/>
        </p:nvSpPr>
        <p:spPr>
          <a:xfrm>
            <a:off x="347472" y="1702613"/>
            <a:ext cx="54864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1"/>
          <p:cNvSpPr/>
          <p:nvPr/>
        </p:nvSpPr>
        <p:spPr>
          <a:xfrm>
            <a:off x="347472" y="1702613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87552" y="179405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26464" y="1766621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uk-UA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ФНЗ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аналізує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ознаки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самих об'єктів і не потребує даних про інших користувачів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" y="2307946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347472" y="2307946"/>
            <a:ext cx="548640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347472" y="230794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87552" y="239938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426464" y="2371954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uk-UA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ФНЗ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використовує матричну факторизацію для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розкладу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користувач-елемент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матриці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фактори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47472" y="2913278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2" name="Shape 20"/>
          <p:cNvSpPr/>
          <p:nvPr/>
        </p:nvSpPr>
        <p:spPr>
          <a:xfrm>
            <a:off x="347472" y="2913278"/>
            <a:ext cx="548640" cy="548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3" name="Text 21"/>
          <p:cNvSpPr/>
          <p:nvPr/>
        </p:nvSpPr>
        <p:spPr>
          <a:xfrm>
            <a:off x="347472" y="291327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87552" y="300471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426464" y="2977286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uk-UA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ФНЗ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базується виключно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явних числових оцінках (рейтингах) від усіх користувачів системи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0" y="4672584"/>
            <a:ext cx="9144000" cy="470916"/>
          </a:xfrm>
          <a:prstGeom prst="rect">
            <a:avLst/>
          </a:prstGeom>
          <a:solidFill>
            <a:srgbClr val="ECFAEA"/>
          </a:solidFill>
          <a:ln w="12700">
            <a:noFill/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7" name="Text 25"/>
          <p:cNvSpPr/>
          <p:nvPr/>
        </p:nvSpPr>
        <p:spPr>
          <a:xfrm>
            <a:off x="384048" y="4709160"/>
            <a:ext cx="8375904" cy="3977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✔  Правильна відповідь: Б </a:t>
            </a:r>
            <a:r>
              <a:rPr lang="uk-UA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ФНЗ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аналізує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ознаки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самих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об'єктів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і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потребує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інших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84048" y="45720"/>
            <a:ext cx="8375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Контрольне запитання 3 / </a:t>
            </a:r>
            <a:r>
              <a:rPr lang="uk-UA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84048" y="338328"/>
            <a:ext cx="83759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Чому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фільтрація на основі елементів </a:t>
            </a:r>
            <a:r>
              <a:rPr lang="en-US" sz="15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зазвичай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масштабується краще, </a:t>
            </a:r>
            <a:r>
              <a:rPr lang="en-US" sz="15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ніж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на основі користувачів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0" y="969264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347472" y="1097280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7" name="Shape 5"/>
          <p:cNvSpPr/>
          <p:nvPr/>
        </p:nvSpPr>
        <p:spPr>
          <a:xfrm>
            <a:off x="347472" y="1097280"/>
            <a:ext cx="548640" cy="548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Text 6"/>
          <p:cNvSpPr/>
          <p:nvPr/>
        </p:nvSpPr>
        <p:spPr>
          <a:xfrm>
            <a:off x="347472" y="1097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87552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26464" y="1161288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Матриця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схожості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є стабільнішою та оновлюється рідше, ніж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матриця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47472" y="1702613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2" name="Shape 10"/>
          <p:cNvSpPr/>
          <p:nvPr/>
        </p:nvSpPr>
        <p:spPr>
          <a:xfrm>
            <a:off x="347472" y="1702613"/>
            <a:ext cx="54864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1"/>
          <p:cNvSpPr/>
          <p:nvPr/>
        </p:nvSpPr>
        <p:spPr>
          <a:xfrm>
            <a:off x="347472" y="1702613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87552" y="179405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26464" y="1766621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Фільтрація на основі користувачів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потребує обчислення косинусної схожості між векторами вподобань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" y="2307946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347472" y="2307946"/>
            <a:ext cx="548640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347472" y="230794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87552" y="239938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426464" y="2371954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Кількість товарів у каталозі завжди менша за кількість зареєстрованих користувачів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47472" y="2913278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2" name="Shape 20"/>
          <p:cNvSpPr/>
          <p:nvPr/>
        </p:nvSpPr>
        <p:spPr>
          <a:xfrm>
            <a:off x="347472" y="2913278"/>
            <a:ext cx="548640" cy="548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3" name="Text 21"/>
          <p:cNvSpPr/>
          <p:nvPr/>
        </p:nvSpPr>
        <p:spPr>
          <a:xfrm>
            <a:off x="347472" y="291327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87552" y="300471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426464" y="2977286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Фільтрація на основі елементів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використовує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глибокі нейромережі, тоді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основана на користувачах 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лише евристики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0" y="4672584"/>
            <a:ext cx="9144000" cy="470916"/>
          </a:xfrm>
          <a:prstGeom prst="rect">
            <a:avLst/>
          </a:prstGeom>
          <a:solidFill>
            <a:srgbClr val="ECFAEA"/>
          </a:solidFill>
          <a:ln w="12700">
            <a:noFill/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7" name="Text 25"/>
          <p:cNvSpPr/>
          <p:nvPr/>
        </p:nvSpPr>
        <p:spPr>
          <a:xfrm>
            <a:off x="384048" y="4709160"/>
            <a:ext cx="8375904" cy="3977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✔  Правильна відповідь: А —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Матриця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схожості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є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стабільнішою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оновлюється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рідше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ніж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матриця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84048" y="45720"/>
            <a:ext cx="8375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Контрольне </a:t>
            </a:r>
            <a:r>
              <a:rPr lang="en-US" sz="1200" i="1" dirty="0" err="1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запитання</a:t>
            </a: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uk-UA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84048" y="338328"/>
            <a:ext cx="83759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Яка зі стратегій НЕ є типовим способом </a:t>
            </a:r>
            <a:r>
              <a:rPr lang="en-US" sz="15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пом'якшення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проблеми</a:t>
            </a:r>
            <a:r>
              <a:rPr lang="uk-UA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холодного старту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для нового користувача?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0" y="969264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347472" y="1097280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7" name="Shape 5"/>
          <p:cNvSpPr/>
          <p:nvPr/>
        </p:nvSpPr>
        <p:spPr>
          <a:xfrm>
            <a:off x="347472" y="1097280"/>
            <a:ext cx="548640" cy="548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Text 6"/>
          <p:cNvSpPr/>
          <p:nvPr/>
        </p:nvSpPr>
        <p:spPr>
          <a:xfrm>
            <a:off x="347472" y="1097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87552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26464" y="1161288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Вхідні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опитування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явне з'ясування інтересів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нового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під час реєстрації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47472" y="1702613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2" name="Shape 10"/>
          <p:cNvSpPr/>
          <p:nvPr/>
        </p:nvSpPr>
        <p:spPr>
          <a:xfrm>
            <a:off x="347472" y="1702613"/>
            <a:ext cx="54864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1"/>
          <p:cNvSpPr/>
          <p:nvPr/>
        </p:nvSpPr>
        <p:spPr>
          <a:xfrm>
            <a:off x="347472" y="1702613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87552" y="179405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26464" y="1766621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Рекомендації за демографічними ознаками (вік, геолокація, мова) без персональних даних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" y="2307946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347472" y="2307946"/>
            <a:ext cx="548640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347472" y="230794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87552" y="239938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426464" y="2371954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Збільшення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розмірності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простору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матричної факторизації до 1024 факторів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47472" y="2913278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2" name="Shape 20"/>
          <p:cNvSpPr/>
          <p:nvPr/>
        </p:nvSpPr>
        <p:spPr>
          <a:xfrm>
            <a:off x="347472" y="2913278"/>
            <a:ext cx="548640" cy="548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3" name="Text 21"/>
          <p:cNvSpPr/>
          <p:nvPr/>
        </p:nvSpPr>
        <p:spPr>
          <a:xfrm>
            <a:off x="347472" y="291327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87552" y="300471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426464" y="2977286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екомендації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основі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глобально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популярного контенту для всіх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нових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0" y="4672584"/>
            <a:ext cx="9144000" cy="470916"/>
          </a:xfrm>
          <a:prstGeom prst="rect">
            <a:avLst/>
          </a:prstGeom>
          <a:solidFill>
            <a:srgbClr val="ECFAEA"/>
          </a:solidFill>
          <a:ln w="12700">
            <a:noFill/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7" name="Text 25"/>
          <p:cNvSpPr/>
          <p:nvPr/>
        </p:nvSpPr>
        <p:spPr>
          <a:xfrm>
            <a:off x="384048" y="4709160"/>
            <a:ext cx="8375904" cy="3977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✔  Правильна відповідь: В — </a:t>
            </a:r>
            <a:r>
              <a:rPr lang="en-US" sz="11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Збільшення</a:t>
            </a: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факторів</a:t>
            </a: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не </a:t>
            </a:r>
            <a:r>
              <a:rPr lang="en-US" sz="11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вирішує</a:t>
            </a: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проблему </a:t>
            </a: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— для </a:t>
            </a:r>
            <a:r>
              <a:rPr lang="en-US" sz="11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нового</a:t>
            </a: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всеодно</a:t>
            </a:r>
            <a:r>
              <a:rPr lang="uk-UA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немає</a:t>
            </a: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взаємодій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84048" y="45720"/>
            <a:ext cx="8375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Контрольне </a:t>
            </a:r>
            <a:r>
              <a:rPr lang="en-US" sz="1200" i="1" dirty="0" err="1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запитання</a:t>
            </a: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uk-UA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84048" y="338328"/>
            <a:ext cx="83759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Яка метрика враховує позицію </a:t>
            </a:r>
            <a:r>
              <a:rPr lang="en-US" sz="15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елемента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у ранжованому списку, штрафуючи за низькі позиції?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0" y="969264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347472" y="1097280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7" name="Shape 5"/>
          <p:cNvSpPr/>
          <p:nvPr/>
        </p:nvSpPr>
        <p:spPr>
          <a:xfrm>
            <a:off x="347472" y="1097280"/>
            <a:ext cx="548640" cy="548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Text 6"/>
          <p:cNvSpPr/>
          <p:nvPr/>
        </p:nvSpPr>
        <p:spPr>
          <a:xfrm>
            <a:off x="347472" y="1097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87552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26464" y="1161288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 — частка релевантних items серед перших k рекомендацій, незалежно від позиції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47472" y="1702613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2" name="Shape 10"/>
          <p:cNvSpPr/>
          <p:nvPr/>
        </p:nvSpPr>
        <p:spPr>
          <a:xfrm>
            <a:off x="347472" y="1702613"/>
            <a:ext cx="54864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1"/>
          <p:cNvSpPr/>
          <p:nvPr/>
        </p:nvSpPr>
        <p:spPr>
          <a:xfrm>
            <a:off x="347472" y="1702613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87552" y="179405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26464" y="1766621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Recall@k — частка знайдених релевантних items від загальної їх кількості у каталозі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" y="2307946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347472" y="2307946"/>
            <a:ext cx="548640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347472" y="230794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87552" y="239938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426464" y="2371954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NDCG@k — нормалізований дисконтований кумулятивний прибуток: вищі позиції мають більшу вагу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47472" y="2913278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2" name="Shape 20"/>
          <p:cNvSpPr/>
          <p:nvPr/>
        </p:nvSpPr>
        <p:spPr>
          <a:xfrm>
            <a:off x="347472" y="2913278"/>
            <a:ext cx="548640" cy="548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3" name="Text 21"/>
          <p:cNvSpPr/>
          <p:nvPr/>
        </p:nvSpPr>
        <p:spPr>
          <a:xfrm>
            <a:off x="347472" y="291327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87552" y="300471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426464" y="2977286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Rate@k — бінарна метрика: чи потрапив хоча б один релевантний item у top-k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47472" y="3518611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7" name="Shape 25"/>
          <p:cNvSpPr/>
          <p:nvPr/>
        </p:nvSpPr>
        <p:spPr>
          <a:xfrm>
            <a:off x="347472" y="3518611"/>
            <a:ext cx="548640" cy="5486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8" name="Text 26"/>
          <p:cNvSpPr/>
          <p:nvPr/>
        </p:nvSpPr>
        <p:spPr>
          <a:xfrm>
            <a:off x="347472" y="3518611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87552" y="3610051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426464" y="3582619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— квадратний корінь із середньої квадратичної похибки між прогнозами та реальними оцінками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0" y="4672584"/>
            <a:ext cx="9144000" cy="470916"/>
          </a:xfrm>
          <a:prstGeom prst="rect">
            <a:avLst/>
          </a:prstGeom>
          <a:solidFill>
            <a:srgbClr val="ECFAEA"/>
          </a:solidFill>
          <a:ln w="12700">
            <a:noFill/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2" name="Text 30"/>
          <p:cNvSpPr/>
          <p:nvPr/>
        </p:nvSpPr>
        <p:spPr>
          <a:xfrm>
            <a:off x="384048" y="4709160"/>
            <a:ext cx="8375904" cy="397764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✔  Правильна відповідь: В — NDCG@k дисконтує прибуток за log2(позиція+1): item </a:t>
            </a:r>
            <a:r>
              <a:rPr lang="en-US" sz="11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1-му місці цінується значно вище, ніж </a:t>
            </a:r>
            <a:r>
              <a:rPr lang="en-US" sz="11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10-му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759</TotalTime>
  <Words>8417</Words>
  <Application>Microsoft Office PowerPoint</Application>
  <PresentationFormat>Екран (16:9)</PresentationFormat>
  <Paragraphs>742</Paragraphs>
  <Slides>30</Slides>
  <Notes>30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30</vt:i4>
      </vt:variant>
    </vt:vector>
  </HeadingPairs>
  <TitlesOfParts>
    <vt:vector size="40" baseType="lpstr">
      <vt:lpstr>Arial</vt:lpstr>
      <vt:lpstr>Calibri</vt:lpstr>
      <vt:lpstr>Calibri Light</vt:lpstr>
      <vt:lpstr>Cambria</vt:lpstr>
      <vt:lpstr>Consolas</vt:lpstr>
      <vt:lpstr>Segoe UI Emoji</vt:lpstr>
      <vt:lpstr>Segoe UI Symbol</vt:lpstr>
      <vt:lpstr>Times New Roman</vt:lpstr>
      <vt:lpstr>Wingdings</vt:lpstr>
      <vt:lpstr>Office 2013 - 2022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Рекомендаційні системи: теоретичні підходи</dc:title>
  <dc:subject>PptxGenJS Presentation</dc:subject>
  <dc:creator>PptxGenJS</dc:creator>
  <cp:lastModifiedBy>Романюк Богдан</cp:lastModifiedBy>
  <cp:revision>222</cp:revision>
  <dcterms:created xsi:type="dcterms:W3CDTF">2026-04-24T15:45:58Z</dcterms:created>
  <dcterms:modified xsi:type="dcterms:W3CDTF">2026-05-06T20:45:32Z</dcterms:modified>
</cp:coreProperties>
</file>
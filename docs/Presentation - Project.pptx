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21C97A"/>
    <a:srgbClr val="DAF5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133" autoAdjust="0"/>
  </p:normalViewPr>
  <p:slideViewPr>
    <p:cSldViewPr snapToGrid="0" snapToObjects="1">
      <p:cViewPr varScale="1">
        <p:scale>
          <a:sx n="138" d="100"/>
          <a:sy n="138" d="100"/>
        </p:scale>
        <p:origin x="1162"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Recall@k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8.5699999999999998E-2</c:v>
                </c:pt>
                <c:pt idx="1">
                  <c:v>0.15210000000000001</c:v>
                </c:pt>
                <c:pt idx="2">
                  <c:v>0.20979999999999999</c:v>
                </c:pt>
                <c:pt idx="3">
                  <c:v>0.25290000000000001</c:v>
                </c:pt>
              </c:numCache>
            </c:numRef>
          </c:val>
          <c:extLst>
            <c:ext xmlns:c16="http://schemas.microsoft.com/office/drawing/2014/chart" uri="{C3380CC4-5D6E-409C-BE32-E72D297353CC}">
              <c16:uniqueId val="{00000000-FD2F-4796-9F8B-1642F79BA637}"/>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0.20030000000000001</c:v>
                </c:pt>
                <c:pt idx="1">
                  <c:v>0.30830000000000002</c:v>
                </c:pt>
                <c:pt idx="2">
                  <c:v>0.3629</c:v>
                </c:pt>
                <c:pt idx="3">
                  <c:v>0.41010000000000002</c:v>
                </c:pt>
              </c:numCache>
            </c:numRef>
          </c:val>
          <c:extLst>
            <c:ext xmlns:c16="http://schemas.microsoft.com/office/drawing/2014/chart" uri="{C3380CC4-5D6E-409C-BE32-E72D297353CC}">
              <c16:uniqueId val="{00000001-FD2F-4796-9F8B-1642F79BA637}"/>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NDCG@k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5.33E-2</c:v>
                </c:pt>
                <c:pt idx="1">
                  <c:v>7.4399999999999994E-2</c:v>
                </c:pt>
                <c:pt idx="2">
                  <c:v>8.9599999999999999E-2</c:v>
                </c:pt>
                <c:pt idx="3">
                  <c:v>9.9900000000000003E-2</c:v>
                </c:pt>
              </c:numCache>
            </c:numRef>
          </c:val>
          <c:extLst>
            <c:ext xmlns:c16="http://schemas.microsoft.com/office/drawing/2014/chart" uri="{C3380CC4-5D6E-409C-BE32-E72D297353CC}">
              <c16:uniqueId val="{00000000-41CA-4968-975D-AC503237A0AB}"/>
            </c:ext>
          </c:extLst>
        </c:ser>
        <c:ser>
          <c:idx val="1"/>
          <c:order val="1"/>
          <c:tx>
            <c:strRef>
              <c:f>Sheet1!$C$1</c:f>
              <c:strCache>
                <c:ptCount val="1"/>
                <c:pt idx="0">
                  <c:v>Запропонована</c:v>
                </c:pt>
              </c:strCache>
            </c:strRef>
          </c:tx>
          <c:spPr>
            <a:solidFill>
              <a:schemeClr val="accent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0.124</c:v>
                </c:pt>
                <c:pt idx="1">
                  <c:v>0.15870000000000001</c:v>
                </c:pt>
                <c:pt idx="2">
                  <c:v>0.17269999999999999</c:v>
                </c:pt>
                <c:pt idx="3">
                  <c:v>0.18410000000000001</c:v>
                </c:pt>
              </c:numCache>
            </c:numRef>
          </c:val>
          <c:extLst>
            <c:ext xmlns:c16="http://schemas.microsoft.com/office/drawing/2014/chart" uri="{C3380CC4-5D6E-409C-BE32-E72D297353CC}">
              <c16:uniqueId val="{00000001-41CA-4968-975D-AC503237A0AB}"/>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Coverage@k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0.22969999999999999</c:v>
                </c:pt>
                <c:pt idx="1">
                  <c:v>0.33079999999999998</c:v>
                </c:pt>
                <c:pt idx="2">
                  <c:v>0.4254</c:v>
                </c:pt>
                <c:pt idx="3">
                  <c:v>0.50349999999999995</c:v>
                </c:pt>
              </c:numCache>
            </c:numRef>
          </c:val>
          <c:extLst>
            <c:ext xmlns:c16="http://schemas.microsoft.com/office/drawing/2014/chart" uri="{C3380CC4-5D6E-409C-BE32-E72D297353CC}">
              <c16:uniqueId val="{00000000-E618-4B3E-BBB8-FCEC12675FA2}"/>
            </c:ext>
          </c:extLst>
        </c:ser>
        <c:ser>
          <c:idx val="1"/>
          <c:order val="1"/>
          <c:tx>
            <c:strRef>
              <c:f>Sheet1!$C$1</c:f>
              <c:strCache>
                <c:ptCount val="1"/>
                <c:pt idx="0">
                  <c:v>Запропонована</c:v>
                </c:pt>
              </c:strCache>
            </c:strRef>
          </c:tx>
          <c:spPr>
            <a:solidFill>
              <a:schemeClr val="accent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0.30249999999999999</c:v>
                </c:pt>
                <c:pt idx="1">
                  <c:v>0.42820000000000003</c:v>
                </c:pt>
                <c:pt idx="2">
                  <c:v>0.54700000000000004</c:v>
                </c:pt>
                <c:pt idx="3">
                  <c:v>0.63219999999999998</c:v>
                </c:pt>
              </c:numCache>
            </c:numRef>
          </c:val>
          <c:extLst>
            <c:ext xmlns:c16="http://schemas.microsoft.com/office/drawing/2014/chart" uri="{C3380CC4-5D6E-409C-BE32-E72D297353CC}">
              <c16:uniqueId val="{00000001-E618-4B3E-BBB8-FCEC12675FA2}"/>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Recall@k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6.8199999999999997E-2</c:v>
                </c:pt>
                <c:pt idx="1">
                  <c:v>0.129</c:v>
                </c:pt>
                <c:pt idx="2">
                  <c:v>0.18279999999999999</c:v>
                </c:pt>
                <c:pt idx="3">
                  <c:v>0.23530000000000001</c:v>
                </c:pt>
              </c:numCache>
            </c:numRef>
          </c:val>
          <c:extLst>
            <c:ext xmlns:c16="http://schemas.microsoft.com/office/drawing/2014/chart" uri="{C3380CC4-5D6E-409C-BE32-E72D297353CC}">
              <c16:uniqueId val="{00000000-43EA-49A4-A9D9-1A9D37ACB131}"/>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0.1361</c:v>
                </c:pt>
                <c:pt idx="1">
                  <c:v>0.21410000000000001</c:v>
                </c:pt>
                <c:pt idx="2">
                  <c:v>0.26329999999999998</c:v>
                </c:pt>
                <c:pt idx="3">
                  <c:v>0.30780000000000002</c:v>
                </c:pt>
              </c:numCache>
            </c:numRef>
          </c:val>
          <c:extLst>
            <c:ext xmlns:c16="http://schemas.microsoft.com/office/drawing/2014/chart" uri="{C3380CC4-5D6E-409C-BE32-E72D297353CC}">
              <c16:uniqueId val="{00000001-43EA-49A4-A9D9-1A9D37ACB131}"/>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NDCG@k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4.1200000000000001E-2</c:v>
                </c:pt>
                <c:pt idx="1">
                  <c:v>6.0699999999999997E-2</c:v>
                </c:pt>
                <c:pt idx="2">
                  <c:v>7.4800000000000005E-2</c:v>
                </c:pt>
                <c:pt idx="3">
                  <c:v>8.72E-2</c:v>
                </c:pt>
              </c:numCache>
            </c:numRef>
          </c:val>
          <c:extLst>
            <c:ext xmlns:c16="http://schemas.microsoft.com/office/drawing/2014/chart" uri="{C3380CC4-5D6E-409C-BE32-E72D297353CC}">
              <c16:uniqueId val="{00000000-F5E6-4D1A-AAE0-B9F36A6AA058}"/>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8.3299999999999999E-2</c:v>
                </c:pt>
                <c:pt idx="1">
                  <c:v>0.108</c:v>
                </c:pt>
                <c:pt idx="2">
                  <c:v>0.12130000000000001</c:v>
                </c:pt>
                <c:pt idx="3">
                  <c:v>0.1321</c:v>
                </c:pt>
              </c:numCache>
            </c:numRef>
          </c:val>
          <c:extLst>
            <c:ext xmlns:c16="http://schemas.microsoft.com/office/drawing/2014/chart" uri="{C3380CC4-5D6E-409C-BE32-E72D297353CC}">
              <c16:uniqueId val="{00000001-F5E6-4D1A-AAE0-B9F36A6AA058}"/>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Coverage@k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0.16070000000000001</c:v>
                </c:pt>
                <c:pt idx="1">
                  <c:v>0.24970000000000001</c:v>
                </c:pt>
                <c:pt idx="2">
                  <c:v>0.32779999999999998</c:v>
                </c:pt>
                <c:pt idx="3">
                  <c:v>0.40489999999999998</c:v>
                </c:pt>
              </c:numCache>
            </c:numRef>
          </c:val>
          <c:extLst>
            <c:ext xmlns:c16="http://schemas.microsoft.com/office/drawing/2014/chart" uri="{C3380CC4-5D6E-409C-BE32-E72D297353CC}">
              <c16:uniqueId val="{00000000-C381-475C-95AE-57BFFA6718A0}"/>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0.20599999999999999</c:v>
                </c:pt>
                <c:pt idx="1">
                  <c:v>0.33710000000000001</c:v>
                </c:pt>
                <c:pt idx="2">
                  <c:v>0.43890000000000001</c:v>
                </c:pt>
                <c:pt idx="3">
                  <c:v>0.55189999999999995</c:v>
                </c:pt>
              </c:numCache>
            </c:numRef>
          </c:val>
          <c:extLst>
            <c:ext xmlns:c16="http://schemas.microsoft.com/office/drawing/2014/chart" uri="{C3380CC4-5D6E-409C-BE32-E72D297353CC}">
              <c16:uniqueId val="{00000001-C381-475C-95AE-57BFFA6718A0}"/>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774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Всіх вітаю, мене звати Богдан Романюк.
Я є аспірантом факультету прикладної математики та інформатики Львівського національного університету ім. Івана Франка і сьогодні ми поговоримо про розробку групової рекомендаційної системи з використанням машинного навчання з підкріпленням.</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Що таке рекомендація? </a:t>
            </a:r>
            <a:r>
              <a:rPr lang="uk-UA" b="1" noProof="0" dirty="0"/>
              <a:t>Рекомендація</a:t>
            </a:r>
            <a:r>
              <a:rPr lang="uk-UA" noProof="0" dirty="0"/>
              <a:t> — це процес підбору контенту або продуктів, які найкраще відповідають інтересам і потребам користувачів</a:t>
            </a:r>
            <a:r>
              <a:rPr lang="ru-RU" dirty="0"/>
              <a:t>.</a:t>
            </a:r>
            <a:r>
              <a:rPr lang="uk-UA" sz="1200" kern="1200" dirty="0">
                <a:solidFill>
                  <a:schemeClr val="tx1"/>
                </a:solidFill>
                <a:effectLst/>
                <a:latin typeface="+mn-lt"/>
                <a:ea typeface="+mn-ea"/>
                <a:cs typeface="+mn-cs"/>
              </a:rPr>
              <a:t> </a:t>
            </a:r>
          </a:p>
          <a:p>
            <a:r>
              <a:rPr lang="uk-UA" sz="1200" kern="1200" dirty="0">
                <a:solidFill>
                  <a:schemeClr val="tx1"/>
                </a:solidFill>
                <a:effectLst/>
                <a:latin typeface="+mn-lt"/>
                <a:ea typeface="+mn-ea"/>
                <a:cs typeface="+mn-cs"/>
              </a:rPr>
              <a:t>Актуальність застосування рекомендаційних систем зростає в умовах інформаційного перенасичення, адже обсяги доступної інформації постійно зростають, що ускладнює процес її ефективного пошуку та обробки. В багатьох випадках важливою </a:t>
            </a:r>
            <a:r>
              <a:rPr lang="uk-UA" noProof="0" dirty="0"/>
              <a:t>не просто рекомендувати щось одній людині, а формувати рекомендації для групи користувачів</a:t>
            </a:r>
            <a:r>
              <a:rPr lang="uk-UA" sz="1200" kern="1200" noProof="0" dirty="0">
                <a:solidFill>
                  <a:schemeClr val="tx1"/>
                </a:solidFill>
                <a:effectLst/>
                <a:latin typeface="+mn-lt"/>
                <a:ea typeface="+mn-ea"/>
                <a:cs typeface="+mn-cs"/>
              </a:rPr>
              <a:t>.</a:t>
            </a:r>
            <a:r>
              <a:rPr lang="uk-UA" sz="1200" kern="1200" dirty="0">
                <a:solidFill>
                  <a:schemeClr val="tx1"/>
                </a:solidFill>
                <a:effectLst/>
                <a:latin typeface="+mn-lt"/>
                <a:ea typeface="+mn-ea"/>
                <a:cs typeface="+mn-cs"/>
              </a:rPr>
              <a:t> Наприклад в системах потокового медіа, електронної комерції</a:t>
            </a:r>
            <a:r>
              <a:rPr lang="en-US" sz="1200" kern="1200" dirty="0">
                <a:solidFill>
                  <a:schemeClr val="tx1"/>
                </a:solidFill>
                <a:effectLst/>
                <a:latin typeface="+mn-lt"/>
                <a:ea typeface="+mn-ea"/>
                <a:cs typeface="+mn-cs"/>
              </a:rPr>
              <a:t> </a:t>
            </a:r>
            <a:r>
              <a:rPr lang="uk-UA" sz="1200" kern="1200" dirty="0">
                <a:solidFill>
                  <a:schemeClr val="tx1"/>
                </a:solidFill>
                <a:effectLst/>
                <a:latin typeface="+mn-lt"/>
                <a:ea typeface="+mn-ea"/>
                <a:cs typeface="+mn-cs"/>
              </a:rPr>
              <a:t>або туристичних сервісах</a:t>
            </a:r>
            <a:r>
              <a:rPr lang="ru-RU" dirty="0"/>
              <a:t>, </a:t>
            </a:r>
            <a:r>
              <a:rPr lang="uk-UA" noProof="0" dirty="0"/>
              <a:t>де рішення часто приймаються спільно</a:t>
            </a:r>
            <a:r>
              <a:rPr lang="ru-RU" dirty="0"/>
              <a:t>.</a:t>
            </a:r>
            <a:endParaRPr lang="uk-UA" sz="1200" kern="1200" dirty="0">
              <a:solidFill>
                <a:schemeClr val="tx1"/>
              </a:solidFill>
              <a:effectLst/>
              <a:latin typeface="+mn-lt"/>
              <a:ea typeface="+mn-ea"/>
              <a:cs typeface="+mn-cs"/>
            </a:endParaRPr>
          </a:p>
          <a:p>
            <a:r>
              <a:rPr lang="uk-UA" b="1" dirty="0"/>
              <a:t>Перспективних підходом </a:t>
            </a:r>
            <a:r>
              <a:rPr lang="uk-UA" dirty="0"/>
              <a:t>на сьогодні є використання </a:t>
            </a:r>
            <a:r>
              <a:rPr lang="uk-UA" b="1" dirty="0"/>
              <a:t>машинного навчання з підкріпленням</a:t>
            </a:r>
            <a:r>
              <a:rPr lang="uk-UA" dirty="0"/>
              <a:t>. Воно дозволяє розглядати рекомендації як задачу послідовного прийняття рішень, де система поступово навчається і оптимізує результат на основі довготривалої взаємодії з групою користувачів.</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b="1" noProof="0" dirty="0"/>
              <a:t>У межах дослідження було проаналізовано </a:t>
            </a:r>
            <a:r>
              <a:rPr lang="uk-UA" noProof="0" dirty="0"/>
              <a:t>чотири популярні моделі для групових рекомендацій</a:t>
            </a:r>
            <a:r>
              <a:rPr lang="ru-RU" dirty="0"/>
              <a:t>. </a:t>
            </a:r>
            <a:r>
              <a:rPr lang="uk-UA" noProof="0" dirty="0"/>
              <a:t>Кожна з них має як свої переваги так і недоліки</a:t>
            </a:r>
            <a:r>
              <a:rPr lang="uk-UA" dirty="0"/>
              <a:t>. Наприклад, одні краще враховують взаємодію між користувачами, інші — використовують механізми уваги або навіть машинне навчання з підкріпленням. Проте </a:t>
            </a:r>
            <a:r>
              <a:rPr lang="uk-UA" noProof="0" dirty="0"/>
              <a:t>більшість моделей працюють зі статичними профілями користувачів і фактично орієнтуються на </a:t>
            </a:r>
            <a:r>
              <a:rPr lang="uk-UA" noProof="0" dirty="0" err="1"/>
              <a:t>короткотривальний</a:t>
            </a:r>
            <a:r>
              <a:rPr lang="uk-UA" noProof="0" dirty="0"/>
              <a:t> результат — тобто “що порадити прямо зараз”, без урахування того, як інтереси змінюються з часом</a:t>
            </a:r>
            <a:r>
              <a:rPr lang="ru-RU" dirty="0"/>
              <a:t>. </a:t>
            </a:r>
            <a:r>
              <a:rPr lang="uk-UA" noProof="0" dirty="0"/>
              <a:t>Крім того, не всі підходи достатньо добре враховують вплив кожного учасника групи на спільне рішення — а це критично важливо, коли інтереси можуть відрізнятися.</a:t>
            </a:r>
            <a:endParaRPr lang="ru-RU" dirty="0"/>
          </a:p>
          <a:p>
            <a:r>
              <a:rPr lang="uk-UA" b="1" noProof="0" dirty="0"/>
              <a:t>Саме тому основна ідея роботи </a:t>
            </a:r>
            <a:r>
              <a:rPr lang="uk-UA" noProof="0" dirty="0"/>
              <a:t>— це побудувати систему</a:t>
            </a:r>
            <a:r>
              <a:rPr lang="ru-RU" dirty="0"/>
              <a:t>,</a:t>
            </a:r>
            <a:r>
              <a:rPr lang="uk-UA" noProof="0" dirty="0"/>
              <a:t> яка одночасно враховує динаміку зміни вподобань, орієнтується на довгострокову взаємодію і при цьому </a:t>
            </a:r>
            <a:r>
              <a:rPr lang="uk-UA" noProof="0" dirty="0" err="1"/>
              <a:t>коректно</a:t>
            </a:r>
            <a:r>
              <a:rPr lang="uk-UA" noProof="0" dirty="0"/>
              <a:t> моделює внесок кожного користувача під час прийняття спільного рішення.</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Навчання з підкріпленням базується на </a:t>
            </a:r>
            <a:r>
              <a:rPr lang="uk-UA" sz="1200" b="1" kern="1200" dirty="0">
                <a:solidFill>
                  <a:schemeClr val="tx1"/>
                </a:solidFill>
                <a:effectLst/>
                <a:latin typeface="+mn-lt"/>
                <a:ea typeface="+mn-ea"/>
                <a:cs typeface="+mn-cs"/>
              </a:rPr>
              <a:t>процесі прийняття рішень Маркова, в якому система навчається приймати рішення крок за кроком.</a:t>
            </a:r>
          </a:p>
          <a:p>
            <a:r>
              <a:rPr lang="uk-UA" noProof="0" dirty="0"/>
              <a:t>У цій моделі, як це зображено на рис. 1, рекомендаційна система виступає як агент, а середовище — це групи користувачів, елементи та історія взаємодій.</a:t>
            </a:r>
            <a:endParaRPr lang="uk-UA" sz="1200" b="1" kern="1200" dirty="0">
              <a:solidFill>
                <a:schemeClr val="tx1"/>
              </a:solidFill>
              <a:effectLst/>
              <a:latin typeface="+mn-lt"/>
              <a:ea typeface="+mn-ea"/>
              <a:cs typeface="+mn-cs"/>
            </a:endParaRPr>
          </a:p>
          <a:p>
            <a:r>
              <a:rPr lang="uk-UA" sz="1200" kern="1200" noProof="0" dirty="0">
                <a:solidFill>
                  <a:schemeClr val="tx1"/>
                </a:solidFill>
                <a:effectLst/>
                <a:latin typeface="+mn-lt"/>
                <a:ea typeface="+mn-ea"/>
                <a:cs typeface="+mn-cs"/>
              </a:rPr>
              <a:t>Агент отримує поточний стан групи, формує рекомендацію, і далі, в залежності від реакції користувачів — перегляд чи оцінка — отримує винагороду.</a:t>
            </a:r>
          </a:p>
          <a:p>
            <a:r>
              <a:rPr lang="uk-UA" noProof="0" dirty="0"/>
              <a:t>Цей процес повторюється багато разів, і за рахунок цього система поступово навчається давати кращі рекомендації. </a:t>
            </a:r>
          </a:p>
          <a:p>
            <a:r>
              <a:rPr lang="uk-UA" b="1" noProof="0" dirty="0"/>
              <a:t>Ключова ідея тут це максимізація сумарної винагороди</a:t>
            </a:r>
            <a:r>
              <a:rPr lang="uk-UA" noProof="0" dirty="0"/>
              <a:t>, тобто орієнтація на довгострокову залученість користувачів, а не тільки на миттєвий результат. Такий підхід дозволяє враховувати зміну інтересів з часом, працювати з великими обсягами даних і адаптуватись до поведінки користувачів.</a:t>
            </a:r>
            <a:endParaRPr lang="uk-UA" sz="1200" kern="1200" noProof="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b="1" kern="1200" dirty="0">
                <a:solidFill>
                  <a:schemeClr val="tx1"/>
                </a:solidFill>
                <a:effectLst/>
                <a:latin typeface="+mn-lt"/>
                <a:ea typeface="+mn-ea"/>
                <a:cs typeface="+mn-cs"/>
              </a:rPr>
              <a:t>Основною задачею дослідження</a:t>
            </a:r>
            <a:r>
              <a:rPr lang="uk-UA" sz="1200" kern="1200" dirty="0">
                <a:solidFill>
                  <a:schemeClr val="tx1"/>
                </a:solidFill>
                <a:effectLst/>
                <a:latin typeface="+mn-lt"/>
                <a:ea typeface="+mn-ea"/>
                <a:cs typeface="+mn-cs"/>
              </a:rPr>
              <a:t> є розробка групової рекомендаційної системи на основі машинного навчання з підкріпленням для підвищення ефективності та точності рекомендацій. </a:t>
            </a:r>
          </a:p>
          <a:p>
            <a:r>
              <a:rPr lang="uk-UA" sz="1200" b="1" kern="1200" dirty="0">
                <a:solidFill>
                  <a:schemeClr val="tx1"/>
                </a:solidFill>
                <a:effectLst/>
                <a:latin typeface="+mn-lt"/>
                <a:ea typeface="+mn-ea"/>
                <a:cs typeface="+mn-cs"/>
              </a:rPr>
              <a:t>В цьому контексті були поставлені наступні задачі:</a:t>
            </a:r>
            <a:endParaRPr lang="uk-UA" sz="1200" kern="1200" dirty="0">
              <a:solidFill>
                <a:schemeClr val="tx1"/>
              </a:solidFill>
              <a:effectLst/>
              <a:latin typeface="+mn-lt"/>
              <a:ea typeface="+mn-ea"/>
              <a:cs typeface="+mn-cs"/>
            </a:endParaRPr>
          </a:p>
          <a:p>
            <a:r>
              <a:rPr lang="uk-UA" dirty="0"/>
              <a:t>– підготовка набору даних та формування груп користувачів;</a:t>
            </a:r>
            <a:br>
              <a:rPr lang="uk-UA" dirty="0"/>
            </a:br>
            <a:r>
              <a:rPr lang="uk-UA" dirty="0"/>
              <a:t>– розробка моделі на основі архітектури Актор–Критик;</a:t>
            </a:r>
            <a:br>
              <a:rPr lang="uk-UA" dirty="0"/>
            </a:br>
            <a:r>
              <a:rPr lang="uk-UA" dirty="0"/>
              <a:t>– реалізація механізму врахування внеску кожного учасника групи;</a:t>
            </a:r>
            <a:br>
              <a:rPr lang="uk-UA" dirty="0"/>
            </a:br>
            <a:r>
              <a:rPr lang="uk-UA" dirty="0"/>
              <a:t>– навчання та тестування моделі;</a:t>
            </a:r>
            <a:br>
              <a:rPr lang="uk-UA" dirty="0"/>
            </a:br>
            <a:r>
              <a:rPr lang="uk-UA" dirty="0"/>
              <a:t>– порівняння отриманих результатів із базовим підходам.</a:t>
            </a:r>
          </a:p>
          <a:p>
            <a:r>
              <a:rPr lang="uk-UA" b="1" noProof="0" dirty="0"/>
              <a:t>Очікуваним результатом є </a:t>
            </a:r>
            <a:r>
              <a:rPr lang="uk-UA" noProof="0" dirty="0"/>
              <a:t>модель, яка формує більш релевантні групові рекомендації, краще адаптується до змін у вподобаннях користувачів та враховує їхню поведінку в довгостроковій перспективі</a:t>
            </a:r>
            <a:r>
              <a:rPr lang="uk-UA" sz="1200" kern="1200" dirty="0">
                <a:solidFill>
                  <a:schemeClr val="tx1"/>
                </a:solidFill>
                <a:effectLst/>
                <a:latin typeface="+mn-lt"/>
                <a:ea typeface="+mn-ea"/>
                <a:cs typeface="+mn-cs"/>
              </a:rPr>
              <a:t>.</a:t>
            </a:r>
          </a:p>
          <a:p>
            <a:endParaRPr lang="uk-UA"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Для навчання та тестування моделі було використано набір даних </a:t>
            </a:r>
            <a:r>
              <a:rPr lang="en-US" b="1" dirty="0"/>
              <a:t>MovieLens</a:t>
            </a:r>
            <a:r>
              <a:rPr lang="en-US" dirty="0"/>
              <a:t>, </a:t>
            </a:r>
            <a:r>
              <a:rPr lang="uk-UA" dirty="0"/>
              <a:t>який містить велику кількість взаємодій користувачів з фільмами</a:t>
            </a:r>
            <a:r>
              <a:rPr lang="en-US" dirty="0"/>
              <a:t> </a:t>
            </a:r>
            <a:r>
              <a:rPr lang="uk-UA" dirty="0"/>
              <a:t>з однойменного сайту. </a:t>
            </a:r>
            <a:r>
              <a:rPr lang="uk-UA" noProof="0" dirty="0"/>
              <a:t>На його основі було сформовано 1000 груп користувачів розміром від 2 до 4 осіб, при цьому кожна група має щонайменше 10 спільних взаємодій. </a:t>
            </a:r>
            <a:r>
              <a:rPr lang="uk-UA" dirty="0"/>
              <a:t>Оцінки користувачів в цьому наборів від 0 до 5.</a:t>
            </a:r>
            <a:r>
              <a:rPr lang="ru-RU" dirty="0"/>
              <a:t> </a:t>
            </a:r>
            <a:endParaRPr lang="en-US" noProof="0" dirty="0"/>
          </a:p>
          <a:p>
            <a:r>
              <a:rPr lang="uk-UA" b="1" dirty="0"/>
              <a:t>Для формування групової оцінки використовуються наступні правила:</a:t>
            </a:r>
            <a:br>
              <a:rPr lang="uk-UA" dirty="0"/>
            </a:br>
            <a:r>
              <a:rPr lang="uk-UA" dirty="0"/>
              <a:t>Якщо всі учасники групи оцінили фільм на 4 або вище — вважається що фільм оцінено позитивно і присвоюється групова оцінка 1.</a:t>
            </a:r>
            <a:br>
              <a:rPr lang="uk-UA" dirty="0"/>
            </a:br>
            <a:r>
              <a:rPr lang="uk-UA" dirty="0"/>
              <a:t>Якщо всі учасники групи оцінили певний фільм але принаймні половина учасників поставила менше 4 — це негативний випадок, оцінка 0.</a:t>
            </a:r>
          </a:p>
          <a:p>
            <a:r>
              <a:rPr lang="uk-UA" dirty="0"/>
              <a:t>Інші фільмі відкидаються.</a:t>
            </a:r>
            <a:r>
              <a:rPr lang="en-US" dirty="0"/>
              <a:t>
Статистика отриманого набору груп продемонстрована у таблиці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Схематично ідею побудови груп та формування групових оцінок відображено на рис. </a:t>
            </a:r>
            <a:r>
              <a:rPr lang="uk-UA" dirty="0"/>
              <a:t>1</a:t>
            </a:r>
            <a:r>
              <a:rPr lang="en-US" dirty="0"/>
              <a:t>.
На схемі видно, як індивідуальні оцінки користувачів (зелені — ≥ 4, червоні — &lt; 4) перетворюються у групові оцінки 1 або 0 для кожного елемента в межах сформованих груп g₁ та g₂.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Запропонована архітектурна модель </a:t>
            </a:r>
            <a:r>
              <a:rPr lang="uk-UA" sz="1200" b="1" kern="1200" dirty="0">
                <a:solidFill>
                  <a:schemeClr val="tx1"/>
                </a:solidFill>
                <a:effectLst/>
                <a:latin typeface="+mn-lt"/>
                <a:ea typeface="+mn-ea"/>
                <a:cs typeface="+mn-cs"/>
              </a:rPr>
              <a:t>складається з трьох нейронних мереж</a:t>
            </a:r>
            <a:r>
              <a:rPr lang="uk-UA" sz="1200" kern="1200" dirty="0">
                <a:solidFill>
                  <a:schemeClr val="tx1"/>
                </a:solidFill>
                <a:effectLst/>
                <a:latin typeface="+mn-lt"/>
                <a:ea typeface="+mn-ea"/>
                <a:cs typeface="+mn-cs"/>
              </a:rPr>
              <a:t>: Інтегратора, Актора та Критика, як це зображено на рис. 4</a:t>
            </a:r>
            <a:endParaRPr lang="en-US" sz="1200" kern="1200" dirty="0">
              <a:solidFill>
                <a:schemeClr val="tx1"/>
              </a:solidFill>
              <a:effectLst/>
              <a:latin typeface="+mn-lt"/>
              <a:ea typeface="+mn-ea"/>
              <a:cs typeface="+mn-cs"/>
            </a:endParaRPr>
          </a:p>
          <a:p>
            <a:r>
              <a:rPr lang="uk-UA" sz="1200" b="1" dirty="0">
                <a:solidFill>
                  <a:srgbClr val="00B0F0"/>
                </a:solidFill>
              </a:rPr>
              <a:t>Інтегратор </a:t>
            </a:r>
            <a:r>
              <a:rPr lang="uk-UA" sz="1200" dirty="0"/>
              <a:t>–</a:t>
            </a:r>
            <a:r>
              <a:rPr lang="en-US" sz="1200" dirty="0"/>
              <a:t> </a:t>
            </a:r>
            <a:r>
              <a:rPr lang="uk-UA" sz="1200" noProof="0" dirty="0"/>
              <a:t>формує векторне представлення стану групи на основі складу групи та історії її взаємодій. Модуль враховує внесок кожного учасника у спільне представлення. Результатом роботи є узагальнений вектор стану, який відображає поточні інтереси групи та контекст останніх взаємодій</a:t>
            </a:r>
            <a:r>
              <a:rPr lang="ru-RU" sz="1200" dirty="0"/>
              <a:t>.</a:t>
            </a:r>
          </a:p>
          <a:p>
            <a:r>
              <a:rPr lang="uk-UA" sz="1200" b="1" dirty="0">
                <a:solidFill>
                  <a:srgbClr val="00B0F0"/>
                </a:solidFill>
              </a:rPr>
              <a:t>Актор</a:t>
            </a:r>
            <a:r>
              <a:rPr lang="uk-UA" sz="1200" dirty="0">
                <a:solidFill>
                  <a:srgbClr val="00B0F0"/>
                </a:solidFill>
              </a:rPr>
              <a:t> </a:t>
            </a:r>
            <a:r>
              <a:rPr lang="uk-UA" sz="1200" dirty="0"/>
              <a:t>– відповідає за формування рекомендаційної стратегії на основі поточного стану групи. Результатом є вектор, що задає наближене подання рекомендації, на основі якого в подальшому здійснюється рекомендація.</a:t>
            </a:r>
            <a:endParaRPr lang="en-US" sz="1200" b="1" dirty="0">
              <a:solidFill>
                <a:srgbClr val="00CC99"/>
              </a:solidFill>
            </a:endParaRPr>
          </a:p>
          <a:p>
            <a:r>
              <a:rPr lang="uk-UA" sz="1200" b="1" dirty="0">
                <a:solidFill>
                  <a:srgbClr val="00CC99"/>
                </a:solidFill>
              </a:rPr>
              <a:t>Критик</a:t>
            </a:r>
            <a:r>
              <a:rPr lang="uk-UA" sz="1200" dirty="0">
                <a:solidFill>
                  <a:srgbClr val="00CC99"/>
                </a:solidFill>
              </a:rPr>
              <a:t> </a:t>
            </a:r>
            <a:r>
              <a:rPr lang="uk-UA" sz="1200" dirty="0"/>
              <a:t>– оцінює якість сформованої рекомендації. </a:t>
            </a:r>
            <a:r>
              <a:rPr lang="uk-UA" sz="1200" noProof="0" dirty="0"/>
              <a:t>На основі стану групи та сформованої наближеної рекомендації він обчислює Q-значення, яке характеризує якість обраної рекомендації. Отримана оцінка використовується для коригування параметрів Актора</a:t>
            </a:r>
            <a:endParaRPr lang="ru-RU" sz="1200" noProof="0" dirty="0"/>
          </a:p>
          <a:p>
            <a:r>
              <a:rPr lang="uk-UA" sz="1200" b="1" noProof="0" dirty="0"/>
              <a:t>Цю архітектуру реалізовано </a:t>
            </a:r>
            <a:r>
              <a:rPr lang="uk-UA" sz="1200" noProof="0" dirty="0"/>
              <a:t>з використанням пакету </a:t>
            </a:r>
            <a:r>
              <a:rPr lang="en-US" sz="1200" b="1" noProof="0" dirty="0"/>
              <a:t>PyTorch</a:t>
            </a:r>
            <a:r>
              <a:rPr lang="en-US" sz="1200" noProof="0" dirty="0"/>
              <a:t> </a:t>
            </a:r>
            <a:r>
              <a:rPr lang="uk-UA" sz="1200" noProof="0" dirty="0"/>
              <a:t>та мови програмування </a:t>
            </a:r>
            <a:r>
              <a:rPr lang="en-US" sz="1200" b="1" noProof="0" dirty="0"/>
              <a:t>Python</a:t>
            </a:r>
            <a:r>
              <a:rPr lang="en-US" sz="1200" noProof="0" dirty="0"/>
              <a:t>.</a:t>
            </a:r>
            <a:r>
              <a:rPr lang="ru-RU" sz="1200" noProof="0" dirty="0"/>
              <a:t> </a:t>
            </a:r>
            <a:endParaRPr lang="uk-UA" sz="1200" dirty="0"/>
          </a:p>
          <a:p>
            <a:pPr marL="285750" indent="-285750">
              <a:buFont typeface="Wingdings" panose="05000000000000000000" pitchFamily="2" charset="2"/>
              <a:buChar char="ü"/>
            </a:pPr>
            <a:endParaRPr lang="uk-UA" sz="12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b="1" dirty="0"/>
              <a:t>Інтегратор</a:t>
            </a:r>
            <a:r>
              <a:rPr lang="uk-UA" dirty="0"/>
              <a:t> у запропонованій моделі відповідає за формування </a:t>
            </a:r>
            <a:r>
              <a:rPr lang="uk-UA" b="1" dirty="0"/>
              <a:t>поточного стану групи</a:t>
            </a:r>
            <a:r>
              <a:rPr lang="uk-UA" dirty="0"/>
              <a:t>.</a:t>
            </a:r>
            <a:br>
              <a:rPr lang="uk-UA" dirty="0"/>
            </a:br>
            <a:r>
              <a:rPr lang="uk-UA" dirty="0"/>
              <a:t>На його вхід подаються дві складові: сама група користувачів і історія їхніх попередніх взаємодій з елементами.</a:t>
            </a:r>
          </a:p>
          <a:p>
            <a:r>
              <a:rPr lang="uk-UA" dirty="0"/>
              <a:t>Спочатку кожен користувач перетворюється на векторне представлення.</a:t>
            </a:r>
            <a:br>
              <a:rPr lang="uk-UA" dirty="0"/>
            </a:br>
            <a:r>
              <a:rPr lang="uk-UA" dirty="0"/>
              <a:t>Після цього застосовується механізм </a:t>
            </a:r>
            <a:r>
              <a:rPr lang="uk-UA" dirty="0" err="1"/>
              <a:t>самоуваги</a:t>
            </a:r>
            <a:r>
              <a:rPr lang="en-US" dirty="0"/>
              <a:t>, </a:t>
            </a:r>
            <a:r>
              <a:rPr lang="uk-UA" dirty="0"/>
              <a:t>який дає змогу врахувати взаємний вплив учасників групи один на одного.</a:t>
            </a:r>
            <a:br>
              <a:rPr lang="uk-UA" dirty="0"/>
            </a:br>
            <a:r>
              <a:rPr lang="uk-UA" dirty="0"/>
              <a:t>Тобто модель аналізує не лише те, хто входить до групи, а й те, як саме ці користувачі співвідносяться між собою в межах спільного вибору.</a:t>
            </a:r>
          </a:p>
          <a:p>
            <a:r>
              <a:rPr lang="uk-UA" dirty="0"/>
              <a:t>Далі початкові та оновлені користувацькі представлення об’єднуються, і на цій основі формується узагальнене представлення всієї групи.</a:t>
            </a:r>
          </a:p>
          <a:p>
            <a:r>
              <a:rPr lang="uk-UA" b="1" dirty="0"/>
              <a:t>Історія взаємодій </a:t>
            </a:r>
            <a:r>
              <a:rPr lang="uk-UA" dirty="0"/>
              <a:t>опрацьовується окремо. Для цього беруться останні </a:t>
            </a:r>
            <a:r>
              <a:rPr lang="en-US" dirty="0"/>
              <a:t>N </a:t>
            </a:r>
            <a:r>
              <a:rPr lang="uk-UA" dirty="0"/>
              <a:t>елементів, кожен із яких також перетворюється у вектор ознак, після чого ці вектори об’єднуються в єдине представлення історії. </a:t>
            </a:r>
          </a:p>
          <a:p>
            <a:r>
              <a:rPr lang="uk-UA" b="1" dirty="0"/>
              <a:t>На завершальному етапі </a:t>
            </a:r>
            <a:r>
              <a:rPr lang="uk-UA" dirty="0"/>
              <a:t>групове та історичне представлення </a:t>
            </a:r>
            <a:r>
              <a:rPr lang="uk-UA" dirty="0" err="1"/>
              <a:t>конкатенуються</a:t>
            </a:r>
            <a:r>
              <a:rPr lang="uk-UA" dirty="0"/>
              <a:t>.</a:t>
            </a:r>
            <a:br>
              <a:rPr lang="uk-UA" dirty="0"/>
            </a:br>
            <a:r>
              <a:rPr lang="uk-UA" dirty="0"/>
              <a:t>У результаті отримуємо вектор стану, який одночасно враховує склад групи, взаємозв’язки між її учасниками та послідовність попередніх взаємодій.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Розглянемо детальніше архітектур мереж Актор–Критик.</a:t>
            </a:r>
          </a:p>
          <a:p>
            <a:r>
              <a:rPr lang="uk-UA" b="1" dirty="0"/>
              <a:t>Актор відповідає за генерацію рекомендацій.</a:t>
            </a:r>
            <a:br>
              <a:rPr lang="uk-UA" dirty="0"/>
            </a:br>
            <a:r>
              <a:rPr lang="uk-UA" dirty="0"/>
              <a:t>Він отримує на вхід стан групи, сформований Інтегратором, і пропускає його через кілька повнозв’язних шарів з активаційною функцією </a:t>
            </a:r>
            <a:r>
              <a:rPr lang="en-US" dirty="0" err="1"/>
              <a:t>ReLU</a:t>
            </a:r>
            <a:r>
              <a:rPr lang="uk-UA" dirty="0"/>
              <a:t>.</a:t>
            </a:r>
            <a:br>
              <a:rPr lang="uk-UA" dirty="0"/>
            </a:br>
            <a:r>
              <a:rPr lang="uk-UA" dirty="0"/>
              <a:t>Для стабільності навчання також використовується механізм </a:t>
            </a:r>
            <a:r>
              <a:rPr lang="en-US" dirty="0"/>
              <a:t>Dropout.</a:t>
            </a:r>
          </a:p>
          <a:p>
            <a:r>
              <a:rPr lang="uk-UA" dirty="0"/>
              <a:t>На виході </a:t>
            </a:r>
            <a:r>
              <a:rPr lang="uk-UA" b="1" dirty="0"/>
              <a:t>Актор</a:t>
            </a:r>
            <a:r>
              <a:rPr lang="uk-UA" dirty="0"/>
              <a:t> формує вектор наближеної рекомендації — це узагальнене представлення вподобань групи.</a:t>
            </a:r>
            <a:br>
              <a:rPr lang="uk-UA" dirty="0"/>
            </a:br>
            <a:r>
              <a:rPr lang="uk-UA" dirty="0"/>
              <a:t>Далі цей вектор порівнюється з векторними представленнями всіх елементів на основі метрики порівняння векторів, обчислюється релевантність, і формується список рекомендацій — </a:t>
            </a:r>
            <a:r>
              <a:rPr lang="en-US" dirty="0"/>
              <a:t>top-k.</a:t>
            </a:r>
          </a:p>
          <a:p>
            <a:endParaRPr lang="uk-UA" dirty="0"/>
          </a:p>
          <a:p>
            <a:r>
              <a:rPr lang="uk-UA" b="1" dirty="0"/>
              <a:t>Критик, у свою чергу, оцінює якість цієї рекомендації.</a:t>
            </a:r>
            <a:br>
              <a:rPr lang="uk-UA" dirty="0"/>
            </a:br>
            <a:r>
              <a:rPr lang="uk-UA" dirty="0"/>
              <a:t>Він отримує і стан групи, і вектор наближеної рекомендації, сформований Актором, об’єднує їх і пропускає через нейронну мережу.</a:t>
            </a:r>
          </a:p>
          <a:p>
            <a:r>
              <a:rPr lang="uk-UA" dirty="0"/>
              <a:t>На виході критик формує скалярне </a:t>
            </a:r>
            <a:r>
              <a:rPr lang="en-US" dirty="0"/>
              <a:t>Q-</a:t>
            </a:r>
            <a:r>
              <a:rPr lang="uk-UA" dirty="0"/>
              <a:t>значення, яке показує, наскільки хорошою є дана рекомендація з точки зору майбутньої винагороди.</a:t>
            </a:r>
          </a:p>
          <a:p>
            <a:r>
              <a:rPr lang="uk-UA" dirty="0"/>
              <a:t>Саме ця оцінка використовується для навчання Актора. Модель поступово вчиться генерувати такі рекомендації, які максимізують довгострокову винагороду.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Навчання моделі відбувається з використанням алгоритму </a:t>
            </a:r>
            <a:r>
              <a:rPr lang="uk-UA" sz="1200" b="1" kern="1200" dirty="0">
                <a:solidFill>
                  <a:schemeClr val="tx1"/>
                </a:solidFill>
                <a:effectLst/>
                <a:latin typeface="+mn-lt"/>
                <a:ea typeface="+mn-ea"/>
                <a:cs typeface="+mn-cs"/>
              </a:rPr>
              <a:t>Градієнта</a:t>
            </a:r>
            <a:r>
              <a:rPr lang="uk-UA" sz="1200" kern="1200" dirty="0">
                <a:solidFill>
                  <a:schemeClr val="tx1"/>
                </a:solidFill>
                <a:effectLst/>
                <a:latin typeface="+mn-lt"/>
                <a:ea typeface="+mn-ea"/>
                <a:cs typeface="+mn-cs"/>
              </a:rPr>
              <a:t> </a:t>
            </a:r>
            <a:r>
              <a:rPr lang="uk-UA" sz="1200" b="1" kern="1200" dirty="0">
                <a:solidFill>
                  <a:schemeClr val="tx1"/>
                </a:solidFill>
                <a:effectLst/>
                <a:latin typeface="+mn-lt"/>
                <a:ea typeface="+mn-ea"/>
                <a:cs typeface="+mn-cs"/>
              </a:rPr>
              <a:t>Глибокої Детермінованої Стратегії, </a:t>
            </a:r>
            <a:r>
              <a:rPr lang="uk-UA" sz="1200" b="0" kern="1200" dirty="0">
                <a:solidFill>
                  <a:schemeClr val="tx1"/>
                </a:solidFill>
                <a:effectLst/>
                <a:latin typeface="+mn-lt"/>
                <a:ea typeface="+mn-ea"/>
                <a:cs typeface="+mn-cs"/>
              </a:rPr>
              <a:t>який</a:t>
            </a:r>
            <a:r>
              <a:rPr lang="uk-UA" sz="1200" b="1" kern="1200" dirty="0">
                <a:solidFill>
                  <a:schemeClr val="tx1"/>
                </a:solidFill>
                <a:effectLst/>
                <a:latin typeface="+mn-lt"/>
                <a:ea typeface="+mn-ea"/>
                <a:cs typeface="+mn-cs"/>
              </a:rPr>
              <a:t> </a:t>
            </a:r>
            <a:r>
              <a:rPr lang="uk-UA" dirty="0"/>
              <a:t>добре підходить для задач, де система має не просто один раз видати рекомендацію, а поступово вчитися приймати кращі рішення на основі зворотного зв’язку.</a:t>
            </a:r>
          </a:p>
          <a:p>
            <a:r>
              <a:rPr lang="uk-UA" b="1" dirty="0"/>
              <a:t>У цьому підході використовуються дві пари мереж:</a:t>
            </a:r>
            <a:r>
              <a:rPr lang="uk-UA" dirty="0"/>
              <a:t> основні Актор і Критик та їхні цільові копії.</a:t>
            </a:r>
            <a:br>
              <a:rPr lang="uk-UA" dirty="0"/>
            </a:br>
            <a:r>
              <a:rPr lang="uk-UA" dirty="0"/>
              <a:t>Цільові мережі потрібні для того, щоб навчання було стабільнішим і модель не змінювала свої оцінки надто різко на кожному кроці.</a:t>
            </a:r>
          </a:p>
          <a:p>
            <a:r>
              <a:rPr lang="uk-UA" b="1" dirty="0"/>
              <a:t>Критик </a:t>
            </a:r>
            <a:r>
              <a:rPr lang="uk-UA" dirty="0"/>
              <a:t>у цій архітектурі відповідає за оцінювання якості вибраної дії.</a:t>
            </a:r>
            <a:br>
              <a:rPr lang="uk-UA" dirty="0"/>
            </a:br>
            <a:r>
              <a:rPr lang="uk-UA" dirty="0"/>
              <a:t>Він порівнює передбачене </a:t>
            </a:r>
            <a:r>
              <a:rPr lang="en-US" dirty="0"/>
              <a:t>Q-</a:t>
            </a:r>
            <a:r>
              <a:rPr lang="uk-UA" dirty="0"/>
              <a:t>значення з цільовим значенням, яке обчислюється за рівнянням Беллмана, і таким чином вчиться точніше оцінювати, наскільки вдалою була рекомендація.</a:t>
            </a:r>
          </a:p>
          <a:p>
            <a:r>
              <a:rPr lang="uk-UA" b="1" dirty="0"/>
              <a:t>Актор</a:t>
            </a:r>
            <a:r>
              <a:rPr lang="uk-UA" dirty="0"/>
              <a:t>, у свою чергу, навчається вже на основі оцінок </a:t>
            </a:r>
            <a:r>
              <a:rPr lang="uk-UA" b="1" dirty="0"/>
              <a:t>Критика</a:t>
            </a:r>
            <a:r>
              <a:rPr lang="uk-UA" dirty="0"/>
              <a:t>.</a:t>
            </a:r>
            <a:br>
              <a:rPr lang="uk-UA" dirty="0"/>
            </a:br>
            <a:r>
              <a:rPr lang="uk-UA" dirty="0"/>
              <a:t>Його задача — генерувати такі дії, які з найбільшою ймовірністю приведуть до високої винагороди.</a:t>
            </a:r>
            <a:br>
              <a:rPr lang="uk-UA" dirty="0"/>
            </a:br>
            <a:r>
              <a:rPr lang="uk-UA" b="1" noProof="0" dirty="0"/>
              <a:t>Тобто Актор поступово вчиться формувати кращі рекомендації, а Критик оцінює їхню якість і за рахунок цього допомагає Актору надалі обирати кращі дії.</a:t>
            </a:r>
          </a:p>
          <a:p>
            <a:endParaRPr lang="uk-UA" sz="1200" kern="1200" dirty="0">
              <a:solidFill>
                <a:schemeClr val="tx1"/>
              </a:solidFill>
              <a:effectLst/>
              <a:latin typeface="+mn-lt"/>
              <a:ea typeface="+mn-ea"/>
              <a:cs typeface="+mn-cs"/>
            </a:endParaRPr>
          </a:p>
          <a:p>
            <a:r>
              <a:rPr lang="uk-UA" dirty="0"/>
              <a:t>Окремо варто зауважити, що цільові мережі оновлюються поступово, через механізм м’якого оновлення.</a:t>
            </a:r>
            <a:br>
              <a:rPr lang="uk-UA" dirty="0"/>
            </a:br>
            <a:r>
              <a:rPr lang="uk-UA" dirty="0"/>
              <a:t>Завдяки цьому процес навчання стає більш плавним і стійким.</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цьому слайді представлено формальний опис цільових функцій моделі Актор-</a:t>
            </a:r>
            <a:r>
              <a:rPr lang="en-US" dirty="0" err="1"/>
              <a:t>Критик</a:t>
            </a:r>
            <a:r>
              <a:rPr lang="en-US" dirty="0"/>
              <a:t>.
Формула (1) — функція втрат Критика, що мінімізує MSE між передбаченим та цільовим Q-значенням за рівнянням Беллмана.
Формула (2) — градієнт стратегії Актора, який визначається через теорему про градієнт детермінованої </a:t>
            </a:r>
            <a:r>
              <a:rPr lang="en-US" dirty="0" err="1"/>
              <a:t>стратегії</a:t>
            </a:r>
            <a:r>
              <a:rPr lang="en-US" dirty="0"/>
              <a:t>.
Формула (3) — функція втрат Актора як негативне очікуване значення Q-функції з поточною </a:t>
            </a:r>
            <a:r>
              <a:rPr lang="en-US" dirty="0" err="1"/>
              <a:t>стратегією</a:t>
            </a:r>
            <a:r>
              <a:rPr lang="en-US" dirty="0"/>
              <a:t>.
Формула (4) — м’яке оновлення цільових мереж, що забезпечує стабільність процесу навчання.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Для навчання моделі було підібрано набір параметрів, який забезпечує достатньо стабільний процес навчання.</a:t>
            </a:r>
          </a:p>
          <a:p>
            <a:r>
              <a:rPr lang="uk-UA" noProof="0" dirty="0"/>
              <a:t>Навчання проводилось протягом 50 епох.</a:t>
            </a:r>
            <a:br>
              <a:rPr lang="ru-RU" dirty="0"/>
            </a:br>
            <a:r>
              <a:rPr lang="uk-UA" b="1" noProof="0" dirty="0"/>
              <a:t>Дані були розділені хронологічно: </a:t>
            </a:r>
            <a:r>
              <a:rPr lang="uk-UA" noProof="0" dirty="0"/>
              <a:t>70% використано для навчання, а 30% — для тестування, причому тестова вибірка містить новіші взаємодії.</a:t>
            </a:r>
          </a:p>
          <a:p>
            <a:r>
              <a:rPr lang="uk-UA" dirty="0"/>
              <a:t>Для векторного подання груп, користувачів та історії взаємодій використано базову розмірність 64, а для опису історії бралися останні 10 елементів.</a:t>
            </a:r>
            <a:br>
              <a:rPr lang="uk-UA" dirty="0"/>
            </a:br>
            <a:r>
              <a:rPr lang="uk-UA" b="1" dirty="0"/>
              <a:t>Усі три мережі — Інтегратор, Актор і Критик </a:t>
            </a:r>
            <a:r>
              <a:rPr lang="uk-UA" dirty="0"/>
              <a:t>— оптимізувались за допомогою оптимізатора </a:t>
            </a:r>
            <a:r>
              <a:rPr lang="en-US" b="1" dirty="0"/>
              <a:t>Ranger</a:t>
            </a:r>
            <a:r>
              <a:rPr lang="uk-UA" dirty="0"/>
              <a:t>.</a:t>
            </a:r>
          </a:p>
          <a:p>
            <a:r>
              <a:rPr lang="uk-UA" dirty="0"/>
              <a:t>Що стосується реалізації, модель виконувалася у середовищі </a:t>
            </a:r>
            <a:r>
              <a:rPr lang="en-US" b="1" dirty="0"/>
              <a:t>Ubuntu 24.04</a:t>
            </a:r>
            <a:r>
              <a:rPr lang="uk-UA" b="1" dirty="0"/>
              <a:t> у вигляді консольної аплікації </a:t>
            </a:r>
            <a:r>
              <a:rPr lang="uk-UA" dirty="0"/>
              <a:t>з використанням мови програмування </a:t>
            </a:r>
            <a:r>
              <a:rPr lang="en-US" b="1" dirty="0"/>
              <a:t>Python</a:t>
            </a:r>
            <a:r>
              <a:rPr lang="en-US" dirty="0"/>
              <a:t> </a:t>
            </a:r>
            <a:r>
              <a:rPr lang="uk-UA" dirty="0"/>
              <a:t>та пакетів </a:t>
            </a:r>
            <a:r>
              <a:rPr lang="en-US" b="1" dirty="0"/>
              <a:t>PyTorch, scikit-learn </a:t>
            </a:r>
            <a:r>
              <a:rPr lang="uk-UA" b="1" dirty="0"/>
              <a:t>та </a:t>
            </a:r>
            <a:r>
              <a:rPr lang="en-US" b="1" dirty="0"/>
              <a:t>SciPy</a:t>
            </a:r>
            <a:r>
              <a:rPr lang="en-US" dirty="0"/>
              <a:t>.</a:t>
            </a:r>
            <a:r>
              <a:rPr lang="uk-UA" dirty="0"/>
              <a:t> Середовище взаємодії побудоване з використанням пакету </a:t>
            </a:r>
            <a:r>
              <a:rPr lang="en-US" b="1" noProof="0" dirty="0"/>
              <a:t>gymnasium</a:t>
            </a:r>
            <a:r>
              <a:rPr lang="uk-UA" noProof="0" dirty="0"/>
              <a:t>.</a:t>
            </a:r>
            <a:endParaRPr lang="uk-UA" dirty="0"/>
          </a:p>
          <a:p>
            <a:endParaRPr lang="uk-UA"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Для порівняння ефективності моделей у роботі використано три метрики: </a:t>
            </a:r>
            <a:r>
              <a:rPr lang="uk-UA" b="1" noProof="0" dirty="0"/>
              <a:t>Recall@k</a:t>
            </a:r>
            <a:r>
              <a:rPr lang="uk-UA" noProof="0" dirty="0"/>
              <a:t>, </a:t>
            </a:r>
            <a:r>
              <a:rPr lang="uk-UA" b="1" noProof="0" dirty="0"/>
              <a:t>NDCG@k</a:t>
            </a:r>
            <a:r>
              <a:rPr lang="uk-UA" noProof="0" dirty="0"/>
              <a:t> та </a:t>
            </a:r>
            <a:r>
              <a:rPr lang="uk-UA" b="1" noProof="0" dirty="0"/>
              <a:t>Coverage@k</a:t>
            </a:r>
            <a:r>
              <a:rPr lang="uk-UA" noProof="0" dirty="0"/>
              <a:t>.</a:t>
            </a:r>
          </a:p>
          <a:p>
            <a:r>
              <a:rPr lang="uk-UA" b="1" noProof="0" dirty="0"/>
              <a:t>Recall@k</a:t>
            </a:r>
            <a:r>
              <a:rPr lang="uk-UA" noProof="0" dirty="0"/>
              <a:t> показує, наскільки добре система знаходить релевантні елементи серед перших </a:t>
            </a:r>
            <a:r>
              <a:rPr lang="uk-UA" i="1" noProof="0" dirty="0"/>
              <a:t>k</a:t>
            </a:r>
            <a:r>
              <a:rPr lang="uk-UA" noProof="0" dirty="0"/>
              <a:t> запропонованих.</a:t>
            </a:r>
            <a:br>
              <a:rPr lang="uk-UA" noProof="0" dirty="0"/>
            </a:br>
            <a:r>
              <a:rPr lang="uk-UA" noProof="0" dirty="0"/>
              <a:t>Тобто ця метрика відображає повноту рекомендаційного списку.</a:t>
            </a:r>
          </a:p>
          <a:p>
            <a:r>
              <a:rPr lang="uk-UA" b="1" noProof="0" dirty="0"/>
              <a:t>NDCG@k</a:t>
            </a:r>
            <a:r>
              <a:rPr lang="uk-UA" noProof="0" dirty="0"/>
              <a:t> використовується для оцінювання якості ранжування.</a:t>
            </a:r>
            <a:br>
              <a:rPr lang="uk-UA" noProof="0" dirty="0"/>
            </a:br>
            <a:r>
              <a:rPr lang="uk-UA" noProof="0" dirty="0"/>
              <a:t>Вона враховує не лише наявність релевантних елементів у списку, а й те, на яких саме позиціях вони розташовані. Чим вище релевантні рекомендації знаходяться в списку, тим більшим є значення цієї метрики.</a:t>
            </a:r>
          </a:p>
          <a:p>
            <a:r>
              <a:rPr lang="uk-UA" b="1" noProof="0" dirty="0"/>
              <a:t>Coverage@k</a:t>
            </a:r>
            <a:r>
              <a:rPr lang="uk-UA" noProof="0" dirty="0"/>
              <a:t> характеризує різноманітність рекомендацій.</a:t>
            </a:r>
            <a:br>
              <a:rPr lang="uk-UA" noProof="0" dirty="0"/>
            </a:br>
            <a:r>
              <a:rPr lang="uk-UA" noProof="0" dirty="0"/>
              <a:t>Вона показує, яку частину нових елементів система реально використовує при формуванні рекомендацій для різних груп.</a:t>
            </a:r>
          </a:p>
          <a:p>
            <a:r>
              <a:rPr lang="uk-UA" noProof="0" dirty="0"/>
              <a:t>Таким чином, Recall@k дозволяє оцінити повноту, NDCG@k — якість ранжування, а Coverage@k — широту охоплення елементів каталогу.</a:t>
            </a:r>
          </a:p>
          <a:p>
            <a:r>
              <a:rPr lang="uk-UA" noProof="0" dirty="0"/>
              <a:t>Важливо, що значення всіх трьох метрик лежать у межах від </a:t>
            </a:r>
            <a:r>
              <a:rPr lang="uk-UA" b="1" noProof="0" dirty="0"/>
              <a:t>0 до 1</a:t>
            </a:r>
            <a:r>
              <a:rPr lang="uk-UA" noProof="0" dirty="0"/>
              <a:t>, і більше значення відповідає кращій якості рекомендацій.</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Порівняння проведено з моделлю </a:t>
                </a:r>
                <a:r>
                  <a:rPr lang="en-US" sz="1200" b="1" kern="1200" dirty="0">
                    <a:solidFill>
                      <a:schemeClr val="tx1"/>
                    </a:solidFill>
                    <a:effectLst/>
                    <a:latin typeface="+mn-lt"/>
                    <a:ea typeface="+mn-ea"/>
                    <a:cs typeface="+mn-cs"/>
                  </a:rPr>
                  <a:t>DRGR</a:t>
                </a:r>
                <a:r>
                  <a:rPr lang="uk-UA" sz="1200" kern="1200" dirty="0">
                    <a:solidFill>
                      <a:schemeClr val="tx1"/>
                    </a:solidFill>
                    <a:effectLst/>
                    <a:latin typeface="+mn-lt"/>
                    <a:ea typeface="+mn-ea"/>
                    <a:cs typeface="+mn-cs"/>
                  </a:rPr>
                  <a:t>, оскільки вона також використовує машинне навчання з підкріпленням. </a:t>
                </a:r>
              </a:p>
              <a:p>
                <a:r>
                  <a:rPr lang="uk-UA" dirty="0"/>
                  <a:t>Для оцінювання якості рекомендацій розглядалися значення </a:t>
                </a:r>
                <a14:m>
                  <m:oMath xmlns:m="http://schemas.openxmlformats.org/officeDocument/2006/math">
                    <m:r>
                      <a:rPr lang="uk-UA" sz="1200" i="1" kern="1200">
                        <a:solidFill>
                          <a:schemeClr val="tx1"/>
                        </a:solidFill>
                        <a:latin typeface="Cambria Math" panose="02040503050406030204" pitchFamily="18" charset="0"/>
                        <a:ea typeface="+mn-ea"/>
                        <a:cs typeface="+mn-cs"/>
                      </a:rPr>
                      <m:t>𝑘</m:t>
                    </m:r>
                    <m:r>
                      <a:rPr lang="uk-UA" sz="1200" i="0" kern="1200">
                        <a:solidFill>
                          <a:schemeClr val="tx1"/>
                        </a:solidFill>
                        <a:latin typeface="Cambria Math" panose="02040503050406030204" pitchFamily="18" charset="0"/>
                        <a:ea typeface="+mn-ea"/>
                        <a:cs typeface="+mn-cs"/>
                      </a:rPr>
                      <m:t>=5,10,15,20</m:t>
                    </m:r>
                  </m:oMath>
                </a14:m>
                <a:r>
                  <a:rPr lang="uk-UA" dirty="0"/>
                  <a:t>, що дало змогу проаналізувати роботу моделі як на коротких списках рекомендацій, де особливо важливі перші позиції, так і на ширших наборах, щоб перевірити стабільність її результатів у різних сценаріях</a:t>
                </a:r>
                <a:r>
                  <a:rPr lang="uk-UA" baseline="0" dirty="0"/>
                  <a:t>.</a:t>
                </a:r>
              </a:p>
              <a:p>
                <a:r>
                  <a:rPr lang="uk-UA" b="1" baseline="0" noProof="0" dirty="0"/>
                  <a:t>Отримані результати показали</a:t>
                </a:r>
                <a:r>
                  <a:rPr lang="uk-UA" baseline="0" noProof="0" dirty="0"/>
                  <a:t>, що запропонована модель має перевагу над базовим підходом за всіма трьома метриками — для всіх значень k. Це добре видно на діаграмах, де стовпчики запропонованої моделі в кожному випадку є вищими за відповідні стовпчики DRGR. </a:t>
                </a:r>
              </a:p>
              <a:p>
                <a:r>
                  <a:rPr lang="uk-UA" noProof="0" dirty="0"/>
                  <a:t>Варто зазначити, що наведені діаграми відображають результати саме на рівні групових рекомендацій.</a:t>
                </a:r>
              </a:p>
            </p:txBody>
          </p:sp>
        </mc:Choice>
        <mc:Fallback xmlns="">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Порівняння проведено з моделлю </a:t>
                </a:r>
                <a:r>
                  <a:rPr lang="en-US" sz="1200" b="1" kern="1200" dirty="0">
                    <a:solidFill>
                      <a:schemeClr val="tx1"/>
                    </a:solidFill>
                    <a:effectLst/>
                    <a:latin typeface="+mn-lt"/>
                    <a:ea typeface="+mn-ea"/>
                    <a:cs typeface="+mn-cs"/>
                  </a:rPr>
                  <a:t>DRGR</a:t>
                </a:r>
                <a:r>
                  <a:rPr lang="uk-UA" sz="1200" kern="1200" dirty="0">
                    <a:solidFill>
                      <a:schemeClr val="tx1"/>
                    </a:solidFill>
                    <a:effectLst/>
                    <a:latin typeface="+mn-lt"/>
                    <a:ea typeface="+mn-ea"/>
                    <a:cs typeface="+mn-cs"/>
                  </a:rPr>
                  <a:t>, оскільки вона також використовує машинне навчання з підкріпленням. </a:t>
                </a:r>
              </a:p>
              <a:p>
                <a:r>
                  <a:rPr lang="uk-UA" dirty="0"/>
                  <a:t>Для оцінювання якості рекомендацій розглядалися значення </a:t>
                </a:r>
                <a:r>
                  <a:rPr lang="uk-UA" sz="1200" i="0" kern="1200">
                    <a:solidFill>
                      <a:schemeClr val="tx1"/>
                    </a:solidFill>
                    <a:latin typeface="Cambria Math" panose="02040503050406030204" pitchFamily="18" charset="0"/>
                    <a:ea typeface="+mn-ea"/>
                    <a:cs typeface="+mn-cs"/>
                  </a:rPr>
                  <a:t>𝑘=5,10,15,20</a:t>
                </a:r>
                <a:r>
                  <a:rPr lang="uk-UA" dirty="0"/>
                  <a:t>, що дало змогу проаналізувати роботу моделі як на коротких списках рекомендацій, де особливо важливі перші позиції, так і на ширших наборах, щоб перевірити стабільність її результатів у різних сценаріях</a:t>
                </a:r>
                <a:r>
                  <a:rPr lang="uk-UA" baseline="0" dirty="0"/>
                  <a:t>.</a:t>
                </a:r>
              </a:p>
              <a:p>
                <a:r>
                  <a:rPr lang="uk-UA" b="1" baseline="0" noProof="0" dirty="0"/>
                  <a:t>Отримані результати показали</a:t>
                </a:r>
                <a:r>
                  <a:rPr lang="uk-UA" baseline="0" noProof="0" dirty="0"/>
                  <a:t>, що запропонована модель має перевагу над базовим підходом за всіма трьома метриками — для всіх значень k. Це добре видно на діаграмах, де стовпчики запропонованої моделі в кожному випадку є вищими за відповідні стовпчики DRGR. </a:t>
                </a:r>
              </a:p>
              <a:p>
                <a:r>
                  <a:rPr lang="uk-UA" noProof="0" dirty="0"/>
                  <a:t>Варто зазначити, що наведені діаграми відображають результати саме на рівні групових рекомендацій.</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Водночас аналогічну перевагу запропонована модель продемонструвала і при оцінюванні рекомендацій на рівні окремих користувачів.</a:t>
            </a:r>
            <a:endParaRPr lang="uk-UA" sz="1200" kern="1200" noProof="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uk-UA" noProof="0" dirty="0"/>
              <a:t>Отже, у межах цієї роботи було підготовлено експериментальний набір даних, сформовано групи користувачів і розроблено модель групових рекомендацій на основі архітектури Інтегратор–Актор–Критик. </a:t>
            </a:r>
          </a:p>
          <a:p>
            <a:pPr lvl="0"/>
            <a:r>
              <a:rPr lang="uk-UA" b="1" noProof="0" dirty="0"/>
              <a:t>Проведені експерименти показали</a:t>
            </a:r>
            <a:r>
              <a:rPr lang="uk-UA" noProof="0" dirty="0"/>
              <a:t>, що запропонований підхід має перевагу над базовою моделлю DRGR, зокрема краще враховує індивідуальні вподобання учасників групи, вплив кожного користувача на спільне рішення та формує більш релевантні рекомендації. Це також підтверджується покращенням основних метрик. </a:t>
            </a:r>
          </a:p>
          <a:p>
            <a:pPr lvl="0"/>
            <a:r>
              <a:rPr lang="uk-UA" noProof="0" dirty="0"/>
              <a:t>Отже, запропонована модель є перспективною для задач групового рекомендаційного вибору в сучасних інформаційних сервісах.</a:t>
            </a:r>
          </a:p>
          <a:p>
            <a:pPr lvl="0"/>
            <a:endParaRPr lang="uk-UA" noProof="0" dirty="0"/>
          </a:p>
          <a:p>
            <a:pPr lvl="0"/>
            <a:r>
              <a:rPr lang="uk-UA" dirty="0"/>
              <a:t>У подальшому </a:t>
            </a:r>
            <a:r>
              <a:rPr lang="uk-UA" b="1" dirty="0"/>
              <a:t>перспективним</a:t>
            </a:r>
            <a:r>
              <a:rPr lang="uk-UA" dirty="0"/>
              <a:t> є дослідження альтернативних методів агрегації та більш гнучкого, динамічного формування груп. Також окремим напрямом розвитку є застосування моделі для користувачів з обмеженою історією взаємодій або недостатньою кількістю індивідуальних даних.</a:t>
            </a:r>
            <a:endParaRPr lang="uk-UA" noProof="0"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33.png"/><Relationship Id="rId12"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8.png"/><Relationship Id="rId5" Type="http://schemas.openxmlformats.org/officeDocument/2006/relationships/image" Target="../media/image43.png"/><Relationship Id="rId10" Type="http://schemas.openxmlformats.org/officeDocument/2006/relationships/image" Target="../media/image47.png"/><Relationship Id="rId4" Type="http://schemas.openxmlformats.org/officeDocument/2006/relationships/image" Target="../media/image42.png"/><Relationship Id="rId9" Type="http://schemas.openxmlformats.org/officeDocument/2006/relationships/image" Target="../media/image46.png"/><Relationship Id="rId1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0.png"/><Relationship Id="rId7"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5" name="Text 3"/>
          <p:cNvSpPr/>
          <p:nvPr/>
        </p:nvSpPr>
        <p:spPr>
          <a:xfrm>
            <a:off x="1371600" y="164592"/>
            <a:ext cx="6400800" cy="822960"/>
          </a:xfrm>
          <a:prstGeom prst="rect">
            <a:avLst/>
          </a:prstGeom>
          <a:noFill/>
          <a:ln/>
        </p:spPr>
        <p:txBody>
          <a:bodyPr wrap="square" lIns="0" tIns="0" rIns="0" bIns="0" rtlCol="0" anchor="ctr"/>
          <a:lstStyle/>
          <a:p>
            <a:pPr marL="0" indent="0" algn="ctr">
              <a:buNone/>
            </a:pPr>
            <a:r>
              <a:rPr lang="en-US" sz="1100" b="1" dirty="0">
                <a:solidFill>
                  <a:srgbClr val="0F1A35"/>
                </a:solidFill>
                <a:latin typeface="Calibri" pitchFamily="34" charset="0"/>
                <a:ea typeface="Calibri" pitchFamily="34" charset="-122"/>
                <a:cs typeface="Calibri" pitchFamily="34" charset="-120"/>
              </a:rPr>
              <a:t>МІНІСТЕРСТВО ОСВІТИ І НАУКИ УКРАЇНИ</a:t>
            </a:r>
            <a:endParaRPr lang="en-US" sz="1100" dirty="0"/>
          </a:p>
          <a:p>
            <a:pPr marL="0" indent="0" algn="ctr">
              <a:buNone/>
            </a:pPr>
            <a:r>
              <a:rPr lang="en-US" sz="1100" b="1" dirty="0">
                <a:solidFill>
                  <a:srgbClr val="0F1A35"/>
                </a:solidFill>
                <a:latin typeface="Calibri" pitchFamily="34" charset="0"/>
                <a:ea typeface="Calibri" pitchFamily="34" charset="-122"/>
                <a:cs typeface="Calibri" pitchFamily="34" charset="-120"/>
              </a:rPr>
              <a:t>ЛЬВІВСЬКИЙ НАЦІОНАЛЬНИЙ УНІВЕРСИТЕТ ІМЕНІ ІВАНА ФРАНКА</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Факультет прикладної математики та інформатики</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Кафедра дискретного аналізу та інформаційних систем</a:t>
            </a:r>
            <a:endParaRPr lang="en-US" sz="1100" dirty="0"/>
          </a:p>
        </p:txBody>
      </p:sp>
      <p:sp>
        <p:nvSpPr>
          <p:cNvPr id="6" name="Text 4"/>
          <p:cNvSpPr/>
          <p:nvPr/>
        </p:nvSpPr>
        <p:spPr>
          <a:xfrm>
            <a:off x="457200" y="1371600"/>
            <a:ext cx="8229600" cy="274320"/>
          </a:xfrm>
          <a:prstGeom prst="rect">
            <a:avLst/>
          </a:prstGeom>
          <a:noFill/>
          <a:ln/>
        </p:spPr>
        <p:txBody>
          <a:bodyPr wrap="square" lIns="0" tIns="0" rIns="0" bIns="0" rtlCol="0" anchor="ctr"/>
          <a:lstStyle/>
          <a:p>
            <a:pPr marL="0" indent="0">
              <a:buNone/>
            </a:pPr>
            <a:r>
              <a:rPr lang="uk-UA" sz="1200" noProof="0" dirty="0">
                <a:solidFill>
                  <a:srgbClr val="2C5BD8"/>
                </a:solidFill>
                <a:latin typeface="Calibri" pitchFamily="34" charset="0"/>
                <a:ea typeface="Calibri" pitchFamily="34" charset="-122"/>
                <a:cs typeface="Calibri" pitchFamily="34" charset="-120"/>
              </a:rPr>
              <a:t>Машинне</a:t>
            </a:r>
            <a:r>
              <a:rPr lang="en-US" sz="1200" dirty="0">
                <a:solidFill>
                  <a:srgbClr val="2C5BD8"/>
                </a:solidFill>
                <a:latin typeface="Calibri" pitchFamily="34" charset="0"/>
                <a:ea typeface="Calibri" pitchFamily="34" charset="-122"/>
                <a:cs typeface="Calibri" pitchFamily="34" charset="-120"/>
              </a:rPr>
              <a:t> </a:t>
            </a:r>
            <a:r>
              <a:rPr lang="uk-UA" sz="1200" noProof="0" dirty="0">
                <a:solidFill>
                  <a:srgbClr val="2C5BD8"/>
                </a:solidFill>
                <a:latin typeface="Calibri" pitchFamily="34" charset="0"/>
                <a:ea typeface="Calibri" pitchFamily="34" charset="-122"/>
                <a:cs typeface="Calibri" pitchFamily="34" charset="-120"/>
              </a:rPr>
              <a:t>навчання</a:t>
            </a:r>
            <a:r>
              <a:rPr lang="en-US" sz="1200" dirty="0">
                <a:solidFill>
                  <a:srgbClr val="2C5BD8"/>
                </a:solidFill>
                <a:latin typeface="Calibri" pitchFamily="34" charset="0"/>
                <a:ea typeface="Calibri" pitchFamily="34" charset="-122"/>
                <a:cs typeface="Calibri" pitchFamily="34" charset="-120"/>
              </a:rPr>
              <a:t> </a:t>
            </a:r>
            <a:r>
              <a:rPr lang="uk-UA" sz="1200" dirty="0">
                <a:solidFill>
                  <a:srgbClr val="2C5BD8"/>
                </a:solidFill>
                <a:latin typeface="Calibri" pitchFamily="34" charset="0"/>
                <a:ea typeface="Calibri" pitchFamily="34" charset="-122"/>
                <a:cs typeface="Calibri" pitchFamily="34" charset="-120"/>
              </a:rPr>
              <a:t>з підкріплення</a:t>
            </a:r>
            <a:endParaRPr lang="en-US" sz="1200" dirty="0"/>
          </a:p>
        </p:txBody>
      </p:sp>
      <p:sp>
        <p:nvSpPr>
          <p:cNvPr id="7" name="Text 5"/>
          <p:cNvSpPr/>
          <p:nvPr/>
        </p:nvSpPr>
        <p:spPr>
          <a:xfrm>
            <a:off x="457200" y="1691640"/>
            <a:ext cx="8229600" cy="1554480"/>
          </a:xfrm>
          <a:prstGeom prst="rect">
            <a:avLst/>
          </a:prstGeom>
          <a:noFill/>
          <a:ln/>
        </p:spPr>
        <p:txBody>
          <a:bodyPr wrap="square" lIns="0" tIns="0" rIns="0" bIns="0" rtlCol="0" anchor="ctr"/>
          <a:lstStyle/>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Розробка групової рекомендаційної</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системи на основі машинного навчання</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з підкріпленням</a:t>
            </a:r>
            <a:endParaRPr lang="en-US" sz="3000" dirty="0"/>
          </a:p>
        </p:txBody>
      </p:sp>
      <p:sp>
        <p:nvSpPr>
          <p:cNvPr id="8" name="Text 6"/>
          <p:cNvSpPr/>
          <p:nvPr/>
        </p:nvSpPr>
        <p:spPr>
          <a:xfrm>
            <a:off x="457200" y="3928491"/>
            <a:ext cx="3657600" cy="82296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Доповідач:</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аспірант кафедри дискретного аналізу</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Романюк Богдан Ігорович</a:t>
            </a:r>
            <a:endParaRPr lang="en-US" sz="1200" dirty="0"/>
          </a:p>
        </p:txBody>
      </p:sp>
      <p:sp>
        <p:nvSpPr>
          <p:cNvPr id="9" name="Text 7"/>
          <p:cNvSpPr/>
          <p:nvPr/>
        </p:nvSpPr>
        <p:spPr>
          <a:xfrm>
            <a:off x="6238982" y="3838194"/>
            <a:ext cx="2750906" cy="822960"/>
          </a:xfrm>
          <a:prstGeom prst="rect">
            <a:avLst/>
          </a:prstGeom>
          <a:noFill/>
          <a:ln/>
        </p:spPr>
        <p:txBody>
          <a:bodyPr wrap="square" lIns="0" tIns="0" rIns="0" bIns="0"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Науковий керівник:</a:t>
            </a:r>
            <a:endParaRPr lang="en-US" sz="1200" dirty="0">
              <a:solidFill>
                <a:schemeClr val="bg1"/>
              </a:solidFill>
            </a:endParaRPr>
          </a:p>
          <a:p>
            <a:pPr marL="0" indent="0">
              <a:buNone/>
            </a:pPr>
            <a:r>
              <a:rPr lang="en-US" sz="1200" dirty="0">
                <a:solidFill>
                  <a:schemeClr val="bg1"/>
                </a:solidFill>
                <a:latin typeface="Calibri" pitchFamily="34" charset="0"/>
                <a:ea typeface="Calibri" pitchFamily="34" charset="-122"/>
                <a:cs typeface="Calibri" pitchFamily="34" charset="-120"/>
              </a:rPr>
              <a:t>канд. фіз.-мат. наук, доцент</a:t>
            </a:r>
            <a:endParaRPr lang="en-US" sz="1200" dirty="0">
              <a:solidFill>
                <a:schemeClr val="bg1"/>
              </a:solidFill>
            </a:endParaRPr>
          </a:p>
          <a:p>
            <a:pPr marL="0" indent="0">
              <a:buNone/>
            </a:pPr>
            <a:r>
              <a:rPr lang="en-US" sz="1200" dirty="0">
                <a:solidFill>
                  <a:schemeClr val="bg1"/>
                </a:solidFill>
                <a:latin typeface="Calibri" pitchFamily="34" charset="0"/>
                <a:ea typeface="Calibri" pitchFamily="34" charset="-122"/>
                <a:cs typeface="Calibri" pitchFamily="34" charset="-120"/>
              </a:rPr>
              <a:t>Пелюшкевич Ольга Володимирівна</a:t>
            </a:r>
            <a:endParaRPr lang="en-US" sz="1200" dirty="0">
              <a:solidFill>
                <a:schemeClr val="bg1"/>
              </a:solidFill>
            </a:endParaRPr>
          </a:p>
        </p:txBody>
      </p:sp>
      <p:sp>
        <p:nvSpPr>
          <p:cNvPr id="10" name="Text 8"/>
          <p:cNvSpPr/>
          <p:nvPr/>
        </p:nvSpPr>
        <p:spPr>
          <a:xfrm>
            <a:off x="457200" y="4841748"/>
            <a:ext cx="8229600" cy="274320"/>
          </a:xfrm>
          <a:prstGeom prst="rect">
            <a:avLst/>
          </a:prstGeom>
          <a:noFill/>
          <a:ln/>
        </p:spPr>
        <p:txBody>
          <a:bodyPr wrap="square" lIns="0" tIns="0" rIns="0" bIns="0" rtlCol="0" anchor="ctr"/>
          <a:lstStyle/>
          <a:p>
            <a:pPr marL="0" indent="0" algn="ctr">
              <a:buNone/>
            </a:pPr>
            <a:r>
              <a:rPr lang="en-US" sz="1100" dirty="0">
                <a:solidFill>
                  <a:srgbClr val="687891"/>
                </a:solidFill>
                <a:latin typeface="Calibri" pitchFamily="34" charset="0"/>
                <a:ea typeface="Calibri" pitchFamily="34" charset="-122"/>
                <a:cs typeface="Calibri" pitchFamily="34" charset="-120"/>
              </a:rPr>
              <a:t>м. Львів — 2026</a:t>
            </a:r>
            <a:endParaRPr lang="en-US" sz="1100" dirty="0"/>
          </a:p>
        </p:txBody>
      </p:sp>
      <p:pic>
        <p:nvPicPr>
          <p:cNvPr id="14" name="Picture 13">
            <a:extLst>
              <a:ext uri="{FF2B5EF4-FFF2-40B4-BE49-F238E27FC236}">
                <a16:creationId xmlns:a16="http://schemas.microsoft.com/office/drawing/2014/main" id="{978C84B9-22ED-C12F-C592-374DDFDAF5A9}"/>
              </a:ext>
            </a:extLst>
          </p:cNvPr>
          <p:cNvPicPr>
            <a:picLocks noChangeAspect="1"/>
          </p:cNvPicPr>
          <p:nvPr/>
        </p:nvPicPr>
        <p:blipFill>
          <a:blip r:embed="rId3"/>
          <a:stretch>
            <a:fillRect/>
          </a:stretch>
        </p:blipFill>
        <p:spPr>
          <a:xfrm>
            <a:off x="7408922" y="434340"/>
            <a:ext cx="1092716" cy="11384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АКТУАЛЬНІСТЬ</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Виклики сучасних групових рекомендаційних систем</a:t>
            </a:r>
            <a:endParaRPr lang="en-US" sz="2800" dirty="0"/>
          </a:p>
        </p:txBody>
      </p:sp>
      <p:sp>
        <p:nvSpPr>
          <p:cNvPr id="5" name="Shape 3"/>
          <p:cNvSpPr/>
          <p:nvPr/>
        </p:nvSpPr>
        <p:spPr>
          <a:xfrm>
            <a:off x="457200" y="141732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417320"/>
            <a:ext cx="64008" cy="960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713232" y="166420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827532" y="1778508"/>
            <a:ext cx="228600" cy="228600"/>
          </a:xfrm>
          <a:prstGeom prst="rect">
            <a:avLst/>
          </a:prstGeom>
        </p:spPr>
      </p:pic>
      <p:sp>
        <p:nvSpPr>
          <p:cNvPr id="9" name="Text 6"/>
          <p:cNvSpPr/>
          <p:nvPr/>
        </p:nvSpPr>
        <p:spPr>
          <a:xfrm>
            <a:off x="1325880" y="155448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Інформаційне перевантаження</a:t>
            </a:r>
            <a:endParaRPr lang="en-US" sz="1200" dirty="0"/>
          </a:p>
        </p:txBody>
      </p:sp>
      <p:sp>
        <p:nvSpPr>
          <p:cNvPr id="10" name="Text 7"/>
          <p:cNvSpPr/>
          <p:nvPr/>
        </p:nvSpPr>
        <p:spPr>
          <a:xfrm>
            <a:off x="1325880" y="1874520"/>
            <a:ext cx="3291840" cy="457200"/>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Користувачі потребують фільтрації контенту в умовах стрімкого зростання обсягів даних</a:t>
            </a:r>
            <a:endParaRPr lang="uk-UA" sz="1000" noProof="0" dirty="0"/>
          </a:p>
        </p:txBody>
      </p:sp>
      <p:sp>
        <p:nvSpPr>
          <p:cNvPr id="11" name="Shape 8"/>
          <p:cNvSpPr/>
          <p:nvPr/>
        </p:nvSpPr>
        <p:spPr>
          <a:xfrm>
            <a:off x="457200" y="251460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514600"/>
            <a:ext cx="64008" cy="960120"/>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713232" y="27614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827532" y="2875788"/>
            <a:ext cx="228600" cy="228600"/>
          </a:xfrm>
          <a:prstGeom prst="rect">
            <a:avLst/>
          </a:prstGeom>
        </p:spPr>
      </p:pic>
      <p:sp>
        <p:nvSpPr>
          <p:cNvPr id="15" name="Text 11"/>
          <p:cNvSpPr/>
          <p:nvPr/>
        </p:nvSpPr>
        <p:spPr>
          <a:xfrm>
            <a:off x="1325880" y="2651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Груповий контекст</a:t>
            </a:r>
            <a:endParaRPr lang="en-US" sz="1200" dirty="0"/>
          </a:p>
        </p:txBody>
      </p:sp>
      <p:sp>
        <p:nvSpPr>
          <p:cNvPr id="16" name="Text 12"/>
          <p:cNvSpPr/>
          <p:nvPr/>
        </p:nvSpPr>
        <p:spPr>
          <a:xfrm>
            <a:off x="1325880" y="297180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Багато рішень приймаються колективно: спільний перегляд, сімейні покупки, командні рекомендації</a:t>
            </a:r>
            <a:endParaRPr lang="en-US" sz="1000" dirty="0"/>
          </a:p>
        </p:txBody>
      </p:sp>
      <p:sp>
        <p:nvSpPr>
          <p:cNvPr id="17" name="Shape 13"/>
          <p:cNvSpPr/>
          <p:nvPr/>
        </p:nvSpPr>
        <p:spPr>
          <a:xfrm>
            <a:off x="457200" y="361188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57200" y="3611880"/>
            <a:ext cx="64008" cy="960120"/>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713232" y="385876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827532" y="3973068"/>
            <a:ext cx="228600" cy="228600"/>
          </a:xfrm>
          <a:prstGeom prst="rect">
            <a:avLst/>
          </a:prstGeom>
        </p:spPr>
      </p:pic>
      <p:sp>
        <p:nvSpPr>
          <p:cNvPr id="21" name="Text 16"/>
          <p:cNvSpPr/>
          <p:nvPr/>
        </p:nvSpPr>
        <p:spPr>
          <a:xfrm>
            <a:off x="1325880" y="374904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Конфлікт і динаміка</a:t>
            </a:r>
            <a:endParaRPr lang="en-US" sz="1200" dirty="0"/>
          </a:p>
        </p:txBody>
      </p:sp>
      <p:sp>
        <p:nvSpPr>
          <p:cNvPr id="22" name="Text 17"/>
          <p:cNvSpPr/>
          <p:nvPr/>
        </p:nvSpPr>
        <p:spPr>
          <a:xfrm>
            <a:off x="1325880" y="406908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Інтереси в групі можуть не співпадати і швидко змінюватися з часом</a:t>
            </a:r>
            <a:endParaRPr lang="en-US" sz="1000" dirty="0"/>
          </a:p>
        </p:txBody>
      </p:sp>
      <p:sp>
        <p:nvSpPr>
          <p:cNvPr id="23" name="Shape 18"/>
          <p:cNvSpPr/>
          <p:nvPr/>
        </p:nvSpPr>
        <p:spPr>
          <a:xfrm>
            <a:off x="4937760" y="1417320"/>
            <a:ext cx="3749040" cy="32004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4937760" y="1417320"/>
            <a:ext cx="3749040" cy="54864"/>
          </a:xfrm>
          <a:prstGeom prst="rect">
            <a:avLst/>
          </a:prstGeom>
          <a:solidFill>
            <a:srgbClr val="2C5BD8"/>
          </a:solidFill>
          <a:ln w="12700">
            <a:solidFill>
              <a:srgbClr val="2C5BD8"/>
            </a:solidFill>
            <a:prstDash val="solid"/>
          </a:ln>
        </p:spPr>
        <p:txBody>
          <a:bodyPr/>
          <a:lstStyle/>
          <a:p>
            <a:endParaRPr lang="uk-UA"/>
          </a:p>
        </p:txBody>
      </p:sp>
      <p:sp>
        <p:nvSpPr>
          <p:cNvPr id="25" name="Shape 20"/>
          <p:cNvSpPr/>
          <p:nvPr/>
        </p:nvSpPr>
        <p:spPr>
          <a:xfrm>
            <a:off x="5120640" y="1645920"/>
            <a:ext cx="502920" cy="502920"/>
          </a:xfrm>
          <a:prstGeom prst="ellipse">
            <a:avLst/>
          </a:prstGeom>
          <a:solidFill>
            <a:srgbClr val="E8F0FE"/>
          </a:solidFill>
          <a:ln w="12700">
            <a:solidFill>
              <a:srgbClr val="E8F0FE"/>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5246370" y="1771650"/>
            <a:ext cx="251460" cy="251460"/>
          </a:xfrm>
          <a:prstGeom prst="rect">
            <a:avLst/>
          </a:prstGeom>
        </p:spPr>
      </p:pic>
      <p:sp>
        <p:nvSpPr>
          <p:cNvPr id="27" name="Text 21"/>
          <p:cNvSpPr/>
          <p:nvPr/>
        </p:nvSpPr>
        <p:spPr>
          <a:xfrm>
            <a:off x="5715000" y="1600200"/>
            <a:ext cx="2834640" cy="594360"/>
          </a:xfrm>
          <a:prstGeom prst="rect">
            <a:avLst/>
          </a:prstGeom>
          <a:noFill/>
          <a:ln/>
        </p:spPr>
        <p:txBody>
          <a:bodyPr wrap="square" lIns="0" tIns="0" rIns="0" bIns="0" rtlCol="0" anchor="ctr"/>
          <a:lstStyle/>
          <a:p>
            <a:pPr marL="0" indent="0">
              <a:lnSpc>
                <a:spcPct val="105000"/>
              </a:lnSpc>
              <a:buNone/>
            </a:pPr>
            <a:r>
              <a:rPr lang="en-US" sz="1300" b="1" dirty="0">
                <a:solidFill>
                  <a:srgbClr val="0F1A35"/>
                </a:solidFill>
                <a:latin typeface="Calibri" pitchFamily="34" charset="0"/>
                <a:ea typeface="Calibri" pitchFamily="34" charset="-122"/>
                <a:cs typeface="Calibri" pitchFamily="34" charset="-120"/>
              </a:rPr>
              <a:t>Переваги навчання з підкріпленням</a:t>
            </a:r>
            <a:endParaRPr lang="en-US" sz="1300" dirty="0"/>
          </a:p>
        </p:txBody>
      </p:sp>
      <p:pic>
        <p:nvPicPr>
          <p:cNvPr id="29" name="Image 4" descr="preencoded.png"/>
          <p:cNvPicPr>
            <a:picLocks noChangeAspect="1"/>
          </p:cNvPicPr>
          <p:nvPr/>
        </p:nvPicPr>
        <p:blipFill>
          <a:blip r:embed="rId7"/>
          <a:stretch>
            <a:fillRect/>
          </a:stretch>
        </p:blipFill>
        <p:spPr>
          <a:xfrm>
            <a:off x="5216652" y="2290572"/>
            <a:ext cx="201168" cy="201168"/>
          </a:xfrm>
          <a:prstGeom prst="rect">
            <a:avLst/>
          </a:prstGeom>
        </p:spPr>
      </p:pic>
      <p:sp>
        <p:nvSpPr>
          <p:cNvPr id="30" name="Text 23"/>
          <p:cNvSpPr/>
          <p:nvPr/>
        </p:nvSpPr>
        <p:spPr>
          <a:xfrm>
            <a:off x="5509260" y="2244852"/>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Враховує послідовність поведінки груп користувачів</a:t>
            </a:r>
            <a:endParaRPr lang="en-US" sz="1100" dirty="0"/>
          </a:p>
        </p:txBody>
      </p:sp>
      <p:pic>
        <p:nvPicPr>
          <p:cNvPr id="31" name="Image 5" descr="preencoded.png"/>
          <p:cNvPicPr>
            <a:picLocks noChangeAspect="1"/>
          </p:cNvPicPr>
          <p:nvPr/>
        </p:nvPicPr>
        <p:blipFill>
          <a:blip r:embed="rId7"/>
          <a:stretch>
            <a:fillRect/>
          </a:stretch>
        </p:blipFill>
        <p:spPr>
          <a:xfrm>
            <a:off x="5216652" y="2674620"/>
            <a:ext cx="201168" cy="201168"/>
          </a:xfrm>
          <a:prstGeom prst="rect">
            <a:avLst/>
          </a:prstGeom>
        </p:spPr>
      </p:pic>
      <p:sp>
        <p:nvSpPr>
          <p:cNvPr id="32" name="Text 24"/>
          <p:cNvSpPr/>
          <p:nvPr/>
        </p:nvSpPr>
        <p:spPr>
          <a:xfrm>
            <a:off x="5509260" y="2628900"/>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Орієнтований на довготривалу взаємодію</a:t>
            </a:r>
            <a:endParaRPr lang="en-US" sz="1100" dirty="0"/>
          </a:p>
        </p:txBody>
      </p:sp>
      <p:pic>
        <p:nvPicPr>
          <p:cNvPr id="33" name="Image 6" descr="preencoded.png"/>
          <p:cNvPicPr>
            <a:picLocks noChangeAspect="1"/>
          </p:cNvPicPr>
          <p:nvPr/>
        </p:nvPicPr>
        <p:blipFill>
          <a:blip r:embed="rId7"/>
          <a:stretch>
            <a:fillRect/>
          </a:stretch>
        </p:blipFill>
        <p:spPr>
          <a:xfrm>
            <a:off x="5216652" y="3058668"/>
            <a:ext cx="201168" cy="201168"/>
          </a:xfrm>
          <a:prstGeom prst="rect">
            <a:avLst/>
          </a:prstGeom>
        </p:spPr>
      </p:pic>
      <p:sp>
        <p:nvSpPr>
          <p:cNvPr id="34" name="Text 25"/>
          <p:cNvSpPr/>
          <p:nvPr/>
        </p:nvSpPr>
        <p:spPr>
          <a:xfrm>
            <a:off x="5509260" y="3012948"/>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Активно розвивається в наукових і промислових рішеннях</a:t>
            </a:r>
            <a:endParaRPr lang="en-US" sz="1100" dirty="0"/>
          </a:p>
        </p:txBody>
      </p:sp>
      <p:pic>
        <p:nvPicPr>
          <p:cNvPr id="35" name="Image 7" descr="preencoded.png"/>
          <p:cNvPicPr>
            <a:picLocks noChangeAspect="1"/>
          </p:cNvPicPr>
          <p:nvPr/>
        </p:nvPicPr>
        <p:blipFill>
          <a:blip r:embed="rId7"/>
          <a:stretch>
            <a:fillRect/>
          </a:stretch>
        </p:blipFill>
        <p:spPr>
          <a:xfrm>
            <a:off x="5216652" y="3442716"/>
            <a:ext cx="201168" cy="201168"/>
          </a:xfrm>
          <a:prstGeom prst="rect">
            <a:avLst/>
          </a:prstGeom>
        </p:spPr>
      </p:pic>
      <p:sp>
        <p:nvSpPr>
          <p:cNvPr id="36" name="Text 26"/>
          <p:cNvSpPr/>
          <p:nvPr/>
        </p:nvSpPr>
        <p:spPr>
          <a:xfrm>
            <a:off x="5509260" y="3396996"/>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Використовується Netflix, Google, TikTok, Spotify</a:t>
            </a:r>
            <a:endParaRPr lang="en-US" sz="1100" dirty="0"/>
          </a:p>
        </p:txBody>
      </p:sp>
      <p:sp>
        <p:nvSpPr>
          <p:cNvPr id="38" name="Shape 27"/>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9" name="Text 28"/>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машинного навчання з підкріпленням</a:t>
            </a:r>
            <a:endParaRPr lang="uk-UA" sz="900" noProof="0" dirty="0"/>
          </a:p>
        </p:txBody>
      </p:sp>
      <p:sp>
        <p:nvSpPr>
          <p:cNvPr id="40" name="Text 29"/>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02 / 18</a:t>
            </a:r>
            <a:endParaRPr lang="en-US" sz="900" dirty="0"/>
          </a:p>
        </p:txBody>
      </p:sp>
      <p:pic>
        <p:nvPicPr>
          <p:cNvPr id="42" name="Picture 41">
            <a:extLst>
              <a:ext uri="{FF2B5EF4-FFF2-40B4-BE49-F238E27FC236}">
                <a16:creationId xmlns:a16="http://schemas.microsoft.com/office/drawing/2014/main" id="{1F67BC94-6F9B-5B86-F14E-6F6DEB6D5140}"/>
              </a:ext>
            </a:extLst>
          </p:cNvPr>
          <p:cNvPicPr>
            <a:picLocks noChangeAspect="1"/>
          </p:cNvPicPr>
          <p:nvPr/>
        </p:nvPicPr>
        <p:blipFill>
          <a:blip r:embed="rId8"/>
          <a:stretch>
            <a:fillRect/>
          </a:stretch>
        </p:blipFill>
        <p:spPr>
          <a:xfrm>
            <a:off x="5797295" y="3383027"/>
            <a:ext cx="2236089" cy="14907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АНАЛІЗ ПІДХОДІВ</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Обмеження існуючих підходів</a:t>
            </a:r>
            <a:endParaRPr lang="en-US" sz="2800" dirty="0"/>
          </a:p>
        </p:txBody>
      </p:sp>
      <p:sp>
        <p:nvSpPr>
          <p:cNvPr id="5" name="Text 3"/>
          <p:cNvSpPr/>
          <p:nvPr/>
        </p:nvSpPr>
        <p:spPr>
          <a:xfrm>
            <a:off x="457200" y="1298448"/>
            <a:ext cx="8229600" cy="5029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Існуючі моделі для генерування групових рекомендацій фокусуються на статичних профілях, оптимізуючи лише миттєву винагороду. Мета — система, що враховує динаміку, довгостроковий ефект та історію взаємодій.</a:t>
            </a:r>
            <a:endParaRPr lang="en-US" sz="1100" dirty="0"/>
          </a:p>
        </p:txBody>
      </p:sp>
      <p:sp>
        <p:nvSpPr>
          <p:cNvPr id="6" name="Shape 4"/>
          <p:cNvSpPr/>
          <p:nvPr/>
        </p:nvSpPr>
        <p:spPr>
          <a:xfrm>
            <a:off x="457200"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920240"/>
            <a:ext cx="20116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211580" y="2084832"/>
            <a:ext cx="502920" cy="502920"/>
          </a:xfrm>
          <a:prstGeom prst="ellipse">
            <a:avLst/>
          </a:prstGeom>
          <a:solidFill>
            <a:srgbClr val="E8F0FE"/>
          </a:solidFill>
          <a:ln w="12700">
            <a:solidFill>
              <a:srgbClr val="E8F0FE"/>
            </a:solidFill>
            <a:prstDash val="solid"/>
          </a:ln>
        </p:spPr>
        <p:txBody>
          <a:bodyPr/>
          <a:lstStyle/>
          <a:p>
            <a:endParaRPr lang="uk-UA"/>
          </a:p>
        </p:txBody>
      </p:sp>
      <p:pic>
        <p:nvPicPr>
          <p:cNvPr id="9" name="Image 0" descr="figs/icon_mosan.png"/>
          <p:cNvPicPr>
            <a:picLocks noChangeAspect="1"/>
          </p:cNvPicPr>
          <p:nvPr/>
        </p:nvPicPr>
        <p:blipFill>
          <a:blip r:embed="rId3"/>
          <a:stretch>
            <a:fillRect/>
          </a:stretch>
        </p:blipFill>
        <p:spPr>
          <a:xfrm>
            <a:off x="1302106" y="2175358"/>
            <a:ext cx="321869" cy="321869"/>
          </a:xfrm>
          <a:prstGeom prst="rect">
            <a:avLst/>
          </a:prstGeom>
        </p:spPr>
      </p:pic>
      <p:sp>
        <p:nvSpPr>
          <p:cNvPr id="10" name="Text 7"/>
          <p:cNvSpPr/>
          <p:nvPr/>
        </p:nvSpPr>
        <p:spPr>
          <a:xfrm>
            <a:off x="457200"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MoSAN</a:t>
            </a:r>
            <a:endParaRPr lang="en-US" sz="1400" dirty="0"/>
          </a:p>
        </p:txBody>
      </p:sp>
      <p:sp>
        <p:nvSpPr>
          <p:cNvPr id="11" name="Text 8"/>
          <p:cNvSpPr/>
          <p:nvPr/>
        </p:nvSpPr>
        <p:spPr>
          <a:xfrm>
            <a:off x="594360"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12" name="Text 9"/>
          <p:cNvSpPr/>
          <p:nvPr/>
        </p:nvSpPr>
        <p:spPr>
          <a:xfrm>
            <a:off x="594360"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взаємодії між учасниками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Оцінює відносний внесок кожного</a:t>
            </a:r>
            <a:endParaRPr lang="en-US" sz="900" dirty="0"/>
          </a:p>
        </p:txBody>
      </p:sp>
      <p:sp>
        <p:nvSpPr>
          <p:cNvPr id="13" name="Text 10"/>
          <p:cNvSpPr/>
          <p:nvPr/>
        </p:nvSpPr>
        <p:spPr>
          <a:xfrm>
            <a:off x="594360"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14" name="Text 11"/>
          <p:cNvSpPr/>
          <p:nvPr/>
        </p:nvSpPr>
        <p:spPr>
          <a:xfrm>
            <a:off x="594360"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враховує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послідовних взаємодій</a:t>
            </a:r>
            <a:endParaRPr lang="en-US" sz="900" dirty="0"/>
          </a:p>
        </p:txBody>
      </p:sp>
      <p:sp>
        <p:nvSpPr>
          <p:cNvPr id="15" name="Shape 12"/>
          <p:cNvSpPr/>
          <p:nvPr/>
        </p:nvSpPr>
        <p:spPr>
          <a:xfrm>
            <a:off x="2587752"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3"/>
          <p:cNvSpPr/>
          <p:nvPr/>
        </p:nvSpPr>
        <p:spPr>
          <a:xfrm>
            <a:off x="2587752" y="1920240"/>
            <a:ext cx="2011680" cy="54864"/>
          </a:xfrm>
          <a:prstGeom prst="rect">
            <a:avLst/>
          </a:prstGeom>
          <a:solidFill>
            <a:srgbClr val="20B7D1"/>
          </a:solidFill>
          <a:ln w="12700">
            <a:solidFill>
              <a:srgbClr val="20B7D1"/>
            </a:solidFill>
            <a:prstDash val="solid"/>
          </a:ln>
        </p:spPr>
        <p:txBody>
          <a:bodyPr/>
          <a:lstStyle/>
          <a:p>
            <a:endParaRPr lang="uk-UA"/>
          </a:p>
        </p:txBody>
      </p:sp>
      <p:sp>
        <p:nvSpPr>
          <p:cNvPr id="17" name="Shape 14"/>
          <p:cNvSpPr/>
          <p:nvPr/>
        </p:nvSpPr>
        <p:spPr>
          <a:xfrm>
            <a:off x="3342132" y="208483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8" name="Image 1" descr="figs/icon_agree.png"/>
          <p:cNvPicPr>
            <a:picLocks noChangeAspect="1"/>
          </p:cNvPicPr>
          <p:nvPr/>
        </p:nvPicPr>
        <p:blipFill>
          <a:blip r:embed="rId4"/>
          <a:stretch>
            <a:fillRect/>
          </a:stretch>
        </p:blipFill>
        <p:spPr>
          <a:xfrm>
            <a:off x="3432658" y="2175358"/>
            <a:ext cx="321869" cy="321869"/>
          </a:xfrm>
          <a:prstGeom prst="rect">
            <a:avLst/>
          </a:prstGeom>
        </p:spPr>
      </p:pic>
      <p:sp>
        <p:nvSpPr>
          <p:cNvPr id="19" name="Text 15"/>
          <p:cNvSpPr/>
          <p:nvPr/>
        </p:nvSpPr>
        <p:spPr>
          <a:xfrm>
            <a:off x="2587752"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AGREE</a:t>
            </a:r>
            <a:endParaRPr lang="en-US" sz="1400" dirty="0"/>
          </a:p>
        </p:txBody>
      </p:sp>
      <p:sp>
        <p:nvSpPr>
          <p:cNvPr id="20" name="Text 16"/>
          <p:cNvSpPr/>
          <p:nvPr/>
        </p:nvSpPr>
        <p:spPr>
          <a:xfrm>
            <a:off x="2724912"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21" name="Text 17"/>
          <p:cNvSpPr/>
          <p:nvPr/>
        </p:nvSpPr>
        <p:spPr>
          <a:xfrm>
            <a:off x="2724912"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Гнучке формування представлення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Динамічний внесок учасників</a:t>
            </a:r>
            <a:endParaRPr lang="en-US" sz="900" dirty="0"/>
          </a:p>
        </p:txBody>
      </p:sp>
      <p:sp>
        <p:nvSpPr>
          <p:cNvPr id="22" name="Text 18"/>
          <p:cNvSpPr/>
          <p:nvPr/>
        </p:nvSpPr>
        <p:spPr>
          <a:xfrm>
            <a:off x="2724912"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23" name="Text 19"/>
          <p:cNvSpPr/>
          <p:nvPr/>
        </p:nvSpPr>
        <p:spPr>
          <a:xfrm>
            <a:off x="2724912"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Орієнтація на статичне подання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Без довгострокового ефекту</a:t>
            </a:r>
            <a:endParaRPr lang="en-US" sz="900" dirty="0"/>
          </a:p>
        </p:txBody>
      </p:sp>
      <p:sp>
        <p:nvSpPr>
          <p:cNvPr id="24" name="Shape 20"/>
          <p:cNvSpPr/>
          <p:nvPr/>
        </p:nvSpPr>
        <p:spPr>
          <a:xfrm>
            <a:off x="4718304"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5" name="Shape 21"/>
          <p:cNvSpPr/>
          <p:nvPr/>
        </p:nvSpPr>
        <p:spPr>
          <a:xfrm>
            <a:off x="4718304" y="1920240"/>
            <a:ext cx="2011680" cy="54864"/>
          </a:xfrm>
          <a:prstGeom prst="rect">
            <a:avLst/>
          </a:prstGeom>
          <a:solidFill>
            <a:srgbClr val="F0A93B"/>
          </a:solidFill>
          <a:ln w="12700">
            <a:solidFill>
              <a:srgbClr val="F0A93B"/>
            </a:solidFill>
            <a:prstDash val="solid"/>
          </a:ln>
        </p:spPr>
        <p:txBody>
          <a:bodyPr/>
          <a:lstStyle/>
          <a:p>
            <a:endParaRPr lang="uk-UA"/>
          </a:p>
        </p:txBody>
      </p:sp>
      <p:sp>
        <p:nvSpPr>
          <p:cNvPr id="26" name="Shape 22"/>
          <p:cNvSpPr/>
          <p:nvPr/>
        </p:nvSpPr>
        <p:spPr>
          <a:xfrm>
            <a:off x="5472684" y="208483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7" name="Image 2" descr="figs/icon_groupim.png"/>
          <p:cNvPicPr>
            <a:picLocks noChangeAspect="1"/>
          </p:cNvPicPr>
          <p:nvPr/>
        </p:nvPicPr>
        <p:blipFill>
          <a:blip r:embed="rId5"/>
          <a:stretch>
            <a:fillRect/>
          </a:stretch>
        </p:blipFill>
        <p:spPr>
          <a:xfrm>
            <a:off x="5563210" y="2175358"/>
            <a:ext cx="321869" cy="321869"/>
          </a:xfrm>
          <a:prstGeom prst="rect">
            <a:avLst/>
          </a:prstGeom>
        </p:spPr>
      </p:pic>
      <p:sp>
        <p:nvSpPr>
          <p:cNvPr id="28" name="Text 23"/>
          <p:cNvSpPr/>
          <p:nvPr/>
        </p:nvSpPr>
        <p:spPr>
          <a:xfrm>
            <a:off x="4718304"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GroupIM</a:t>
            </a:r>
            <a:endParaRPr lang="en-US" sz="1400" dirty="0"/>
          </a:p>
        </p:txBody>
      </p:sp>
      <p:sp>
        <p:nvSpPr>
          <p:cNvPr id="29" name="Text 24"/>
          <p:cNvSpPr/>
          <p:nvPr/>
        </p:nvSpPr>
        <p:spPr>
          <a:xfrm>
            <a:off x="4855464"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0" name="Text 25"/>
          <p:cNvSpPr/>
          <p:nvPr/>
        </p:nvSpPr>
        <p:spPr>
          <a:xfrm>
            <a:off x="4855464"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індивідуальні вподобання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Стійка при нестачі взаємодій</a:t>
            </a:r>
            <a:endParaRPr lang="en-US" sz="900" dirty="0"/>
          </a:p>
        </p:txBody>
      </p:sp>
      <p:sp>
        <p:nvSpPr>
          <p:cNvPr id="31" name="Text 26"/>
          <p:cNvSpPr/>
          <p:nvPr/>
        </p:nvSpPr>
        <p:spPr>
          <a:xfrm>
            <a:off x="4855464"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32" name="Text 27"/>
          <p:cNvSpPr/>
          <p:nvPr/>
        </p:nvSpPr>
        <p:spPr>
          <a:xfrm>
            <a:off x="4855464"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Чутлива до регуляризації</a:t>
            </a:r>
            <a:endParaRPr lang="en-US" sz="900" dirty="0"/>
          </a:p>
        </p:txBody>
      </p:sp>
      <p:sp>
        <p:nvSpPr>
          <p:cNvPr id="33" name="Shape 28"/>
          <p:cNvSpPr/>
          <p:nvPr/>
        </p:nvSpPr>
        <p:spPr>
          <a:xfrm>
            <a:off x="6848856"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4" name="Shape 29"/>
          <p:cNvSpPr/>
          <p:nvPr/>
        </p:nvSpPr>
        <p:spPr>
          <a:xfrm>
            <a:off x="6848856" y="1920240"/>
            <a:ext cx="2011680" cy="54864"/>
          </a:xfrm>
          <a:prstGeom prst="rect">
            <a:avLst/>
          </a:prstGeom>
          <a:solidFill>
            <a:srgbClr val="21C97A"/>
          </a:solidFill>
          <a:ln w="12700">
            <a:solidFill>
              <a:srgbClr val="21C97A"/>
            </a:solidFill>
            <a:prstDash val="solid"/>
          </a:ln>
        </p:spPr>
        <p:txBody>
          <a:bodyPr/>
          <a:lstStyle/>
          <a:p>
            <a:endParaRPr lang="uk-UA"/>
          </a:p>
        </p:txBody>
      </p:sp>
      <p:sp>
        <p:nvSpPr>
          <p:cNvPr id="35" name="Shape 30"/>
          <p:cNvSpPr/>
          <p:nvPr/>
        </p:nvSpPr>
        <p:spPr>
          <a:xfrm>
            <a:off x="7603236" y="2084832"/>
            <a:ext cx="502920" cy="502920"/>
          </a:xfrm>
          <a:prstGeom prst="ellipse">
            <a:avLst/>
          </a:prstGeom>
          <a:solidFill>
            <a:srgbClr val="DAF5E7"/>
          </a:solidFill>
          <a:ln w="12700">
            <a:solidFill>
              <a:srgbClr val="DAF5E7"/>
            </a:solidFill>
            <a:prstDash val="solid"/>
          </a:ln>
        </p:spPr>
        <p:txBody>
          <a:bodyPr/>
          <a:lstStyle/>
          <a:p>
            <a:endParaRPr lang="uk-UA"/>
          </a:p>
        </p:txBody>
      </p:sp>
      <p:pic>
        <p:nvPicPr>
          <p:cNvPr id="36" name="Image 3" descr="figs/icon_drgr.png"/>
          <p:cNvPicPr>
            <a:picLocks noChangeAspect="1"/>
          </p:cNvPicPr>
          <p:nvPr/>
        </p:nvPicPr>
        <p:blipFill>
          <a:blip r:embed="rId6"/>
          <a:stretch>
            <a:fillRect/>
          </a:stretch>
        </p:blipFill>
        <p:spPr>
          <a:xfrm>
            <a:off x="7693762" y="2175358"/>
            <a:ext cx="321869" cy="321869"/>
          </a:xfrm>
          <a:prstGeom prst="rect">
            <a:avLst/>
          </a:prstGeom>
        </p:spPr>
      </p:pic>
      <p:sp>
        <p:nvSpPr>
          <p:cNvPr id="37" name="Text 31"/>
          <p:cNvSpPr/>
          <p:nvPr/>
        </p:nvSpPr>
        <p:spPr>
          <a:xfrm>
            <a:off x="6848856"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DRGR</a:t>
            </a:r>
            <a:endParaRPr lang="en-US" sz="1400" dirty="0"/>
          </a:p>
        </p:txBody>
      </p:sp>
      <p:sp>
        <p:nvSpPr>
          <p:cNvPr id="38" name="Text 32"/>
          <p:cNvSpPr/>
          <p:nvPr/>
        </p:nvSpPr>
        <p:spPr>
          <a:xfrm>
            <a:off x="6986016"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9" name="Text 33"/>
          <p:cNvSpPr/>
          <p:nvPr/>
        </p:nvSpPr>
        <p:spPr>
          <a:xfrm>
            <a:off x="6986016"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Машинне навчання з підкріпленням</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послідовність у часі</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Моделює довгостроковий ефект</a:t>
            </a:r>
            <a:endParaRPr lang="en-US" sz="900" dirty="0"/>
          </a:p>
        </p:txBody>
      </p:sp>
      <p:sp>
        <p:nvSpPr>
          <p:cNvPr id="40" name="Text 34"/>
          <p:cNvSpPr/>
          <p:nvPr/>
        </p:nvSpPr>
        <p:spPr>
          <a:xfrm>
            <a:off x="6986016"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41" name="Text 35"/>
          <p:cNvSpPr/>
          <p:nvPr/>
        </p:nvSpPr>
        <p:spPr>
          <a:xfrm>
            <a:off x="6986016"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Спрощене формування стану групи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Залежність від підготовки даних</a:t>
            </a:r>
            <a:endParaRPr lang="en-US" sz="900" dirty="0"/>
          </a:p>
        </p:txBody>
      </p:sp>
      <p:sp>
        <p:nvSpPr>
          <p:cNvPr id="43"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5"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03 / 18</a:t>
            </a:r>
            <a:endParaRPr lang="en-US" sz="900" dirty="0"/>
          </a:p>
        </p:txBody>
      </p:sp>
      <p:sp>
        <p:nvSpPr>
          <p:cNvPr id="42" name="Text 28">
            <a:extLst>
              <a:ext uri="{FF2B5EF4-FFF2-40B4-BE49-F238E27FC236}">
                <a16:creationId xmlns:a16="http://schemas.microsoft.com/office/drawing/2014/main" id="{E3345A5A-A54F-CDE9-DAF1-D1B666BDAC1A}"/>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ТЕОРЕТИЧНА ОСНОВА</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Машинне навчання з підкріпленням</a:t>
            </a:r>
            <a:endParaRPr lang="en-US" sz="2800" dirty="0"/>
          </a:p>
        </p:txBody>
      </p:sp>
      <p:sp>
        <p:nvSpPr>
          <p:cNvPr id="5" name="Shape 3"/>
          <p:cNvSpPr/>
          <p:nvPr/>
        </p:nvSpPr>
        <p:spPr>
          <a:xfrm>
            <a:off x="454914" y="1257300"/>
            <a:ext cx="420624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61889" y="1257300"/>
            <a:ext cx="64008" cy="14173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594360" y="1312164"/>
            <a:ext cx="411480" cy="41148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697230" y="1415034"/>
            <a:ext cx="205740" cy="205740"/>
          </a:xfrm>
          <a:prstGeom prst="rect">
            <a:avLst/>
          </a:prstGeom>
        </p:spPr>
      </p:pic>
      <p:sp>
        <p:nvSpPr>
          <p:cNvPr id="9" name="Text 6"/>
          <p:cNvSpPr/>
          <p:nvPr/>
        </p:nvSpPr>
        <p:spPr>
          <a:xfrm>
            <a:off x="1108710" y="1370750"/>
            <a:ext cx="329184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Визначення</a:t>
            </a:r>
            <a:endParaRPr lang="en-US" sz="1200" dirty="0"/>
          </a:p>
        </p:txBody>
      </p:sp>
      <p:sp>
        <p:nvSpPr>
          <p:cNvPr id="10" name="Text 7"/>
          <p:cNvSpPr/>
          <p:nvPr/>
        </p:nvSpPr>
        <p:spPr>
          <a:xfrm>
            <a:off x="640080" y="1811333"/>
            <a:ext cx="3840480" cy="6858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Процес навчання з підкріпленням формалізується як процес прийняття рішень Маркова. Система — це агент, який взаємодіє з середовищем, отримуючи винагороду за вдалі рекомендації.</a:t>
            </a:r>
            <a:endParaRPr lang="en-US" sz="1050" dirty="0"/>
          </a:p>
        </p:txBody>
      </p:sp>
      <p:sp>
        <p:nvSpPr>
          <p:cNvPr id="11" name="Shape 8"/>
          <p:cNvSpPr/>
          <p:nvPr/>
        </p:nvSpPr>
        <p:spPr>
          <a:xfrm>
            <a:off x="457200" y="2926080"/>
            <a:ext cx="192024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926080"/>
            <a:ext cx="192024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1170432" y="309067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1296162" y="3216402"/>
            <a:ext cx="251460" cy="251460"/>
          </a:xfrm>
          <a:prstGeom prst="rect">
            <a:avLst/>
          </a:prstGeom>
        </p:spPr>
      </p:pic>
      <p:sp>
        <p:nvSpPr>
          <p:cNvPr id="15" name="Text 11"/>
          <p:cNvSpPr/>
          <p:nvPr/>
        </p:nvSpPr>
        <p:spPr>
          <a:xfrm>
            <a:off x="457200" y="3639312"/>
            <a:ext cx="192024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Агент</a:t>
            </a:r>
            <a:endParaRPr lang="en-US" sz="1200" dirty="0"/>
          </a:p>
        </p:txBody>
      </p:sp>
      <p:sp>
        <p:nvSpPr>
          <p:cNvPr id="16" name="Text 12"/>
          <p:cNvSpPr/>
          <p:nvPr/>
        </p:nvSpPr>
        <p:spPr>
          <a:xfrm>
            <a:off x="548640" y="3886200"/>
            <a:ext cx="173736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Рекомендаційна система,</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що вчиться</a:t>
            </a:r>
            <a:endParaRPr lang="en-US" sz="900" dirty="0"/>
          </a:p>
        </p:txBody>
      </p:sp>
      <p:sp>
        <p:nvSpPr>
          <p:cNvPr id="17" name="Shape 13"/>
          <p:cNvSpPr/>
          <p:nvPr/>
        </p:nvSpPr>
        <p:spPr>
          <a:xfrm>
            <a:off x="2480310" y="3095244"/>
            <a:ext cx="365760" cy="166818"/>
          </a:xfrm>
          <a:prstGeom prst="rightArrow">
            <a:avLst/>
          </a:prstGeom>
          <a:solidFill>
            <a:srgbClr val="2C5BD8"/>
          </a:solidFill>
          <a:ln w="12700">
            <a:solidFill>
              <a:srgbClr val="2C5BD8"/>
            </a:solidFill>
            <a:prstDash val="solid"/>
          </a:ln>
        </p:spPr>
        <p:txBody>
          <a:bodyPr/>
          <a:lstStyle/>
          <a:p>
            <a:endParaRPr lang="uk-UA"/>
          </a:p>
        </p:txBody>
      </p:sp>
      <p:sp>
        <p:nvSpPr>
          <p:cNvPr id="18" name="Text 14"/>
          <p:cNvSpPr/>
          <p:nvPr/>
        </p:nvSpPr>
        <p:spPr>
          <a:xfrm>
            <a:off x="2388870" y="2866644"/>
            <a:ext cx="548640" cy="228600"/>
          </a:xfrm>
          <a:prstGeom prst="rect">
            <a:avLst/>
          </a:prstGeom>
          <a:noFill/>
          <a:ln/>
        </p:spPr>
        <p:txBody>
          <a:bodyPr wrap="square" lIns="0" tIns="0" rIns="0" bIns="0" rtlCol="0" anchor="ctr"/>
          <a:lstStyle/>
          <a:p>
            <a:pPr marL="0" indent="0" algn="ctr">
              <a:buNone/>
            </a:pPr>
            <a:r>
              <a:rPr lang="en-US" sz="900" i="1" dirty="0">
                <a:solidFill>
                  <a:srgbClr val="2C5BD8"/>
                </a:solidFill>
                <a:latin typeface="Calibri" pitchFamily="34" charset="0"/>
                <a:ea typeface="Calibri" pitchFamily="34" charset="-122"/>
                <a:cs typeface="Calibri" pitchFamily="34" charset="-120"/>
              </a:rPr>
              <a:t>дія</a:t>
            </a:r>
            <a:endParaRPr lang="en-US" sz="900" dirty="0"/>
          </a:p>
        </p:txBody>
      </p:sp>
      <p:sp>
        <p:nvSpPr>
          <p:cNvPr id="19" name="Shape 15"/>
          <p:cNvSpPr/>
          <p:nvPr/>
        </p:nvSpPr>
        <p:spPr>
          <a:xfrm>
            <a:off x="2468880" y="3948130"/>
            <a:ext cx="365760" cy="166670"/>
          </a:xfrm>
          <a:prstGeom prst="leftArrow">
            <a:avLst/>
          </a:prstGeom>
          <a:solidFill>
            <a:srgbClr val="21C97A"/>
          </a:solidFill>
          <a:ln w="12700">
            <a:solidFill>
              <a:srgbClr val="21C97A"/>
            </a:solidFill>
            <a:prstDash val="solid"/>
          </a:ln>
        </p:spPr>
        <p:txBody>
          <a:bodyPr/>
          <a:lstStyle/>
          <a:p>
            <a:endParaRPr lang="uk-UA"/>
          </a:p>
        </p:txBody>
      </p:sp>
      <p:sp>
        <p:nvSpPr>
          <p:cNvPr id="20" name="Text 16"/>
          <p:cNvSpPr/>
          <p:nvPr/>
        </p:nvSpPr>
        <p:spPr>
          <a:xfrm>
            <a:off x="2331720" y="4114800"/>
            <a:ext cx="640080" cy="182880"/>
          </a:xfrm>
          <a:prstGeom prst="rect">
            <a:avLst/>
          </a:prstGeom>
          <a:noFill/>
          <a:ln/>
        </p:spPr>
        <p:txBody>
          <a:bodyPr wrap="square" lIns="0" tIns="0" rIns="0" bIns="0" rtlCol="0" anchor="ctr"/>
          <a:lstStyle/>
          <a:p>
            <a:pPr marL="0" indent="0" algn="ctr">
              <a:buNone/>
            </a:pPr>
            <a:r>
              <a:rPr lang="en-US" sz="800" i="1" dirty="0">
                <a:solidFill>
                  <a:srgbClr val="21C97A"/>
                </a:solidFill>
                <a:latin typeface="Calibri" pitchFamily="34" charset="0"/>
                <a:ea typeface="Calibri" pitchFamily="34" charset="-122"/>
                <a:cs typeface="Calibri" pitchFamily="34" charset="-120"/>
              </a:rPr>
              <a:t>винагорода</a:t>
            </a:r>
            <a:endParaRPr lang="en-US" sz="800" dirty="0"/>
          </a:p>
        </p:txBody>
      </p:sp>
      <p:sp>
        <p:nvSpPr>
          <p:cNvPr id="21" name="Shape 17"/>
          <p:cNvSpPr/>
          <p:nvPr/>
        </p:nvSpPr>
        <p:spPr>
          <a:xfrm>
            <a:off x="2926080" y="2926080"/>
            <a:ext cx="173736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8"/>
          <p:cNvSpPr/>
          <p:nvPr/>
        </p:nvSpPr>
        <p:spPr>
          <a:xfrm>
            <a:off x="2926080" y="2926080"/>
            <a:ext cx="1737360" cy="54864"/>
          </a:xfrm>
          <a:prstGeom prst="rect">
            <a:avLst/>
          </a:prstGeom>
          <a:solidFill>
            <a:srgbClr val="F0A93B"/>
          </a:solidFill>
          <a:ln w="12700">
            <a:solidFill>
              <a:srgbClr val="F0A93B"/>
            </a:solidFill>
            <a:prstDash val="solid"/>
          </a:ln>
        </p:spPr>
        <p:txBody>
          <a:bodyPr/>
          <a:lstStyle/>
          <a:p>
            <a:endParaRPr lang="uk-UA"/>
          </a:p>
        </p:txBody>
      </p:sp>
      <p:sp>
        <p:nvSpPr>
          <p:cNvPr id="23" name="Shape 19"/>
          <p:cNvSpPr/>
          <p:nvPr/>
        </p:nvSpPr>
        <p:spPr>
          <a:xfrm>
            <a:off x="3543300" y="309067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4" name="Image 2" descr="preencoded.png"/>
          <p:cNvPicPr>
            <a:picLocks noChangeAspect="1"/>
          </p:cNvPicPr>
          <p:nvPr/>
        </p:nvPicPr>
        <p:blipFill>
          <a:blip r:embed="rId5"/>
          <a:stretch>
            <a:fillRect/>
          </a:stretch>
        </p:blipFill>
        <p:spPr>
          <a:xfrm>
            <a:off x="3669030" y="3216402"/>
            <a:ext cx="251460" cy="251460"/>
          </a:xfrm>
          <a:prstGeom prst="rect">
            <a:avLst/>
          </a:prstGeom>
        </p:spPr>
      </p:pic>
      <p:sp>
        <p:nvSpPr>
          <p:cNvPr id="25" name="Text 20"/>
          <p:cNvSpPr/>
          <p:nvPr/>
        </p:nvSpPr>
        <p:spPr>
          <a:xfrm>
            <a:off x="2926080" y="3639312"/>
            <a:ext cx="173736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Середовище</a:t>
            </a:r>
            <a:endParaRPr lang="en-US" sz="1200" dirty="0"/>
          </a:p>
        </p:txBody>
      </p:sp>
      <p:sp>
        <p:nvSpPr>
          <p:cNvPr id="26" name="Text 21"/>
          <p:cNvSpPr/>
          <p:nvPr/>
        </p:nvSpPr>
        <p:spPr>
          <a:xfrm>
            <a:off x="3017520" y="3886200"/>
            <a:ext cx="155448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Групи користувачів</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та історія</a:t>
            </a:r>
            <a:endParaRPr lang="en-US" sz="900" dirty="0"/>
          </a:p>
        </p:txBody>
      </p:sp>
      <p:sp>
        <p:nvSpPr>
          <p:cNvPr id="27" name="Text 22"/>
          <p:cNvSpPr/>
          <p:nvPr/>
        </p:nvSpPr>
        <p:spPr>
          <a:xfrm>
            <a:off x="4933071" y="1147572"/>
            <a:ext cx="3749040" cy="274320"/>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Ключові переваги</a:t>
            </a:r>
            <a:endParaRPr lang="en-US" sz="1400" dirty="0"/>
          </a:p>
        </p:txBody>
      </p:sp>
      <p:sp>
        <p:nvSpPr>
          <p:cNvPr id="28" name="Shape 23"/>
          <p:cNvSpPr/>
          <p:nvPr/>
        </p:nvSpPr>
        <p:spPr>
          <a:xfrm>
            <a:off x="4933071" y="1467612"/>
            <a:ext cx="411480" cy="411480"/>
          </a:xfrm>
          <a:prstGeom prst="ellipse">
            <a:avLst/>
          </a:prstGeom>
          <a:solidFill>
            <a:srgbClr val="E8F0FE"/>
          </a:solidFill>
          <a:ln w="12700">
            <a:solidFill>
              <a:srgbClr val="E8F0FE"/>
            </a:solidFill>
            <a:prstDash val="solid"/>
          </a:ln>
        </p:spPr>
        <p:txBody>
          <a:bodyPr/>
          <a:lstStyle/>
          <a:p>
            <a:endParaRPr lang="uk-UA"/>
          </a:p>
        </p:txBody>
      </p:sp>
      <p:pic>
        <p:nvPicPr>
          <p:cNvPr id="29" name="Image 3" descr="preencoded.png"/>
          <p:cNvPicPr>
            <a:picLocks noChangeAspect="1"/>
          </p:cNvPicPr>
          <p:nvPr/>
        </p:nvPicPr>
        <p:blipFill>
          <a:blip r:embed="rId6"/>
          <a:stretch>
            <a:fillRect/>
          </a:stretch>
        </p:blipFill>
        <p:spPr>
          <a:xfrm>
            <a:off x="5035941" y="1570482"/>
            <a:ext cx="205740" cy="205740"/>
          </a:xfrm>
          <a:prstGeom prst="rect">
            <a:avLst/>
          </a:prstGeom>
        </p:spPr>
      </p:pic>
      <p:sp>
        <p:nvSpPr>
          <p:cNvPr id="30" name="Text 24"/>
          <p:cNvSpPr/>
          <p:nvPr/>
        </p:nvSpPr>
        <p:spPr>
          <a:xfrm>
            <a:off x="5481711" y="144932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Великі обсяги даних</a:t>
            </a:r>
            <a:endParaRPr lang="en-US" sz="1200" dirty="0"/>
          </a:p>
        </p:txBody>
      </p:sp>
      <p:sp>
        <p:nvSpPr>
          <p:cNvPr id="31" name="Text 25"/>
          <p:cNvSpPr/>
          <p:nvPr/>
        </p:nvSpPr>
        <p:spPr>
          <a:xfrm>
            <a:off x="5481711" y="168706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Ефективна робота з масштабованими середовищами</a:t>
            </a:r>
            <a:endParaRPr lang="en-US" sz="1000" dirty="0"/>
          </a:p>
        </p:txBody>
      </p:sp>
      <p:sp>
        <p:nvSpPr>
          <p:cNvPr id="32" name="Shape 26"/>
          <p:cNvSpPr/>
          <p:nvPr/>
        </p:nvSpPr>
        <p:spPr>
          <a:xfrm>
            <a:off x="4933071" y="2061972"/>
            <a:ext cx="411480" cy="411480"/>
          </a:xfrm>
          <a:prstGeom prst="ellipse">
            <a:avLst/>
          </a:prstGeom>
          <a:solidFill>
            <a:srgbClr val="D6F1F7"/>
          </a:solidFill>
          <a:ln w="12700">
            <a:solidFill>
              <a:srgbClr val="D6F1F7"/>
            </a:solidFill>
            <a:prstDash val="solid"/>
          </a:ln>
        </p:spPr>
        <p:txBody>
          <a:bodyPr/>
          <a:lstStyle/>
          <a:p>
            <a:endParaRPr lang="uk-UA"/>
          </a:p>
        </p:txBody>
      </p:sp>
      <p:pic>
        <p:nvPicPr>
          <p:cNvPr id="33" name="Image 4" descr="preencoded.png"/>
          <p:cNvPicPr>
            <a:picLocks noChangeAspect="1"/>
          </p:cNvPicPr>
          <p:nvPr/>
        </p:nvPicPr>
        <p:blipFill>
          <a:blip r:embed="rId7"/>
          <a:stretch>
            <a:fillRect/>
          </a:stretch>
        </p:blipFill>
        <p:spPr>
          <a:xfrm>
            <a:off x="5035941" y="2164842"/>
            <a:ext cx="205740" cy="205740"/>
          </a:xfrm>
          <a:prstGeom prst="rect">
            <a:avLst/>
          </a:prstGeom>
        </p:spPr>
      </p:pic>
      <p:sp>
        <p:nvSpPr>
          <p:cNvPr id="34" name="Text 27"/>
          <p:cNvSpPr/>
          <p:nvPr/>
        </p:nvSpPr>
        <p:spPr>
          <a:xfrm>
            <a:off x="5481711" y="204368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Адаптивність</a:t>
            </a:r>
            <a:endParaRPr lang="en-US" sz="1200" dirty="0"/>
          </a:p>
        </p:txBody>
      </p:sp>
      <p:sp>
        <p:nvSpPr>
          <p:cNvPr id="35" name="Text 28"/>
          <p:cNvSpPr/>
          <p:nvPr/>
        </p:nvSpPr>
        <p:spPr>
          <a:xfrm>
            <a:off x="5481711" y="228142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Реакція на зміни в середовищі та поведінці</a:t>
            </a:r>
            <a:endParaRPr lang="en-US" sz="1000" dirty="0"/>
          </a:p>
        </p:txBody>
      </p:sp>
      <p:sp>
        <p:nvSpPr>
          <p:cNvPr id="36" name="Shape 29"/>
          <p:cNvSpPr/>
          <p:nvPr/>
        </p:nvSpPr>
        <p:spPr>
          <a:xfrm>
            <a:off x="4933071" y="2656332"/>
            <a:ext cx="411480" cy="411480"/>
          </a:xfrm>
          <a:prstGeom prst="ellipse">
            <a:avLst/>
          </a:prstGeom>
          <a:solidFill>
            <a:srgbClr val="FBE9CD"/>
          </a:solidFill>
          <a:ln w="12700">
            <a:solidFill>
              <a:srgbClr val="FBE9CD"/>
            </a:solidFill>
            <a:prstDash val="solid"/>
          </a:ln>
        </p:spPr>
        <p:txBody>
          <a:bodyPr/>
          <a:lstStyle/>
          <a:p>
            <a:endParaRPr lang="uk-UA"/>
          </a:p>
        </p:txBody>
      </p:sp>
      <p:pic>
        <p:nvPicPr>
          <p:cNvPr id="37" name="Image 5" descr="preencoded.png"/>
          <p:cNvPicPr>
            <a:picLocks noChangeAspect="1"/>
          </p:cNvPicPr>
          <p:nvPr/>
        </p:nvPicPr>
        <p:blipFill>
          <a:blip r:embed="rId8"/>
          <a:stretch>
            <a:fillRect/>
          </a:stretch>
        </p:blipFill>
        <p:spPr>
          <a:xfrm>
            <a:off x="5035941" y="2759202"/>
            <a:ext cx="205740" cy="205740"/>
          </a:xfrm>
          <a:prstGeom prst="rect">
            <a:avLst/>
          </a:prstGeom>
        </p:spPr>
      </p:pic>
      <p:sp>
        <p:nvSpPr>
          <p:cNvPr id="38" name="Text 30"/>
          <p:cNvSpPr/>
          <p:nvPr/>
        </p:nvSpPr>
        <p:spPr>
          <a:xfrm>
            <a:off x="5481711" y="263804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Довгостроковий ефект</a:t>
            </a:r>
            <a:endParaRPr lang="en-US" sz="1200" dirty="0"/>
          </a:p>
        </p:txBody>
      </p:sp>
      <p:sp>
        <p:nvSpPr>
          <p:cNvPr id="39" name="Text 31"/>
          <p:cNvSpPr/>
          <p:nvPr/>
        </p:nvSpPr>
        <p:spPr>
          <a:xfrm>
            <a:off x="5481711" y="287578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Орієнтація на сукупну майбутню винагороду</a:t>
            </a:r>
            <a:endParaRPr lang="en-US" sz="1000" dirty="0"/>
          </a:p>
        </p:txBody>
      </p:sp>
      <p:sp>
        <p:nvSpPr>
          <p:cNvPr id="40" name="Shape 32"/>
          <p:cNvSpPr/>
          <p:nvPr/>
        </p:nvSpPr>
        <p:spPr>
          <a:xfrm>
            <a:off x="4937760" y="3186214"/>
            <a:ext cx="3831102" cy="1636106"/>
          </a:xfrm>
          <a:prstGeom prst="rect">
            <a:avLst/>
          </a:prstGeom>
          <a:solidFill>
            <a:srgbClr val="E8F0FE"/>
          </a:solidFill>
          <a:ln w="12700">
            <a:solidFill>
              <a:srgbClr val="E8F0FE"/>
            </a:solidFill>
            <a:prstDash val="solid"/>
          </a:ln>
        </p:spPr>
        <p:txBody>
          <a:bodyPr/>
          <a:lstStyle/>
          <a:p>
            <a:endParaRPr lang="uk-UA"/>
          </a:p>
        </p:txBody>
      </p:sp>
      <p:sp>
        <p:nvSpPr>
          <p:cNvPr id="41" name="Shape 33"/>
          <p:cNvSpPr/>
          <p:nvPr/>
        </p:nvSpPr>
        <p:spPr>
          <a:xfrm>
            <a:off x="4937760" y="3186214"/>
            <a:ext cx="55098" cy="1636105"/>
          </a:xfrm>
          <a:prstGeom prst="rect">
            <a:avLst/>
          </a:prstGeom>
          <a:solidFill>
            <a:srgbClr val="2C5BD8"/>
          </a:solidFill>
          <a:ln w="12700">
            <a:solidFill>
              <a:srgbClr val="2C5BD8"/>
            </a:solidFill>
            <a:prstDash val="solid"/>
          </a:ln>
        </p:spPr>
        <p:txBody>
          <a:bodyPr/>
          <a:lstStyle/>
          <a:p>
            <a:endParaRPr lang="uk-UA"/>
          </a:p>
        </p:txBody>
      </p:sp>
      <p:sp>
        <p:nvSpPr>
          <p:cNvPr id="42" name="Text 34"/>
          <p:cNvSpPr/>
          <p:nvPr/>
        </p:nvSpPr>
        <p:spPr>
          <a:xfrm>
            <a:off x="5120640" y="3277655"/>
            <a:ext cx="91440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Мета:</a:t>
            </a:r>
            <a:endParaRPr lang="en-US" sz="1100" dirty="0"/>
          </a:p>
        </p:txBody>
      </p:sp>
      <p:sp>
        <p:nvSpPr>
          <p:cNvPr id="43" name="Text 35"/>
          <p:cNvSpPr/>
          <p:nvPr/>
        </p:nvSpPr>
        <p:spPr>
          <a:xfrm>
            <a:off x="5120640" y="3414815"/>
            <a:ext cx="3520440" cy="50292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максимізація довгострокової задоволеності групи (сукупної винагороди)</a:t>
            </a:r>
            <a:endParaRPr lang="en-US" sz="1100" dirty="0"/>
          </a:p>
        </p:txBody>
      </p:sp>
      <p:sp>
        <p:nvSpPr>
          <p:cNvPr id="45"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7"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04 / 18</a:t>
            </a:r>
            <a:endParaRPr lang="en-US" sz="900" dirty="0"/>
          </a:p>
        </p:txBody>
      </p:sp>
      <p:sp>
        <p:nvSpPr>
          <p:cNvPr id="44" name="Text 28">
            <a:extLst>
              <a:ext uri="{FF2B5EF4-FFF2-40B4-BE49-F238E27FC236}">
                <a16:creationId xmlns:a16="http://schemas.microsoft.com/office/drawing/2014/main" id="{BE085325-CD4E-579C-5E9C-1AB037BAC1B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48" name="TextBox 47">
            <a:extLst>
              <a:ext uri="{FF2B5EF4-FFF2-40B4-BE49-F238E27FC236}">
                <a16:creationId xmlns:a16="http://schemas.microsoft.com/office/drawing/2014/main" id="{18050A53-8BE0-C7B4-161D-0DE1242E5E8E}"/>
              </a:ext>
            </a:extLst>
          </p:cNvPr>
          <p:cNvSpPr txBox="1"/>
          <p:nvPr/>
        </p:nvSpPr>
        <p:spPr>
          <a:xfrm>
            <a:off x="681633" y="4279392"/>
            <a:ext cx="3890367" cy="400110"/>
          </a:xfrm>
          <a:prstGeom prst="rect">
            <a:avLst/>
          </a:prstGeom>
          <a:noFill/>
        </p:spPr>
        <p:txBody>
          <a:bodyPr wrap="square" rtlCol="0">
            <a:spAutoFit/>
          </a:bodyPr>
          <a:lstStyle/>
          <a:p>
            <a:pPr algn="ctr"/>
            <a:r>
              <a:rPr lang="uk-UA" sz="1000" dirty="0"/>
              <a:t>Рис. 1. Середовище, представлене як процес прийняття рішень Маркова</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C830B31-0BEF-A26D-F4D3-E140A602D3F2}"/>
                  </a:ext>
                </a:extLst>
              </p:cNvPr>
              <p:cNvSpPr txBox="1"/>
              <p:nvPr/>
            </p:nvSpPr>
            <p:spPr>
              <a:xfrm>
                <a:off x="6353303" y="3894018"/>
                <a:ext cx="866006"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𝑅</m:t>
                      </m:r>
                      <m:r>
                        <a:rPr lang="en-US" sz="1200" b="0" i="1" smtClean="0">
                          <a:latin typeface="Cambria Math" panose="02040503050406030204" pitchFamily="18" charset="0"/>
                        </a:rPr>
                        <m:t>= </m:t>
                      </m:r>
                      <m:nary>
                        <m:naryPr>
                          <m:chr m:val="∑"/>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𝑡</m:t>
                          </m:r>
                          <m:r>
                            <a:rPr lang="en-US" sz="1200" b="0" i="1" smtClean="0">
                              <a:latin typeface="Cambria Math" panose="02040503050406030204" pitchFamily="18" charset="0"/>
                            </a:rPr>
                            <m:t>=0</m:t>
                          </m:r>
                        </m:sub>
                        <m:sup>
                          <m:r>
                            <a:rPr lang="en-US" sz="1200" b="0" i="1" smtClean="0">
                              <a:latin typeface="Cambria Math" panose="02040503050406030204" pitchFamily="18" charset="0"/>
                            </a:rPr>
                            <m:t>𝑇</m:t>
                          </m:r>
                        </m:sup>
                        <m:e>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𝛾</m:t>
                              </m:r>
                            </m:e>
                            <m:sup>
                              <m:r>
                                <a:rPr lang="en-US" sz="1200" b="0" i="1" smtClean="0">
                                  <a:latin typeface="Cambria Math" panose="02040503050406030204" pitchFamily="18" charset="0"/>
                                  <a:ea typeface="Cambria Math" panose="02040503050406030204" pitchFamily="18" charset="0"/>
                                </a:rPr>
                                <m:t>𝑡</m:t>
                              </m:r>
                            </m:sup>
                          </m:sSup>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𝑟</m:t>
                              </m:r>
                            </m:e>
                            <m:sub>
                              <m:r>
                                <a:rPr lang="en-US" sz="1200" b="0" i="1" smtClean="0">
                                  <a:latin typeface="Cambria Math" panose="02040503050406030204" pitchFamily="18" charset="0"/>
                                  <a:ea typeface="Cambria Math" panose="02040503050406030204" pitchFamily="18" charset="0"/>
                                </a:rPr>
                                <m:t>𝑡</m:t>
                              </m:r>
                            </m:sub>
                          </m:sSub>
                        </m:e>
                      </m:nary>
                    </m:oMath>
                  </m:oMathPara>
                </a14:m>
                <a:endParaRPr lang="uk-UA" sz="1200" dirty="0"/>
              </a:p>
            </p:txBody>
          </p:sp>
        </mc:Choice>
        <mc:Fallback xmlns="">
          <p:sp>
            <p:nvSpPr>
              <p:cNvPr id="49" name="TextBox 48">
                <a:extLst>
                  <a:ext uri="{FF2B5EF4-FFF2-40B4-BE49-F238E27FC236}">
                    <a16:creationId xmlns:a16="http://schemas.microsoft.com/office/drawing/2014/main" id="{5C830B31-0BEF-A26D-F4D3-E140A602D3F2}"/>
                  </a:ext>
                </a:extLst>
              </p:cNvPr>
              <p:cNvSpPr txBox="1">
                <a:spLocks noRot="1" noChangeAspect="1" noMove="1" noResize="1" noEditPoints="1" noAdjustHandles="1" noChangeArrowheads="1" noChangeShapeType="1" noTextEdit="1"/>
              </p:cNvSpPr>
              <p:nvPr/>
            </p:nvSpPr>
            <p:spPr>
              <a:xfrm>
                <a:off x="6353303" y="3894018"/>
                <a:ext cx="866006" cy="519501"/>
              </a:xfrm>
              <a:prstGeom prst="rect">
                <a:avLst/>
              </a:prstGeom>
              <a:blipFill>
                <a:blip r:embed="rId9"/>
                <a:stretch>
                  <a:fillRect/>
                </a:stretch>
              </a:blipFill>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3EBEA1B-808E-3AF2-3639-42E45DA07402}"/>
                  </a:ext>
                </a:extLst>
              </p:cNvPr>
              <p:cNvSpPr txBox="1"/>
              <p:nvPr/>
            </p:nvSpPr>
            <p:spPr>
              <a:xfrm>
                <a:off x="4860439" y="4429708"/>
                <a:ext cx="3985743" cy="430887"/>
              </a:xfrm>
              <a:prstGeom prst="rect">
                <a:avLst/>
              </a:prstGeom>
              <a:noFill/>
            </p:spPr>
            <p:txBody>
              <a:bodyPr wrap="square">
                <a:spAutoFit/>
              </a:bodyPr>
              <a:lstStyle/>
              <a:p>
                <a:pPr algn="ctr"/>
                <a:r>
                  <a:rPr lang="uk-UA" sz="1100" dirty="0"/>
                  <a:t>де </a:t>
                </a:r>
                <a14:m>
                  <m:oMath xmlns:m="http://schemas.openxmlformats.org/officeDocument/2006/math">
                    <m:r>
                      <a:rPr lang="en-US" sz="1100" i="1">
                        <a:latin typeface="Cambria Math" panose="02040503050406030204" pitchFamily="18" charset="0"/>
                        <a:ea typeface="Cambria Math" panose="02040503050406030204" pitchFamily="18" charset="0"/>
                      </a:rPr>
                      <m:t>𝛾</m:t>
                    </m:r>
                  </m:oMath>
                </a14:m>
                <a:r>
                  <a:rPr lang="uk-UA" sz="1100" dirty="0"/>
                  <a:t> – коефіцієнт знижки (вага впливу короткострокових і довгострокових дій)</a:t>
                </a:r>
              </a:p>
            </p:txBody>
          </p:sp>
        </mc:Choice>
        <mc:Fallback xmlns="">
          <p:sp>
            <p:nvSpPr>
              <p:cNvPr id="50" name="TextBox 49">
                <a:extLst>
                  <a:ext uri="{FF2B5EF4-FFF2-40B4-BE49-F238E27FC236}">
                    <a16:creationId xmlns:a16="http://schemas.microsoft.com/office/drawing/2014/main" id="{73EBEA1B-808E-3AF2-3639-42E45DA07402}"/>
                  </a:ext>
                </a:extLst>
              </p:cNvPr>
              <p:cNvSpPr txBox="1">
                <a:spLocks noRot="1" noChangeAspect="1" noMove="1" noResize="1" noEditPoints="1" noAdjustHandles="1" noChangeArrowheads="1" noChangeShapeType="1" noTextEdit="1"/>
              </p:cNvSpPr>
              <p:nvPr/>
            </p:nvSpPr>
            <p:spPr>
              <a:xfrm>
                <a:off x="4860439" y="4429708"/>
                <a:ext cx="3985743" cy="430887"/>
              </a:xfrm>
              <a:prstGeom prst="rect">
                <a:avLst/>
              </a:prstGeom>
              <a:blipFill>
                <a:blip r:embed="rId10"/>
                <a:stretch>
                  <a:fillRect b="-10000"/>
                </a:stretch>
              </a:blipFill>
            </p:spPr>
            <p:txBody>
              <a:bodyPr/>
              <a:lstStyle/>
              <a:p>
                <a:r>
                  <a:rPr lang="uk-UA">
                    <a:noFill/>
                  </a:rPr>
                  <a:t> </a:t>
                </a:r>
              </a:p>
            </p:txBody>
          </p:sp>
        </mc:Fallback>
      </mc:AlternateContent>
      <p:sp>
        <p:nvSpPr>
          <p:cNvPr id="51" name="Shape 15">
            <a:extLst>
              <a:ext uri="{FF2B5EF4-FFF2-40B4-BE49-F238E27FC236}">
                <a16:creationId xmlns:a16="http://schemas.microsoft.com/office/drawing/2014/main" id="{B72F713F-0E53-ACC4-7A64-5959684333B8}"/>
              </a:ext>
            </a:extLst>
          </p:cNvPr>
          <p:cNvSpPr/>
          <p:nvPr/>
        </p:nvSpPr>
        <p:spPr>
          <a:xfrm>
            <a:off x="2454761" y="3451774"/>
            <a:ext cx="365760" cy="166818"/>
          </a:xfrm>
          <a:prstGeom prst="leftArrow">
            <a:avLst/>
          </a:prstGeom>
          <a:solidFill>
            <a:srgbClr val="21C97A"/>
          </a:solidFill>
          <a:ln w="12700">
            <a:solidFill>
              <a:srgbClr val="21C97A"/>
            </a:solidFill>
            <a:prstDash val="solid"/>
          </a:ln>
        </p:spPr>
        <p:txBody>
          <a:bodyPr/>
          <a:lstStyle/>
          <a:p>
            <a:endParaRPr lang="uk-UA"/>
          </a:p>
        </p:txBody>
      </p:sp>
      <p:sp>
        <p:nvSpPr>
          <p:cNvPr id="52" name="Text 16">
            <a:extLst>
              <a:ext uri="{FF2B5EF4-FFF2-40B4-BE49-F238E27FC236}">
                <a16:creationId xmlns:a16="http://schemas.microsoft.com/office/drawing/2014/main" id="{3FDAD8A2-E427-F5EE-0401-6108D8F5B79F}"/>
              </a:ext>
            </a:extLst>
          </p:cNvPr>
          <p:cNvSpPr/>
          <p:nvPr/>
        </p:nvSpPr>
        <p:spPr>
          <a:xfrm>
            <a:off x="2346039" y="3650389"/>
            <a:ext cx="640080" cy="182880"/>
          </a:xfrm>
          <a:prstGeom prst="rect">
            <a:avLst/>
          </a:prstGeom>
          <a:noFill/>
          <a:ln/>
        </p:spPr>
        <p:txBody>
          <a:bodyPr wrap="square" lIns="0" tIns="0" rIns="0" bIns="0" rtlCol="0" anchor="ctr"/>
          <a:lstStyle/>
          <a:p>
            <a:pPr marL="0" indent="0" algn="ctr">
              <a:buNone/>
            </a:pPr>
            <a:r>
              <a:rPr lang="uk-UA" sz="800" i="1" dirty="0">
                <a:solidFill>
                  <a:srgbClr val="21C97A"/>
                </a:solidFill>
                <a:latin typeface="Calibri" pitchFamily="34" charset="0"/>
                <a:ea typeface="Calibri" pitchFamily="34" charset="-122"/>
                <a:cs typeface="Calibri" pitchFamily="34" charset="-120"/>
              </a:rPr>
              <a:t>стан</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ПОСТАНОВКА </a:t>
            </a:r>
            <a:r>
              <a:rPr lang="uk-UA" sz="1000" b="1" kern="0" spc="600" dirty="0">
                <a:solidFill>
                  <a:srgbClr val="2C5BD8"/>
                </a:solidFill>
                <a:latin typeface="Calibri" pitchFamily="34" charset="0"/>
                <a:ea typeface="Calibri" pitchFamily="34" charset="-122"/>
                <a:cs typeface="Calibri" pitchFamily="34" charset="-120"/>
              </a:rPr>
              <a:t>ЗАДАЧІ</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Мета та задачі дослідження</a:t>
            </a:r>
            <a:endParaRPr lang="en-US" sz="2800" dirty="0"/>
          </a:p>
        </p:txBody>
      </p:sp>
      <p:sp>
        <p:nvSpPr>
          <p:cNvPr id="5" name="Shape 3"/>
          <p:cNvSpPr/>
          <p:nvPr/>
        </p:nvSpPr>
        <p:spPr>
          <a:xfrm>
            <a:off x="457200" y="1325880"/>
            <a:ext cx="8229600" cy="8686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86868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2704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41348"/>
            <a:ext cx="228600" cy="228600"/>
          </a:xfrm>
          <a:prstGeom prst="rect">
            <a:avLst/>
          </a:prstGeom>
        </p:spPr>
      </p:pic>
      <p:sp>
        <p:nvSpPr>
          <p:cNvPr id="9" name="Text 6"/>
          <p:cNvSpPr/>
          <p:nvPr/>
        </p:nvSpPr>
        <p:spPr>
          <a:xfrm>
            <a:off x="1280160" y="1417320"/>
            <a:ext cx="685800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Мета дослідження</a:t>
            </a:r>
            <a:endParaRPr lang="en-US" sz="1200" dirty="0"/>
          </a:p>
        </p:txBody>
      </p:sp>
      <p:sp>
        <p:nvSpPr>
          <p:cNvPr id="10" name="Text 7"/>
          <p:cNvSpPr/>
          <p:nvPr/>
        </p:nvSpPr>
        <p:spPr>
          <a:xfrm>
            <a:off x="1280160" y="1673352"/>
            <a:ext cx="6858000" cy="5029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системи групових рекомендацій на основі машинного навчання з підкріпленням, що враховує динаміку вподобань користувачів, індивідуальні особливості членів групи та довгостроковий ефект рекомендацій.</a:t>
            </a:r>
            <a:endParaRPr lang="en-US" sz="1050" dirty="0"/>
          </a:p>
        </p:txBody>
      </p:sp>
      <p:sp>
        <p:nvSpPr>
          <p:cNvPr id="11" name="Shape 8"/>
          <p:cNvSpPr/>
          <p:nvPr/>
        </p:nvSpPr>
        <p:spPr>
          <a:xfrm>
            <a:off x="45720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331720"/>
            <a:ext cx="4023360" cy="54864"/>
          </a:xfrm>
          <a:prstGeom prst="rect">
            <a:avLst/>
          </a:prstGeom>
          <a:solidFill>
            <a:srgbClr val="20B7D1"/>
          </a:solidFill>
          <a:ln w="12700">
            <a:solidFill>
              <a:srgbClr val="20B7D1"/>
            </a:solidFill>
            <a:prstDash val="solid"/>
          </a:ln>
        </p:spPr>
        <p:txBody>
          <a:bodyPr/>
          <a:lstStyle/>
          <a:p>
            <a:endParaRPr lang="uk-UA"/>
          </a:p>
        </p:txBody>
      </p:sp>
      <p:sp>
        <p:nvSpPr>
          <p:cNvPr id="13" name="Text 10"/>
          <p:cNvSpPr/>
          <p:nvPr/>
        </p:nvSpPr>
        <p:spPr>
          <a:xfrm>
            <a:off x="64008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Поставлені задачі</a:t>
            </a:r>
            <a:endParaRPr lang="en-US" sz="1300" dirty="0"/>
          </a:p>
        </p:txBody>
      </p:sp>
      <p:sp>
        <p:nvSpPr>
          <p:cNvPr id="14" name="Shape 11"/>
          <p:cNvSpPr/>
          <p:nvPr/>
        </p:nvSpPr>
        <p:spPr>
          <a:xfrm>
            <a:off x="640080" y="2834640"/>
            <a:ext cx="292608" cy="292608"/>
          </a:xfrm>
          <a:prstGeom prst="ellipse">
            <a:avLst/>
          </a:prstGeom>
          <a:solidFill>
            <a:srgbClr val="D6F1F7"/>
          </a:solidFill>
          <a:ln w="12700">
            <a:solidFill>
              <a:srgbClr val="D6F1F7"/>
            </a:solidFill>
            <a:prstDash val="solid"/>
          </a:ln>
        </p:spPr>
        <p:txBody>
          <a:bodyPr/>
          <a:lstStyle/>
          <a:p>
            <a:endParaRPr lang="uk-UA"/>
          </a:p>
        </p:txBody>
      </p:sp>
      <p:sp>
        <p:nvSpPr>
          <p:cNvPr id="15" name="Text 12"/>
          <p:cNvSpPr/>
          <p:nvPr/>
        </p:nvSpPr>
        <p:spPr>
          <a:xfrm>
            <a:off x="640080" y="283464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1</a:t>
            </a:r>
            <a:endParaRPr lang="en-US" sz="1100" dirty="0"/>
          </a:p>
        </p:txBody>
      </p:sp>
      <p:sp>
        <p:nvSpPr>
          <p:cNvPr id="16" name="Text 13"/>
          <p:cNvSpPr/>
          <p:nvPr/>
        </p:nvSpPr>
        <p:spPr>
          <a:xfrm>
            <a:off x="1005840" y="285292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Підготовка даних та формування груп користувачів</a:t>
            </a:r>
            <a:endParaRPr lang="en-US" sz="1050" dirty="0"/>
          </a:p>
        </p:txBody>
      </p:sp>
      <p:sp>
        <p:nvSpPr>
          <p:cNvPr id="17" name="Shape 14"/>
          <p:cNvSpPr/>
          <p:nvPr/>
        </p:nvSpPr>
        <p:spPr>
          <a:xfrm>
            <a:off x="640080" y="3200400"/>
            <a:ext cx="292608" cy="292608"/>
          </a:xfrm>
          <a:prstGeom prst="ellipse">
            <a:avLst/>
          </a:prstGeom>
          <a:solidFill>
            <a:srgbClr val="D6F1F7"/>
          </a:solidFill>
          <a:ln w="12700">
            <a:solidFill>
              <a:srgbClr val="D6F1F7"/>
            </a:solidFill>
            <a:prstDash val="solid"/>
          </a:ln>
        </p:spPr>
        <p:txBody>
          <a:bodyPr/>
          <a:lstStyle/>
          <a:p>
            <a:endParaRPr lang="uk-UA"/>
          </a:p>
        </p:txBody>
      </p:sp>
      <p:sp>
        <p:nvSpPr>
          <p:cNvPr id="18" name="Text 15"/>
          <p:cNvSpPr/>
          <p:nvPr/>
        </p:nvSpPr>
        <p:spPr>
          <a:xfrm>
            <a:off x="640080" y="320040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2</a:t>
            </a:r>
            <a:endParaRPr lang="en-US" sz="1100" dirty="0"/>
          </a:p>
        </p:txBody>
      </p:sp>
      <p:sp>
        <p:nvSpPr>
          <p:cNvPr id="19" name="Text 16"/>
          <p:cNvSpPr/>
          <p:nvPr/>
        </p:nvSpPr>
        <p:spPr>
          <a:xfrm>
            <a:off x="1005840" y="321868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моделі на основі архітектури Актор–Критик</a:t>
            </a:r>
            <a:endParaRPr lang="en-US" sz="1050" dirty="0"/>
          </a:p>
        </p:txBody>
      </p:sp>
      <p:sp>
        <p:nvSpPr>
          <p:cNvPr id="20" name="Shape 17"/>
          <p:cNvSpPr/>
          <p:nvPr/>
        </p:nvSpPr>
        <p:spPr>
          <a:xfrm>
            <a:off x="640080" y="3566160"/>
            <a:ext cx="292608" cy="292608"/>
          </a:xfrm>
          <a:prstGeom prst="ellipse">
            <a:avLst/>
          </a:prstGeom>
          <a:solidFill>
            <a:srgbClr val="D6F1F7"/>
          </a:solidFill>
          <a:ln w="12700">
            <a:solidFill>
              <a:srgbClr val="D6F1F7"/>
            </a:solidFill>
            <a:prstDash val="solid"/>
          </a:ln>
        </p:spPr>
        <p:txBody>
          <a:bodyPr/>
          <a:lstStyle/>
          <a:p>
            <a:endParaRPr lang="uk-UA"/>
          </a:p>
        </p:txBody>
      </p:sp>
      <p:sp>
        <p:nvSpPr>
          <p:cNvPr id="21" name="Text 18"/>
          <p:cNvSpPr/>
          <p:nvPr/>
        </p:nvSpPr>
        <p:spPr>
          <a:xfrm>
            <a:off x="640080" y="356616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3</a:t>
            </a:r>
            <a:endParaRPr lang="en-US" sz="1100" dirty="0"/>
          </a:p>
        </p:txBody>
      </p:sp>
      <p:sp>
        <p:nvSpPr>
          <p:cNvPr id="22" name="Text 19"/>
          <p:cNvSpPr/>
          <p:nvPr/>
        </p:nvSpPr>
        <p:spPr>
          <a:xfrm>
            <a:off x="1005840" y="358444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Реалізація механізму врахування внеску учасників (Інтегратор)</a:t>
            </a:r>
            <a:endParaRPr lang="en-US" sz="1050" dirty="0"/>
          </a:p>
        </p:txBody>
      </p:sp>
      <p:sp>
        <p:nvSpPr>
          <p:cNvPr id="23" name="Shape 20"/>
          <p:cNvSpPr/>
          <p:nvPr/>
        </p:nvSpPr>
        <p:spPr>
          <a:xfrm>
            <a:off x="640080" y="3931920"/>
            <a:ext cx="292608" cy="292608"/>
          </a:xfrm>
          <a:prstGeom prst="ellipse">
            <a:avLst/>
          </a:prstGeom>
          <a:solidFill>
            <a:srgbClr val="D6F1F7"/>
          </a:solidFill>
          <a:ln w="12700">
            <a:solidFill>
              <a:srgbClr val="D6F1F7"/>
            </a:solidFill>
            <a:prstDash val="solid"/>
          </a:ln>
        </p:spPr>
        <p:txBody>
          <a:bodyPr/>
          <a:lstStyle/>
          <a:p>
            <a:endParaRPr lang="uk-UA"/>
          </a:p>
        </p:txBody>
      </p:sp>
      <p:sp>
        <p:nvSpPr>
          <p:cNvPr id="24" name="Text 21"/>
          <p:cNvSpPr/>
          <p:nvPr/>
        </p:nvSpPr>
        <p:spPr>
          <a:xfrm>
            <a:off x="640080" y="393192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1005840" y="395020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та тестування моделі</a:t>
            </a:r>
            <a:endParaRPr lang="en-US" sz="1050" dirty="0"/>
          </a:p>
        </p:txBody>
      </p:sp>
      <p:sp>
        <p:nvSpPr>
          <p:cNvPr id="26" name="Shape 23"/>
          <p:cNvSpPr/>
          <p:nvPr/>
        </p:nvSpPr>
        <p:spPr>
          <a:xfrm>
            <a:off x="640080" y="4297680"/>
            <a:ext cx="292608" cy="292608"/>
          </a:xfrm>
          <a:prstGeom prst="ellipse">
            <a:avLst/>
          </a:prstGeom>
          <a:solidFill>
            <a:srgbClr val="D6F1F7"/>
          </a:solidFill>
          <a:ln w="12700">
            <a:solidFill>
              <a:srgbClr val="D6F1F7"/>
            </a:solidFill>
            <a:prstDash val="solid"/>
          </a:ln>
        </p:spPr>
        <p:txBody>
          <a:bodyPr/>
          <a:lstStyle/>
          <a:p>
            <a:endParaRPr lang="uk-UA"/>
          </a:p>
        </p:txBody>
      </p:sp>
      <p:sp>
        <p:nvSpPr>
          <p:cNvPr id="27" name="Text 24"/>
          <p:cNvSpPr/>
          <p:nvPr/>
        </p:nvSpPr>
        <p:spPr>
          <a:xfrm>
            <a:off x="640080" y="429768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5</a:t>
            </a:r>
            <a:endParaRPr lang="en-US" sz="1100" dirty="0"/>
          </a:p>
        </p:txBody>
      </p:sp>
      <p:sp>
        <p:nvSpPr>
          <p:cNvPr id="28" name="Text 25"/>
          <p:cNvSpPr/>
          <p:nvPr/>
        </p:nvSpPr>
        <p:spPr>
          <a:xfrm>
            <a:off x="1005840" y="4315968"/>
            <a:ext cx="3383280" cy="292608"/>
          </a:xfrm>
          <a:prstGeom prst="rect">
            <a:avLst/>
          </a:prstGeom>
          <a:noFill/>
          <a:ln/>
        </p:spPr>
        <p:txBody>
          <a:bodyPr wrap="square" lIns="0" tIns="0" rIns="0" bIns="0" rtlCol="0" anchor="ctr"/>
          <a:lstStyle/>
          <a:p>
            <a:pPr marL="0" indent="0">
              <a:buNone/>
            </a:pPr>
            <a:r>
              <a:rPr lang="uk-UA" sz="1050" noProof="0" dirty="0">
                <a:solidFill>
                  <a:srgbClr val="1F2937"/>
                </a:solidFill>
                <a:latin typeface="Calibri" pitchFamily="34" charset="0"/>
                <a:ea typeface="Calibri" pitchFamily="34" charset="-122"/>
                <a:cs typeface="Calibri" pitchFamily="34" charset="-120"/>
              </a:rPr>
              <a:t>Порівняння ефективності з базовим підходом</a:t>
            </a:r>
            <a:r>
              <a:rPr lang="en-US" sz="1050" noProof="0" dirty="0">
                <a:solidFill>
                  <a:srgbClr val="1F2937"/>
                </a:solidFill>
                <a:latin typeface="Calibri" pitchFamily="34" charset="0"/>
                <a:ea typeface="Calibri" pitchFamily="34" charset="-122"/>
                <a:cs typeface="Calibri" pitchFamily="34" charset="-120"/>
              </a:rPr>
              <a:t> (DR</a:t>
            </a:r>
            <a:r>
              <a:rPr lang="en-US" sz="1050" dirty="0">
                <a:solidFill>
                  <a:srgbClr val="1F2937"/>
                </a:solidFill>
                <a:latin typeface="Calibri" pitchFamily="34" charset="0"/>
                <a:ea typeface="Calibri" pitchFamily="34" charset="-122"/>
                <a:cs typeface="Calibri" pitchFamily="34" charset="-120"/>
              </a:rPr>
              <a:t>G</a:t>
            </a:r>
            <a:r>
              <a:rPr lang="en-US" sz="1050" noProof="0" dirty="0">
                <a:solidFill>
                  <a:srgbClr val="1F2937"/>
                </a:solidFill>
                <a:latin typeface="Calibri" pitchFamily="34" charset="0"/>
                <a:ea typeface="Calibri" pitchFamily="34" charset="-122"/>
                <a:cs typeface="Calibri" pitchFamily="34" charset="-120"/>
              </a:rPr>
              <a:t>R)</a:t>
            </a:r>
            <a:endParaRPr lang="uk-UA" sz="1050" noProof="0" dirty="0"/>
          </a:p>
        </p:txBody>
      </p:sp>
      <p:sp>
        <p:nvSpPr>
          <p:cNvPr id="29" name="Shape 26"/>
          <p:cNvSpPr/>
          <p:nvPr/>
        </p:nvSpPr>
        <p:spPr>
          <a:xfrm>
            <a:off x="466344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7"/>
          <p:cNvSpPr/>
          <p:nvPr/>
        </p:nvSpPr>
        <p:spPr>
          <a:xfrm>
            <a:off x="4663440" y="2331720"/>
            <a:ext cx="4023360" cy="54864"/>
          </a:xfrm>
          <a:prstGeom prst="rect">
            <a:avLst/>
          </a:prstGeom>
          <a:solidFill>
            <a:srgbClr val="21C97A"/>
          </a:solidFill>
          <a:ln w="12700">
            <a:solidFill>
              <a:srgbClr val="21C97A"/>
            </a:solidFill>
            <a:prstDash val="solid"/>
          </a:ln>
        </p:spPr>
        <p:txBody>
          <a:bodyPr/>
          <a:lstStyle/>
          <a:p>
            <a:endParaRPr lang="uk-UA"/>
          </a:p>
        </p:txBody>
      </p:sp>
      <p:sp>
        <p:nvSpPr>
          <p:cNvPr id="31" name="Text 28"/>
          <p:cNvSpPr/>
          <p:nvPr/>
        </p:nvSpPr>
        <p:spPr>
          <a:xfrm>
            <a:off x="484632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Очікуваний результат</a:t>
            </a:r>
            <a:endParaRPr lang="en-US" sz="1300" dirty="0"/>
          </a:p>
        </p:txBody>
      </p:sp>
      <p:pic>
        <p:nvPicPr>
          <p:cNvPr id="32" name="Image 1" descr="preencoded.png"/>
          <p:cNvPicPr>
            <a:picLocks noChangeAspect="1"/>
          </p:cNvPicPr>
          <p:nvPr/>
        </p:nvPicPr>
        <p:blipFill>
          <a:blip r:embed="rId4"/>
          <a:stretch>
            <a:fillRect/>
          </a:stretch>
        </p:blipFill>
        <p:spPr>
          <a:xfrm>
            <a:off x="4846320" y="2926080"/>
            <a:ext cx="201168" cy="201168"/>
          </a:xfrm>
          <a:prstGeom prst="rect">
            <a:avLst/>
          </a:prstGeom>
        </p:spPr>
      </p:pic>
      <p:sp>
        <p:nvSpPr>
          <p:cNvPr id="33" name="Text 29"/>
          <p:cNvSpPr/>
          <p:nvPr/>
        </p:nvSpPr>
        <p:spPr>
          <a:xfrm>
            <a:off x="5120640" y="28803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Модель, що формує більш релевантні групові рекомендації</a:t>
            </a:r>
            <a:endParaRPr lang="en-US" sz="1050" dirty="0"/>
          </a:p>
        </p:txBody>
      </p:sp>
      <p:pic>
        <p:nvPicPr>
          <p:cNvPr id="34" name="Image 2" descr="preencoded.png"/>
          <p:cNvPicPr>
            <a:picLocks noChangeAspect="1"/>
          </p:cNvPicPr>
          <p:nvPr/>
        </p:nvPicPr>
        <p:blipFill>
          <a:blip r:embed="rId4"/>
          <a:stretch>
            <a:fillRect/>
          </a:stretch>
        </p:blipFill>
        <p:spPr>
          <a:xfrm>
            <a:off x="4846320" y="3383280"/>
            <a:ext cx="201168" cy="201168"/>
          </a:xfrm>
          <a:prstGeom prst="rect">
            <a:avLst/>
          </a:prstGeom>
        </p:spPr>
      </p:pic>
      <p:sp>
        <p:nvSpPr>
          <p:cNvPr id="35" name="Text 30"/>
          <p:cNvSpPr/>
          <p:nvPr/>
        </p:nvSpPr>
        <p:spPr>
          <a:xfrm>
            <a:off x="5120640" y="33375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Підвищення точності та адаптивності системи</a:t>
            </a:r>
            <a:endParaRPr lang="en-US" sz="1050" dirty="0"/>
          </a:p>
        </p:txBody>
      </p:sp>
      <p:pic>
        <p:nvPicPr>
          <p:cNvPr id="36" name="Image 3" descr="preencoded.png"/>
          <p:cNvPicPr>
            <a:picLocks noChangeAspect="1"/>
          </p:cNvPicPr>
          <p:nvPr/>
        </p:nvPicPr>
        <p:blipFill>
          <a:blip r:embed="rId4"/>
          <a:stretch>
            <a:fillRect/>
          </a:stretch>
        </p:blipFill>
        <p:spPr>
          <a:xfrm>
            <a:off x="4846320" y="3840480"/>
            <a:ext cx="201168" cy="201168"/>
          </a:xfrm>
          <a:prstGeom prst="rect">
            <a:avLst/>
          </a:prstGeom>
        </p:spPr>
      </p:pic>
      <p:sp>
        <p:nvSpPr>
          <p:cNvPr id="37" name="Text 31"/>
          <p:cNvSpPr/>
          <p:nvPr/>
        </p:nvSpPr>
        <p:spPr>
          <a:xfrm>
            <a:off x="5120640" y="37947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Врахування довгострокової поведінки користувачів</a:t>
            </a:r>
            <a:endParaRPr lang="en-US" sz="1050" dirty="0"/>
          </a:p>
        </p:txBody>
      </p:sp>
      <p:pic>
        <p:nvPicPr>
          <p:cNvPr id="38" name="Image 4" descr="preencoded.png"/>
          <p:cNvPicPr>
            <a:picLocks noChangeAspect="1"/>
          </p:cNvPicPr>
          <p:nvPr/>
        </p:nvPicPr>
        <p:blipFill>
          <a:blip r:embed="rId4"/>
          <a:stretch>
            <a:fillRect/>
          </a:stretch>
        </p:blipFill>
        <p:spPr>
          <a:xfrm>
            <a:off x="4846320" y="4297680"/>
            <a:ext cx="201168" cy="201168"/>
          </a:xfrm>
          <a:prstGeom prst="rect">
            <a:avLst/>
          </a:prstGeom>
        </p:spPr>
      </p:pic>
      <p:sp>
        <p:nvSpPr>
          <p:cNvPr id="39" name="Text 32"/>
          <p:cNvSpPr/>
          <p:nvPr/>
        </p:nvSpPr>
        <p:spPr>
          <a:xfrm>
            <a:off x="5120640" y="42519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Придатність для сучасних рекомендаційних сервісів</a:t>
            </a:r>
            <a:endParaRPr lang="en-US" sz="1050" dirty="0"/>
          </a:p>
        </p:txBody>
      </p:sp>
      <p:sp>
        <p:nvSpPr>
          <p:cNvPr id="41" name="Shape 33"/>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3" name="Text 35"/>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05 / 18</a:t>
            </a:r>
            <a:endParaRPr lang="en-US" sz="900" dirty="0"/>
          </a:p>
        </p:txBody>
      </p:sp>
      <p:sp>
        <p:nvSpPr>
          <p:cNvPr id="40" name="Text 28">
            <a:extLst>
              <a:ext uri="{FF2B5EF4-FFF2-40B4-BE49-F238E27FC236}">
                <a16:creationId xmlns:a16="http://schemas.microsoft.com/office/drawing/2014/main" id="{150CDAF9-B159-E0F9-0D24-D29EDE845C7E}"/>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ДАНІ</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Набір даних та формування груп користувачів</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uk-UA" sz="1100" i="1" noProof="0" dirty="0">
                <a:solidFill>
                  <a:srgbClr val="1F2937"/>
                </a:solidFill>
                <a:latin typeface="Calibri" pitchFamily="34" charset="0"/>
                <a:ea typeface="Calibri" pitchFamily="34" charset="-122"/>
                <a:cs typeface="Calibri" pitchFamily="34" charset="-120"/>
              </a:rPr>
              <a:t>Для навчання та тестування моделі використано набір даних MovieLens — джерело взаємодій користувачів з фільмами.</a:t>
            </a:r>
            <a:endParaRPr lang="uk-UA" sz="1100" noProof="0" dirty="0"/>
          </a:p>
        </p:txBody>
      </p:sp>
      <p:sp>
        <p:nvSpPr>
          <p:cNvPr id="6" name="Shape 4"/>
          <p:cNvSpPr/>
          <p:nvPr/>
        </p:nvSpPr>
        <p:spPr>
          <a:xfrm>
            <a:off x="45720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27632"/>
            <a:ext cx="64008" cy="777240"/>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640080" y="178308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754380" y="1897380"/>
            <a:ext cx="228600" cy="228600"/>
          </a:xfrm>
          <a:prstGeom prst="rect">
            <a:avLst/>
          </a:prstGeom>
        </p:spPr>
      </p:pic>
      <p:sp>
        <p:nvSpPr>
          <p:cNvPr id="11" name="Text 8"/>
          <p:cNvSpPr/>
          <p:nvPr/>
        </p:nvSpPr>
        <p:spPr>
          <a:xfrm>
            <a:off x="1234440" y="1956816"/>
            <a:ext cx="3108960" cy="365760"/>
          </a:xfrm>
          <a:prstGeom prst="rect">
            <a:avLst/>
          </a:prstGeom>
          <a:noFill/>
          <a:ln/>
        </p:spPr>
        <p:txBody>
          <a:bodyPr wrap="square" lIns="0" tIns="0" rIns="0" bIns="0" rtlCol="0" anchor="ctr"/>
          <a:lstStyle/>
          <a:p>
            <a:pPr marL="0" indent="0">
              <a:buNone/>
            </a:pPr>
            <a:r>
              <a:rPr lang="uk-UA" sz="1300" b="1" noProof="0" dirty="0">
                <a:solidFill>
                  <a:srgbClr val="2C5BD8"/>
                </a:solidFill>
                <a:latin typeface="Calibri" pitchFamily="34" charset="0"/>
                <a:ea typeface="Calibri" pitchFamily="34" charset="-122"/>
                <a:cs typeface="Calibri" pitchFamily="34" charset="-120"/>
              </a:rPr>
              <a:t>32 млн</a:t>
            </a:r>
            <a:r>
              <a:rPr lang="uk-UA" sz="1100" noProof="0" dirty="0">
                <a:solidFill>
                  <a:srgbClr val="1F2937"/>
                </a:solidFill>
                <a:latin typeface="Calibri" pitchFamily="34" charset="0"/>
                <a:ea typeface="Calibri" pitchFamily="34" charset="-122"/>
                <a:cs typeface="Calibri" pitchFamily="34" charset="-120"/>
              </a:rPr>
              <a:t> оцінок </a:t>
            </a:r>
            <a:r>
              <a:rPr lang="en-US" sz="1100" noProof="0" dirty="0">
                <a:solidFill>
                  <a:srgbClr val="1F2937"/>
                </a:solidFill>
                <a:latin typeface="Calibri" pitchFamily="34" charset="0"/>
                <a:ea typeface="Calibri" pitchFamily="34" charset="-122"/>
                <a:cs typeface="Calibri" pitchFamily="34" charset="-120"/>
              </a:rPr>
              <a:t>      </a:t>
            </a:r>
            <a:r>
              <a:rPr lang="uk-UA" sz="1300" b="1" noProof="0" dirty="0">
                <a:solidFill>
                  <a:srgbClr val="2C5BD8"/>
                </a:solidFill>
                <a:latin typeface="Calibri" pitchFamily="34" charset="0"/>
                <a:ea typeface="Calibri" pitchFamily="34" charset="-122"/>
                <a:cs typeface="Calibri" pitchFamily="34" charset="-120"/>
              </a:rPr>
              <a:t>88 тис.</a:t>
            </a:r>
            <a:r>
              <a:rPr lang="uk-UA" sz="1100" noProof="0" dirty="0">
                <a:solidFill>
                  <a:srgbClr val="1F2937"/>
                </a:solidFill>
                <a:latin typeface="Calibri" pitchFamily="34" charset="0"/>
                <a:ea typeface="Calibri" pitchFamily="34" charset="-122"/>
                <a:cs typeface="Calibri" pitchFamily="34" charset="-120"/>
              </a:rPr>
              <a:t> фільмів</a:t>
            </a:r>
            <a:endParaRPr lang="uk-UA" sz="1300" noProof="0" dirty="0"/>
          </a:p>
        </p:txBody>
      </p:sp>
      <p:sp>
        <p:nvSpPr>
          <p:cNvPr id="12" name="Shape 9"/>
          <p:cNvSpPr/>
          <p:nvPr/>
        </p:nvSpPr>
        <p:spPr>
          <a:xfrm>
            <a:off x="466344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3" name="Shape 10"/>
          <p:cNvSpPr/>
          <p:nvPr/>
        </p:nvSpPr>
        <p:spPr>
          <a:xfrm>
            <a:off x="4663440" y="1627632"/>
            <a:ext cx="64008" cy="777240"/>
          </a:xfrm>
          <a:prstGeom prst="rect">
            <a:avLst/>
          </a:prstGeom>
          <a:solidFill>
            <a:srgbClr val="20B7D1"/>
          </a:solidFill>
          <a:ln w="12700">
            <a:solidFill>
              <a:srgbClr val="20B7D1"/>
            </a:solidFill>
            <a:prstDash val="solid"/>
          </a:ln>
        </p:spPr>
        <p:txBody>
          <a:bodyPr/>
          <a:lstStyle/>
          <a:p>
            <a:endParaRPr lang="uk-UA"/>
          </a:p>
        </p:txBody>
      </p:sp>
      <p:sp>
        <p:nvSpPr>
          <p:cNvPr id="14" name="Shape 11"/>
          <p:cNvSpPr/>
          <p:nvPr/>
        </p:nvSpPr>
        <p:spPr>
          <a:xfrm>
            <a:off x="4846320" y="1783080"/>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5" name="Image 1" descr="preencoded.png"/>
          <p:cNvPicPr>
            <a:picLocks noChangeAspect="1"/>
          </p:cNvPicPr>
          <p:nvPr/>
        </p:nvPicPr>
        <p:blipFill>
          <a:blip r:embed="rId4"/>
          <a:stretch>
            <a:fillRect/>
          </a:stretch>
        </p:blipFill>
        <p:spPr>
          <a:xfrm>
            <a:off x="4960620" y="1897380"/>
            <a:ext cx="228600" cy="228600"/>
          </a:xfrm>
          <a:prstGeom prst="rect">
            <a:avLst/>
          </a:prstGeom>
        </p:spPr>
      </p:pic>
      <p:sp>
        <p:nvSpPr>
          <p:cNvPr id="16" name="Text 12"/>
          <p:cNvSpPr/>
          <p:nvPr/>
        </p:nvSpPr>
        <p:spPr>
          <a:xfrm>
            <a:off x="5440680" y="1700784"/>
            <a:ext cx="310896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Сформована вибірка</a:t>
            </a:r>
            <a:endParaRPr lang="en-US" sz="1200" dirty="0"/>
          </a:p>
        </p:txBody>
      </p:sp>
      <p:sp>
        <p:nvSpPr>
          <p:cNvPr id="17" name="Text 13"/>
          <p:cNvSpPr/>
          <p:nvPr/>
        </p:nvSpPr>
        <p:spPr>
          <a:xfrm>
            <a:off x="5440680" y="1956816"/>
            <a:ext cx="3108960" cy="365760"/>
          </a:xfrm>
          <a:prstGeom prst="rect">
            <a:avLst/>
          </a:prstGeom>
          <a:noFill/>
          <a:ln/>
        </p:spPr>
        <p:txBody>
          <a:bodyPr wrap="square" lIns="0" tIns="0" rIns="0" bIns="0" rtlCol="0" anchor="ctr"/>
          <a:lstStyle/>
          <a:p>
            <a:pPr marL="0" indent="0">
              <a:buNone/>
            </a:pPr>
            <a:r>
              <a:rPr lang="uk-UA" sz="1300" b="1" noProof="0" dirty="0">
                <a:solidFill>
                  <a:srgbClr val="20B7D1"/>
                </a:solidFill>
                <a:latin typeface="Calibri" pitchFamily="34" charset="0"/>
                <a:ea typeface="Calibri" pitchFamily="34" charset="-122"/>
                <a:cs typeface="Calibri" pitchFamily="34" charset="-120"/>
              </a:rPr>
              <a:t>1000</a:t>
            </a:r>
            <a:r>
              <a:rPr lang="uk-UA" sz="1100" noProof="0" dirty="0">
                <a:solidFill>
                  <a:srgbClr val="1F2937"/>
                </a:solidFill>
                <a:latin typeface="Calibri" pitchFamily="34" charset="0"/>
                <a:ea typeface="Calibri" pitchFamily="34" charset="-122"/>
                <a:cs typeface="Calibri" pitchFamily="34" charset="-120"/>
              </a:rPr>
              <a:t> груп    </a:t>
            </a:r>
            <a:r>
              <a:rPr lang="uk-UA" sz="1300" b="1" noProof="0" dirty="0">
                <a:solidFill>
                  <a:srgbClr val="20B7D1"/>
                </a:solidFill>
                <a:latin typeface="Calibri" pitchFamily="34" charset="0"/>
                <a:ea typeface="Calibri" pitchFamily="34" charset="-122"/>
                <a:cs typeface="Calibri" pitchFamily="34" charset="-120"/>
              </a:rPr>
              <a:t>2-4 </a:t>
            </a:r>
            <a:r>
              <a:rPr lang="uk-UA" sz="1100" noProof="0" dirty="0">
                <a:solidFill>
                  <a:srgbClr val="1F2937"/>
                </a:solidFill>
                <a:latin typeface="Calibri" pitchFamily="34" charset="0"/>
                <a:ea typeface="Calibri" pitchFamily="34" charset="-122"/>
                <a:cs typeface="Calibri" pitchFamily="34" charset="-120"/>
              </a:rPr>
              <a:t>користувачі    </a:t>
            </a:r>
            <a:r>
              <a:rPr lang="uk-UA" sz="1300" b="1" noProof="0" dirty="0">
                <a:solidFill>
                  <a:srgbClr val="20B7D1"/>
                </a:solidFill>
                <a:latin typeface="Calibri" pitchFamily="34" charset="0"/>
                <a:ea typeface="Calibri" pitchFamily="34" charset="-122"/>
                <a:cs typeface="Calibri" pitchFamily="34" charset="-120"/>
              </a:rPr>
              <a:t>≥10 </a:t>
            </a:r>
            <a:r>
              <a:rPr lang="uk-UA" sz="1100" noProof="0" dirty="0">
                <a:solidFill>
                  <a:srgbClr val="1F2937"/>
                </a:solidFill>
                <a:latin typeface="Calibri" pitchFamily="34" charset="0"/>
                <a:ea typeface="Calibri" pitchFamily="34" charset="-122"/>
                <a:cs typeface="Calibri" pitchFamily="34" charset="-120"/>
              </a:rPr>
              <a:t>взаємодій</a:t>
            </a:r>
            <a:endParaRPr lang="uk-UA" sz="1300" noProof="0" dirty="0"/>
          </a:p>
        </p:txBody>
      </p:sp>
      <p:sp>
        <p:nvSpPr>
          <p:cNvPr id="18" name="Shape 14"/>
          <p:cNvSpPr/>
          <p:nvPr/>
        </p:nvSpPr>
        <p:spPr>
          <a:xfrm>
            <a:off x="457200" y="2560320"/>
            <a:ext cx="4023360" cy="22402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9" name="Shape 15"/>
          <p:cNvSpPr/>
          <p:nvPr/>
        </p:nvSpPr>
        <p:spPr>
          <a:xfrm>
            <a:off x="457200" y="2560320"/>
            <a:ext cx="4023360" cy="54864"/>
          </a:xfrm>
          <a:prstGeom prst="rect">
            <a:avLst/>
          </a:prstGeom>
          <a:solidFill>
            <a:srgbClr val="7B5CD9"/>
          </a:solidFill>
          <a:ln w="12700">
            <a:solidFill>
              <a:srgbClr val="7B5CD9"/>
            </a:solidFill>
            <a:prstDash val="solid"/>
          </a:ln>
        </p:spPr>
        <p:txBody>
          <a:bodyPr/>
          <a:lstStyle/>
          <a:p>
            <a:endParaRPr lang="uk-UA"/>
          </a:p>
        </p:txBody>
      </p:sp>
      <p:sp>
        <p:nvSpPr>
          <p:cNvPr id="20" name="Text 16"/>
          <p:cNvSpPr/>
          <p:nvPr/>
        </p:nvSpPr>
        <p:spPr>
          <a:xfrm>
            <a:off x="640080" y="2697480"/>
            <a:ext cx="365760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Правила побудови груп користувачів</a:t>
            </a:r>
            <a:endParaRPr lang="en-US" sz="1200" dirty="0"/>
          </a:p>
        </p:txBody>
      </p:sp>
      <p:sp>
        <p:nvSpPr>
          <p:cNvPr id="21" name="Shape 17"/>
          <p:cNvSpPr/>
          <p:nvPr/>
        </p:nvSpPr>
        <p:spPr>
          <a:xfrm>
            <a:off x="640080" y="3154680"/>
            <a:ext cx="118872" cy="118872"/>
          </a:xfrm>
          <a:prstGeom prst="ellipse">
            <a:avLst/>
          </a:prstGeom>
          <a:solidFill>
            <a:srgbClr val="7B5CD9"/>
          </a:solidFill>
          <a:ln w="12700">
            <a:solidFill>
              <a:srgbClr val="7B5CD9"/>
            </a:solidFill>
            <a:prstDash val="solid"/>
          </a:ln>
        </p:spPr>
        <p:txBody>
          <a:bodyPr/>
          <a:lstStyle/>
          <a:p>
            <a:endParaRPr lang="uk-UA"/>
          </a:p>
        </p:txBody>
      </p:sp>
      <p:sp>
        <p:nvSpPr>
          <p:cNvPr id="22" name="Text 18"/>
          <p:cNvSpPr/>
          <p:nvPr/>
        </p:nvSpPr>
        <p:spPr>
          <a:xfrm>
            <a:off x="841248" y="3063240"/>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1000 груп з 2-4 користувачів</a:t>
            </a:r>
            <a:endParaRPr lang="en-US" sz="1050" dirty="0"/>
          </a:p>
        </p:txBody>
      </p:sp>
      <p:sp>
        <p:nvSpPr>
          <p:cNvPr id="23" name="Shape 19"/>
          <p:cNvSpPr/>
          <p:nvPr/>
        </p:nvSpPr>
        <p:spPr>
          <a:xfrm>
            <a:off x="640080" y="3465576"/>
            <a:ext cx="118872" cy="118872"/>
          </a:xfrm>
          <a:prstGeom prst="ellipse">
            <a:avLst/>
          </a:prstGeom>
          <a:solidFill>
            <a:srgbClr val="7B5CD9"/>
          </a:solidFill>
          <a:ln w="12700">
            <a:solidFill>
              <a:srgbClr val="7B5CD9"/>
            </a:solidFill>
            <a:prstDash val="solid"/>
          </a:ln>
        </p:spPr>
        <p:txBody>
          <a:bodyPr/>
          <a:lstStyle/>
          <a:p>
            <a:endParaRPr lang="uk-UA"/>
          </a:p>
        </p:txBody>
      </p:sp>
      <p:sp>
        <p:nvSpPr>
          <p:cNvPr id="24" name="Text 20"/>
          <p:cNvSpPr/>
          <p:nvPr/>
        </p:nvSpPr>
        <p:spPr>
          <a:xfrm>
            <a:off x="841248" y="3374136"/>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 спільних взаємодій між учасниками</a:t>
            </a:r>
            <a:endParaRPr lang="en-US" sz="1050" dirty="0"/>
          </a:p>
        </p:txBody>
      </p:sp>
      <p:sp>
        <p:nvSpPr>
          <p:cNvPr id="25" name="Shape 21"/>
          <p:cNvSpPr/>
          <p:nvPr/>
        </p:nvSpPr>
        <p:spPr>
          <a:xfrm>
            <a:off x="640080" y="3776472"/>
            <a:ext cx="118872" cy="118872"/>
          </a:xfrm>
          <a:prstGeom prst="ellipse">
            <a:avLst/>
          </a:prstGeom>
          <a:solidFill>
            <a:srgbClr val="7B5CD9"/>
          </a:solidFill>
          <a:ln w="12700">
            <a:solidFill>
              <a:srgbClr val="7B5CD9"/>
            </a:solidFill>
            <a:prstDash val="solid"/>
          </a:ln>
        </p:spPr>
        <p:txBody>
          <a:bodyPr/>
          <a:lstStyle/>
          <a:p>
            <a:endParaRPr lang="uk-UA"/>
          </a:p>
        </p:txBody>
      </p:sp>
      <p:sp>
        <p:nvSpPr>
          <p:cNvPr id="26" name="Text 22"/>
          <p:cNvSpPr/>
          <p:nvPr/>
        </p:nvSpPr>
        <p:spPr>
          <a:xfrm>
            <a:off x="841248" y="3685032"/>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Всі оцінки ≥4 → групова оцінка = 1</a:t>
            </a:r>
            <a:endParaRPr lang="en-US" sz="1050" dirty="0"/>
          </a:p>
        </p:txBody>
      </p:sp>
      <p:sp>
        <p:nvSpPr>
          <p:cNvPr id="27" name="Shape 23"/>
          <p:cNvSpPr/>
          <p:nvPr/>
        </p:nvSpPr>
        <p:spPr>
          <a:xfrm>
            <a:off x="640080" y="4087368"/>
            <a:ext cx="118872" cy="118872"/>
          </a:xfrm>
          <a:prstGeom prst="ellipse">
            <a:avLst/>
          </a:prstGeom>
          <a:solidFill>
            <a:srgbClr val="7B5CD9"/>
          </a:solidFill>
          <a:ln w="12700">
            <a:solidFill>
              <a:srgbClr val="7B5CD9"/>
            </a:solidFill>
            <a:prstDash val="solid"/>
          </a:ln>
        </p:spPr>
        <p:txBody>
          <a:bodyPr/>
          <a:lstStyle/>
          <a:p>
            <a:endParaRPr lang="uk-UA"/>
          </a:p>
        </p:txBody>
      </p:sp>
      <p:sp>
        <p:nvSpPr>
          <p:cNvPr id="28" name="Text 24"/>
          <p:cNvSpPr/>
          <p:nvPr/>
        </p:nvSpPr>
        <p:spPr>
          <a:xfrm>
            <a:off x="841248" y="3995928"/>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≥50% оцінок &lt;4 → групова оцінка = 0</a:t>
            </a:r>
            <a:endParaRPr lang="en-US" sz="1050" dirty="0"/>
          </a:p>
        </p:txBody>
      </p:sp>
      <p:sp>
        <p:nvSpPr>
          <p:cNvPr id="29" name="Shape 25"/>
          <p:cNvSpPr/>
          <p:nvPr/>
        </p:nvSpPr>
        <p:spPr>
          <a:xfrm>
            <a:off x="640080" y="4398264"/>
            <a:ext cx="118872" cy="118872"/>
          </a:xfrm>
          <a:prstGeom prst="ellipse">
            <a:avLst/>
          </a:prstGeom>
          <a:solidFill>
            <a:srgbClr val="7B5CD9"/>
          </a:solidFill>
          <a:ln w="12700">
            <a:solidFill>
              <a:srgbClr val="7B5CD9"/>
            </a:solidFill>
            <a:prstDash val="solid"/>
          </a:ln>
        </p:spPr>
        <p:txBody>
          <a:bodyPr/>
          <a:lstStyle/>
          <a:p>
            <a:endParaRPr lang="uk-UA"/>
          </a:p>
        </p:txBody>
      </p:sp>
      <p:sp>
        <p:nvSpPr>
          <p:cNvPr id="30" name="Text 26"/>
          <p:cNvSpPr/>
          <p:nvPr/>
        </p:nvSpPr>
        <p:spPr>
          <a:xfrm>
            <a:off x="841248" y="4306824"/>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Інші фільми відкидаються</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2104756456"/>
              </p:ext>
            </p:extLst>
          </p:nvPr>
        </p:nvGraphicFramePr>
        <p:xfrm>
          <a:off x="4663439" y="2571750"/>
          <a:ext cx="4023360" cy="1828800"/>
        </p:xfrm>
        <a:graphic>
          <a:graphicData uri="http://schemas.openxmlformats.org/drawingml/2006/table">
            <a:tbl>
              <a:tblPr/>
              <a:tblGrid>
                <a:gridCol w="640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Розмір</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К-сть груп</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Користувачі</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Елементи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Оцінки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811</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1622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1979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23878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492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936</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4379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388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732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Усього</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2214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2093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28989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extLst>
                  <a:ext uri="{0D108BD9-81ED-4DB2-BD59-A6C34878D82A}">
                    <a16:rowId xmlns:a16="http://schemas.microsoft.com/office/drawing/2014/main" val="10004"/>
                  </a:ext>
                </a:extLst>
              </a:tr>
            </a:tbl>
          </a:graphicData>
        </a:graphic>
      </p:graphicFrame>
      <p:sp>
        <p:nvSpPr>
          <p:cNvPr id="34"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6"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06 / 18</a:t>
            </a:r>
            <a:endParaRPr lang="en-US" sz="900" dirty="0"/>
          </a:p>
        </p:txBody>
      </p:sp>
      <p:sp>
        <p:nvSpPr>
          <p:cNvPr id="33" name="Text 28">
            <a:extLst>
              <a:ext uri="{FF2B5EF4-FFF2-40B4-BE49-F238E27FC236}">
                <a16:creationId xmlns:a16="http://schemas.microsoft.com/office/drawing/2014/main" id="{03D0DC05-F5A8-E949-7D9C-4EA29F05773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37" name="Text 3">
            <a:extLst>
              <a:ext uri="{FF2B5EF4-FFF2-40B4-BE49-F238E27FC236}">
                <a16:creationId xmlns:a16="http://schemas.microsoft.com/office/drawing/2014/main" id="{AC667947-833B-6F96-2E01-7E6484EB21F4}"/>
              </a:ext>
            </a:extLst>
          </p:cNvPr>
          <p:cNvSpPr/>
          <p:nvPr/>
        </p:nvSpPr>
        <p:spPr>
          <a:xfrm>
            <a:off x="4663438" y="4461982"/>
            <a:ext cx="4023361" cy="228600"/>
          </a:xfrm>
          <a:prstGeom prst="rect">
            <a:avLst/>
          </a:prstGeom>
          <a:noFill/>
          <a:ln/>
        </p:spPr>
        <p:txBody>
          <a:bodyPr wrap="square" lIns="0" tIns="0" rIns="0" bIns="0" rtlCol="0" anchor="ctr"/>
          <a:lstStyle/>
          <a:p>
            <a:pPr marL="0" indent="0" algn="ctr">
              <a:buNone/>
            </a:pPr>
            <a:r>
              <a:rPr lang="uk-UA" sz="900" i="1" dirty="0">
                <a:solidFill>
                  <a:srgbClr val="687891"/>
                </a:solidFill>
                <a:latin typeface="Calibri" pitchFamily="34" charset="0"/>
                <a:ea typeface="Calibri" pitchFamily="34" charset="-122"/>
                <a:cs typeface="Calibri" pitchFamily="34" charset="-120"/>
              </a:rPr>
              <a:t>Таблиця 1</a:t>
            </a:r>
            <a:r>
              <a:rPr lang="en-US" sz="900" i="1" dirty="0">
                <a:solidFill>
                  <a:srgbClr val="687891"/>
                </a:solidFill>
                <a:latin typeface="Calibri" pitchFamily="34" charset="0"/>
                <a:ea typeface="Calibri" pitchFamily="34" charset="-122"/>
                <a:cs typeface="Calibri" pitchFamily="34" charset="-120"/>
              </a:rPr>
              <a:t>. </a:t>
            </a:r>
            <a:r>
              <a:rPr lang="uk-UA" sz="900" i="1" dirty="0">
                <a:solidFill>
                  <a:srgbClr val="687891"/>
                </a:solidFill>
                <a:latin typeface="Calibri" pitchFamily="34" charset="0"/>
                <a:ea typeface="Calibri" pitchFamily="34" charset="-122"/>
                <a:cs typeface="Calibri" pitchFamily="34" charset="-120"/>
              </a:rPr>
              <a:t>Статистика сформованого набору груп</a:t>
            </a:r>
            <a:endParaRPr lang="en-US" sz="900" dirty="0"/>
          </a:p>
        </p:txBody>
      </p:sp>
      <p:pic>
        <p:nvPicPr>
          <p:cNvPr id="39" name="Picture 38">
            <a:extLst>
              <a:ext uri="{FF2B5EF4-FFF2-40B4-BE49-F238E27FC236}">
                <a16:creationId xmlns:a16="http://schemas.microsoft.com/office/drawing/2014/main" id="{5AA77A81-FDDF-5718-8CFE-42E9A8144B28}"/>
              </a:ext>
            </a:extLst>
          </p:cNvPr>
          <p:cNvPicPr>
            <a:picLocks noChangeAspect="1"/>
          </p:cNvPicPr>
          <p:nvPr/>
        </p:nvPicPr>
        <p:blipFill>
          <a:blip r:embed="rId5"/>
          <a:stretch>
            <a:fillRect/>
          </a:stretch>
        </p:blipFill>
        <p:spPr>
          <a:xfrm>
            <a:off x="1234440" y="1718500"/>
            <a:ext cx="1338885" cy="2594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ВІЗУАЛІЗАЦІЯ ДАНИХ</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Схема формування груп та групових оцінок</a:t>
            </a:r>
            <a:endParaRPr lang="en-US" sz="2800" dirty="0"/>
          </a:p>
        </p:txBody>
      </p:sp>
      <p:sp>
        <p:nvSpPr>
          <p:cNvPr id="6" name="Text 3"/>
          <p:cNvSpPr/>
          <p:nvPr/>
        </p:nvSpPr>
        <p:spPr>
          <a:xfrm>
            <a:off x="233680" y="4202724"/>
            <a:ext cx="5029200" cy="228600"/>
          </a:xfrm>
          <a:prstGeom prst="rect">
            <a:avLst/>
          </a:prstGeom>
          <a:noFill/>
          <a:ln/>
        </p:spPr>
        <p:txBody>
          <a:bodyPr wrap="square" lIns="0" tIns="0" rIns="0" bIns="0" rtlCol="0" anchor="ctr"/>
          <a:lstStyle/>
          <a:p>
            <a:pPr algn="ctr"/>
            <a:r>
              <a:rPr lang="uk-UA" sz="900" i="1" noProof="0" dirty="0">
                <a:solidFill>
                  <a:srgbClr val="687891"/>
                </a:solidFill>
                <a:latin typeface="Calibri" pitchFamily="34" charset="0"/>
                <a:ea typeface="Calibri" pitchFamily="34" charset="-122"/>
                <a:cs typeface="Calibri" pitchFamily="34" charset="-120"/>
              </a:rPr>
              <a:t>Рис. 1. Схема формування груп користувачів і групових оцінок</a:t>
            </a:r>
          </a:p>
        </p:txBody>
      </p:sp>
      <p:sp>
        <p:nvSpPr>
          <p:cNvPr id="7" name="Shape 4"/>
          <p:cNvSpPr/>
          <p:nvPr/>
        </p:nvSpPr>
        <p:spPr>
          <a:xfrm>
            <a:off x="5413248" y="1605241"/>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5413248" y="1605241"/>
            <a:ext cx="64008" cy="1280160"/>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5577840" y="1788121"/>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3"/>
          <a:stretch>
            <a:fillRect/>
          </a:stretch>
        </p:blipFill>
        <p:spPr>
          <a:xfrm>
            <a:off x="5673852" y="1884133"/>
            <a:ext cx="192024" cy="192024"/>
          </a:xfrm>
          <a:prstGeom prst="rect">
            <a:avLst/>
          </a:prstGeom>
        </p:spPr>
      </p:pic>
      <p:sp>
        <p:nvSpPr>
          <p:cNvPr id="11" name="Text 7"/>
          <p:cNvSpPr/>
          <p:nvPr/>
        </p:nvSpPr>
        <p:spPr>
          <a:xfrm>
            <a:off x="6099048" y="1806409"/>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Як читати схему</a:t>
            </a:r>
            <a:endParaRPr lang="en-US" sz="1200" dirty="0"/>
          </a:p>
        </p:txBody>
      </p:sp>
      <p:sp>
        <p:nvSpPr>
          <p:cNvPr id="12" name="Text 8"/>
          <p:cNvSpPr/>
          <p:nvPr/>
        </p:nvSpPr>
        <p:spPr>
          <a:xfrm>
            <a:off x="5577840" y="2153881"/>
            <a:ext cx="2651760" cy="685800"/>
          </a:xfrm>
          <a:prstGeom prst="rect">
            <a:avLst/>
          </a:prstGeom>
          <a:noFill/>
          <a:ln/>
        </p:spPr>
        <p:txBody>
          <a:bodyPr wrap="square" lIns="0" tIns="0" rIns="0" bIns="0" rtlCol="0" anchor="ctr"/>
          <a:lstStyle/>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u₁…u₅ — </a:t>
            </a:r>
            <a:r>
              <a:rPr lang="en-US" sz="950" dirty="0">
                <a:solidFill>
                  <a:srgbClr val="1F2937"/>
                </a:solidFill>
                <a:latin typeface="Calibri" pitchFamily="34" charset="0"/>
                <a:ea typeface="Calibri" pitchFamily="34" charset="-122"/>
                <a:cs typeface="Calibri" pitchFamily="34" charset="-120"/>
              </a:rPr>
              <a:t>користувачі, </a:t>
            </a:r>
            <a:r>
              <a:rPr lang="en-US" sz="950" b="1" dirty="0">
                <a:solidFill>
                  <a:srgbClr val="2C5BD8"/>
                </a:solidFill>
                <a:latin typeface="Calibri" pitchFamily="34" charset="0"/>
                <a:ea typeface="Calibri" pitchFamily="34" charset="-122"/>
                <a:cs typeface="Calibri" pitchFamily="34" charset="-120"/>
              </a:rPr>
              <a:t>i₁…i₄ — </a:t>
            </a:r>
            <a:r>
              <a:rPr lang="en-US" sz="950" dirty="0">
                <a:solidFill>
                  <a:srgbClr val="1F2937"/>
                </a:solidFill>
                <a:latin typeface="Calibri" pitchFamily="34" charset="0"/>
                <a:ea typeface="Calibri" pitchFamily="34" charset="-122"/>
                <a:cs typeface="Calibri" pitchFamily="34" charset="-120"/>
              </a:rPr>
              <a:t>елементи (фільми), </a:t>
            </a:r>
            <a:endParaRPr lang="en-US" sz="950" dirty="0"/>
          </a:p>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g₁, g₂ — </a:t>
            </a:r>
            <a:r>
              <a:rPr lang="en-US" sz="950" dirty="0">
                <a:solidFill>
                  <a:srgbClr val="1F2937"/>
                </a:solidFill>
                <a:latin typeface="Calibri" pitchFamily="34" charset="0"/>
                <a:ea typeface="Calibri" pitchFamily="34" charset="-122"/>
                <a:cs typeface="Calibri" pitchFamily="34" charset="-120"/>
              </a:rPr>
              <a:t>сформовані групи з підмножиною спільних елементів.</a:t>
            </a:r>
            <a:endParaRPr lang="en-US" sz="950" dirty="0"/>
          </a:p>
        </p:txBody>
      </p:sp>
      <p:sp>
        <p:nvSpPr>
          <p:cNvPr id="13" name="Shape 9"/>
          <p:cNvSpPr/>
          <p:nvPr/>
        </p:nvSpPr>
        <p:spPr>
          <a:xfrm>
            <a:off x="5413248" y="2976841"/>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5413248" y="2976841"/>
            <a:ext cx="64008" cy="1280160"/>
          </a:xfrm>
          <a:prstGeom prst="rect">
            <a:avLst/>
          </a:prstGeom>
          <a:solidFill>
            <a:srgbClr val="21C97A"/>
          </a:solidFill>
          <a:ln w="12700">
            <a:solidFill>
              <a:srgbClr val="21C97A"/>
            </a:solidFill>
            <a:prstDash val="solid"/>
          </a:ln>
        </p:spPr>
        <p:txBody>
          <a:bodyPr/>
          <a:lstStyle/>
          <a:p>
            <a:endParaRPr lang="uk-UA"/>
          </a:p>
        </p:txBody>
      </p:sp>
      <p:sp>
        <p:nvSpPr>
          <p:cNvPr id="15" name="Shape 11"/>
          <p:cNvSpPr/>
          <p:nvPr/>
        </p:nvSpPr>
        <p:spPr>
          <a:xfrm>
            <a:off x="5577840" y="3159721"/>
            <a:ext cx="384048" cy="384048"/>
          </a:xfrm>
          <a:prstGeom prst="ellipse">
            <a:avLst/>
          </a:prstGeom>
          <a:solidFill>
            <a:srgbClr val="DAF5E7"/>
          </a:solidFill>
          <a:ln w="12700">
            <a:solidFill>
              <a:srgbClr val="DAF5E7"/>
            </a:solidFill>
            <a:prstDash val="solid"/>
          </a:ln>
        </p:spPr>
        <p:txBody>
          <a:bodyPr/>
          <a:lstStyle/>
          <a:p>
            <a:endParaRPr lang="uk-UA"/>
          </a:p>
        </p:txBody>
      </p:sp>
      <p:pic>
        <p:nvPicPr>
          <p:cNvPr id="16" name="Image 2" descr="preencoded.png"/>
          <p:cNvPicPr>
            <a:picLocks noChangeAspect="1"/>
          </p:cNvPicPr>
          <p:nvPr/>
        </p:nvPicPr>
        <p:blipFill>
          <a:blip r:embed="rId4"/>
          <a:stretch>
            <a:fillRect/>
          </a:stretch>
        </p:blipFill>
        <p:spPr>
          <a:xfrm>
            <a:off x="5673852" y="3255733"/>
            <a:ext cx="192024" cy="192024"/>
          </a:xfrm>
          <a:prstGeom prst="rect">
            <a:avLst/>
          </a:prstGeom>
        </p:spPr>
      </p:pic>
      <p:sp>
        <p:nvSpPr>
          <p:cNvPr id="17" name="Text 12"/>
          <p:cNvSpPr/>
          <p:nvPr/>
        </p:nvSpPr>
        <p:spPr>
          <a:xfrm>
            <a:off x="6099048" y="3178009"/>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Кольори оцінок</a:t>
            </a:r>
            <a:endParaRPr lang="en-US" sz="1200" dirty="0"/>
          </a:p>
        </p:txBody>
      </p:sp>
      <p:sp>
        <p:nvSpPr>
          <p:cNvPr id="18" name="Text 13"/>
          <p:cNvSpPr/>
          <p:nvPr/>
        </p:nvSpPr>
        <p:spPr>
          <a:xfrm>
            <a:off x="5577840" y="3525481"/>
            <a:ext cx="2651760" cy="685800"/>
          </a:xfrm>
          <a:prstGeom prst="rect">
            <a:avLst/>
          </a:prstGeom>
          <a:noFill/>
          <a:ln/>
        </p:spPr>
        <p:txBody>
          <a:bodyPr wrap="square" lIns="0" tIns="0" rIns="0" bIns="0" rtlCol="0" anchor="ctr"/>
          <a:lstStyle/>
          <a:p>
            <a:pPr marL="0" indent="0">
              <a:lnSpc>
                <a:spcPct val="120000"/>
              </a:lnSpc>
              <a:buNone/>
            </a:pPr>
            <a:r>
              <a:rPr lang="en-US" sz="1300" b="1" dirty="0">
                <a:solidFill>
                  <a:srgbClr val="21C97A"/>
                </a:solidFill>
                <a:latin typeface="Calibri" pitchFamily="34" charset="0"/>
                <a:ea typeface="Calibri" pitchFamily="34" charset="-122"/>
                <a:cs typeface="Calibri" pitchFamily="34" charset="-120"/>
              </a:rPr>
              <a:t>● </a:t>
            </a:r>
            <a:r>
              <a:rPr lang="en-US" sz="950" b="1" dirty="0">
                <a:solidFill>
                  <a:srgbClr val="21C97A"/>
                </a:solidFill>
                <a:latin typeface="Calibri" pitchFamily="34" charset="0"/>
                <a:ea typeface="Calibri" pitchFamily="34" charset="-122"/>
                <a:cs typeface="Calibri" pitchFamily="34" charset="-120"/>
              </a:rPr>
              <a:t>зелений — </a:t>
            </a:r>
            <a:r>
              <a:rPr lang="en-US" sz="950" dirty="0">
                <a:solidFill>
                  <a:srgbClr val="1F2937"/>
                </a:solidFill>
                <a:latin typeface="Calibri" pitchFamily="34" charset="0"/>
                <a:ea typeface="Calibri" pitchFamily="34" charset="-122"/>
                <a:cs typeface="Calibri" pitchFamily="34" charset="-120"/>
              </a:rPr>
              <a:t>індивідуальна оцінка ≥ 4 </a:t>
            </a:r>
            <a:endParaRPr lang="en-US" sz="1300" dirty="0"/>
          </a:p>
          <a:p>
            <a:pPr marL="0" indent="0">
              <a:lnSpc>
                <a:spcPct val="120000"/>
              </a:lnSpc>
              <a:buNone/>
            </a:pPr>
            <a:r>
              <a:rPr lang="en-US" sz="1300" b="1" dirty="0">
                <a:solidFill>
                  <a:srgbClr val="E84855"/>
                </a:solidFill>
                <a:latin typeface="Calibri" pitchFamily="34" charset="0"/>
                <a:ea typeface="Calibri" pitchFamily="34" charset="-122"/>
                <a:cs typeface="Calibri" pitchFamily="34" charset="-120"/>
              </a:rPr>
              <a:t>● </a:t>
            </a:r>
            <a:r>
              <a:rPr lang="en-US" sz="950" b="1" dirty="0">
                <a:solidFill>
                  <a:srgbClr val="E84855"/>
                </a:solidFill>
                <a:latin typeface="Calibri" pitchFamily="34" charset="0"/>
                <a:ea typeface="Calibri" pitchFamily="34" charset="-122"/>
                <a:cs typeface="Calibri" pitchFamily="34" charset="-120"/>
              </a:rPr>
              <a:t>червоний — </a:t>
            </a:r>
            <a:r>
              <a:rPr lang="en-US" sz="950" dirty="0">
                <a:solidFill>
                  <a:srgbClr val="1F2937"/>
                </a:solidFill>
                <a:latin typeface="Calibri" pitchFamily="34" charset="0"/>
                <a:ea typeface="Calibri" pitchFamily="34" charset="-122"/>
                <a:cs typeface="Calibri" pitchFamily="34" charset="-120"/>
              </a:rPr>
              <a:t>індивідуальна оцінка &lt; 4</a:t>
            </a:r>
            <a:endParaRPr lang="en-US" sz="1300" dirty="0"/>
          </a:p>
          <a:p>
            <a:pPr marL="0" indent="0">
              <a:lnSpc>
                <a:spcPct val="120000"/>
              </a:lnSpc>
              <a:buNone/>
            </a:pPr>
            <a:r>
              <a:rPr lang="en-US" sz="950" b="1" dirty="0">
                <a:solidFill>
                  <a:srgbClr val="0F1A35"/>
                </a:solidFill>
                <a:latin typeface="Calibri" pitchFamily="34" charset="0"/>
                <a:ea typeface="Calibri" pitchFamily="34" charset="-122"/>
                <a:cs typeface="Calibri" pitchFamily="34" charset="-120"/>
              </a:rPr>
              <a:t>1 / 0 — </a:t>
            </a:r>
            <a:r>
              <a:rPr lang="en-US" sz="950" dirty="0">
                <a:solidFill>
                  <a:srgbClr val="1F2937"/>
                </a:solidFill>
                <a:latin typeface="Calibri" pitchFamily="34" charset="0"/>
                <a:ea typeface="Calibri" pitchFamily="34" charset="-122"/>
                <a:cs typeface="Calibri" pitchFamily="34" charset="-120"/>
              </a:rPr>
              <a:t>групова оцінка елемента в групі</a:t>
            </a:r>
            <a:endParaRPr lang="en-US" sz="1300" dirty="0"/>
          </a:p>
        </p:txBody>
      </p:sp>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07 / 18</a:t>
            </a:r>
            <a:endParaRPr lang="en-US" sz="900" dirty="0"/>
          </a:p>
        </p:txBody>
      </p:sp>
      <p:sp>
        <p:nvSpPr>
          <p:cNvPr id="19" name="Text 28">
            <a:extLst>
              <a:ext uri="{FF2B5EF4-FFF2-40B4-BE49-F238E27FC236}">
                <a16:creationId xmlns:a16="http://schemas.microsoft.com/office/drawing/2014/main" id="{04F359F3-9B16-5421-C0C3-E44445A431B0}"/>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27" name="Text 3">
            <a:extLst>
              <a:ext uri="{FF2B5EF4-FFF2-40B4-BE49-F238E27FC236}">
                <a16:creationId xmlns:a16="http://schemas.microsoft.com/office/drawing/2014/main" id="{A27F2A14-0E40-839E-5F49-8ED064A33C2A}"/>
              </a:ext>
            </a:extLst>
          </p:cNvPr>
          <p:cNvSpPr/>
          <p:nvPr/>
        </p:nvSpPr>
        <p:spPr>
          <a:xfrm>
            <a:off x="457200" y="1140186"/>
            <a:ext cx="8229600" cy="274320"/>
          </a:xfrm>
          <a:prstGeom prst="rect">
            <a:avLst/>
          </a:prstGeom>
          <a:noFill/>
          <a:ln/>
        </p:spPr>
        <p:txBody>
          <a:bodyPr wrap="square" lIns="0" tIns="0" rIns="0" bIns="0" rtlCol="0" anchor="ctr"/>
          <a:lstStyle/>
          <a:p>
            <a:r>
              <a:rPr lang="uk-UA" sz="1100" i="1" noProof="0" dirty="0"/>
              <a:t>Схематичне представлення процесу формування груп та групових оцінок наведено на рис. 1.</a:t>
            </a:r>
          </a:p>
        </p:txBody>
      </p:sp>
      <p:pic>
        <p:nvPicPr>
          <p:cNvPr id="29" name="Graphic 28">
            <a:extLst>
              <a:ext uri="{FF2B5EF4-FFF2-40B4-BE49-F238E27FC236}">
                <a16:creationId xmlns:a16="http://schemas.microsoft.com/office/drawing/2014/main" id="{5CA0C68F-DD7D-0C65-DAD5-2ECB7F51A6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5714" y="1728200"/>
            <a:ext cx="4826411" cy="23894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АРХІТЕКТУРА</a:t>
            </a:r>
            <a:endParaRPr lang="en-US" sz="1000" dirty="0"/>
          </a:p>
        </p:txBody>
      </p:sp>
      <p:sp>
        <p:nvSpPr>
          <p:cNvPr id="4" name="Text 2"/>
          <p:cNvSpPr/>
          <p:nvPr/>
        </p:nvSpPr>
        <p:spPr>
          <a:xfrm>
            <a:off x="393192" y="459418"/>
            <a:ext cx="8229600" cy="640080"/>
          </a:xfrm>
          <a:prstGeom prst="rect">
            <a:avLst/>
          </a:prstGeom>
          <a:noFill/>
          <a:ln/>
        </p:spPr>
        <p:txBody>
          <a:bodyPr wrap="square" lIns="0" tIns="0" rIns="0" bIns="0" rtlCol="0" anchor="ctr"/>
          <a:lstStyle/>
          <a:p>
            <a:pPr marL="0" indent="0">
              <a:buNone/>
            </a:pPr>
            <a:r>
              <a:rPr lang="uk-UA" sz="2800" b="1" noProof="0" dirty="0">
                <a:solidFill>
                  <a:srgbClr val="0F1A35"/>
                </a:solidFill>
                <a:latin typeface="Calibri" pitchFamily="34" charset="0"/>
                <a:ea typeface="Calibri" pitchFamily="34" charset="-122"/>
                <a:cs typeface="Calibri" pitchFamily="34" charset="-120"/>
              </a:rPr>
              <a:t>Архітектура запропонованої моделі </a:t>
            </a:r>
            <a:endParaRPr lang="uk-UA" sz="2800" noProof="0" dirty="0"/>
          </a:p>
        </p:txBody>
      </p:sp>
      <p:sp>
        <p:nvSpPr>
          <p:cNvPr id="6" name="Text 3"/>
          <p:cNvSpPr/>
          <p:nvPr/>
        </p:nvSpPr>
        <p:spPr>
          <a:xfrm>
            <a:off x="342899" y="4629631"/>
            <a:ext cx="2962153"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2</a:t>
            </a:r>
            <a:r>
              <a:rPr lang="en-US" sz="900" i="1" dirty="0">
                <a:solidFill>
                  <a:srgbClr val="687891"/>
                </a:solidFill>
                <a:latin typeface="Calibri" pitchFamily="34" charset="0"/>
                <a:ea typeface="Calibri" pitchFamily="34" charset="-122"/>
                <a:cs typeface="Calibri" pitchFamily="34" charset="-120"/>
              </a:rPr>
              <a:t>. Архітектура моделі «Інтегратор-Актор-Критик»</a:t>
            </a:r>
            <a:endParaRPr lang="en-US" sz="900" dirty="0"/>
          </a:p>
        </p:txBody>
      </p:sp>
      <p:sp>
        <p:nvSpPr>
          <p:cNvPr id="7" name="Shape 4"/>
          <p:cNvSpPr/>
          <p:nvPr/>
        </p:nvSpPr>
        <p:spPr>
          <a:xfrm>
            <a:off x="3602648" y="1051969"/>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3614026" y="1048165"/>
            <a:ext cx="64008" cy="1060704"/>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3778618" y="1193106"/>
            <a:ext cx="411480" cy="411480"/>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3"/>
          <a:stretch>
            <a:fillRect/>
          </a:stretch>
        </p:blipFill>
        <p:spPr>
          <a:xfrm>
            <a:off x="3881488" y="1333915"/>
            <a:ext cx="205740" cy="205740"/>
          </a:xfrm>
          <a:prstGeom prst="rect">
            <a:avLst/>
          </a:prstGeom>
        </p:spPr>
      </p:pic>
      <p:sp>
        <p:nvSpPr>
          <p:cNvPr id="11" name="Text 7"/>
          <p:cNvSpPr/>
          <p:nvPr/>
        </p:nvSpPr>
        <p:spPr>
          <a:xfrm>
            <a:off x="4327258" y="1139605"/>
            <a:ext cx="4279481"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Інтегратор</a:t>
            </a:r>
            <a:endParaRPr lang="en-US" sz="1300" dirty="0"/>
          </a:p>
        </p:txBody>
      </p:sp>
      <p:sp>
        <p:nvSpPr>
          <p:cNvPr id="12" name="Text 8"/>
          <p:cNvSpPr/>
          <p:nvPr/>
        </p:nvSpPr>
        <p:spPr>
          <a:xfrm>
            <a:off x="4327258" y="1377349"/>
            <a:ext cx="4718807" cy="228600"/>
          </a:xfrm>
          <a:prstGeom prst="rect">
            <a:avLst/>
          </a:prstGeom>
          <a:noFill/>
          <a:ln/>
        </p:spPr>
        <p:txBody>
          <a:bodyPr wrap="square" lIns="0" tIns="0" rIns="0" bIns="0" rtlCol="0" anchor="ctr"/>
          <a:lstStyle/>
          <a:p>
            <a:pPr marL="0" indent="0">
              <a:buNone/>
            </a:pPr>
            <a:r>
              <a:rPr lang="en-US" sz="1000" i="1" dirty="0">
                <a:solidFill>
                  <a:srgbClr val="2C5BD8"/>
                </a:solidFill>
                <a:latin typeface="Calibri" pitchFamily="34" charset="0"/>
                <a:ea typeface="Calibri" pitchFamily="34" charset="-122"/>
                <a:cs typeface="Calibri" pitchFamily="34" charset="-120"/>
              </a:rPr>
              <a:t>Формує вектор стану групи</a:t>
            </a:r>
            <a:endParaRPr lang="en-US" sz="1000" dirty="0"/>
          </a:p>
        </p:txBody>
      </p:sp>
      <p:sp>
        <p:nvSpPr>
          <p:cNvPr id="13" name="Text 9"/>
          <p:cNvSpPr/>
          <p:nvPr/>
        </p:nvSpPr>
        <p:spPr>
          <a:xfrm>
            <a:off x="3778618" y="1642525"/>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Об’єднує користувачів та історію взаємодії</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Враховує внесок кожного учасника</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Поєднує вподобання у спільне представлення</a:t>
            </a:r>
            <a:endParaRPr lang="en-US" sz="900" dirty="0"/>
          </a:p>
        </p:txBody>
      </p:sp>
      <p:sp>
        <p:nvSpPr>
          <p:cNvPr id="14" name="Shape 10"/>
          <p:cNvSpPr/>
          <p:nvPr/>
        </p:nvSpPr>
        <p:spPr>
          <a:xfrm>
            <a:off x="3614027" y="2271924"/>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5" name="Shape 11"/>
          <p:cNvSpPr/>
          <p:nvPr/>
        </p:nvSpPr>
        <p:spPr>
          <a:xfrm>
            <a:off x="3614026" y="2271924"/>
            <a:ext cx="64008" cy="1060704"/>
          </a:xfrm>
          <a:prstGeom prst="rect">
            <a:avLst/>
          </a:prstGeom>
          <a:solidFill>
            <a:srgbClr val="20B7D1"/>
          </a:solidFill>
          <a:ln w="12700">
            <a:solidFill>
              <a:srgbClr val="20B7D1"/>
            </a:solidFill>
            <a:prstDash val="solid"/>
          </a:ln>
        </p:spPr>
        <p:txBody>
          <a:bodyPr/>
          <a:lstStyle/>
          <a:p>
            <a:endParaRPr lang="uk-UA"/>
          </a:p>
        </p:txBody>
      </p:sp>
      <p:sp>
        <p:nvSpPr>
          <p:cNvPr id="16" name="Shape 12"/>
          <p:cNvSpPr/>
          <p:nvPr/>
        </p:nvSpPr>
        <p:spPr>
          <a:xfrm>
            <a:off x="3778618" y="2454804"/>
            <a:ext cx="411480" cy="411480"/>
          </a:xfrm>
          <a:prstGeom prst="ellipse">
            <a:avLst/>
          </a:prstGeom>
          <a:solidFill>
            <a:srgbClr val="D6F1F7"/>
          </a:solidFill>
          <a:ln w="12700">
            <a:solidFill>
              <a:srgbClr val="D6F1F7"/>
            </a:solidFill>
            <a:prstDash val="solid"/>
          </a:ln>
        </p:spPr>
        <p:txBody>
          <a:bodyPr/>
          <a:lstStyle/>
          <a:p>
            <a:endParaRPr lang="uk-UA"/>
          </a:p>
        </p:txBody>
      </p:sp>
      <p:pic>
        <p:nvPicPr>
          <p:cNvPr id="17" name="Image 2" descr="preencoded.png"/>
          <p:cNvPicPr>
            <a:picLocks noChangeAspect="1"/>
          </p:cNvPicPr>
          <p:nvPr/>
        </p:nvPicPr>
        <p:blipFill>
          <a:blip r:embed="rId4"/>
          <a:stretch>
            <a:fillRect/>
          </a:stretch>
        </p:blipFill>
        <p:spPr>
          <a:xfrm>
            <a:off x="3881488" y="2562902"/>
            <a:ext cx="205740" cy="205740"/>
          </a:xfrm>
          <a:prstGeom prst="rect">
            <a:avLst/>
          </a:prstGeom>
        </p:spPr>
      </p:pic>
      <p:sp>
        <p:nvSpPr>
          <p:cNvPr id="18" name="Text 13"/>
          <p:cNvSpPr/>
          <p:nvPr/>
        </p:nvSpPr>
        <p:spPr>
          <a:xfrm>
            <a:off x="4327258" y="2363364"/>
            <a:ext cx="4279481"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Актор</a:t>
            </a:r>
            <a:endParaRPr lang="en-US" sz="1300" dirty="0"/>
          </a:p>
        </p:txBody>
      </p:sp>
      <p:sp>
        <p:nvSpPr>
          <p:cNvPr id="19" name="Text 14"/>
          <p:cNvSpPr/>
          <p:nvPr/>
        </p:nvSpPr>
        <p:spPr>
          <a:xfrm>
            <a:off x="4327258" y="2601108"/>
            <a:ext cx="4718807" cy="228600"/>
          </a:xfrm>
          <a:prstGeom prst="rect">
            <a:avLst/>
          </a:prstGeom>
          <a:noFill/>
          <a:ln/>
        </p:spPr>
        <p:txBody>
          <a:bodyPr wrap="square" lIns="0" tIns="0" rIns="0" bIns="0" rtlCol="0" anchor="ctr"/>
          <a:lstStyle/>
          <a:p>
            <a:pPr marL="0" indent="0">
              <a:buNone/>
            </a:pPr>
            <a:r>
              <a:rPr lang="en-US" sz="1000" i="1" dirty="0">
                <a:solidFill>
                  <a:srgbClr val="20B7D1"/>
                </a:solidFill>
                <a:latin typeface="Calibri" pitchFamily="34" charset="0"/>
                <a:ea typeface="Calibri" pitchFamily="34" charset="-122"/>
                <a:cs typeface="Calibri" pitchFamily="34" charset="-120"/>
              </a:rPr>
              <a:t>Формує рекомендаційну стратегію</a:t>
            </a:r>
            <a:endParaRPr lang="en-US" sz="1000" dirty="0"/>
          </a:p>
        </p:txBody>
      </p:sp>
      <p:sp>
        <p:nvSpPr>
          <p:cNvPr id="20" name="Text 15"/>
          <p:cNvSpPr/>
          <p:nvPr/>
        </p:nvSpPr>
        <p:spPr>
          <a:xfrm>
            <a:off x="3778618" y="2866284"/>
            <a:ext cx="5221727" cy="457200"/>
          </a:xfrm>
          <a:prstGeom prst="rect">
            <a:avLst/>
          </a:prstGeom>
          <a:noFill/>
          <a:ln/>
        </p:spPr>
        <p:txBody>
          <a:bodyPr wrap="square" lIns="0" tIns="0" rIns="0" bIns="0" rtlCol="0" anchor="ctr"/>
          <a:lstStyle/>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Генерує вектор наближеної рекомендації (дії)</a:t>
            </a:r>
            <a:endParaRPr lang="uk-UA" sz="900" noProof="0" dirty="0"/>
          </a:p>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Впливає на формування топ-k</a:t>
            </a:r>
            <a:endParaRPr lang="uk-UA" sz="900" noProof="0" dirty="0"/>
          </a:p>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Навчається оптимальної політики</a:t>
            </a:r>
            <a:endParaRPr lang="uk-UA" sz="900" noProof="0" dirty="0"/>
          </a:p>
        </p:txBody>
      </p:sp>
      <p:sp>
        <p:nvSpPr>
          <p:cNvPr id="21" name="Shape 16"/>
          <p:cNvSpPr/>
          <p:nvPr/>
        </p:nvSpPr>
        <p:spPr>
          <a:xfrm>
            <a:off x="3614027" y="3495683"/>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7"/>
          <p:cNvSpPr/>
          <p:nvPr/>
        </p:nvSpPr>
        <p:spPr>
          <a:xfrm>
            <a:off x="3614026" y="3495683"/>
            <a:ext cx="64008" cy="1060704"/>
          </a:xfrm>
          <a:prstGeom prst="rect">
            <a:avLst/>
          </a:prstGeom>
          <a:solidFill>
            <a:srgbClr val="F0A93B"/>
          </a:solidFill>
          <a:ln w="12700">
            <a:solidFill>
              <a:srgbClr val="F0A93B"/>
            </a:solidFill>
            <a:prstDash val="solid"/>
          </a:ln>
        </p:spPr>
        <p:txBody>
          <a:bodyPr/>
          <a:lstStyle/>
          <a:p>
            <a:endParaRPr lang="uk-UA"/>
          </a:p>
        </p:txBody>
      </p:sp>
      <p:sp>
        <p:nvSpPr>
          <p:cNvPr id="23" name="Shape 18"/>
          <p:cNvSpPr/>
          <p:nvPr/>
        </p:nvSpPr>
        <p:spPr>
          <a:xfrm>
            <a:off x="3778618" y="3678563"/>
            <a:ext cx="411480" cy="411480"/>
          </a:xfrm>
          <a:prstGeom prst="ellipse">
            <a:avLst/>
          </a:prstGeom>
          <a:solidFill>
            <a:srgbClr val="FBE9CD"/>
          </a:solidFill>
          <a:ln w="12700">
            <a:solidFill>
              <a:srgbClr val="FBE9CD"/>
            </a:solidFill>
            <a:prstDash val="solid"/>
          </a:ln>
        </p:spPr>
        <p:txBody>
          <a:bodyPr/>
          <a:lstStyle/>
          <a:p>
            <a:endParaRPr lang="uk-UA"/>
          </a:p>
        </p:txBody>
      </p:sp>
      <p:pic>
        <p:nvPicPr>
          <p:cNvPr id="24" name="Image 3" descr="preencoded.png"/>
          <p:cNvPicPr>
            <a:picLocks noChangeAspect="1"/>
          </p:cNvPicPr>
          <p:nvPr/>
        </p:nvPicPr>
        <p:blipFill>
          <a:blip r:embed="rId5"/>
          <a:stretch>
            <a:fillRect/>
          </a:stretch>
        </p:blipFill>
        <p:spPr>
          <a:xfrm>
            <a:off x="3881488" y="3781433"/>
            <a:ext cx="205740" cy="205740"/>
          </a:xfrm>
          <a:prstGeom prst="rect">
            <a:avLst/>
          </a:prstGeom>
        </p:spPr>
      </p:pic>
      <p:sp>
        <p:nvSpPr>
          <p:cNvPr id="25" name="Text 19"/>
          <p:cNvSpPr/>
          <p:nvPr/>
        </p:nvSpPr>
        <p:spPr>
          <a:xfrm>
            <a:off x="4327259" y="3587123"/>
            <a:ext cx="427948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Критик</a:t>
            </a:r>
            <a:endParaRPr lang="en-US" sz="1300" dirty="0"/>
          </a:p>
        </p:txBody>
      </p:sp>
      <p:sp>
        <p:nvSpPr>
          <p:cNvPr id="26" name="Text 20"/>
          <p:cNvSpPr/>
          <p:nvPr/>
        </p:nvSpPr>
        <p:spPr>
          <a:xfrm>
            <a:off x="4327259" y="3824867"/>
            <a:ext cx="4176916" cy="228600"/>
          </a:xfrm>
          <a:prstGeom prst="rect">
            <a:avLst/>
          </a:prstGeom>
          <a:noFill/>
          <a:ln/>
        </p:spPr>
        <p:txBody>
          <a:bodyPr wrap="square" lIns="0" tIns="0" rIns="0" bIns="0" rtlCol="0" anchor="ctr"/>
          <a:lstStyle/>
          <a:p>
            <a:pPr marL="0" indent="0">
              <a:buNone/>
            </a:pPr>
            <a:r>
              <a:rPr lang="en-US" sz="1000" i="1" dirty="0">
                <a:solidFill>
                  <a:srgbClr val="F0A93B"/>
                </a:solidFill>
                <a:latin typeface="Calibri" pitchFamily="34" charset="0"/>
                <a:ea typeface="Calibri" pitchFamily="34" charset="-122"/>
                <a:cs typeface="Calibri" pitchFamily="34" charset="-120"/>
              </a:rPr>
              <a:t>Оцінює якість рекомендацій</a:t>
            </a:r>
            <a:endParaRPr lang="en-US" sz="1000" dirty="0"/>
          </a:p>
        </p:txBody>
      </p:sp>
      <p:sp>
        <p:nvSpPr>
          <p:cNvPr id="27" name="Text 21"/>
          <p:cNvSpPr/>
          <p:nvPr/>
        </p:nvSpPr>
        <p:spPr>
          <a:xfrm>
            <a:off x="3778618" y="4090043"/>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Використовує стан + дію</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Обчислює Q-значення</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Оновлює стратегію Актора</a:t>
            </a:r>
            <a:endParaRPr lang="en-US" sz="900" dirty="0"/>
          </a:p>
        </p:txBody>
      </p:sp>
      <p:sp>
        <p:nvSpPr>
          <p:cNvPr id="29"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1"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08 / 18</a:t>
            </a:r>
            <a:endParaRPr lang="en-US" sz="900" dirty="0"/>
          </a:p>
        </p:txBody>
      </p:sp>
      <p:sp>
        <p:nvSpPr>
          <p:cNvPr id="28" name="Text 28">
            <a:extLst>
              <a:ext uri="{FF2B5EF4-FFF2-40B4-BE49-F238E27FC236}">
                <a16:creationId xmlns:a16="http://schemas.microsoft.com/office/drawing/2014/main" id="{761521BE-6659-7988-C44C-0C9568F496BB}"/>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7" name="Graphic 36">
            <a:extLst>
              <a:ext uri="{FF2B5EF4-FFF2-40B4-BE49-F238E27FC236}">
                <a16:creationId xmlns:a16="http://schemas.microsoft.com/office/drawing/2014/main" id="{4892C714-1C05-F519-55F1-EA28EE95F5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6204" y="956913"/>
            <a:ext cx="2815544" cy="3690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ІНТЕГРАТОР</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Механізм формування стану групи</a:t>
            </a:r>
            <a:endParaRPr lang="en-US" sz="2800" dirty="0"/>
          </a:p>
        </p:txBody>
      </p:sp>
      <p:sp>
        <p:nvSpPr>
          <p:cNvPr id="5" name="Shape 3"/>
          <p:cNvSpPr/>
          <p:nvPr/>
        </p:nvSpPr>
        <p:spPr>
          <a:xfrm>
            <a:off x="457200" y="1325880"/>
            <a:ext cx="3291840" cy="3246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3246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0876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23060"/>
            <a:ext cx="228600" cy="228600"/>
          </a:xfrm>
          <a:prstGeom prst="rect">
            <a:avLst/>
          </a:prstGeom>
        </p:spPr>
      </p:pic>
      <p:sp>
        <p:nvSpPr>
          <p:cNvPr id="9" name="Text 6"/>
          <p:cNvSpPr/>
          <p:nvPr/>
        </p:nvSpPr>
        <p:spPr>
          <a:xfrm>
            <a:off x="1234440" y="1554480"/>
            <a:ext cx="2377440" cy="32004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Ідея мережі Інтегратор</a:t>
            </a:r>
            <a:endParaRPr lang="en-US" sz="1300" dirty="0"/>
          </a:p>
        </p:txBody>
      </p:sp>
      <p:sp>
        <p:nvSpPr>
          <p:cNvPr id="10" name="Text 7"/>
          <p:cNvSpPr/>
          <p:nvPr/>
        </p:nvSpPr>
        <p:spPr>
          <a:xfrm>
            <a:off x="640080" y="2148840"/>
            <a:ext cx="2926080" cy="2743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Інтегратор формує стан, який одночасно враховує:</a:t>
            </a:r>
            <a:endParaRPr lang="en-US" sz="1050" dirty="0"/>
          </a:p>
        </p:txBody>
      </p:sp>
      <p:sp>
        <p:nvSpPr>
          <p:cNvPr id="11" name="Shape 8"/>
          <p:cNvSpPr/>
          <p:nvPr/>
        </p:nvSpPr>
        <p:spPr>
          <a:xfrm>
            <a:off x="640080" y="251460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2" name="Image 1" descr="preencoded.png"/>
          <p:cNvPicPr>
            <a:picLocks noChangeAspect="1"/>
          </p:cNvPicPr>
          <p:nvPr/>
        </p:nvPicPr>
        <p:blipFill>
          <a:blip r:embed="rId4"/>
          <a:stretch>
            <a:fillRect/>
          </a:stretch>
        </p:blipFill>
        <p:spPr>
          <a:xfrm>
            <a:off x="736092" y="2610612"/>
            <a:ext cx="192024" cy="192024"/>
          </a:xfrm>
          <a:prstGeom prst="rect">
            <a:avLst/>
          </a:prstGeom>
        </p:spPr>
      </p:pic>
      <p:sp>
        <p:nvSpPr>
          <p:cNvPr id="13" name="Text 9"/>
          <p:cNvSpPr/>
          <p:nvPr/>
        </p:nvSpPr>
        <p:spPr>
          <a:xfrm>
            <a:off x="1170432" y="249631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Склад групи</a:t>
            </a:r>
            <a:endParaRPr lang="en-US" sz="1100" dirty="0"/>
          </a:p>
        </p:txBody>
      </p:sp>
      <p:sp>
        <p:nvSpPr>
          <p:cNvPr id="14" name="Text 10"/>
          <p:cNvSpPr/>
          <p:nvPr/>
        </p:nvSpPr>
        <p:spPr>
          <a:xfrm>
            <a:off x="1170432" y="269748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Як учасники впливають один на одного</a:t>
            </a:r>
            <a:endParaRPr lang="en-US" sz="950" dirty="0"/>
          </a:p>
        </p:txBody>
      </p:sp>
      <p:sp>
        <p:nvSpPr>
          <p:cNvPr id="15" name="Shape 11"/>
          <p:cNvSpPr/>
          <p:nvPr/>
        </p:nvSpPr>
        <p:spPr>
          <a:xfrm>
            <a:off x="640080" y="30632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6" name="Image 2" descr="preencoded.png"/>
          <p:cNvPicPr>
            <a:picLocks noChangeAspect="1"/>
          </p:cNvPicPr>
          <p:nvPr/>
        </p:nvPicPr>
        <p:blipFill>
          <a:blip r:embed="rId5"/>
          <a:stretch>
            <a:fillRect/>
          </a:stretch>
        </p:blipFill>
        <p:spPr>
          <a:xfrm>
            <a:off x="736092" y="3159252"/>
            <a:ext cx="192024" cy="192024"/>
          </a:xfrm>
          <a:prstGeom prst="rect">
            <a:avLst/>
          </a:prstGeom>
        </p:spPr>
      </p:pic>
      <p:sp>
        <p:nvSpPr>
          <p:cNvPr id="17" name="Text 12"/>
          <p:cNvSpPr/>
          <p:nvPr/>
        </p:nvSpPr>
        <p:spPr>
          <a:xfrm>
            <a:off x="1170432" y="304495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Історія взаємодії</a:t>
            </a:r>
            <a:endParaRPr lang="en-US" sz="1100" dirty="0"/>
          </a:p>
        </p:txBody>
      </p:sp>
      <p:sp>
        <p:nvSpPr>
          <p:cNvPr id="18" name="Text 13"/>
          <p:cNvSpPr/>
          <p:nvPr/>
        </p:nvSpPr>
        <p:spPr>
          <a:xfrm>
            <a:off x="1170432" y="324612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З якими елементами користувачі взаємодіяли</a:t>
            </a:r>
            <a:endParaRPr lang="en-US" sz="950" dirty="0"/>
          </a:p>
        </p:txBody>
      </p:sp>
      <p:sp>
        <p:nvSpPr>
          <p:cNvPr id="19" name="Shape 14"/>
          <p:cNvSpPr/>
          <p:nvPr/>
        </p:nvSpPr>
        <p:spPr>
          <a:xfrm>
            <a:off x="640080" y="3721608"/>
            <a:ext cx="2926080" cy="713232"/>
          </a:xfrm>
          <a:prstGeom prst="rect">
            <a:avLst/>
          </a:prstGeom>
          <a:solidFill>
            <a:srgbClr val="E8F0FE"/>
          </a:solidFill>
          <a:ln w="12700">
            <a:solidFill>
              <a:srgbClr val="E8F0FE"/>
            </a:solidFill>
            <a:prstDash val="solid"/>
          </a:ln>
        </p:spPr>
        <p:txBody>
          <a:bodyPr/>
          <a:lstStyle/>
          <a:p>
            <a:endParaRPr lang="uk-UA"/>
          </a:p>
        </p:txBody>
      </p:sp>
      <p:sp>
        <p:nvSpPr>
          <p:cNvPr id="20" name="Text 15"/>
          <p:cNvSpPr/>
          <p:nvPr/>
        </p:nvSpPr>
        <p:spPr>
          <a:xfrm>
            <a:off x="731520" y="3794760"/>
            <a:ext cx="2834640" cy="228600"/>
          </a:xfrm>
          <a:prstGeom prst="rect">
            <a:avLst/>
          </a:prstGeom>
          <a:noFill/>
          <a:ln/>
        </p:spPr>
        <p:txBody>
          <a:bodyPr wrap="square" lIns="0" tIns="0" rIns="0" bIns="0" rtlCol="0" anchor="ctr"/>
          <a:lstStyle/>
          <a:p>
            <a:pPr marL="0" indent="0">
              <a:buNone/>
            </a:pPr>
            <a:r>
              <a:rPr lang="en-US" sz="1000" b="1" dirty="0">
                <a:solidFill>
                  <a:srgbClr val="2C5BD8"/>
                </a:solidFill>
                <a:latin typeface="Calibri" pitchFamily="34" charset="0"/>
                <a:ea typeface="Calibri" pitchFamily="34" charset="-122"/>
                <a:cs typeface="Calibri" pitchFamily="34" charset="-120"/>
              </a:rPr>
              <a:t>Результат:</a:t>
            </a:r>
            <a:endParaRPr lang="en-US" sz="1000" dirty="0"/>
          </a:p>
        </p:txBody>
      </p:sp>
      <p:sp>
        <p:nvSpPr>
          <p:cNvPr id="21" name="Text 16"/>
          <p:cNvSpPr/>
          <p:nvPr/>
        </p:nvSpPr>
        <p:spPr>
          <a:xfrm>
            <a:off x="731520" y="3995928"/>
            <a:ext cx="2834640" cy="411480"/>
          </a:xfrm>
          <a:prstGeom prst="rect">
            <a:avLst/>
          </a:prstGeom>
          <a:noFill/>
          <a:ln/>
        </p:spPr>
        <p:txBody>
          <a:bodyPr wrap="square" lIns="0" tIns="0" rIns="0" bIns="0" rtlCol="0" anchor="ctr"/>
          <a:lstStyle/>
          <a:p>
            <a:pPr marL="0" indent="0">
              <a:buNone/>
            </a:pPr>
            <a:r>
              <a:rPr lang="en-US" sz="950" dirty="0">
                <a:solidFill>
                  <a:srgbClr val="0F1A35"/>
                </a:solidFill>
                <a:latin typeface="Calibri" pitchFamily="34" charset="0"/>
                <a:ea typeface="Calibri" pitchFamily="34" charset="-122"/>
                <a:cs typeface="Calibri" pitchFamily="34" charset="-120"/>
              </a:rPr>
              <a:t>векторне представлення стану групи для подальшого формування рекомендацій</a:t>
            </a:r>
            <a:endParaRPr lang="en-US" sz="950" dirty="0"/>
          </a:p>
        </p:txBody>
      </p:sp>
      <p:sp>
        <p:nvSpPr>
          <p:cNvPr id="23" name="Text 17"/>
          <p:cNvSpPr/>
          <p:nvPr/>
        </p:nvSpPr>
        <p:spPr>
          <a:xfrm>
            <a:off x="3931920" y="4581145"/>
            <a:ext cx="475488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3</a:t>
            </a:r>
            <a:r>
              <a:rPr lang="en-US" sz="900" i="1" dirty="0">
                <a:solidFill>
                  <a:srgbClr val="687891"/>
                </a:solidFill>
                <a:latin typeface="Calibri" pitchFamily="34" charset="0"/>
                <a:ea typeface="Calibri" pitchFamily="34" charset="-122"/>
                <a:cs typeface="Calibri" pitchFamily="34" charset="-120"/>
              </a:rPr>
              <a:t>. Архітектура Інтегратора</a:t>
            </a:r>
            <a:endParaRPr lang="en-US" sz="900" dirty="0"/>
          </a:p>
        </p:txBody>
      </p:sp>
      <p:sp>
        <p:nvSpPr>
          <p:cNvPr id="25" name="Shape 1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7" name="Text 2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09 / 18</a:t>
            </a:r>
            <a:endParaRPr lang="en-US" sz="900" dirty="0"/>
          </a:p>
        </p:txBody>
      </p:sp>
      <p:sp>
        <p:nvSpPr>
          <p:cNvPr id="24" name="Text 28">
            <a:extLst>
              <a:ext uri="{FF2B5EF4-FFF2-40B4-BE49-F238E27FC236}">
                <a16:creationId xmlns:a16="http://schemas.microsoft.com/office/drawing/2014/main" id="{51AAC1EF-7759-09D2-7ECF-4C7DDBF63255}"/>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1" name="Graphic 30">
            <a:extLst>
              <a:ext uri="{FF2B5EF4-FFF2-40B4-BE49-F238E27FC236}">
                <a16:creationId xmlns:a16="http://schemas.microsoft.com/office/drawing/2014/main" id="{42D8657E-2AAE-3D7A-CB24-24BB68642A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66599" y="1133856"/>
            <a:ext cx="3863001" cy="34775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АКТОР-КРИТИК</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Взаємодія мереж Актор та Критик</a:t>
            </a:r>
            <a:endParaRPr lang="en-US" sz="2800" dirty="0"/>
          </a:p>
        </p:txBody>
      </p:sp>
      <p:sp>
        <p:nvSpPr>
          <p:cNvPr id="5" name="Shape 3"/>
          <p:cNvSpPr/>
          <p:nvPr/>
        </p:nvSpPr>
        <p:spPr>
          <a:xfrm>
            <a:off x="457200" y="1298448"/>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98448"/>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4630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559052"/>
            <a:ext cx="192024" cy="192024"/>
          </a:xfrm>
          <a:prstGeom prst="rect">
            <a:avLst/>
          </a:prstGeom>
        </p:spPr>
      </p:pic>
      <p:sp>
        <p:nvSpPr>
          <p:cNvPr id="9" name="Text 6"/>
          <p:cNvSpPr/>
          <p:nvPr/>
        </p:nvSpPr>
        <p:spPr>
          <a:xfrm>
            <a:off x="1188720" y="1371600"/>
            <a:ext cx="68580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Ідея мереж Актор та Критик</a:t>
            </a:r>
            <a:endParaRPr lang="en-US" sz="1200" dirty="0"/>
          </a:p>
        </p:txBody>
      </p:sp>
      <p:sp>
        <p:nvSpPr>
          <p:cNvPr id="10" name="Text 7"/>
          <p:cNvSpPr/>
          <p:nvPr/>
        </p:nvSpPr>
        <p:spPr>
          <a:xfrm>
            <a:off x="1188720" y="1591056"/>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Актор пропонує рекомендацію, Критик оцінює її якість. Модель вчиться формувати такі рекомендації, які максимізують довгострокову винагороду.</a:t>
            </a:r>
            <a:endParaRPr lang="en-US" sz="1050" dirty="0"/>
          </a:p>
        </p:txBody>
      </p:sp>
      <p:sp>
        <p:nvSpPr>
          <p:cNvPr id="12" name="Text 8"/>
          <p:cNvSpPr/>
          <p:nvPr/>
        </p:nvSpPr>
        <p:spPr>
          <a:xfrm>
            <a:off x="292608" y="4663440"/>
            <a:ext cx="3283302"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4</a:t>
            </a:r>
            <a:r>
              <a:rPr lang="en-US" sz="900" i="1" dirty="0">
                <a:solidFill>
                  <a:srgbClr val="687891"/>
                </a:solidFill>
                <a:latin typeface="Calibri" pitchFamily="34" charset="0"/>
                <a:ea typeface="Calibri" pitchFamily="34" charset="-122"/>
                <a:cs typeface="Calibri" pitchFamily="34" charset="-120"/>
              </a:rPr>
              <a:t>. Архітектура Актор-Критик</a:t>
            </a:r>
            <a:endParaRPr lang="en-US" sz="900" dirty="0"/>
          </a:p>
        </p:txBody>
      </p:sp>
      <p:sp>
        <p:nvSpPr>
          <p:cNvPr id="13" name="Shape 9"/>
          <p:cNvSpPr/>
          <p:nvPr/>
        </p:nvSpPr>
        <p:spPr>
          <a:xfrm>
            <a:off x="3511902" y="210312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3511902" y="2103120"/>
            <a:ext cx="64008" cy="1188720"/>
          </a:xfrm>
          <a:prstGeom prst="rect">
            <a:avLst/>
          </a:prstGeom>
          <a:solidFill>
            <a:srgbClr val="20B7D1"/>
          </a:solidFill>
          <a:ln w="12700">
            <a:solidFill>
              <a:srgbClr val="20B7D1"/>
            </a:solidFill>
            <a:prstDash val="solid"/>
          </a:ln>
        </p:spPr>
        <p:txBody>
          <a:bodyPr/>
          <a:lstStyle/>
          <a:p>
            <a:endParaRPr lang="uk-UA"/>
          </a:p>
        </p:txBody>
      </p:sp>
      <p:sp>
        <p:nvSpPr>
          <p:cNvPr id="15" name="Shape 11"/>
          <p:cNvSpPr/>
          <p:nvPr/>
        </p:nvSpPr>
        <p:spPr>
          <a:xfrm>
            <a:off x="3694782" y="23042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6" name="Image 2" descr="preencoded.png"/>
          <p:cNvPicPr>
            <a:picLocks noChangeAspect="1"/>
          </p:cNvPicPr>
          <p:nvPr/>
        </p:nvPicPr>
        <p:blipFill>
          <a:blip r:embed="rId4"/>
          <a:stretch>
            <a:fillRect/>
          </a:stretch>
        </p:blipFill>
        <p:spPr>
          <a:xfrm>
            <a:off x="3809082" y="2418588"/>
            <a:ext cx="228600" cy="228600"/>
          </a:xfrm>
          <a:prstGeom prst="rect">
            <a:avLst/>
          </a:prstGeom>
        </p:spPr>
      </p:pic>
      <p:sp>
        <p:nvSpPr>
          <p:cNvPr id="17" name="Text 12"/>
          <p:cNvSpPr/>
          <p:nvPr/>
        </p:nvSpPr>
        <p:spPr>
          <a:xfrm>
            <a:off x="4289142" y="219456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Актор</a:t>
            </a:r>
            <a:endParaRPr lang="en-US" sz="1400" dirty="0"/>
          </a:p>
        </p:txBody>
      </p:sp>
      <p:sp>
        <p:nvSpPr>
          <p:cNvPr id="18" name="Text 13"/>
          <p:cNvSpPr/>
          <p:nvPr/>
        </p:nvSpPr>
        <p:spPr>
          <a:xfrm>
            <a:off x="4289142" y="2468880"/>
            <a:ext cx="4260498" cy="201168"/>
          </a:xfrm>
          <a:prstGeom prst="rect">
            <a:avLst/>
          </a:prstGeom>
          <a:noFill/>
          <a:ln/>
        </p:spPr>
        <p:txBody>
          <a:bodyPr wrap="square" lIns="0" tIns="0" rIns="0" bIns="0" rtlCol="0" anchor="ctr"/>
          <a:lstStyle/>
          <a:p>
            <a:pPr marL="0" indent="0">
              <a:buNone/>
            </a:pPr>
            <a:r>
              <a:rPr lang="en-US" sz="950" i="1" dirty="0">
                <a:solidFill>
                  <a:srgbClr val="20B7D1"/>
                </a:solidFill>
                <a:latin typeface="Calibri" pitchFamily="34" charset="0"/>
                <a:ea typeface="Calibri" pitchFamily="34" charset="-122"/>
                <a:cs typeface="Calibri" pitchFamily="34" charset="-120"/>
              </a:rPr>
              <a:t>(генерація рекомендації)</a:t>
            </a:r>
            <a:endParaRPr lang="en-US" sz="950" dirty="0"/>
          </a:p>
        </p:txBody>
      </p:sp>
      <p:sp>
        <p:nvSpPr>
          <p:cNvPr id="19" name="Text 14"/>
          <p:cNvSpPr/>
          <p:nvPr/>
        </p:nvSpPr>
        <p:spPr>
          <a:xfrm>
            <a:off x="3694782" y="2743200"/>
            <a:ext cx="4900578" cy="502920"/>
          </a:xfrm>
          <a:prstGeom prst="rect">
            <a:avLst/>
          </a:prstGeom>
          <a:noFill/>
          <a:ln/>
        </p:spPr>
        <p:txBody>
          <a:bodyPr wrap="square" lIns="0" tIns="0" rIns="0" bIns="0" rtlCol="0" anchor="ctr"/>
          <a:lstStyle/>
          <a:p>
            <a:pPr marL="0" indent="0">
              <a:lnSpc>
                <a:spcPct val="110000"/>
              </a:lnSpc>
              <a:buNone/>
            </a:pPr>
            <a:r>
              <a:rPr lang="uk-UA" sz="950" b="1" noProof="0" dirty="0">
                <a:solidFill>
                  <a:srgbClr val="20B7D1"/>
                </a:solidFill>
                <a:latin typeface="Calibri" pitchFamily="34" charset="0"/>
                <a:ea typeface="Calibri" pitchFamily="34" charset="-122"/>
                <a:cs typeface="Calibri" pitchFamily="34" charset="-120"/>
              </a:rPr>
              <a:t>Вхід: </a:t>
            </a:r>
            <a:r>
              <a:rPr lang="uk-UA" sz="950" noProof="0" dirty="0">
                <a:solidFill>
                  <a:srgbClr val="1F2937"/>
                </a:solidFill>
                <a:latin typeface="Calibri" pitchFamily="34" charset="0"/>
                <a:ea typeface="Calibri" pitchFamily="34" charset="-122"/>
                <a:cs typeface="Calibri" pitchFamily="34" charset="-120"/>
              </a:rPr>
              <a:t>стан групи (від Інтегратора). </a:t>
            </a:r>
          </a:p>
          <a:p>
            <a:pPr marL="0" indent="0">
              <a:lnSpc>
                <a:spcPct val="110000"/>
              </a:lnSpc>
              <a:buNone/>
            </a:pPr>
            <a:r>
              <a:rPr lang="uk-UA" sz="950" b="1" noProof="0" dirty="0">
                <a:solidFill>
                  <a:srgbClr val="20B7D1"/>
                </a:solidFill>
                <a:latin typeface="Calibri" pitchFamily="34" charset="0"/>
                <a:ea typeface="Calibri" pitchFamily="34" charset="-122"/>
                <a:cs typeface="Calibri" pitchFamily="34" charset="-120"/>
              </a:rPr>
              <a:t>Вихід: </a:t>
            </a:r>
            <a:r>
              <a:rPr lang="uk-UA" sz="950" noProof="0" dirty="0">
                <a:solidFill>
                  <a:srgbClr val="1F2937"/>
                </a:solidFill>
                <a:latin typeface="Calibri" pitchFamily="34" charset="0"/>
                <a:ea typeface="Calibri" pitchFamily="34" charset="-122"/>
                <a:cs typeface="Calibri" pitchFamily="34" charset="-120"/>
              </a:rPr>
              <a:t>вектор наближеної дії â, з якого формується топ-k рекомендацій.</a:t>
            </a:r>
            <a:endParaRPr lang="uk-UA" sz="950" noProof="0" dirty="0"/>
          </a:p>
        </p:txBody>
      </p:sp>
      <p:sp>
        <p:nvSpPr>
          <p:cNvPr id="20" name="Shape 15"/>
          <p:cNvSpPr/>
          <p:nvPr/>
        </p:nvSpPr>
        <p:spPr>
          <a:xfrm>
            <a:off x="3511902" y="338328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6"/>
          <p:cNvSpPr/>
          <p:nvPr/>
        </p:nvSpPr>
        <p:spPr>
          <a:xfrm>
            <a:off x="3511902" y="3383280"/>
            <a:ext cx="64008" cy="1188720"/>
          </a:xfrm>
          <a:prstGeom prst="rect">
            <a:avLst/>
          </a:prstGeom>
          <a:solidFill>
            <a:srgbClr val="F0A93B"/>
          </a:solidFill>
          <a:ln w="12700">
            <a:solidFill>
              <a:srgbClr val="F0A93B"/>
            </a:solidFill>
            <a:prstDash val="solid"/>
          </a:ln>
        </p:spPr>
        <p:txBody>
          <a:bodyPr/>
          <a:lstStyle/>
          <a:p>
            <a:endParaRPr lang="uk-UA"/>
          </a:p>
        </p:txBody>
      </p:sp>
      <p:sp>
        <p:nvSpPr>
          <p:cNvPr id="22" name="Shape 17"/>
          <p:cNvSpPr/>
          <p:nvPr/>
        </p:nvSpPr>
        <p:spPr>
          <a:xfrm>
            <a:off x="3694782" y="358444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3" name="Image 3" descr="preencoded.png"/>
          <p:cNvPicPr>
            <a:picLocks noChangeAspect="1"/>
          </p:cNvPicPr>
          <p:nvPr/>
        </p:nvPicPr>
        <p:blipFill>
          <a:blip r:embed="rId5"/>
          <a:stretch>
            <a:fillRect/>
          </a:stretch>
        </p:blipFill>
        <p:spPr>
          <a:xfrm>
            <a:off x="3809082" y="3698748"/>
            <a:ext cx="228600" cy="228600"/>
          </a:xfrm>
          <a:prstGeom prst="rect">
            <a:avLst/>
          </a:prstGeom>
        </p:spPr>
      </p:pic>
      <p:sp>
        <p:nvSpPr>
          <p:cNvPr id="24" name="Text 18"/>
          <p:cNvSpPr/>
          <p:nvPr/>
        </p:nvSpPr>
        <p:spPr>
          <a:xfrm>
            <a:off x="4289142" y="347472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Критик</a:t>
            </a:r>
            <a:endParaRPr lang="en-US" sz="1400" dirty="0"/>
          </a:p>
        </p:txBody>
      </p:sp>
      <p:sp>
        <p:nvSpPr>
          <p:cNvPr id="25" name="Text 19"/>
          <p:cNvSpPr/>
          <p:nvPr/>
        </p:nvSpPr>
        <p:spPr>
          <a:xfrm>
            <a:off x="4289142" y="3749040"/>
            <a:ext cx="4260498" cy="201168"/>
          </a:xfrm>
          <a:prstGeom prst="rect">
            <a:avLst/>
          </a:prstGeom>
          <a:noFill/>
          <a:ln/>
        </p:spPr>
        <p:txBody>
          <a:bodyPr wrap="square" lIns="0" tIns="0" rIns="0" bIns="0" rtlCol="0" anchor="ctr"/>
          <a:lstStyle/>
          <a:p>
            <a:pPr marL="0" indent="0">
              <a:buNone/>
            </a:pPr>
            <a:r>
              <a:rPr lang="en-US" sz="950" i="1" dirty="0">
                <a:solidFill>
                  <a:srgbClr val="F0A93B"/>
                </a:solidFill>
                <a:latin typeface="Calibri" pitchFamily="34" charset="0"/>
                <a:ea typeface="Calibri" pitchFamily="34" charset="-122"/>
                <a:cs typeface="Calibri" pitchFamily="34" charset="-120"/>
              </a:rPr>
              <a:t>(оцінка якості)</a:t>
            </a:r>
            <a:endParaRPr lang="en-US" sz="950" dirty="0"/>
          </a:p>
        </p:txBody>
      </p:sp>
      <p:sp>
        <p:nvSpPr>
          <p:cNvPr id="26" name="Text 20"/>
          <p:cNvSpPr/>
          <p:nvPr/>
        </p:nvSpPr>
        <p:spPr>
          <a:xfrm>
            <a:off x="3694782" y="4023360"/>
            <a:ext cx="4900578" cy="502920"/>
          </a:xfrm>
          <a:prstGeom prst="rect">
            <a:avLst/>
          </a:prstGeom>
          <a:noFill/>
          <a:ln/>
        </p:spPr>
        <p:txBody>
          <a:bodyPr wrap="square" lIns="0" tIns="0" rIns="0" bIns="0" rtlCol="0" anchor="ctr"/>
          <a:lstStyle/>
          <a:p>
            <a:pPr marL="0" indent="0">
              <a:lnSpc>
                <a:spcPct val="110000"/>
              </a:lnSpc>
              <a:buNone/>
            </a:pPr>
            <a:r>
              <a:rPr lang="uk-UA" sz="950" b="1" noProof="0" dirty="0">
                <a:solidFill>
                  <a:srgbClr val="F0A93B"/>
                </a:solidFill>
                <a:latin typeface="Calibri" pitchFamily="34" charset="0"/>
                <a:ea typeface="Calibri" pitchFamily="34" charset="-122"/>
                <a:cs typeface="Calibri" pitchFamily="34" charset="-120"/>
              </a:rPr>
              <a:t>Вхід: </a:t>
            </a:r>
            <a:r>
              <a:rPr lang="uk-UA" sz="950" noProof="0" dirty="0">
                <a:solidFill>
                  <a:srgbClr val="1F2937"/>
                </a:solidFill>
                <a:latin typeface="Calibri" pitchFamily="34" charset="0"/>
                <a:ea typeface="Calibri" pitchFamily="34" charset="-122"/>
                <a:cs typeface="Calibri" pitchFamily="34" charset="-120"/>
              </a:rPr>
              <a:t>стан + дія (рекомендація від Актора). </a:t>
            </a:r>
          </a:p>
          <a:p>
            <a:pPr marL="0" indent="0">
              <a:lnSpc>
                <a:spcPct val="110000"/>
              </a:lnSpc>
              <a:buNone/>
            </a:pPr>
            <a:r>
              <a:rPr lang="uk-UA" sz="950" b="1" noProof="0" dirty="0">
                <a:solidFill>
                  <a:srgbClr val="F0A93B"/>
                </a:solidFill>
                <a:latin typeface="Calibri" pitchFamily="34" charset="0"/>
                <a:ea typeface="Calibri" pitchFamily="34" charset="-122"/>
                <a:cs typeface="Calibri" pitchFamily="34" charset="-120"/>
              </a:rPr>
              <a:t>Вихід: </a:t>
            </a:r>
            <a:r>
              <a:rPr lang="uk-UA" sz="950" noProof="0" dirty="0">
                <a:solidFill>
                  <a:srgbClr val="1F2937"/>
                </a:solidFill>
                <a:latin typeface="Calibri" pitchFamily="34" charset="0"/>
                <a:ea typeface="Calibri" pitchFamily="34" charset="-122"/>
                <a:cs typeface="Calibri" pitchFamily="34" charset="-120"/>
              </a:rPr>
              <a:t>Q-значення — очікувана винагорода для оновлення стратегії Актора.</a:t>
            </a:r>
            <a:endParaRPr lang="uk-UA" sz="950" noProof="0" dirty="0"/>
          </a:p>
        </p:txBody>
      </p:sp>
      <p:sp>
        <p:nvSpPr>
          <p:cNvPr id="28" name="Shape 2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0" name="Text 2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10 / 18</a:t>
            </a:r>
            <a:endParaRPr lang="en-US" sz="900" dirty="0"/>
          </a:p>
        </p:txBody>
      </p:sp>
      <p:sp>
        <p:nvSpPr>
          <p:cNvPr id="27" name="Text 28">
            <a:extLst>
              <a:ext uri="{FF2B5EF4-FFF2-40B4-BE49-F238E27FC236}">
                <a16:creationId xmlns:a16="http://schemas.microsoft.com/office/drawing/2014/main" id="{C87D3832-E2BD-5F4B-0383-6BB25407C0FD}"/>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2" name="Graphic 31">
            <a:extLst>
              <a:ext uri="{FF2B5EF4-FFF2-40B4-BE49-F238E27FC236}">
                <a16:creationId xmlns:a16="http://schemas.microsoft.com/office/drawing/2014/main" id="{00EAE4AD-887C-222A-E2DB-3D9B0DCD86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640" y="2084831"/>
            <a:ext cx="2689774" cy="26243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АЛГОРИТМ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DDPG — Deep Deterministic Policy Gradient</a:t>
            </a:r>
            <a:endParaRPr lang="en-US" sz="2800" dirty="0"/>
          </a:p>
        </p:txBody>
      </p:sp>
      <p:sp>
        <p:nvSpPr>
          <p:cNvPr id="5" name="Shape 3"/>
          <p:cNvSpPr/>
          <p:nvPr/>
        </p:nvSpPr>
        <p:spPr>
          <a:xfrm>
            <a:off x="467363" y="1262888"/>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67361" y="1268984"/>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50241" y="1433576"/>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46253" y="1529588"/>
            <a:ext cx="192024" cy="192024"/>
          </a:xfrm>
          <a:prstGeom prst="rect">
            <a:avLst/>
          </a:prstGeom>
        </p:spPr>
      </p:pic>
      <p:sp>
        <p:nvSpPr>
          <p:cNvPr id="9" name="Text 6"/>
          <p:cNvSpPr/>
          <p:nvPr/>
        </p:nvSpPr>
        <p:spPr>
          <a:xfrm>
            <a:off x="1198881" y="1342136"/>
            <a:ext cx="6858000" cy="256032"/>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Особливість підходу</a:t>
            </a:r>
            <a:endParaRPr lang="en-US" sz="1200" dirty="0"/>
          </a:p>
        </p:txBody>
      </p:sp>
      <p:sp>
        <p:nvSpPr>
          <p:cNvPr id="10" name="Text 7"/>
          <p:cNvSpPr/>
          <p:nvPr/>
        </p:nvSpPr>
        <p:spPr>
          <a:xfrm>
            <a:off x="1198881" y="1561592"/>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відбувається з використанням DDPG із двома парами мереж: початковими та цільовими. Цільові мережі стабілізують навчання завдяки повільному зміщенню значень у TD-learning.</a:t>
            </a:r>
            <a:endParaRPr lang="en-US" sz="1050" dirty="0"/>
          </a:p>
        </p:txBody>
      </p:sp>
      <p:sp>
        <p:nvSpPr>
          <p:cNvPr id="11" name="Text 8"/>
          <p:cNvSpPr/>
          <p:nvPr/>
        </p:nvSpPr>
        <p:spPr>
          <a:xfrm>
            <a:off x="467363" y="2101088"/>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2. Початкові та цільові мережі</a:t>
            </a:r>
            <a:endParaRPr lang="en-US" sz="900" dirty="0"/>
          </a:p>
        </p:txBody>
      </p:sp>
      <mc:AlternateContent xmlns:mc="http://schemas.openxmlformats.org/markup-compatibility/2006" xmlns:a14="http://schemas.microsoft.com/office/drawing/2010/main">
        <mc:Choice Requires="a14">
          <p:graphicFrame>
            <p:nvGraphicFramePr>
              <p:cNvPr id="12" name="Table 0"/>
              <p:cNvGraphicFramePr>
                <a:graphicFrameLocks noGrp="1"/>
              </p:cNvGraphicFramePr>
              <p:nvPr>
                <p:extLst>
                  <p:ext uri="{D42A27DB-BD31-4B8C-83A1-F6EECF244321}">
                    <p14:modId xmlns:p14="http://schemas.microsoft.com/office/powerpoint/2010/main" val="1100574651"/>
                  </p:ext>
                </p:extLst>
              </p:nvPr>
            </p:nvGraphicFramePr>
            <p:xfrm>
              <a:off x="467363" y="2357120"/>
              <a:ext cx="4023360" cy="877824"/>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Мережа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Початкова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Цільова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Актор</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Pr>
                                  <m:e>
                                    <m:r>
                                      <a:rPr lang="en-US" sz="1000" i="1" dirty="0" smtClean="0">
                                        <a:solidFill>
                                          <a:srgbClr val="1F2937"/>
                                        </a:solidFill>
                                        <a:latin typeface="Cambria Math" panose="02040503050406030204" pitchFamily="18" charset="0"/>
                                        <a:ea typeface="Calibri" pitchFamily="34" charset="-122"/>
                                        <a:cs typeface="Calibri" pitchFamily="34" charset="-120"/>
                                      </a:rPr>
                                      <m:t>𝜋</m:t>
                                    </m:r>
                                  </m:e>
                                  <m:sub>
                                    <m:r>
                                      <a:rPr lang="en-US" sz="1000" i="1" dirty="0" smtClean="0">
                                        <a:solidFill>
                                          <a:srgbClr val="1F2937"/>
                                        </a:solidFill>
                                        <a:latin typeface="Cambria Math" panose="02040503050406030204" pitchFamily="18" charset="0"/>
                                        <a:ea typeface="Calibri" pitchFamily="34" charset="-122"/>
                                        <a:cs typeface="Calibri" pitchFamily="34" charset="-120"/>
                                      </a:rPr>
                                      <m:t>𝜃</m:t>
                                    </m:r>
                                  </m:sub>
                                </m:sSub>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SupPr>
                                  <m:e>
                                    <m:r>
                                      <a:rPr lang="en-US" sz="1000" i="1" dirty="0" smtClean="0">
                                        <a:solidFill>
                                          <a:srgbClr val="1F2937"/>
                                        </a:solidFill>
                                        <a:latin typeface="Cambria Math" panose="02040503050406030204" pitchFamily="18" charset="0"/>
                                        <a:ea typeface="Calibri" pitchFamily="34" charset="-122"/>
                                        <a:cs typeface="Calibri" pitchFamily="34" charset="-120"/>
                                      </a:rPr>
                                      <m:t>𝜋</m:t>
                                    </m:r>
                                  </m:e>
                                  <m:sub>
                                    <m:r>
                                      <a:rPr lang="en-US" sz="1000" i="1" dirty="0" smtClean="0">
                                        <a:solidFill>
                                          <a:srgbClr val="1F2937"/>
                                        </a:solidFill>
                                        <a:latin typeface="Cambria Math" panose="02040503050406030204" pitchFamily="18" charset="0"/>
                                        <a:ea typeface="Calibri" pitchFamily="34" charset="-122"/>
                                        <a:cs typeface="Calibri" pitchFamily="34" charset="-120"/>
                                      </a:rPr>
                                      <m:t>𝜃</m:t>
                                    </m:r>
                                    <m:r>
                                      <a:rPr lang="en-US" sz="1000" b="0" i="1" dirty="0" smtClean="0">
                                        <a:solidFill>
                                          <a:srgbClr val="1F2937"/>
                                        </a:solidFill>
                                        <a:latin typeface="Cambria Math" panose="02040503050406030204" pitchFamily="18" charset="0"/>
                                        <a:ea typeface="Calibri" pitchFamily="34" charset="-122"/>
                                        <a:cs typeface="Calibri" pitchFamily="34" charset="-120"/>
                                      </a:rPr>
                                      <m:t>′</m:t>
                                    </m:r>
                                  </m:sub>
                                  <m:sup>
                                    <m:r>
                                      <a:rPr lang="en-US" sz="1000" b="0" i="1" dirty="0" smtClean="0">
                                        <a:solidFill>
                                          <a:srgbClr val="1F2937"/>
                                        </a:solidFill>
                                        <a:latin typeface="Cambria Math" panose="02040503050406030204" pitchFamily="18" charset="0"/>
                                        <a:ea typeface="Calibri" pitchFamily="34" charset="-122"/>
                                        <a:cs typeface="Calibri" pitchFamily="34" charset="-120"/>
                                      </a:rPr>
                                      <m:t> </m:t>
                                    </m:r>
                                  </m:sup>
                                </m:sSubSup>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Критик</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Pr>
                                  <m:e>
                                    <m:r>
                                      <a:rPr lang="en-US" sz="1000" i="1" dirty="0" smtClean="0">
                                        <a:solidFill>
                                          <a:srgbClr val="1F2937"/>
                                        </a:solidFill>
                                        <a:latin typeface="Cambria Math" panose="02040503050406030204" pitchFamily="18" charset="0"/>
                                        <a:ea typeface="Calibri" pitchFamily="34" charset="-122"/>
                                        <a:cs typeface="Calibri" pitchFamily="34" charset="-120"/>
                                      </a:rPr>
                                      <m:t>𝑄</m:t>
                                    </m:r>
                                  </m:e>
                                  <m:sub>
                                    <m:r>
                                      <a:rPr lang="en-US" sz="1000" i="1" dirty="0" smtClean="0">
                                        <a:solidFill>
                                          <a:srgbClr val="1F2937"/>
                                        </a:solidFill>
                                        <a:latin typeface="Cambria Math" panose="02040503050406030204" pitchFamily="18" charset="0"/>
                                        <a:ea typeface="Calibri" pitchFamily="34" charset="-122"/>
                                        <a:cs typeface="Calibri" pitchFamily="34" charset="-120"/>
                                      </a:rPr>
                                      <m:t>𝜑</m:t>
                                    </m:r>
                                  </m:sub>
                                </m:sSub>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𝑎</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000" i="1" dirty="0" smtClean="0">
                                        <a:solidFill>
                                          <a:srgbClr val="1F2937"/>
                                        </a:solidFill>
                                        <a:latin typeface="Cambria Math" panose="02040503050406030204" pitchFamily="18" charset="0"/>
                                        <a:ea typeface="Calibri" pitchFamily="34" charset="-122"/>
                                        <a:cs typeface="Calibri" pitchFamily="34" charset="-120"/>
                                      </a:rPr>
                                    </m:ctrlPr>
                                  </m:sSubSupPr>
                                  <m:e>
                                    <m:r>
                                      <a:rPr lang="en-US" sz="1000" i="1" dirty="0" smtClean="0">
                                        <a:solidFill>
                                          <a:srgbClr val="1F2937"/>
                                        </a:solidFill>
                                        <a:latin typeface="Cambria Math" panose="02040503050406030204" pitchFamily="18" charset="0"/>
                                        <a:ea typeface="Calibri" pitchFamily="34" charset="-122"/>
                                        <a:cs typeface="Calibri" pitchFamily="34" charset="-120"/>
                                      </a:rPr>
                                      <m:t>𝑄</m:t>
                                    </m:r>
                                  </m:e>
                                  <m:sub>
                                    <m:r>
                                      <a:rPr lang="en-US" sz="1000" i="1" dirty="0" err="1" smtClean="0">
                                        <a:solidFill>
                                          <a:srgbClr val="1F2937"/>
                                        </a:solidFill>
                                        <a:latin typeface="Cambria Math" panose="02040503050406030204" pitchFamily="18" charset="0"/>
                                        <a:ea typeface="Calibri" pitchFamily="34" charset="-122"/>
                                        <a:cs typeface="Calibri" pitchFamily="34" charset="-120"/>
                                      </a:rPr>
                                      <m:t>𝜑</m:t>
                                    </m:r>
                                    <m:r>
                                      <a:rPr lang="en-US" sz="1000" i="1" dirty="0" smtClean="0">
                                        <a:solidFill>
                                          <a:srgbClr val="1F2937"/>
                                        </a:solidFill>
                                        <a:latin typeface="Cambria Math" panose="02040503050406030204" pitchFamily="18" charset="0"/>
                                        <a:ea typeface="Calibri" pitchFamily="34" charset="-122"/>
                                        <a:cs typeface="Calibri" pitchFamily="34" charset="-120"/>
                                      </a:rPr>
                                      <m:t>′</m:t>
                                    </m:r>
                                  </m:sub>
                                  <m:sup>
                                    <m:r>
                                      <a:rPr lang="en-US" sz="1000" b="0" i="1" dirty="0" smtClean="0">
                                        <a:solidFill>
                                          <a:srgbClr val="1F2937"/>
                                        </a:solidFill>
                                        <a:latin typeface="Cambria Math" panose="02040503050406030204" pitchFamily="18" charset="0"/>
                                        <a:ea typeface="Calibri" pitchFamily="34" charset="-122"/>
                                        <a:cs typeface="Calibri" pitchFamily="34" charset="-120"/>
                                      </a:rPr>
                                      <m:t> </m:t>
                                    </m:r>
                                  </m:sup>
                                </m:sSubSup>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a:solidFill>
                                      <a:srgbClr val="1F2937"/>
                                    </a:solidFill>
                                    <a:latin typeface="Cambria Math" panose="02040503050406030204" pitchFamily="18" charset="0"/>
                                    <a:ea typeface="Calibri" pitchFamily="34" charset="-122"/>
                                    <a:cs typeface="Calibri" pitchFamily="34" charset="-120"/>
                                  </a:rPr>
                                  <m:t>𝑠</m:t>
                                </m:r>
                                <m:r>
                                  <a:rPr lang="en-US" sz="1000" i="1" dirty="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12" name="Table 0"/>
              <p:cNvGraphicFramePr>
                <a:graphicFrameLocks noGrp="1"/>
              </p:cNvGraphicFramePr>
              <p:nvPr>
                <p:extLst>
                  <p:ext uri="{D42A27DB-BD31-4B8C-83A1-F6EECF244321}">
                    <p14:modId xmlns:p14="http://schemas.microsoft.com/office/powerpoint/2010/main" val="1100574651"/>
                  </p:ext>
                </p:extLst>
              </p:nvPr>
            </p:nvGraphicFramePr>
            <p:xfrm>
              <a:off x="467363" y="2357120"/>
              <a:ext cx="4023360" cy="877824"/>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Мережа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Початкова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Цільова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Актор</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92920" t="-97959" r="-100000" b="-102041"/>
                          </a:stretch>
                        </a:blipFill>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193778" t="-97959" r="-444" b="-102041"/>
                          </a:stretch>
                        </a:blipFill>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Критик</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92920" t="-202083" r="-100000" b="-4167"/>
                          </a:stretch>
                        </a:blipFill>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193778" t="-202083" r="-444" b="-4167"/>
                          </a:stretch>
                        </a:blipFill>
                      </a:tcPr>
                    </a:tc>
                    <a:extLst>
                      <a:ext uri="{0D108BD9-81ED-4DB2-BD59-A6C34878D82A}">
                        <a16:rowId xmlns:a16="http://schemas.microsoft.com/office/drawing/2014/main" val="10002"/>
                      </a:ext>
                    </a:extLst>
                  </a:tr>
                </a:tbl>
              </a:graphicData>
            </a:graphic>
          </p:graphicFrame>
        </mc:Fallback>
      </mc:AlternateContent>
      <p:sp>
        <p:nvSpPr>
          <p:cNvPr id="13" name="Shape 9"/>
          <p:cNvSpPr/>
          <p:nvPr/>
        </p:nvSpPr>
        <p:spPr>
          <a:xfrm>
            <a:off x="460755" y="3337560"/>
            <a:ext cx="402336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467361" y="3337560"/>
            <a:ext cx="64008" cy="1417320"/>
          </a:xfrm>
          <a:prstGeom prst="rect">
            <a:avLst/>
          </a:prstGeom>
          <a:solidFill>
            <a:srgbClr val="20B7D1"/>
          </a:solidFill>
          <a:ln w="12700">
            <a:solidFill>
              <a:srgbClr val="20B7D1"/>
            </a:solidFill>
            <a:prstDash val="solid"/>
          </a:ln>
        </p:spPr>
        <p:txBody>
          <a:bodyPr/>
          <a:lstStyle/>
          <a:p>
            <a:endParaRPr lang="uk-UA"/>
          </a:p>
        </p:txBody>
      </p:sp>
      <p:sp>
        <p:nvSpPr>
          <p:cNvPr id="15" name="Text 11"/>
          <p:cNvSpPr/>
          <p:nvPr/>
        </p:nvSpPr>
        <p:spPr>
          <a:xfrm>
            <a:off x="640080" y="3483864"/>
            <a:ext cx="3657600" cy="256032"/>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Функції втрат</a:t>
            </a:r>
            <a:endParaRPr lang="en-US" sz="1100" dirty="0"/>
          </a:p>
        </p:txBody>
      </p:sp>
      <p:sp>
        <p:nvSpPr>
          <p:cNvPr id="16" name="Text 12"/>
          <p:cNvSpPr/>
          <p:nvPr/>
        </p:nvSpPr>
        <p:spPr>
          <a:xfrm>
            <a:off x="640080" y="3685032"/>
            <a:ext cx="3703320" cy="960120"/>
          </a:xfrm>
          <a:prstGeom prst="rect">
            <a:avLst/>
          </a:prstGeom>
          <a:noFill/>
          <a:ln/>
        </p:spPr>
        <p:txBody>
          <a:bodyPr wrap="square" lIns="0" tIns="0" rIns="0" bIns="0" rtlCol="0" anchor="ctr"/>
          <a:lstStyle/>
          <a:p>
            <a:pPr>
              <a:lnSpc>
                <a:spcPct val="115000"/>
              </a:lnSpc>
            </a:pPr>
            <a:r>
              <a:rPr lang="uk-UA" sz="1000" b="1" noProof="0" dirty="0">
                <a:solidFill>
                  <a:srgbClr val="20B7D1"/>
                </a:solidFill>
                <a:latin typeface="Calibri" pitchFamily="34" charset="0"/>
                <a:ea typeface="Calibri" pitchFamily="34" charset="-122"/>
                <a:cs typeface="Calibri" pitchFamily="34" charset="-120"/>
              </a:rPr>
              <a:t>Критик: </a:t>
            </a:r>
            <a:r>
              <a:rPr lang="uk-UA" sz="1000" dirty="0">
                <a:latin typeface="Calibri" pitchFamily="34" charset="0"/>
                <a:ea typeface="Calibri" pitchFamily="34" charset="-122"/>
                <a:cs typeface="Calibri" pitchFamily="34" charset="-120"/>
              </a:rPr>
              <a:t>Середньоквадратичне відхилення між </a:t>
            </a:r>
            <a:r>
              <a:rPr lang="uk-UA" sz="1000" noProof="0" dirty="0">
                <a:solidFill>
                  <a:srgbClr val="1F2937"/>
                </a:solidFill>
                <a:latin typeface="Calibri" pitchFamily="34" charset="0"/>
                <a:ea typeface="Calibri" pitchFamily="34" charset="-122"/>
                <a:cs typeface="Calibri" pitchFamily="34" charset="-120"/>
              </a:rPr>
              <a:t>передбаченим та цільовим Q-значенням </a:t>
            </a:r>
            <a:r>
              <a:rPr lang="uk-UA" sz="900" i="1" noProof="0" dirty="0">
                <a:solidFill>
                  <a:srgbClr val="687891"/>
                </a:solidFill>
                <a:latin typeface="Calibri" pitchFamily="34" charset="0"/>
                <a:ea typeface="Calibri" pitchFamily="34" charset="-122"/>
                <a:cs typeface="Calibri" pitchFamily="34" charset="-120"/>
              </a:rPr>
              <a:t>(р. Беллмана)</a:t>
            </a:r>
            <a:endParaRPr lang="uk-UA" sz="1000" noProof="0" dirty="0"/>
          </a:p>
          <a:p>
            <a:pPr marL="0" indent="0">
              <a:lnSpc>
                <a:spcPct val="115000"/>
              </a:lnSpc>
              <a:buNone/>
            </a:pPr>
            <a:r>
              <a:rPr lang="uk-UA" sz="600" noProof="0" dirty="0">
                <a:solidFill>
                  <a:srgbClr val="000000"/>
                </a:solidFill>
                <a:latin typeface="Calibri" pitchFamily="34" charset="0"/>
                <a:ea typeface="Calibri" pitchFamily="34" charset="-122"/>
                <a:cs typeface="Calibri" pitchFamily="34" charset="-120"/>
              </a:rPr>
              <a:t> </a:t>
            </a:r>
            <a:endParaRPr lang="uk-UA" sz="1000" noProof="0" dirty="0"/>
          </a:p>
          <a:p>
            <a:pPr marL="0" indent="0">
              <a:lnSpc>
                <a:spcPct val="115000"/>
              </a:lnSpc>
              <a:buNone/>
            </a:pPr>
            <a:r>
              <a:rPr lang="uk-UA" sz="1000" b="1" noProof="0" dirty="0">
                <a:solidFill>
                  <a:srgbClr val="20B7D1"/>
                </a:solidFill>
                <a:latin typeface="Calibri" pitchFamily="34" charset="0"/>
                <a:ea typeface="Calibri" pitchFamily="34" charset="-122"/>
                <a:cs typeface="Calibri" pitchFamily="34" charset="-120"/>
              </a:rPr>
              <a:t>Актор: </a:t>
            </a:r>
            <a:r>
              <a:rPr lang="uk-UA" sz="1000" noProof="0" dirty="0">
                <a:solidFill>
                  <a:srgbClr val="1F2937"/>
                </a:solidFill>
                <a:latin typeface="Calibri" pitchFamily="34" charset="0"/>
                <a:ea typeface="Calibri" pitchFamily="34" charset="-122"/>
                <a:cs typeface="Calibri" pitchFamily="34" charset="-120"/>
              </a:rPr>
              <a:t>негативне очікуване Q-значення з поточною стратегією</a:t>
            </a:r>
            <a:endParaRPr lang="uk-UA" sz="1000" noProof="0" dirty="0"/>
          </a:p>
        </p:txBody>
      </p:sp>
      <p:sp>
        <p:nvSpPr>
          <p:cNvPr id="17" name="Text 13"/>
          <p:cNvSpPr/>
          <p:nvPr/>
        </p:nvSpPr>
        <p:spPr>
          <a:xfrm>
            <a:off x="4673603" y="2101088"/>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3. Умовні позначення</a:t>
            </a:r>
            <a:endParaRPr lang="en-US" sz="900" dirty="0"/>
          </a:p>
        </p:txBody>
      </p:sp>
      <mc:AlternateContent xmlns:mc="http://schemas.openxmlformats.org/markup-compatibility/2006" xmlns:a14="http://schemas.microsoft.com/office/drawing/2010/main">
        <mc:Choice Requires="a14">
          <p:graphicFrame>
            <p:nvGraphicFramePr>
              <p:cNvPr id="23" name="Table 1"/>
              <p:cNvGraphicFramePr>
                <a:graphicFrameLocks noGrp="1"/>
              </p:cNvGraphicFramePr>
              <p:nvPr>
                <p:extLst>
                  <p:ext uri="{D42A27DB-BD31-4B8C-83A1-F6EECF244321}">
                    <p14:modId xmlns:p14="http://schemas.microsoft.com/office/powerpoint/2010/main" val="66104657"/>
                  </p:ext>
                </p:extLst>
              </p:nvPr>
            </p:nvGraphicFramePr>
            <p:xfrm>
              <a:off x="4673603" y="2357120"/>
              <a:ext cx="4023360" cy="2048256"/>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Позн.</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Пояснення</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𝒓</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миттєва винагорода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𝒂</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дія (рекомендація)</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031045322"/>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𝜸</m:t>
                                </m:r>
                                <m:r>
                                  <a:rPr lang="en-US" sz="1000" b="1" i="1" dirty="0" smtClean="0">
                                    <a:solidFill>
                                      <a:srgbClr val="2C5BD8"/>
                                    </a:solidFill>
                                    <a:latin typeface="Cambria Math" panose="02040503050406030204" pitchFamily="18" charset="0"/>
                                    <a:ea typeface="Calibri" pitchFamily="34" charset="-122"/>
                                    <a:cs typeface="Calibri" pitchFamily="34" charset="-120"/>
                                  </a:rPr>
                                  <m:t> ∈ (</m:t>
                                </m:r>
                                <m:r>
                                  <a:rPr lang="en-US" sz="1000" b="1" i="1" dirty="0" smtClean="0">
                                    <a:solidFill>
                                      <a:srgbClr val="2C5BD8"/>
                                    </a:solidFill>
                                    <a:latin typeface="Cambria Math" panose="02040503050406030204" pitchFamily="18" charset="0"/>
                                    <a:ea typeface="Calibri" pitchFamily="34" charset="-122"/>
                                    <a:cs typeface="Calibri" pitchFamily="34" charset="-120"/>
                                  </a:rPr>
                                  <m:t>𝟎</m:t>
                                </m:r>
                                <m:r>
                                  <a:rPr lang="en-US" sz="1000" b="1" i="1" dirty="0" smtClean="0">
                                    <a:solidFill>
                                      <a:srgbClr val="2C5BD8"/>
                                    </a:solidFill>
                                    <a:latin typeface="Cambria Math" panose="02040503050406030204" pitchFamily="18" charset="0"/>
                                    <a:ea typeface="Calibri" pitchFamily="34" charset="-122"/>
                                    <a:cs typeface="Calibri" pitchFamily="34" charset="-120"/>
                                  </a:rPr>
                                  <m:t>,</m:t>
                                </m:r>
                                <m:r>
                                  <a:rPr lang="en-US" sz="1000" b="1" i="1" dirty="0" smtClean="0">
                                    <a:solidFill>
                                      <a:srgbClr val="2C5BD8"/>
                                    </a:solidFill>
                                    <a:latin typeface="Cambria Math" panose="02040503050406030204" pitchFamily="18" charset="0"/>
                                    <a:ea typeface="Calibri" pitchFamily="34" charset="-122"/>
                                    <a:cs typeface="Calibri" pitchFamily="34" charset="-120"/>
                                  </a:rPr>
                                  <m:t>𝟏</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коефіцієнт знижки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780494351"/>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𝒔</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𝒔</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початковий і цільовий стани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𝜽</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𝜽</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Актора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𝝋</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𝝋</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Критика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3" name="Table 1"/>
              <p:cNvGraphicFramePr>
                <a:graphicFrameLocks noGrp="1"/>
              </p:cNvGraphicFramePr>
              <p:nvPr>
                <p:extLst>
                  <p:ext uri="{D42A27DB-BD31-4B8C-83A1-F6EECF244321}">
                    <p14:modId xmlns:p14="http://schemas.microsoft.com/office/powerpoint/2010/main" val="66104657"/>
                  </p:ext>
                </p:extLst>
              </p:nvPr>
            </p:nvGraphicFramePr>
            <p:xfrm>
              <a:off x="4673603" y="2357120"/>
              <a:ext cx="4023360" cy="2048256"/>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Позн.</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Пояснення</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100000" r="-267778" b="-504167"/>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миттєва винагорода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200000" r="-267778" b="-404167"/>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дія (рекомендація)</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031045322"/>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293878" r="-267778" b="-295918"/>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коефіцієнт знижки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780494351"/>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402083" r="-267778" b="-20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початковий і цільовий стани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502083" r="-267778" b="-10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Актора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602083" r="-267778" b="-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Критика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11 / 18</a:t>
            </a:r>
            <a:endParaRPr lang="en-US" sz="900" dirty="0"/>
          </a:p>
        </p:txBody>
      </p:sp>
      <p:sp>
        <p:nvSpPr>
          <p:cNvPr id="18" name="Text 28">
            <a:extLst>
              <a:ext uri="{FF2B5EF4-FFF2-40B4-BE49-F238E27FC236}">
                <a16:creationId xmlns:a16="http://schemas.microsoft.com/office/drawing/2014/main" id="{2817BFDE-DEFB-6E8D-223D-2A56FB631D7B}"/>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ФОРМУЛИ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Цільові функції моделі Актор-Критик</a:t>
            </a:r>
            <a:endParaRPr lang="en-US" sz="2800" dirty="0"/>
          </a:p>
        </p:txBody>
      </p:sp>
      <p:sp>
        <p:nvSpPr>
          <p:cNvPr id="5" name="Shape 3"/>
          <p:cNvSpPr/>
          <p:nvPr/>
        </p:nvSpPr>
        <p:spPr>
          <a:xfrm>
            <a:off x="45720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16276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21792" y="1490472"/>
            <a:ext cx="329184" cy="329184"/>
          </a:xfrm>
          <a:prstGeom prst="ellipse">
            <a:avLst/>
          </a:prstGeom>
          <a:solidFill>
            <a:srgbClr val="E8F0FE"/>
          </a:solidFill>
          <a:ln w="12700">
            <a:solidFill>
              <a:srgbClr val="E8F0FE"/>
            </a:solidFill>
            <a:prstDash val="solid"/>
          </a:ln>
        </p:spPr>
        <p:txBody>
          <a:bodyPr/>
          <a:lstStyle/>
          <a:p>
            <a:endParaRPr lang="uk-UA"/>
          </a:p>
        </p:txBody>
      </p:sp>
      <p:sp>
        <p:nvSpPr>
          <p:cNvPr id="8" name="Text 6"/>
          <p:cNvSpPr/>
          <p:nvPr/>
        </p:nvSpPr>
        <p:spPr>
          <a:xfrm>
            <a:off x="621792" y="1490472"/>
            <a:ext cx="329184" cy="329184"/>
          </a:xfrm>
          <a:prstGeom prst="rect">
            <a:avLst/>
          </a:prstGeom>
          <a:noFill/>
          <a:ln/>
        </p:spPr>
        <p:txBody>
          <a:bodyPr wrap="square" lIns="0" tIns="0" rIns="0" bIns="0" rtlCol="0" anchor="ctr"/>
          <a:lstStyle/>
          <a:p>
            <a:pPr marL="0" indent="0" algn="ctr">
              <a:buNone/>
            </a:pPr>
            <a:r>
              <a:rPr lang="en-US" sz="1300" b="1" dirty="0">
                <a:solidFill>
                  <a:srgbClr val="2C5BD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2412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Критика</a:t>
            </a:r>
            <a:endParaRPr lang="en-US" sz="1200" dirty="0"/>
          </a:p>
        </p:txBody>
      </p:sp>
      <p:sp>
        <p:nvSpPr>
          <p:cNvPr id="10" name="Shape 8"/>
          <p:cNvSpPr/>
          <p:nvPr/>
        </p:nvSpPr>
        <p:spPr>
          <a:xfrm>
            <a:off x="621792" y="1892808"/>
            <a:ext cx="3694176" cy="594360"/>
          </a:xfrm>
          <a:prstGeom prst="rect">
            <a:avLst/>
          </a:prstGeom>
          <a:solidFill>
            <a:srgbClr val="E8F0FE"/>
          </a:solidFill>
          <a:ln w="12700">
            <a:solidFill>
              <a:srgbClr val="E8F0FE"/>
            </a:solidFill>
            <a:prstDash val="solid"/>
          </a:ln>
        </p:spPr>
        <p:txBody>
          <a:bodyPr/>
          <a:lstStyle/>
          <a:p>
            <a:endParaRPr lang="uk-UA"/>
          </a:p>
        </p:txBody>
      </p:sp>
      <mc:AlternateContent xmlns:mc="http://schemas.openxmlformats.org/markup-compatibility/2006" xmlns:a14="http://schemas.microsoft.com/office/drawing/2010/main">
        <mc:Choice Requires="a14">
          <p:sp>
            <p:nvSpPr>
              <p:cNvPr id="11" name="Text 9"/>
              <p:cNvSpPr/>
              <p:nvPr/>
            </p:nvSpPr>
            <p:spPr>
              <a:xfrm>
                <a:off x="685800" y="1892808"/>
                <a:ext cx="3566160" cy="5943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1200" b="0" i="1" dirty="0" smtClean="0">
                          <a:solidFill>
                            <a:srgbClr val="2C5BD8"/>
                          </a:solidFill>
                          <a:latin typeface="Cambria Math" panose="02040503050406030204" pitchFamily="18" charset="0"/>
                          <a:ea typeface="Cambria" pitchFamily="34" charset="-122"/>
                          <a:cs typeface="Cambria" pitchFamily="34" charset="-120"/>
                        </a:rPr>
                        <m:t>𝐿</m:t>
                      </m:r>
                      <m:r>
                        <a:rPr lang="en-US" sz="1100" b="0" i="1" baseline="-40000" dirty="0">
                          <a:solidFill>
                            <a:srgbClr val="2C5BD8"/>
                          </a:solidFill>
                          <a:latin typeface="Cambria Math" panose="02040503050406030204" pitchFamily="18" charset="0"/>
                          <a:ea typeface="Cambria" pitchFamily="34" charset="-122"/>
                          <a:cs typeface="Cambria" pitchFamily="34" charset="-120"/>
                        </a:rPr>
                        <m:t>𝐶𝑟𝑖𝑡𝑖𝑐</m:t>
                      </m:r>
                      <m:r>
                        <a:rPr lang="en-US" sz="1200" b="0" i="1" dirty="0">
                          <a:solidFill>
                            <a:srgbClr val="0F1A35"/>
                          </a:solidFill>
                          <a:latin typeface="Cambria Math" panose="02040503050406030204" pitchFamily="18" charset="0"/>
                          <a:ea typeface="Cambria" pitchFamily="34" charset="-122"/>
                          <a:cs typeface="Cambria" pitchFamily="34" charset="-120"/>
                        </a:rPr>
                        <m:t> =</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r>
                            <a:rPr lang="en-US" sz="1200" b="0" i="1" smtClean="0">
                              <a:latin typeface="Cambria Math" panose="02040503050406030204" pitchFamily="18" charset="0"/>
                            </a:rPr>
                            <m:t>)</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p>
                            <m:sSupPr>
                              <m:ctrlPr>
                                <a:rPr lang="uk-UA" sz="1200" i="1">
                                  <a:latin typeface="Cambria Math" panose="02040503050406030204" pitchFamily="18" charset="0"/>
                                </a:rPr>
                              </m:ctrlPr>
                            </m:sSupPr>
                            <m:e>
                              <m:d>
                                <m:dPr>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𝑦</m:t>
                                      </m:r>
                                    </m:e>
                                    <m:sub>
                                      <m:r>
                                        <a:rPr lang="uk-UA" sz="1200" i="1">
                                          <a:latin typeface="Cambria Math" panose="02040503050406030204" pitchFamily="18" charset="0"/>
                                        </a:rPr>
                                        <m:t>𝑡</m:t>
                                      </m:r>
                                    </m:sub>
                                  </m:sSub>
                                </m:e>
                              </m:d>
                            </m:e>
                            <m:sup>
                              <m:r>
                                <a:rPr lang="uk-UA" sz="1200" i="1">
                                  <a:latin typeface="Cambria Math" panose="02040503050406030204" pitchFamily="18" charset="0"/>
                                </a:rPr>
                                <m:t>2</m:t>
                              </m:r>
                            </m:sup>
                          </m:sSup>
                        </m:e>
                      </m:d>
                    </m:oMath>
                  </m:oMathPara>
                </a14:m>
                <a:endParaRPr lang="uk-UA" sz="1400" i="1" dirty="0"/>
              </a:p>
            </p:txBody>
          </p:sp>
        </mc:Choice>
        <mc:Fallback xmlns="">
          <p:sp>
            <p:nvSpPr>
              <p:cNvPr id="11" name="Text 9"/>
              <p:cNvSpPr>
                <a:spLocks noRot="1" noChangeAspect="1" noMove="1" noResize="1" noEditPoints="1" noAdjustHandles="1" noChangeArrowheads="1" noChangeShapeType="1" noTextEdit="1"/>
              </p:cNvSpPr>
              <p:nvPr/>
            </p:nvSpPr>
            <p:spPr>
              <a:xfrm>
                <a:off x="685800" y="1892808"/>
                <a:ext cx="3566160" cy="594360"/>
              </a:xfrm>
              <a:prstGeom prst="rect">
                <a:avLst/>
              </a:prstGeom>
              <a:blipFill>
                <a:blip r:embed="rId3"/>
                <a:stretch>
                  <a:fillRect/>
                </a:stretch>
              </a:blipFill>
              <a:ln/>
            </p:spPr>
            <p:txBody>
              <a:bodyPr/>
              <a:lstStyle/>
              <a:p>
                <a:r>
                  <a:rPr lang="uk-UA">
                    <a:noFill/>
                  </a:rPr>
                  <a:t> </a:t>
                </a:r>
              </a:p>
            </p:txBody>
          </p:sp>
        </mc:Fallback>
      </mc:AlternateContent>
      <p:sp>
        <p:nvSpPr>
          <p:cNvPr id="12" name="Text 10"/>
          <p:cNvSpPr/>
          <p:nvPr/>
        </p:nvSpPr>
        <p:spPr>
          <a:xfrm>
            <a:off x="621792" y="2532888"/>
            <a:ext cx="3694176" cy="365760"/>
          </a:xfrm>
          <a:prstGeom prst="rect">
            <a:avLst/>
          </a:prstGeom>
          <a:noFill/>
          <a:ln/>
        </p:spPr>
        <p:txBody>
          <a:bodyPr wrap="square" lIns="0" tIns="0" rIns="0" bIns="0" rtlCol="0" anchor="ctr"/>
          <a:lstStyle/>
          <a:p>
            <a:pPr marL="0" indent="0">
              <a:buNone/>
            </a:pPr>
            <a:r>
              <a:rPr lang="uk-UA" sz="950" i="1" noProof="0" dirty="0">
                <a:solidFill>
                  <a:srgbClr val="1F2937"/>
                </a:solidFill>
                <a:latin typeface="Calibri" pitchFamily="34" charset="0"/>
                <a:ea typeface="Calibri" pitchFamily="34" charset="-122"/>
                <a:cs typeface="Calibri" pitchFamily="34" charset="-120"/>
              </a:rPr>
              <a:t>Середньоквадратичне відхилення між передбаченим Q-значенням та цільовим (рівняння Беллмана)</a:t>
            </a:r>
            <a:r>
              <a:rPr lang="en-US" sz="950" i="1" dirty="0">
                <a:solidFill>
                  <a:srgbClr val="1F2937"/>
                </a:solidFill>
                <a:latin typeface="Calibri" pitchFamily="34" charset="0"/>
                <a:ea typeface="Calibri" pitchFamily="34" charset="-122"/>
                <a:cs typeface="Calibri" pitchFamily="34" charset="-120"/>
              </a:rPr>
              <a:t>, </a:t>
            </a:r>
            <a:r>
              <a:rPr lang="uk-UA" sz="950" i="1" dirty="0">
                <a:solidFill>
                  <a:srgbClr val="1F2937"/>
                </a:solidFill>
                <a:latin typeface="Calibri" pitchFamily="34" charset="0"/>
                <a:ea typeface="Calibri" pitchFamily="34" charset="-122"/>
                <a:cs typeface="Calibri" pitchFamily="34" charset="-120"/>
              </a:rPr>
              <a:t>де</a:t>
            </a:r>
            <a:endParaRPr lang="uk-UA" sz="950" noProof="0" dirty="0"/>
          </a:p>
        </p:txBody>
      </p:sp>
      <p:sp>
        <p:nvSpPr>
          <p:cNvPr id="13" name="Shape 11"/>
          <p:cNvSpPr/>
          <p:nvPr/>
        </p:nvSpPr>
        <p:spPr>
          <a:xfrm>
            <a:off x="466344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2"/>
          <p:cNvSpPr/>
          <p:nvPr/>
        </p:nvSpPr>
        <p:spPr>
          <a:xfrm>
            <a:off x="4663440" y="1325880"/>
            <a:ext cx="64008" cy="1627632"/>
          </a:xfrm>
          <a:prstGeom prst="rect">
            <a:avLst/>
          </a:prstGeom>
          <a:solidFill>
            <a:srgbClr val="20B7D1"/>
          </a:solidFill>
          <a:ln w="12700">
            <a:solidFill>
              <a:srgbClr val="20B7D1"/>
            </a:solidFill>
            <a:prstDash val="solid"/>
          </a:ln>
        </p:spPr>
        <p:txBody>
          <a:bodyPr/>
          <a:lstStyle/>
          <a:p>
            <a:endParaRPr lang="uk-UA"/>
          </a:p>
        </p:txBody>
      </p:sp>
      <p:sp>
        <p:nvSpPr>
          <p:cNvPr id="15" name="Shape 13"/>
          <p:cNvSpPr/>
          <p:nvPr/>
        </p:nvSpPr>
        <p:spPr>
          <a:xfrm>
            <a:off x="4828032" y="1490472"/>
            <a:ext cx="329184" cy="329184"/>
          </a:xfrm>
          <a:prstGeom prst="ellipse">
            <a:avLst/>
          </a:prstGeom>
          <a:solidFill>
            <a:srgbClr val="D6F1F7"/>
          </a:solidFill>
          <a:ln w="12700">
            <a:solidFill>
              <a:srgbClr val="D6F1F7"/>
            </a:solidFill>
            <a:prstDash val="solid"/>
          </a:ln>
        </p:spPr>
        <p:txBody>
          <a:bodyPr/>
          <a:lstStyle/>
          <a:p>
            <a:endParaRPr lang="uk-UA"/>
          </a:p>
        </p:txBody>
      </p:sp>
      <p:sp>
        <p:nvSpPr>
          <p:cNvPr id="16" name="Text 14"/>
          <p:cNvSpPr/>
          <p:nvPr/>
        </p:nvSpPr>
        <p:spPr>
          <a:xfrm>
            <a:off x="4828032" y="1490472"/>
            <a:ext cx="329184" cy="329184"/>
          </a:xfrm>
          <a:prstGeom prst="rect">
            <a:avLst/>
          </a:prstGeom>
          <a:noFill/>
          <a:ln/>
        </p:spPr>
        <p:txBody>
          <a:bodyPr wrap="square" lIns="0" tIns="0" rIns="0" bIns="0" rtlCol="0" anchor="ctr"/>
          <a:lstStyle/>
          <a:p>
            <a:pPr marL="0" indent="0" algn="ctr">
              <a:buNone/>
            </a:pPr>
            <a:r>
              <a:rPr lang="en-US" sz="1300" b="1" dirty="0">
                <a:solidFill>
                  <a:srgbClr val="20B7D1"/>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23036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Градієнт стратегії Актора</a:t>
            </a:r>
            <a:endParaRPr lang="en-US" sz="1200" dirty="0"/>
          </a:p>
        </p:txBody>
      </p:sp>
      <p:sp>
        <p:nvSpPr>
          <p:cNvPr id="18" name="Shape 16"/>
          <p:cNvSpPr/>
          <p:nvPr/>
        </p:nvSpPr>
        <p:spPr>
          <a:xfrm>
            <a:off x="4828032" y="1892808"/>
            <a:ext cx="3694176" cy="594360"/>
          </a:xfrm>
          <a:prstGeom prst="rect">
            <a:avLst/>
          </a:prstGeom>
          <a:solidFill>
            <a:srgbClr val="D6F1F7"/>
          </a:solidFill>
          <a:ln w="12700">
            <a:solidFill>
              <a:srgbClr val="D6F1F7"/>
            </a:solidFill>
            <a:prstDash val="solid"/>
          </a:ln>
        </p:spPr>
        <p:txBody>
          <a:bodyPr/>
          <a:lstStyle/>
          <a:p>
            <a:endParaRPr lang="uk-UA"/>
          </a:p>
        </p:txBody>
      </p:sp>
      <mc:AlternateContent xmlns:mc="http://schemas.openxmlformats.org/markup-compatibility/2006" xmlns:a14="http://schemas.microsoft.com/office/drawing/2010/main">
        <mc:Choice Requires="a14">
          <p:sp>
            <p:nvSpPr>
              <p:cNvPr id="19" name="Text 17"/>
              <p:cNvSpPr/>
              <p:nvPr/>
            </p:nvSpPr>
            <p:spPr>
              <a:xfrm>
                <a:off x="4892040" y="1892808"/>
                <a:ext cx="3566160" cy="59436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sSub>
                        <m:sSubPr>
                          <m:ctrlPr>
                            <a:rPr lang="uk-UA" sz="1200" i="1" smtClean="0">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𝜃</m:t>
                          </m:r>
                        </m:sub>
                      </m:sSub>
                      <m:r>
                        <a:rPr lang="uk-UA" sz="1200" i="1">
                          <a:latin typeface="Cambria Math" panose="02040503050406030204" pitchFamily="18" charset="0"/>
                        </a:rPr>
                        <m:t>𝐽</m:t>
                      </m:r>
                      <m:d>
                        <m:dPr>
                          <m:ctrlPr>
                            <a:rPr lang="uk-UA" sz="1200" i="1">
                              <a:latin typeface="Cambria Math" panose="02040503050406030204" pitchFamily="18" charset="0"/>
                            </a:rPr>
                          </m:ctrlPr>
                        </m:dPr>
                        <m:e>
                          <m:r>
                            <a:rPr lang="uk-UA" sz="1200" i="1">
                              <a:latin typeface="Cambria Math" panose="02040503050406030204" pitchFamily="18" charset="0"/>
                            </a:rPr>
                            <m:t>𝜃</m:t>
                          </m:r>
                        </m:e>
                      </m:d>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uk-UA" sz="1200" i="1">
                              <a:latin typeface="Cambria Math" panose="02040503050406030204" pitchFamily="18" charset="0"/>
                            </a:rPr>
                            <m:t>𝑆</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𝑎</m:t>
                              </m:r>
                            </m:sub>
                          </m:sSub>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uk-UA"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d>
                            <m:dPr>
                              <m:begChr m:val="|"/>
                              <m:endChr m:val=""/>
                              <m:ctrlPr>
                                <a:rPr lang="uk-UA" sz="1200" i="1">
                                  <a:latin typeface="Cambria Math" panose="02040503050406030204" pitchFamily="18" charset="0"/>
                                </a:rPr>
                              </m:ctrlPr>
                            </m:dPr>
                            <m:e>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en-US" sz="1200" b="0" i="1" smtClean="0">
                                          <a:latin typeface="Cambria Math" panose="02040503050406030204" pitchFamily="18" charset="0"/>
                                        </a:rPr>
                                        <m:t> </m:t>
                                      </m:r>
                                    </m:e>
                                    <m:sub>
                                      <m:r>
                                        <a:rPr lang="uk-UA" sz="1200" i="1">
                                          <a:latin typeface="Cambria Math" panose="02040503050406030204" pitchFamily="18" charset="0"/>
                                        </a:rPr>
                                        <m:t>𝑎</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sub>
                                  </m:sSub>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𝜃</m:t>
                                      </m:r>
                                    </m:sub>
                                  </m:sSub>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e>
                              </m:d>
                            </m:e>
                          </m:d>
                          <m:r>
                            <a:rPr lang="uk-UA" sz="1200" i="1">
                              <a:latin typeface="Cambria Math" panose="02040503050406030204" pitchFamily="18" charset="0"/>
                            </a:rPr>
                            <m:t>.</m:t>
                          </m:r>
                        </m:e>
                      </m:d>
                    </m:oMath>
                  </m:oMathPara>
                </a14:m>
                <a:endParaRPr lang="uk-UA" sz="1200" i="1" dirty="0"/>
              </a:p>
            </p:txBody>
          </p:sp>
        </mc:Choice>
        <mc:Fallback xmlns="">
          <p:sp>
            <p:nvSpPr>
              <p:cNvPr id="19" name="Text 17"/>
              <p:cNvSpPr>
                <a:spLocks noRot="1" noChangeAspect="1" noMove="1" noResize="1" noEditPoints="1" noAdjustHandles="1" noChangeArrowheads="1" noChangeShapeType="1" noTextEdit="1"/>
              </p:cNvSpPr>
              <p:nvPr/>
            </p:nvSpPr>
            <p:spPr>
              <a:xfrm>
                <a:off x="4892040" y="1892808"/>
                <a:ext cx="3566160" cy="594360"/>
              </a:xfrm>
              <a:prstGeom prst="rect">
                <a:avLst/>
              </a:prstGeom>
              <a:blipFill>
                <a:blip r:embed="rId4"/>
                <a:stretch>
                  <a:fillRect t="-42268" r="-3419" b="-75258"/>
                </a:stretch>
              </a:blipFill>
              <a:ln/>
            </p:spPr>
            <p:txBody>
              <a:bodyPr/>
              <a:lstStyle/>
              <a:p>
                <a:r>
                  <a:rPr lang="uk-UA">
                    <a:noFill/>
                  </a:rPr>
                  <a:t> </a:t>
                </a:r>
              </a:p>
            </p:txBody>
          </p:sp>
        </mc:Fallback>
      </mc:AlternateContent>
      <p:sp>
        <p:nvSpPr>
          <p:cNvPr id="20" name="Text 18"/>
          <p:cNvSpPr/>
          <p:nvPr/>
        </p:nvSpPr>
        <p:spPr>
          <a:xfrm>
            <a:off x="4828032" y="2532888"/>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Градієнт детермінованої стратегії за теоремою про градієнт стратегії</a:t>
            </a:r>
            <a:endParaRPr lang="en-US" sz="950" dirty="0"/>
          </a:p>
        </p:txBody>
      </p:sp>
      <p:sp>
        <p:nvSpPr>
          <p:cNvPr id="21" name="Shape 19"/>
          <p:cNvSpPr/>
          <p:nvPr/>
        </p:nvSpPr>
        <p:spPr>
          <a:xfrm>
            <a:off x="45720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20"/>
          <p:cNvSpPr/>
          <p:nvPr/>
        </p:nvSpPr>
        <p:spPr>
          <a:xfrm>
            <a:off x="457200" y="3090672"/>
            <a:ext cx="64008" cy="1627632"/>
          </a:xfrm>
          <a:prstGeom prst="rect">
            <a:avLst/>
          </a:prstGeom>
          <a:solidFill>
            <a:srgbClr val="F0A93B"/>
          </a:solidFill>
          <a:ln w="12700">
            <a:solidFill>
              <a:srgbClr val="F0A93B"/>
            </a:solidFill>
            <a:prstDash val="solid"/>
          </a:ln>
        </p:spPr>
        <p:txBody>
          <a:bodyPr/>
          <a:lstStyle/>
          <a:p>
            <a:endParaRPr lang="uk-UA"/>
          </a:p>
        </p:txBody>
      </p:sp>
      <p:sp>
        <p:nvSpPr>
          <p:cNvPr id="23" name="Shape 21"/>
          <p:cNvSpPr/>
          <p:nvPr/>
        </p:nvSpPr>
        <p:spPr>
          <a:xfrm>
            <a:off x="621792" y="3255264"/>
            <a:ext cx="329184" cy="329184"/>
          </a:xfrm>
          <a:prstGeom prst="ellipse">
            <a:avLst/>
          </a:prstGeom>
          <a:solidFill>
            <a:srgbClr val="FBE9CD"/>
          </a:solidFill>
          <a:ln w="12700">
            <a:solidFill>
              <a:srgbClr val="FBE9CD"/>
            </a:solidFill>
            <a:prstDash val="solid"/>
          </a:ln>
        </p:spPr>
        <p:txBody>
          <a:bodyPr/>
          <a:lstStyle/>
          <a:p>
            <a:endParaRPr lang="uk-UA"/>
          </a:p>
        </p:txBody>
      </p:sp>
      <p:sp>
        <p:nvSpPr>
          <p:cNvPr id="24" name="Text 22"/>
          <p:cNvSpPr/>
          <p:nvPr/>
        </p:nvSpPr>
        <p:spPr>
          <a:xfrm>
            <a:off x="621792" y="3255264"/>
            <a:ext cx="329184" cy="329184"/>
          </a:xfrm>
          <a:prstGeom prst="rect">
            <a:avLst/>
          </a:prstGeom>
          <a:noFill/>
          <a:ln/>
        </p:spPr>
        <p:txBody>
          <a:bodyPr wrap="square" lIns="0" tIns="0" rIns="0" bIns="0" rtlCol="0" anchor="ctr"/>
          <a:lstStyle/>
          <a:p>
            <a:pPr marL="0" indent="0" algn="ctr">
              <a:buNone/>
            </a:pPr>
            <a:r>
              <a:rPr lang="en-US" sz="1300" b="1" dirty="0">
                <a:solidFill>
                  <a:srgbClr val="F0A93B"/>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2412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Актора</a:t>
            </a:r>
            <a:endParaRPr lang="en-US" sz="1200" dirty="0"/>
          </a:p>
        </p:txBody>
      </p:sp>
      <p:sp>
        <p:nvSpPr>
          <p:cNvPr id="26" name="Shape 24"/>
          <p:cNvSpPr/>
          <p:nvPr/>
        </p:nvSpPr>
        <p:spPr>
          <a:xfrm>
            <a:off x="621792" y="3657600"/>
            <a:ext cx="3694176" cy="594360"/>
          </a:xfrm>
          <a:prstGeom prst="rect">
            <a:avLst/>
          </a:prstGeom>
          <a:solidFill>
            <a:srgbClr val="FBE9CD"/>
          </a:solidFill>
          <a:ln w="12700">
            <a:solidFill>
              <a:srgbClr val="FBE9CD"/>
            </a:solidFill>
            <a:prstDash val="solid"/>
          </a:ln>
        </p:spPr>
        <p:txBody>
          <a:bodyPr/>
          <a:lstStyle/>
          <a:p>
            <a:endParaRPr lang="uk-UA"/>
          </a:p>
        </p:txBody>
      </p:sp>
      <mc:AlternateContent xmlns:mc="http://schemas.openxmlformats.org/markup-compatibility/2006" xmlns:a14="http://schemas.microsoft.com/office/drawing/2010/main">
        <mc:Choice Requires="a14">
          <p:sp>
            <p:nvSpPr>
              <p:cNvPr id="27" name="Text 25"/>
              <p:cNvSpPr/>
              <p:nvPr/>
            </p:nvSpPr>
            <p:spPr>
              <a:xfrm>
                <a:off x="685800" y="3657600"/>
                <a:ext cx="3566160" cy="5943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1200" b="0" i="1" dirty="0" smtClean="0">
                          <a:solidFill>
                            <a:srgbClr val="F0A93B"/>
                          </a:solidFill>
                          <a:latin typeface="Cambria Math" panose="02040503050406030204" pitchFamily="18" charset="0"/>
                          <a:ea typeface="Cambria" pitchFamily="34" charset="-122"/>
                          <a:cs typeface="Cambria" pitchFamily="34" charset="-120"/>
                        </a:rPr>
                        <m:t>𝐿</m:t>
                      </m:r>
                      <m:r>
                        <a:rPr lang="en-US" sz="1200" b="0" i="1" baseline="-40000" dirty="0">
                          <a:solidFill>
                            <a:srgbClr val="F0A93B"/>
                          </a:solidFill>
                          <a:latin typeface="Cambria Math" panose="02040503050406030204" pitchFamily="18" charset="0"/>
                          <a:ea typeface="Cambria" pitchFamily="34" charset="-122"/>
                          <a:cs typeface="Cambria" pitchFamily="34" charset="-120"/>
                        </a:rPr>
                        <m:t>𝐴𝑐𝑡𝑜𝑟</m:t>
                      </m:r>
                      <m:r>
                        <a:rPr lang="en-US" sz="1200" b="0" i="1" dirty="0">
                          <a:solidFill>
                            <a:srgbClr val="0F1A35"/>
                          </a:solidFill>
                          <a:latin typeface="Cambria Math" panose="02040503050406030204" pitchFamily="18" charset="0"/>
                          <a:ea typeface="Cambria" pitchFamily="34" charset="-122"/>
                          <a:cs typeface="Cambria" pitchFamily="34" charset="-120"/>
                        </a:rPr>
                        <m:t>=</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uk-UA" sz="1200" i="1">
                              <a:latin typeface="Cambria Math" panose="02040503050406030204" pitchFamily="18" charset="0"/>
                            </a:rPr>
                            <m:t>𝑆</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r>
                            <a:rPr lang="en-US" sz="1200" b="0" i="1" smtClean="0">
                              <a:latin typeface="Cambria Math" panose="02040503050406030204" pitchFamily="18" charset="0"/>
                            </a:rPr>
                            <m:t>)</m:t>
                          </m:r>
                        </m:e>
                      </m:d>
                    </m:oMath>
                  </m:oMathPara>
                </a14:m>
                <a:endParaRPr lang="uk-UA" sz="1200" i="1" dirty="0"/>
              </a:p>
            </p:txBody>
          </p:sp>
        </mc:Choice>
        <mc:Fallback xmlns="">
          <p:sp>
            <p:nvSpPr>
              <p:cNvPr id="27" name="Text 25"/>
              <p:cNvSpPr>
                <a:spLocks noRot="1" noChangeAspect="1" noMove="1" noResize="1" noEditPoints="1" noAdjustHandles="1" noChangeArrowheads="1" noChangeShapeType="1" noTextEdit="1"/>
              </p:cNvSpPr>
              <p:nvPr/>
            </p:nvSpPr>
            <p:spPr>
              <a:xfrm>
                <a:off x="685800" y="3657600"/>
                <a:ext cx="3566160" cy="594360"/>
              </a:xfrm>
              <a:prstGeom prst="rect">
                <a:avLst/>
              </a:prstGeom>
              <a:blipFill>
                <a:blip r:embed="rId5"/>
                <a:stretch>
                  <a:fillRect/>
                </a:stretch>
              </a:blipFill>
              <a:ln/>
            </p:spPr>
            <p:txBody>
              <a:bodyPr/>
              <a:lstStyle/>
              <a:p>
                <a:r>
                  <a:rPr lang="uk-UA">
                    <a:noFill/>
                  </a:rPr>
                  <a:t> </a:t>
                </a:r>
              </a:p>
            </p:txBody>
          </p:sp>
        </mc:Fallback>
      </mc:AlternateContent>
      <p:sp>
        <p:nvSpPr>
          <p:cNvPr id="28" name="Text 26"/>
          <p:cNvSpPr/>
          <p:nvPr/>
        </p:nvSpPr>
        <p:spPr>
          <a:xfrm>
            <a:off x="62179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Негативне очікуване значення Q-функції з поточною стратегією</a:t>
            </a:r>
            <a:endParaRPr lang="en-US" sz="950" dirty="0"/>
          </a:p>
        </p:txBody>
      </p:sp>
      <p:sp>
        <p:nvSpPr>
          <p:cNvPr id="29" name="Shape 27"/>
          <p:cNvSpPr/>
          <p:nvPr/>
        </p:nvSpPr>
        <p:spPr>
          <a:xfrm>
            <a:off x="466344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8"/>
          <p:cNvSpPr/>
          <p:nvPr/>
        </p:nvSpPr>
        <p:spPr>
          <a:xfrm>
            <a:off x="4663440" y="3090672"/>
            <a:ext cx="64008" cy="1627632"/>
          </a:xfrm>
          <a:prstGeom prst="rect">
            <a:avLst/>
          </a:prstGeom>
          <a:solidFill>
            <a:srgbClr val="21C97A"/>
          </a:solidFill>
          <a:ln w="12700">
            <a:solidFill>
              <a:srgbClr val="21C97A"/>
            </a:solidFill>
            <a:prstDash val="solid"/>
          </a:ln>
        </p:spPr>
        <p:txBody>
          <a:bodyPr/>
          <a:lstStyle/>
          <a:p>
            <a:endParaRPr lang="uk-UA"/>
          </a:p>
        </p:txBody>
      </p:sp>
      <p:sp>
        <p:nvSpPr>
          <p:cNvPr id="31" name="Shape 29"/>
          <p:cNvSpPr/>
          <p:nvPr/>
        </p:nvSpPr>
        <p:spPr>
          <a:xfrm>
            <a:off x="4828032" y="3255264"/>
            <a:ext cx="329184" cy="329184"/>
          </a:xfrm>
          <a:prstGeom prst="ellipse">
            <a:avLst/>
          </a:prstGeom>
          <a:solidFill>
            <a:srgbClr val="DAF5E7"/>
          </a:solidFill>
          <a:ln w="12700">
            <a:solidFill>
              <a:srgbClr val="DAF5E7"/>
            </a:solidFill>
            <a:prstDash val="solid"/>
          </a:ln>
        </p:spPr>
        <p:txBody>
          <a:bodyPr/>
          <a:lstStyle/>
          <a:p>
            <a:endParaRPr lang="uk-UA"/>
          </a:p>
        </p:txBody>
      </p:sp>
      <p:sp>
        <p:nvSpPr>
          <p:cNvPr id="32" name="Text 30"/>
          <p:cNvSpPr/>
          <p:nvPr/>
        </p:nvSpPr>
        <p:spPr>
          <a:xfrm>
            <a:off x="4828032" y="3255264"/>
            <a:ext cx="329184" cy="329184"/>
          </a:xfrm>
          <a:prstGeom prst="rect">
            <a:avLst/>
          </a:prstGeom>
          <a:noFill/>
          <a:ln/>
        </p:spPr>
        <p:txBody>
          <a:bodyPr wrap="square" lIns="0" tIns="0" rIns="0" bIns="0" rtlCol="0" anchor="ctr"/>
          <a:lstStyle/>
          <a:p>
            <a:pPr marL="0" indent="0" algn="ctr">
              <a:buNone/>
            </a:pPr>
            <a:r>
              <a:rPr lang="en-US" sz="1300" b="1" dirty="0">
                <a:solidFill>
                  <a:srgbClr val="21C97A"/>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523036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М'яке оновлення цільових мереж</a:t>
            </a:r>
            <a:endParaRPr lang="en-US" sz="1200" dirty="0"/>
          </a:p>
        </p:txBody>
      </p:sp>
      <p:sp>
        <p:nvSpPr>
          <p:cNvPr id="34" name="Shape 32"/>
          <p:cNvSpPr/>
          <p:nvPr/>
        </p:nvSpPr>
        <p:spPr>
          <a:xfrm>
            <a:off x="4828032" y="3657600"/>
            <a:ext cx="3694176" cy="594360"/>
          </a:xfrm>
          <a:prstGeom prst="rect">
            <a:avLst/>
          </a:prstGeom>
          <a:solidFill>
            <a:srgbClr val="DAF5E7"/>
          </a:solidFill>
          <a:ln w="12700">
            <a:solidFill>
              <a:srgbClr val="DAF5E7"/>
            </a:solidFill>
            <a:prstDash val="solid"/>
          </a:ln>
        </p:spPr>
        <p:txBody>
          <a:bodyPr/>
          <a:lstStyle/>
          <a:p>
            <a:endParaRPr lang="uk-UA"/>
          </a:p>
        </p:txBody>
      </p:sp>
      <mc:AlternateContent xmlns:mc="http://schemas.openxmlformats.org/markup-compatibility/2006" xmlns:a14="http://schemas.microsoft.com/office/drawing/2010/main">
        <mc:Choice Requires="a14">
          <p:sp>
            <p:nvSpPr>
              <p:cNvPr id="35" name="Text 33"/>
              <p:cNvSpPr/>
              <p:nvPr/>
            </p:nvSpPr>
            <p:spPr>
              <a:xfrm>
                <a:off x="4892040" y="3657600"/>
                <a:ext cx="3566160" cy="5943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200" b="0" i="1" dirty="0" smtClean="0">
                          <a:solidFill>
                            <a:srgbClr val="0F1A35"/>
                          </a:solidFill>
                          <a:latin typeface="Cambria Math" panose="02040503050406030204" pitchFamily="18" charset="0"/>
                          <a:ea typeface="Cambria" pitchFamily="34" charset="-122"/>
                          <a:cs typeface="Cambria" pitchFamily="34" charset="-120"/>
                        </a:rPr>
                        <m:t>𝜏𝜃</m:t>
                      </m:r>
                      <m:r>
                        <a:rPr lang="en-US" sz="1200" b="0" i="1" dirty="0" smtClean="0">
                          <a:solidFill>
                            <a:srgbClr val="0F1A35"/>
                          </a:solidFill>
                          <a:latin typeface="Cambria Math" panose="02040503050406030204" pitchFamily="18" charset="0"/>
                          <a:ea typeface="Cambria" pitchFamily="34" charset="-122"/>
                          <a:cs typeface="Cambria" pitchFamily="34" charset="-120"/>
                        </a:rPr>
                        <m:t> + (1−</m:t>
                      </m:r>
                      <m:r>
                        <a:rPr lang="en-US" sz="1200" b="0" i="1" dirty="0" smtClean="0">
                          <a:solidFill>
                            <a:srgbClr val="0F1A35"/>
                          </a:solidFill>
                          <a:latin typeface="Cambria Math" panose="02040503050406030204" pitchFamily="18" charset="0"/>
                          <a:ea typeface="Cambria" pitchFamily="34" charset="-122"/>
                          <a:cs typeface="Cambria" pitchFamily="34" charset="-120"/>
                        </a:rPr>
                        <m:t>𝜏</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𝜃</m:t>
                      </m:r>
                      <m:r>
                        <a:rPr lang="en-US" sz="1200" b="0" i="1" dirty="0" smtClean="0">
                          <a:solidFill>
                            <a:srgbClr val="0F1A35"/>
                          </a:solidFill>
                          <a:latin typeface="Cambria Math" panose="02040503050406030204" pitchFamily="18" charset="0"/>
                          <a:ea typeface="Cambria" pitchFamily="34" charset="-122"/>
                          <a:cs typeface="Cambria" pitchFamily="34" charset="-120"/>
                        </a:rPr>
                        <m:t>′ → </m:t>
                      </m:r>
                      <m:r>
                        <a:rPr lang="en-US" sz="1200" b="0" i="1" dirty="0" smtClean="0">
                          <a:solidFill>
                            <a:srgbClr val="0F1A35"/>
                          </a:solidFill>
                          <a:latin typeface="Cambria Math" panose="02040503050406030204" pitchFamily="18" charset="0"/>
                          <a:ea typeface="Cambria" pitchFamily="34" charset="-122"/>
                          <a:cs typeface="Cambria" pitchFamily="34" charset="-120"/>
                        </a:rPr>
                        <m:t>𝜃</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𝜏𝜑</m:t>
                      </m:r>
                      <m:r>
                        <a:rPr lang="en-US" sz="1200" b="0" i="1" dirty="0" smtClean="0">
                          <a:solidFill>
                            <a:srgbClr val="0F1A35"/>
                          </a:solidFill>
                          <a:latin typeface="Cambria Math" panose="02040503050406030204" pitchFamily="18" charset="0"/>
                          <a:ea typeface="Cambria" pitchFamily="34" charset="-122"/>
                          <a:cs typeface="Cambria" pitchFamily="34" charset="-120"/>
                        </a:rPr>
                        <m:t> + (1−</m:t>
                      </m:r>
                      <m:r>
                        <a:rPr lang="en-US" sz="1200" b="0" i="1" dirty="0" smtClean="0">
                          <a:solidFill>
                            <a:srgbClr val="0F1A35"/>
                          </a:solidFill>
                          <a:latin typeface="Cambria Math" panose="02040503050406030204" pitchFamily="18" charset="0"/>
                          <a:ea typeface="Cambria" pitchFamily="34" charset="-122"/>
                          <a:cs typeface="Cambria" pitchFamily="34" charset="-120"/>
                        </a:rPr>
                        <m:t>𝜏</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𝜑</m:t>
                      </m:r>
                      <m:r>
                        <a:rPr lang="en-US" sz="1200" b="0" i="1" dirty="0" smtClean="0">
                          <a:solidFill>
                            <a:srgbClr val="0F1A35"/>
                          </a:solidFill>
                          <a:latin typeface="Cambria Math" panose="02040503050406030204" pitchFamily="18" charset="0"/>
                          <a:ea typeface="Cambria" pitchFamily="34" charset="-122"/>
                          <a:cs typeface="Cambria" pitchFamily="34" charset="-120"/>
                        </a:rPr>
                        <m:t>′ → </m:t>
                      </m:r>
                      <m:r>
                        <a:rPr lang="en-US" sz="1200" b="0" i="1" dirty="0" smtClean="0">
                          <a:solidFill>
                            <a:srgbClr val="0F1A35"/>
                          </a:solidFill>
                          <a:latin typeface="Cambria Math" panose="02040503050406030204" pitchFamily="18" charset="0"/>
                          <a:ea typeface="Cambria" pitchFamily="34" charset="-122"/>
                          <a:cs typeface="Cambria" pitchFamily="34" charset="-120"/>
                        </a:rPr>
                        <m:t>𝜑</m:t>
                      </m:r>
                      <m:r>
                        <a:rPr lang="en-US" sz="1200" b="0" i="1" dirty="0" smtClean="0">
                          <a:solidFill>
                            <a:srgbClr val="0F1A35"/>
                          </a:solidFill>
                          <a:latin typeface="Cambria Math" panose="02040503050406030204" pitchFamily="18" charset="0"/>
                          <a:ea typeface="Cambria" pitchFamily="34" charset="-122"/>
                          <a:cs typeface="Cambria" pitchFamily="34" charset="-120"/>
                        </a:rPr>
                        <m:t>′</m:t>
                      </m:r>
                    </m:oMath>
                  </m:oMathPara>
                </a14:m>
                <a:endParaRPr/>
              </a:p>
              <a:p>
                <a:pPr marL="0" indent="0" algn="ctr">
                  <a:buNone/>
                </a:pPr>
                <a:endParaRPr/>
              </a:p>
            </p:txBody>
          </p:sp>
        </mc:Choice>
        <mc:Fallback xmlns="">
          <p:sp>
            <p:nvSpPr>
              <p:cNvPr id="35" name="Text 33"/>
              <p:cNvSpPr>
                <a:spLocks noRot="1" noChangeAspect="1" noMove="1" noResize="1" noEditPoints="1" noAdjustHandles="1" noChangeArrowheads="1" noChangeShapeType="1" noTextEdit="1"/>
              </p:cNvSpPr>
              <p:nvPr/>
            </p:nvSpPr>
            <p:spPr>
              <a:xfrm>
                <a:off x="4892040" y="3657600"/>
                <a:ext cx="3566160" cy="594360"/>
              </a:xfrm>
              <a:prstGeom prst="rect">
                <a:avLst/>
              </a:prstGeom>
              <a:blipFill>
                <a:blip r:embed="rId6"/>
                <a:stretch>
                  <a:fillRect/>
                </a:stretch>
              </a:blipFill>
              <a:ln/>
            </p:spPr>
            <p:txBody>
              <a:bodyPr/>
              <a:lstStyle/>
              <a:p>
                <a:r>
                  <a:rPr lang="uk-UA">
                    <a:noFill/>
                  </a:rPr>
                  <a:t> </a:t>
                </a:r>
              </a:p>
            </p:txBody>
          </p:sp>
        </mc:Fallback>
      </mc:AlternateContent>
      <p:sp>
        <p:nvSpPr>
          <p:cNvPr id="36" name="Text 34"/>
          <p:cNvSpPr/>
          <p:nvPr/>
        </p:nvSpPr>
        <p:spPr>
          <a:xfrm>
            <a:off x="482803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Цільові мережі оновлюються поступово (τ – </a:t>
            </a:r>
            <a:r>
              <a:rPr lang="uk-UA" sz="950" i="1" dirty="0">
                <a:solidFill>
                  <a:srgbClr val="1F2937"/>
                </a:solidFill>
                <a:latin typeface="Calibri" pitchFamily="34" charset="0"/>
                <a:ea typeface="Calibri" pitchFamily="34" charset="-122"/>
                <a:cs typeface="Calibri" pitchFamily="34" charset="-120"/>
              </a:rPr>
              <a:t>мале число</a:t>
            </a:r>
            <a:r>
              <a:rPr lang="en-US" sz="950" i="1" dirty="0">
                <a:solidFill>
                  <a:srgbClr val="1F2937"/>
                </a:solidFill>
                <a:latin typeface="Calibri" pitchFamily="34" charset="0"/>
                <a:ea typeface="Calibri" pitchFamily="34" charset="-122"/>
                <a:cs typeface="Calibri" pitchFamily="34" charset="-120"/>
              </a:rPr>
              <a:t>) для стабільного навчання</a:t>
            </a:r>
            <a:endParaRPr lang="en-US" sz="950" dirty="0"/>
          </a:p>
        </p:txBody>
      </p:sp>
      <p:sp>
        <p:nvSpPr>
          <p:cNvPr id="38" name="Shape 35"/>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0" name="Text 37"/>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12 / 18</a:t>
            </a:r>
            <a:endParaRPr lang="en-US" sz="900" dirty="0"/>
          </a:p>
        </p:txBody>
      </p:sp>
      <p:sp>
        <p:nvSpPr>
          <p:cNvPr id="41" name="Text 28">
            <a:extLst>
              <a:ext uri="{FF2B5EF4-FFF2-40B4-BE49-F238E27FC236}">
                <a16:creationId xmlns:a16="http://schemas.microsoft.com/office/drawing/2014/main" id="{744A2811-24D4-32CF-7A94-75494552AE3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4547831-D5A8-854A-3F47-D62AF0F5D225}"/>
                  </a:ext>
                </a:extLst>
              </p:cNvPr>
              <p:cNvSpPr txBox="1"/>
              <p:nvPr/>
            </p:nvSpPr>
            <p:spPr>
              <a:xfrm>
                <a:off x="2197100" y="2636971"/>
                <a:ext cx="2283460" cy="284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uk-UA" sz="1100" i="1" smtClean="0">
                              <a:latin typeface="Cambria Math" panose="02040503050406030204" pitchFamily="18" charset="0"/>
                            </a:rPr>
                          </m:ctrlPr>
                        </m:sSubPr>
                        <m:e>
                          <m:r>
                            <a:rPr lang="uk-UA" sz="1100" i="1">
                              <a:latin typeface="Cambria Math" panose="02040503050406030204" pitchFamily="18" charset="0"/>
                            </a:rPr>
                            <m:t>𝑦</m:t>
                          </m:r>
                        </m:e>
                        <m:sub>
                          <m:r>
                            <a:rPr lang="uk-UA" sz="1100" i="1">
                              <a:latin typeface="Cambria Math" panose="02040503050406030204" pitchFamily="18" charset="0"/>
                            </a:rPr>
                            <m:t>𝑡</m:t>
                          </m:r>
                        </m:sub>
                      </m:sSub>
                      <m:r>
                        <a:rPr lang="uk-UA" sz="1100" i="0">
                          <a:latin typeface="Cambria Math" panose="02040503050406030204" pitchFamily="18" charset="0"/>
                        </a:rPr>
                        <m:t>=</m:t>
                      </m:r>
                      <m:sSub>
                        <m:sSubPr>
                          <m:ctrlPr>
                            <a:rPr lang="uk-UA" sz="1100" i="1">
                              <a:latin typeface="Cambria Math" panose="02040503050406030204" pitchFamily="18" charset="0"/>
                            </a:rPr>
                          </m:ctrlPr>
                        </m:sSubPr>
                        <m:e>
                          <m:r>
                            <a:rPr lang="uk-UA" sz="1100" i="1">
                              <a:latin typeface="Cambria Math" panose="02040503050406030204" pitchFamily="18" charset="0"/>
                            </a:rPr>
                            <m:t>𝑟</m:t>
                          </m:r>
                        </m:e>
                        <m:sub>
                          <m:r>
                            <a:rPr lang="uk-UA" sz="1100" i="1">
                              <a:latin typeface="Cambria Math" panose="02040503050406030204" pitchFamily="18" charset="0"/>
                            </a:rPr>
                            <m:t>𝑡</m:t>
                          </m:r>
                        </m:sub>
                      </m:sSub>
                      <m:r>
                        <a:rPr lang="uk-UA" sz="1100" i="0">
                          <a:latin typeface="Cambria Math" panose="02040503050406030204" pitchFamily="18" charset="0"/>
                        </a:rPr>
                        <m:t>+</m:t>
                      </m:r>
                      <m:r>
                        <a:rPr lang="uk-UA" sz="1100" i="1">
                          <a:latin typeface="Cambria Math" panose="02040503050406030204" pitchFamily="18" charset="0"/>
                        </a:rPr>
                        <m:t>𝛾</m:t>
                      </m:r>
                      <m:sSub>
                        <m:sSubPr>
                          <m:ctrlPr>
                            <a:rPr lang="uk-UA" sz="1100" i="1">
                              <a:latin typeface="Cambria Math" panose="02040503050406030204" pitchFamily="18" charset="0"/>
                            </a:rPr>
                          </m:ctrlPr>
                        </m:sSubPr>
                        <m:e>
                          <m:r>
                            <a:rPr lang="uk-UA" sz="1100" i="1">
                              <a:latin typeface="Cambria Math" panose="02040503050406030204" pitchFamily="18" charset="0"/>
                            </a:rPr>
                            <m:t>𝑄</m:t>
                          </m:r>
                        </m:e>
                        <m:sub>
                          <m:sSup>
                            <m:sSupPr>
                              <m:ctrlPr>
                                <a:rPr lang="uk-UA" sz="1100" i="1">
                                  <a:latin typeface="Cambria Math" panose="02040503050406030204" pitchFamily="18" charset="0"/>
                                </a:rPr>
                              </m:ctrlPr>
                            </m:sSupPr>
                            <m:e>
                              <m:r>
                                <a:rPr lang="uk-UA" sz="1100" i="1">
                                  <a:latin typeface="Cambria Math" panose="02040503050406030204" pitchFamily="18" charset="0"/>
                                </a:rPr>
                                <m:t>𝜙</m:t>
                              </m:r>
                            </m:e>
                            <m:sup>
                              <m:r>
                                <a:rPr lang="uk-UA" sz="1100" i="0">
                                  <a:latin typeface="Cambria Math" panose="02040503050406030204" pitchFamily="18" charset="0"/>
                                </a:rPr>
                                <m:t>′</m:t>
                              </m:r>
                            </m:sup>
                          </m:sSup>
                        </m:sub>
                      </m:sSub>
                      <m:d>
                        <m:dPr>
                          <m:sepChr m:val=","/>
                          <m:ctrlPr>
                            <a:rPr lang="uk-UA" sz="1100" i="1">
                              <a:latin typeface="Cambria Math" panose="02040503050406030204" pitchFamily="18" charset="0"/>
                            </a:rPr>
                          </m:ctrlPr>
                        </m:dPr>
                        <m:e>
                          <m:sSub>
                            <m:sSubPr>
                              <m:ctrlPr>
                                <a:rPr lang="uk-UA" sz="1100" i="1">
                                  <a:latin typeface="Cambria Math" panose="02040503050406030204" pitchFamily="18" charset="0"/>
                                </a:rPr>
                              </m:ctrlPr>
                            </m:sSubPr>
                            <m:e>
                              <m:r>
                                <a:rPr lang="uk-UA" sz="1100" i="1">
                                  <a:latin typeface="Cambria Math" panose="02040503050406030204" pitchFamily="18" charset="0"/>
                                </a:rPr>
                                <m:t>𝑠</m:t>
                              </m:r>
                            </m:e>
                            <m:sub>
                              <m:r>
                                <a:rPr lang="uk-UA" sz="1100" i="1">
                                  <a:latin typeface="Cambria Math" panose="02040503050406030204" pitchFamily="18" charset="0"/>
                                </a:rPr>
                                <m:t>𝑡</m:t>
                              </m:r>
                              <m:r>
                                <a:rPr lang="uk-UA" sz="1100" i="0">
                                  <a:latin typeface="Cambria Math" panose="02040503050406030204" pitchFamily="18" charset="0"/>
                                </a:rPr>
                                <m:t>+1</m:t>
                              </m:r>
                            </m:sub>
                          </m:sSub>
                        </m:e>
                        <m:e>
                          <m:sSub>
                            <m:sSubPr>
                              <m:ctrlPr>
                                <a:rPr lang="uk-UA" sz="1100" i="1">
                                  <a:latin typeface="Cambria Math" panose="02040503050406030204" pitchFamily="18" charset="0"/>
                                </a:rPr>
                              </m:ctrlPr>
                            </m:sSubPr>
                            <m:e>
                              <m:r>
                                <a:rPr lang="uk-UA" sz="1100" i="1">
                                  <a:latin typeface="Cambria Math" panose="02040503050406030204" pitchFamily="18" charset="0"/>
                                </a:rPr>
                                <m:t>𝜋</m:t>
                              </m:r>
                            </m:e>
                            <m:sub>
                              <m:sSup>
                                <m:sSupPr>
                                  <m:ctrlPr>
                                    <a:rPr lang="uk-UA" sz="1100" i="1">
                                      <a:latin typeface="Cambria Math" panose="02040503050406030204" pitchFamily="18" charset="0"/>
                                    </a:rPr>
                                  </m:ctrlPr>
                                </m:sSupPr>
                                <m:e>
                                  <m:r>
                                    <a:rPr lang="uk-UA" sz="1100" i="1">
                                      <a:latin typeface="Cambria Math" panose="02040503050406030204" pitchFamily="18" charset="0"/>
                                    </a:rPr>
                                    <m:t>𝜃</m:t>
                                  </m:r>
                                </m:e>
                                <m:sup>
                                  <m:r>
                                    <a:rPr lang="uk-UA" sz="1100" i="0">
                                      <a:latin typeface="Cambria Math" panose="02040503050406030204" pitchFamily="18" charset="0"/>
                                    </a:rPr>
                                    <m:t>′</m:t>
                                  </m:r>
                                </m:sup>
                              </m:sSup>
                            </m:sub>
                          </m:sSub>
                          <m:d>
                            <m:dPr>
                              <m:ctrlPr>
                                <a:rPr lang="uk-UA" sz="1100" i="1">
                                  <a:latin typeface="Cambria Math" panose="02040503050406030204" pitchFamily="18" charset="0"/>
                                </a:rPr>
                              </m:ctrlPr>
                            </m:dPr>
                            <m:e>
                              <m:sSub>
                                <m:sSubPr>
                                  <m:ctrlPr>
                                    <a:rPr lang="uk-UA" sz="1100" i="1">
                                      <a:latin typeface="Cambria Math" panose="02040503050406030204" pitchFamily="18" charset="0"/>
                                    </a:rPr>
                                  </m:ctrlPr>
                                </m:sSubPr>
                                <m:e>
                                  <m:r>
                                    <a:rPr lang="uk-UA" sz="1100" i="1">
                                      <a:latin typeface="Cambria Math" panose="02040503050406030204" pitchFamily="18" charset="0"/>
                                    </a:rPr>
                                    <m:t>𝑠</m:t>
                                  </m:r>
                                </m:e>
                                <m:sub>
                                  <m:r>
                                    <a:rPr lang="uk-UA" sz="1100" i="1">
                                      <a:latin typeface="Cambria Math" panose="02040503050406030204" pitchFamily="18" charset="0"/>
                                    </a:rPr>
                                    <m:t>𝑡</m:t>
                                  </m:r>
                                  <m:r>
                                    <a:rPr lang="uk-UA" sz="1100" i="0">
                                      <a:latin typeface="Cambria Math" panose="02040503050406030204" pitchFamily="18" charset="0"/>
                                    </a:rPr>
                                    <m:t>+1</m:t>
                                  </m:r>
                                </m:sub>
                              </m:sSub>
                            </m:e>
                          </m:d>
                        </m:e>
                      </m:d>
                    </m:oMath>
                  </m:oMathPara>
                </a14:m>
                <a:endParaRPr lang="uk-UA" sz="1100" dirty="0"/>
              </a:p>
            </p:txBody>
          </p:sp>
        </mc:Choice>
        <mc:Fallback xmlns="">
          <p:sp>
            <p:nvSpPr>
              <p:cNvPr id="43" name="TextBox 42">
                <a:extLst>
                  <a:ext uri="{FF2B5EF4-FFF2-40B4-BE49-F238E27FC236}">
                    <a16:creationId xmlns:a16="http://schemas.microsoft.com/office/drawing/2014/main" id="{34547831-D5A8-854A-3F47-D62AF0F5D225}"/>
                  </a:ext>
                </a:extLst>
              </p:cNvPr>
              <p:cNvSpPr txBox="1">
                <a:spLocks noRot="1" noChangeAspect="1" noMove="1" noResize="1" noEditPoints="1" noAdjustHandles="1" noChangeArrowheads="1" noChangeShapeType="1" noTextEdit="1"/>
              </p:cNvSpPr>
              <p:nvPr/>
            </p:nvSpPr>
            <p:spPr>
              <a:xfrm>
                <a:off x="2197100" y="2636971"/>
                <a:ext cx="2283460" cy="284180"/>
              </a:xfrm>
              <a:prstGeom prst="rect">
                <a:avLst/>
              </a:prstGeom>
              <a:blipFill>
                <a:blip r:embed="rId7"/>
                <a:stretch>
                  <a:fillRect b="-2174"/>
                </a:stretch>
              </a:blipFill>
            </p:spPr>
            <p:txBody>
              <a:bodyPr/>
              <a:lstStyle/>
              <a:p>
                <a:r>
                  <a:rPr lang="uk-UA">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ЕКСПЕРИМЕНТ</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Параметри навчальної процедури</a:t>
            </a:r>
            <a:endParaRPr lang="en-US" sz="2800" dirty="0"/>
          </a:p>
        </p:txBody>
      </p:sp>
      <p:sp>
        <p:nvSpPr>
          <p:cNvPr id="5" name="Shape 3"/>
          <p:cNvSpPr/>
          <p:nvPr/>
        </p:nvSpPr>
        <p:spPr>
          <a:xfrm>
            <a:off x="457200"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2011680" cy="54864"/>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594360" y="1417320"/>
            <a:ext cx="365760" cy="36576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685800" y="1508760"/>
            <a:ext cx="182880" cy="182880"/>
          </a:xfrm>
          <a:prstGeom prst="rect">
            <a:avLst/>
          </a:prstGeom>
        </p:spPr>
      </p:pic>
      <p:sp>
        <p:nvSpPr>
          <p:cNvPr id="9" name="Text 6"/>
          <p:cNvSpPr/>
          <p:nvPr/>
        </p:nvSpPr>
        <p:spPr>
          <a:xfrm>
            <a:off x="1051560"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n=64</a:t>
            </a:r>
            <a:endParaRPr lang="en-US" sz="1800" dirty="0"/>
          </a:p>
        </p:txBody>
      </p:sp>
      <p:sp>
        <p:nvSpPr>
          <p:cNvPr id="10" name="Text 7"/>
          <p:cNvSpPr/>
          <p:nvPr/>
        </p:nvSpPr>
        <p:spPr>
          <a:xfrm>
            <a:off x="548640"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Розмірність</a:t>
            </a:r>
            <a:r>
              <a:rPr lang="uk-UA" sz="1000" noProof="0" dirty="0">
                <a:solidFill>
                  <a:srgbClr val="687891"/>
                </a:solidFill>
                <a:latin typeface="Calibri" pitchFamily="34" charset="0"/>
                <a:ea typeface="Calibri" pitchFamily="34" charset="-122"/>
                <a:cs typeface="Calibri" pitchFamily="34" charset="-120"/>
              </a:rPr>
              <a:t> векторів</a:t>
            </a:r>
            <a:endParaRPr lang="en-US" sz="1000" dirty="0"/>
          </a:p>
        </p:txBody>
      </p:sp>
      <p:sp>
        <p:nvSpPr>
          <p:cNvPr id="11" name="Shape 8"/>
          <p:cNvSpPr/>
          <p:nvPr/>
        </p:nvSpPr>
        <p:spPr>
          <a:xfrm>
            <a:off x="2587752"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2587752" y="1325880"/>
            <a:ext cx="201168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2724912" y="1417320"/>
            <a:ext cx="365760" cy="36576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2816352" y="1508760"/>
            <a:ext cx="182880" cy="182880"/>
          </a:xfrm>
          <a:prstGeom prst="rect">
            <a:avLst/>
          </a:prstGeom>
        </p:spPr>
      </p:pic>
      <p:sp>
        <p:nvSpPr>
          <p:cNvPr id="15" name="Text 11"/>
          <p:cNvSpPr/>
          <p:nvPr/>
        </p:nvSpPr>
        <p:spPr>
          <a:xfrm>
            <a:off x="3182112"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10</a:t>
            </a:r>
            <a:endParaRPr lang="en-US" sz="1800" dirty="0"/>
          </a:p>
        </p:txBody>
      </p:sp>
      <p:sp>
        <p:nvSpPr>
          <p:cNvPr id="16" name="Text 12"/>
          <p:cNvSpPr/>
          <p:nvPr/>
        </p:nvSpPr>
        <p:spPr>
          <a:xfrm>
            <a:off x="2679192"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Е</a:t>
            </a:r>
            <a:r>
              <a:rPr lang="uk-UA" sz="1000" noProof="0" dirty="0">
                <a:solidFill>
                  <a:srgbClr val="687891"/>
                </a:solidFill>
                <a:latin typeface="Calibri" pitchFamily="34" charset="0"/>
                <a:ea typeface="Calibri" pitchFamily="34" charset="-122"/>
                <a:cs typeface="Calibri" pitchFamily="34" charset="-120"/>
              </a:rPr>
              <a:t>лементів історії</a:t>
            </a:r>
            <a:endParaRPr lang="uk-UA" sz="1000" noProof="0" dirty="0"/>
          </a:p>
        </p:txBody>
      </p:sp>
      <p:sp>
        <p:nvSpPr>
          <p:cNvPr id="17" name="Shape 13"/>
          <p:cNvSpPr/>
          <p:nvPr/>
        </p:nvSpPr>
        <p:spPr>
          <a:xfrm>
            <a:off x="4718304"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718304" y="1325880"/>
            <a:ext cx="2011680" cy="54864"/>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4855464" y="1417320"/>
            <a:ext cx="365760" cy="36576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4946904" y="1508760"/>
            <a:ext cx="182880" cy="182880"/>
          </a:xfrm>
          <a:prstGeom prst="rect">
            <a:avLst/>
          </a:prstGeom>
        </p:spPr>
      </p:pic>
      <p:sp>
        <p:nvSpPr>
          <p:cNvPr id="21" name="Text 16"/>
          <p:cNvSpPr/>
          <p:nvPr/>
        </p:nvSpPr>
        <p:spPr>
          <a:xfrm>
            <a:off x="5312664" y="1417320"/>
            <a:ext cx="1325880" cy="384048"/>
          </a:xfrm>
          <a:prstGeom prst="rect">
            <a:avLst/>
          </a:prstGeom>
          <a:noFill/>
          <a:ln/>
        </p:spPr>
        <p:txBody>
          <a:bodyPr wrap="square" lIns="0" tIns="0" rIns="0" bIns="0" rtlCol="0" anchor="ctr"/>
          <a:lstStyle/>
          <a:p>
            <a:pPr marL="0" indent="0">
              <a:buNone/>
            </a:pPr>
            <a:r>
              <a:rPr lang="en-US" b="1" dirty="0">
                <a:solidFill>
                  <a:srgbClr val="0F1A35"/>
                </a:solidFill>
                <a:latin typeface="Calibri" pitchFamily="34" charset="0"/>
                <a:ea typeface="Calibri" pitchFamily="34" charset="-122"/>
                <a:cs typeface="Calibri" pitchFamily="34" charset="-120"/>
              </a:rPr>
              <a:t>7</a:t>
            </a:r>
            <a:r>
              <a:rPr lang="en-US" sz="1800" b="1" dirty="0">
                <a:solidFill>
                  <a:srgbClr val="0F1A35"/>
                </a:solidFill>
                <a:latin typeface="Calibri" pitchFamily="34" charset="0"/>
                <a:ea typeface="Calibri" pitchFamily="34" charset="-122"/>
                <a:cs typeface="Calibri" pitchFamily="34" charset="-120"/>
              </a:rPr>
              <a:t>0</a:t>
            </a:r>
            <a:endParaRPr lang="en-US" sz="1800" dirty="0"/>
          </a:p>
        </p:txBody>
      </p:sp>
      <p:sp>
        <p:nvSpPr>
          <p:cNvPr id="22" name="Text 17"/>
          <p:cNvSpPr/>
          <p:nvPr/>
        </p:nvSpPr>
        <p:spPr>
          <a:xfrm>
            <a:off x="4809744"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Епох</a:t>
            </a:r>
            <a:r>
              <a:rPr lang="uk-UA" sz="1000" noProof="0" dirty="0">
                <a:solidFill>
                  <a:srgbClr val="687891"/>
                </a:solidFill>
                <a:latin typeface="Calibri" pitchFamily="34" charset="0"/>
                <a:ea typeface="Calibri" pitchFamily="34" charset="-122"/>
                <a:cs typeface="Calibri" pitchFamily="34" charset="-120"/>
              </a:rPr>
              <a:t> навчання</a:t>
            </a:r>
            <a:endParaRPr lang="uk-UA" sz="1000" noProof="0" dirty="0"/>
          </a:p>
        </p:txBody>
      </p:sp>
      <p:sp>
        <p:nvSpPr>
          <p:cNvPr id="23" name="Shape 18"/>
          <p:cNvSpPr/>
          <p:nvPr/>
        </p:nvSpPr>
        <p:spPr>
          <a:xfrm>
            <a:off x="6848856"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6848856" y="1325880"/>
            <a:ext cx="2011680" cy="54864"/>
          </a:xfrm>
          <a:prstGeom prst="rect">
            <a:avLst/>
          </a:prstGeom>
          <a:solidFill>
            <a:srgbClr val="21C97A"/>
          </a:solidFill>
          <a:ln w="12700">
            <a:solidFill>
              <a:srgbClr val="21C97A"/>
            </a:solidFill>
            <a:prstDash val="solid"/>
          </a:ln>
        </p:spPr>
        <p:txBody>
          <a:bodyPr/>
          <a:lstStyle/>
          <a:p>
            <a:endParaRPr lang="uk-UA"/>
          </a:p>
        </p:txBody>
      </p:sp>
      <p:sp>
        <p:nvSpPr>
          <p:cNvPr id="25" name="Shape 20"/>
          <p:cNvSpPr/>
          <p:nvPr/>
        </p:nvSpPr>
        <p:spPr>
          <a:xfrm>
            <a:off x="6986016" y="1417320"/>
            <a:ext cx="365760" cy="365760"/>
          </a:xfrm>
          <a:prstGeom prst="ellipse">
            <a:avLst/>
          </a:prstGeom>
          <a:solidFill>
            <a:srgbClr val="DAF5E7"/>
          </a:solidFill>
          <a:ln w="12700">
            <a:solidFill>
              <a:srgbClr val="DAF5E7"/>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7077456" y="1508760"/>
            <a:ext cx="182880" cy="182880"/>
          </a:xfrm>
          <a:prstGeom prst="rect">
            <a:avLst/>
          </a:prstGeom>
        </p:spPr>
      </p:pic>
      <p:sp>
        <p:nvSpPr>
          <p:cNvPr id="27" name="Text 21"/>
          <p:cNvSpPr/>
          <p:nvPr/>
        </p:nvSpPr>
        <p:spPr>
          <a:xfrm>
            <a:off x="7443216"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70 / 30</a:t>
            </a:r>
            <a:endParaRPr lang="en-US" sz="1800" dirty="0"/>
          </a:p>
        </p:txBody>
      </p:sp>
      <p:sp>
        <p:nvSpPr>
          <p:cNvPr id="28" name="Text 22"/>
          <p:cNvSpPr/>
          <p:nvPr/>
        </p:nvSpPr>
        <p:spPr>
          <a:xfrm>
            <a:off x="6940296"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Розбиття навчальної і тестової вибірок</a:t>
            </a:r>
            <a:endParaRPr lang="en-US" sz="1000" dirty="0"/>
          </a:p>
        </p:txBody>
      </p:sp>
      <p:sp>
        <p:nvSpPr>
          <p:cNvPr id="29" name="Shape 23"/>
          <p:cNvSpPr/>
          <p:nvPr/>
        </p:nvSpPr>
        <p:spPr>
          <a:xfrm>
            <a:off x="457200" y="2542032"/>
            <a:ext cx="367792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4"/>
          <p:cNvSpPr/>
          <p:nvPr/>
        </p:nvSpPr>
        <p:spPr>
          <a:xfrm>
            <a:off x="457200" y="2542032"/>
            <a:ext cx="64008" cy="2194560"/>
          </a:xfrm>
          <a:prstGeom prst="rect">
            <a:avLst/>
          </a:prstGeom>
          <a:solidFill>
            <a:srgbClr val="2C5BD8"/>
          </a:solidFill>
          <a:ln w="12700">
            <a:solidFill>
              <a:srgbClr val="2C5BD8"/>
            </a:solidFill>
            <a:prstDash val="solid"/>
          </a:ln>
        </p:spPr>
        <p:txBody>
          <a:bodyPr/>
          <a:lstStyle/>
          <a:p>
            <a:endParaRPr lang="uk-UA"/>
          </a:p>
        </p:txBody>
      </p:sp>
      <p:sp>
        <p:nvSpPr>
          <p:cNvPr id="31" name="Shape 25"/>
          <p:cNvSpPr/>
          <p:nvPr/>
        </p:nvSpPr>
        <p:spPr>
          <a:xfrm>
            <a:off x="640080" y="2724912"/>
            <a:ext cx="411480" cy="411480"/>
          </a:xfrm>
          <a:prstGeom prst="ellipse">
            <a:avLst/>
          </a:prstGeom>
          <a:solidFill>
            <a:srgbClr val="E8F0FE"/>
          </a:solidFill>
          <a:ln w="12700">
            <a:solidFill>
              <a:srgbClr val="E8F0FE"/>
            </a:solidFill>
            <a:prstDash val="solid"/>
          </a:ln>
        </p:spPr>
        <p:txBody>
          <a:bodyPr/>
          <a:lstStyle/>
          <a:p>
            <a:endParaRPr lang="uk-UA"/>
          </a:p>
        </p:txBody>
      </p:sp>
      <p:pic>
        <p:nvPicPr>
          <p:cNvPr id="32" name="Image 4" descr="preencoded.png"/>
          <p:cNvPicPr>
            <a:picLocks noChangeAspect="1"/>
          </p:cNvPicPr>
          <p:nvPr/>
        </p:nvPicPr>
        <p:blipFill>
          <a:blip r:embed="rId7"/>
          <a:stretch>
            <a:fillRect/>
          </a:stretch>
        </p:blipFill>
        <p:spPr>
          <a:xfrm>
            <a:off x="742950" y="2827782"/>
            <a:ext cx="205740" cy="205740"/>
          </a:xfrm>
          <a:prstGeom prst="rect">
            <a:avLst/>
          </a:prstGeom>
        </p:spPr>
      </p:pic>
      <p:sp>
        <p:nvSpPr>
          <p:cNvPr id="33" name="Text 26"/>
          <p:cNvSpPr/>
          <p:nvPr/>
        </p:nvSpPr>
        <p:spPr>
          <a:xfrm>
            <a:off x="1188720" y="2724912"/>
            <a:ext cx="41148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Процедура навчання</a:t>
            </a:r>
            <a:endParaRPr lang="en-US" sz="1300" dirty="0"/>
          </a:p>
        </p:txBody>
      </p:sp>
      <p:sp>
        <p:nvSpPr>
          <p:cNvPr id="34" name="Text 27"/>
          <p:cNvSpPr/>
          <p:nvPr/>
        </p:nvSpPr>
        <p:spPr>
          <a:xfrm>
            <a:off x="640080" y="3108960"/>
            <a:ext cx="4754880" cy="274320"/>
          </a:xfrm>
          <a:prstGeom prst="rect">
            <a:avLst/>
          </a:prstGeom>
          <a:noFill/>
          <a:ln/>
        </p:spPr>
        <p:txBody>
          <a:bodyPr wrap="square" lIns="0" tIns="0" rIns="0" bIns="0"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Ітеративне чергування трьох етапів:</a:t>
            </a:r>
            <a:endParaRPr lang="en-US" sz="1050" dirty="0"/>
          </a:p>
        </p:txBody>
      </p:sp>
      <p:sp>
        <p:nvSpPr>
          <p:cNvPr id="35" name="Shape 28"/>
          <p:cNvSpPr/>
          <p:nvPr/>
        </p:nvSpPr>
        <p:spPr>
          <a:xfrm>
            <a:off x="685800" y="3456432"/>
            <a:ext cx="274320" cy="274320"/>
          </a:xfrm>
          <a:prstGeom prst="ellipse">
            <a:avLst/>
          </a:prstGeom>
          <a:solidFill>
            <a:srgbClr val="2C5BD8"/>
          </a:solidFill>
          <a:ln w="12700">
            <a:solidFill>
              <a:srgbClr val="2C5BD8"/>
            </a:solidFill>
            <a:prstDash val="solid"/>
          </a:ln>
        </p:spPr>
        <p:txBody>
          <a:bodyPr/>
          <a:lstStyle/>
          <a:p>
            <a:endParaRPr lang="uk-UA"/>
          </a:p>
        </p:txBody>
      </p:sp>
      <p:sp>
        <p:nvSpPr>
          <p:cNvPr id="36" name="Text 29"/>
          <p:cNvSpPr/>
          <p:nvPr/>
        </p:nvSpPr>
        <p:spPr>
          <a:xfrm>
            <a:off x="685800" y="34564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0"/>
          <p:cNvSpPr/>
          <p:nvPr/>
        </p:nvSpPr>
        <p:spPr>
          <a:xfrm>
            <a:off x="1051560" y="346557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Формування дії для поточного стану групи (Актор)</a:t>
            </a:r>
            <a:endParaRPr lang="en-US" sz="1050" dirty="0"/>
          </a:p>
        </p:txBody>
      </p:sp>
      <p:sp>
        <p:nvSpPr>
          <p:cNvPr id="38" name="Shape 31"/>
          <p:cNvSpPr/>
          <p:nvPr/>
        </p:nvSpPr>
        <p:spPr>
          <a:xfrm>
            <a:off x="685800" y="3822192"/>
            <a:ext cx="274320" cy="274320"/>
          </a:xfrm>
          <a:prstGeom prst="ellipse">
            <a:avLst/>
          </a:prstGeom>
          <a:solidFill>
            <a:srgbClr val="2C5BD8"/>
          </a:solidFill>
          <a:ln w="12700">
            <a:solidFill>
              <a:srgbClr val="2C5BD8"/>
            </a:solidFill>
            <a:prstDash val="solid"/>
          </a:ln>
        </p:spPr>
        <p:txBody>
          <a:bodyPr/>
          <a:lstStyle/>
          <a:p>
            <a:endParaRPr lang="uk-UA"/>
          </a:p>
        </p:txBody>
      </p:sp>
      <p:sp>
        <p:nvSpPr>
          <p:cNvPr id="39" name="Text 32"/>
          <p:cNvSpPr/>
          <p:nvPr/>
        </p:nvSpPr>
        <p:spPr>
          <a:xfrm>
            <a:off x="685800" y="38221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3"/>
          <p:cNvSpPr/>
          <p:nvPr/>
        </p:nvSpPr>
        <p:spPr>
          <a:xfrm>
            <a:off x="1051560" y="383133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Оцінювання якості дії (Критик)</a:t>
            </a:r>
            <a:endParaRPr lang="en-US" sz="1050" dirty="0"/>
          </a:p>
        </p:txBody>
      </p:sp>
      <p:sp>
        <p:nvSpPr>
          <p:cNvPr id="41" name="Shape 34"/>
          <p:cNvSpPr/>
          <p:nvPr/>
        </p:nvSpPr>
        <p:spPr>
          <a:xfrm>
            <a:off x="685800" y="4187952"/>
            <a:ext cx="274320" cy="274320"/>
          </a:xfrm>
          <a:prstGeom prst="ellipse">
            <a:avLst/>
          </a:prstGeom>
          <a:solidFill>
            <a:srgbClr val="2C5BD8"/>
          </a:solidFill>
          <a:ln w="12700">
            <a:solidFill>
              <a:srgbClr val="2C5BD8"/>
            </a:solidFill>
            <a:prstDash val="solid"/>
          </a:ln>
        </p:spPr>
        <p:txBody>
          <a:bodyPr/>
          <a:lstStyle/>
          <a:p>
            <a:endParaRPr lang="uk-UA"/>
          </a:p>
        </p:txBody>
      </p:sp>
      <p:sp>
        <p:nvSpPr>
          <p:cNvPr id="42" name="Text 35"/>
          <p:cNvSpPr/>
          <p:nvPr/>
        </p:nvSpPr>
        <p:spPr>
          <a:xfrm>
            <a:off x="685800" y="41879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36"/>
          <p:cNvSpPr/>
          <p:nvPr/>
        </p:nvSpPr>
        <p:spPr>
          <a:xfrm>
            <a:off x="1051560" y="419709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Коригування параметрів мереж за досвідом</a:t>
            </a:r>
            <a:endParaRPr lang="en-US" sz="1050" dirty="0"/>
          </a:p>
        </p:txBody>
      </p:sp>
      <p:sp>
        <p:nvSpPr>
          <p:cNvPr id="44" name="Shape 37"/>
          <p:cNvSpPr/>
          <p:nvPr/>
        </p:nvSpPr>
        <p:spPr>
          <a:xfrm>
            <a:off x="4334256" y="2542032"/>
            <a:ext cx="2395728"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45" name="Shape 38"/>
          <p:cNvSpPr/>
          <p:nvPr/>
        </p:nvSpPr>
        <p:spPr>
          <a:xfrm>
            <a:off x="4334256" y="2542032"/>
            <a:ext cx="2395728" cy="45719"/>
          </a:xfrm>
          <a:prstGeom prst="rect">
            <a:avLst/>
          </a:prstGeom>
          <a:solidFill>
            <a:srgbClr val="F0A93B"/>
          </a:solidFill>
          <a:ln w="12700">
            <a:solidFill>
              <a:srgbClr val="F0A93B"/>
            </a:solidFill>
            <a:prstDash val="solid"/>
          </a:ln>
        </p:spPr>
        <p:txBody>
          <a:bodyPr/>
          <a:lstStyle/>
          <a:p>
            <a:endParaRPr lang="uk-UA"/>
          </a:p>
        </p:txBody>
      </p:sp>
      <p:sp>
        <p:nvSpPr>
          <p:cNvPr id="46" name="Shape 39"/>
          <p:cNvSpPr/>
          <p:nvPr/>
        </p:nvSpPr>
        <p:spPr>
          <a:xfrm>
            <a:off x="4517136" y="2706624"/>
            <a:ext cx="411480" cy="411480"/>
          </a:xfrm>
          <a:prstGeom prst="ellipse">
            <a:avLst/>
          </a:prstGeom>
          <a:solidFill>
            <a:srgbClr val="FBE9CD"/>
          </a:solidFill>
          <a:ln w="12700">
            <a:solidFill>
              <a:srgbClr val="FBE9CD"/>
            </a:solidFill>
            <a:prstDash val="solid"/>
          </a:ln>
        </p:spPr>
        <p:txBody>
          <a:bodyPr/>
          <a:lstStyle/>
          <a:p>
            <a:endParaRPr lang="uk-UA"/>
          </a:p>
        </p:txBody>
      </p:sp>
      <p:pic>
        <p:nvPicPr>
          <p:cNvPr id="47" name="Image 5" descr="preencoded.png"/>
          <p:cNvPicPr>
            <a:picLocks noChangeAspect="1"/>
          </p:cNvPicPr>
          <p:nvPr/>
        </p:nvPicPr>
        <p:blipFill>
          <a:blip r:embed="rId8"/>
          <a:stretch>
            <a:fillRect/>
          </a:stretch>
        </p:blipFill>
        <p:spPr>
          <a:xfrm>
            <a:off x="4620006" y="2809494"/>
            <a:ext cx="205740" cy="205740"/>
          </a:xfrm>
          <a:prstGeom prst="rect">
            <a:avLst/>
          </a:prstGeom>
        </p:spPr>
      </p:pic>
      <p:sp>
        <p:nvSpPr>
          <p:cNvPr id="48" name="Text 40"/>
          <p:cNvSpPr/>
          <p:nvPr/>
        </p:nvSpPr>
        <p:spPr>
          <a:xfrm>
            <a:off x="5065776" y="2724912"/>
            <a:ext cx="1614424"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Апаратне забезпечення</a:t>
            </a:r>
            <a:endParaRPr lang="en-US" sz="1200" dirty="0"/>
          </a:p>
        </p:txBody>
      </p:sp>
      <p:sp>
        <p:nvSpPr>
          <p:cNvPr id="49" name="Text 41"/>
          <p:cNvSpPr/>
          <p:nvPr/>
        </p:nvSpPr>
        <p:spPr>
          <a:xfrm>
            <a:off x="4517136" y="322783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CPU: </a:t>
            </a:r>
            <a:r>
              <a:rPr lang="en-US" sz="1000" dirty="0">
                <a:solidFill>
                  <a:srgbClr val="1F2937"/>
                </a:solidFill>
                <a:latin typeface="Calibri" pitchFamily="34" charset="0"/>
                <a:ea typeface="Calibri" pitchFamily="34" charset="-122"/>
                <a:cs typeface="Calibri" pitchFamily="34" charset="-120"/>
              </a:rPr>
              <a:t>Intel Core i7-9700K</a:t>
            </a:r>
            <a:endParaRPr lang="en-US" sz="1000" dirty="0"/>
          </a:p>
        </p:txBody>
      </p:sp>
      <p:sp>
        <p:nvSpPr>
          <p:cNvPr id="50" name="Text 42"/>
          <p:cNvSpPr/>
          <p:nvPr/>
        </p:nvSpPr>
        <p:spPr>
          <a:xfrm>
            <a:off x="4517136" y="350215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GPU: </a:t>
            </a:r>
            <a:r>
              <a:rPr lang="en-US" sz="1000" dirty="0">
                <a:solidFill>
                  <a:srgbClr val="1F2937"/>
                </a:solidFill>
                <a:latin typeface="Calibri" pitchFamily="34" charset="0"/>
                <a:ea typeface="Calibri" pitchFamily="34" charset="-122"/>
                <a:cs typeface="Calibri" pitchFamily="34" charset="-120"/>
              </a:rPr>
              <a:t>Nvidia GTX 1650</a:t>
            </a:r>
            <a:endParaRPr lang="en-US" sz="1000" dirty="0"/>
          </a:p>
        </p:txBody>
      </p:sp>
      <p:sp>
        <p:nvSpPr>
          <p:cNvPr id="51" name="Text 43"/>
          <p:cNvSpPr/>
          <p:nvPr/>
        </p:nvSpPr>
        <p:spPr>
          <a:xfrm>
            <a:off x="4517136" y="377647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RAM: </a:t>
            </a:r>
            <a:r>
              <a:rPr lang="en-US" sz="1000" dirty="0">
                <a:solidFill>
                  <a:srgbClr val="1F2937"/>
                </a:solidFill>
                <a:latin typeface="Calibri" pitchFamily="34" charset="0"/>
                <a:ea typeface="Calibri" pitchFamily="34" charset="-122"/>
                <a:cs typeface="Calibri" pitchFamily="34" charset="-120"/>
              </a:rPr>
              <a:t>32 GB</a:t>
            </a:r>
            <a:endParaRPr lang="en-US" sz="1000" dirty="0"/>
          </a:p>
        </p:txBody>
      </p:sp>
      <p:sp>
        <p:nvSpPr>
          <p:cNvPr id="52" name="Text 44"/>
          <p:cNvSpPr/>
          <p:nvPr/>
        </p:nvSpPr>
        <p:spPr>
          <a:xfrm>
            <a:off x="4517136" y="405079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ОС: </a:t>
            </a:r>
            <a:r>
              <a:rPr lang="en-US" sz="1000" dirty="0">
                <a:solidFill>
                  <a:srgbClr val="1F2937"/>
                </a:solidFill>
                <a:latin typeface="Calibri" pitchFamily="34" charset="0"/>
                <a:ea typeface="Calibri" pitchFamily="34" charset="-122"/>
                <a:cs typeface="Calibri" pitchFamily="34" charset="-120"/>
              </a:rPr>
              <a:t>Ubuntu 24.04</a:t>
            </a:r>
            <a:endParaRPr lang="en-US" sz="1000" dirty="0"/>
          </a:p>
        </p:txBody>
      </p:sp>
      <p:sp>
        <p:nvSpPr>
          <p:cNvPr id="53" name="Text 45"/>
          <p:cNvSpPr/>
          <p:nvPr/>
        </p:nvSpPr>
        <p:spPr>
          <a:xfrm>
            <a:off x="4517136" y="432511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Опт.: </a:t>
            </a:r>
            <a:r>
              <a:rPr lang="en-US" sz="1000" dirty="0">
                <a:solidFill>
                  <a:srgbClr val="1F2937"/>
                </a:solidFill>
                <a:latin typeface="Calibri" pitchFamily="34" charset="0"/>
                <a:ea typeface="Calibri" pitchFamily="34" charset="-122"/>
                <a:cs typeface="Calibri" pitchFamily="34" charset="-120"/>
              </a:rPr>
              <a:t>Ranger (RAdam + Lookahead)</a:t>
            </a:r>
            <a:endParaRPr lang="en-US" sz="1000" dirty="0"/>
          </a:p>
        </p:txBody>
      </p:sp>
      <p:sp>
        <p:nvSpPr>
          <p:cNvPr id="55" name="Shape 4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57" name="Text 4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13 / 18</a:t>
            </a:r>
            <a:endParaRPr lang="en-US" sz="900" dirty="0"/>
          </a:p>
        </p:txBody>
      </p:sp>
      <p:sp>
        <p:nvSpPr>
          <p:cNvPr id="54" name="Text 28">
            <a:extLst>
              <a:ext uri="{FF2B5EF4-FFF2-40B4-BE49-F238E27FC236}">
                <a16:creationId xmlns:a16="http://schemas.microsoft.com/office/drawing/2014/main" id="{730AB694-88B3-CB6B-FF32-832DEB4DF3D2}"/>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58" name="Shape 18">
            <a:extLst>
              <a:ext uri="{FF2B5EF4-FFF2-40B4-BE49-F238E27FC236}">
                <a16:creationId xmlns:a16="http://schemas.microsoft.com/office/drawing/2014/main" id="{18DBF74A-22D9-9872-8671-BF32F4688125}"/>
              </a:ext>
            </a:extLst>
          </p:cNvPr>
          <p:cNvSpPr/>
          <p:nvPr/>
        </p:nvSpPr>
        <p:spPr>
          <a:xfrm>
            <a:off x="6832854" y="2542032"/>
            <a:ext cx="201168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59" name="Shape 19">
            <a:extLst>
              <a:ext uri="{FF2B5EF4-FFF2-40B4-BE49-F238E27FC236}">
                <a16:creationId xmlns:a16="http://schemas.microsoft.com/office/drawing/2014/main" id="{85CC6A77-EB74-87BF-DB7B-2E807AB15EF1}"/>
              </a:ext>
            </a:extLst>
          </p:cNvPr>
          <p:cNvSpPr/>
          <p:nvPr/>
        </p:nvSpPr>
        <p:spPr>
          <a:xfrm>
            <a:off x="6832854" y="2542032"/>
            <a:ext cx="2011680" cy="54864"/>
          </a:xfrm>
          <a:prstGeom prst="rect">
            <a:avLst/>
          </a:prstGeom>
          <a:solidFill>
            <a:srgbClr val="21C97A"/>
          </a:solidFill>
          <a:ln w="12700">
            <a:solidFill>
              <a:srgbClr val="21C97A"/>
            </a:solidFill>
            <a:prstDash val="solid"/>
          </a:ln>
        </p:spPr>
        <p:txBody>
          <a:bodyPr/>
          <a:lstStyle/>
          <a:p>
            <a:endParaRPr lang="uk-UA"/>
          </a:p>
        </p:txBody>
      </p:sp>
      <p:sp>
        <p:nvSpPr>
          <p:cNvPr id="60" name="Text 40">
            <a:extLst>
              <a:ext uri="{FF2B5EF4-FFF2-40B4-BE49-F238E27FC236}">
                <a16:creationId xmlns:a16="http://schemas.microsoft.com/office/drawing/2014/main" id="{60057EB9-891C-C08C-DE55-DEB433B9E2B3}"/>
              </a:ext>
            </a:extLst>
          </p:cNvPr>
          <p:cNvSpPr/>
          <p:nvPr/>
        </p:nvSpPr>
        <p:spPr>
          <a:xfrm>
            <a:off x="7563826" y="2720288"/>
            <a:ext cx="1248621" cy="274320"/>
          </a:xfrm>
          <a:prstGeom prst="rect">
            <a:avLst/>
          </a:prstGeom>
          <a:noFill/>
          <a:ln/>
        </p:spPr>
        <p:txBody>
          <a:bodyPr wrap="square" lIns="0" tIns="0" rIns="0" bIns="0" rtlCol="0" anchor="ctr"/>
          <a:lstStyle/>
          <a:p>
            <a:pPr marL="0" indent="0">
              <a:buNone/>
            </a:pPr>
            <a:r>
              <a:rPr lang="uk-UA" sz="1200" b="1" dirty="0">
                <a:solidFill>
                  <a:srgbClr val="0F1A35"/>
                </a:solidFill>
                <a:latin typeface="Calibri" pitchFamily="34" charset="0"/>
                <a:ea typeface="Calibri" pitchFamily="34" charset="-122"/>
                <a:cs typeface="Calibri" pitchFamily="34" charset="-120"/>
              </a:rPr>
              <a:t>Використані технології</a:t>
            </a:r>
            <a:endParaRPr lang="en-US" sz="1200" dirty="0"/>
          </a:p>
        </p:txBody>
      </p:sp>
      <p:pic>
        <p:nvPicPr>
          <p:cNvPr id="61" name="Рисунок 19">
            <a:extLst>
              <a:ext uri="{FF2B5EF4-FFF2-40B4-BE49-F238E27FC236}">
                <a16:creationId xmlns:a16="http://schemas.microsoft.com/office/drawing/2014/main" id="{771FC55F-9D5A-F673-0E2E-C68207A63E8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859645" y="3251394"/>
            <a:ext cx="877473" cy="552808"/>
          </a:xfrm>
          <a:prstGeom prst="rect">
            <a:avLst/>
          </a:prstGeom>
        </p:spPr>
      </p:pic>
      <p:pic>
        <p:nvPicPr>
          <p:cNvPr id="62" name="Рисунок 16">
            <a:extLst>
              <a:ext uri="{FF2B5EF4-FFF2-40B4-BE49-F238E27FC236}">
                <a16:creationId xmlns:a16="http://schemas.microsoft.com/office/drawing/2014/main" id="{0FA8EE7E-525A-D6F0-6DEC-BF9CEBAC88F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93237" y="3201013"/>
            <a:ext cx="1119210" cy="559606"/>
          </a:xfrm>
          <a:prstGeom prst="rect">
            <a:avLst/>
          </a:prstGeom>
        </p:spPr>
      </p:pic>
      <p:pic>
        <p:nvPicPr>
          <p:cNvPr id="63" name="Picture 2" descr="Scikit-learn — Вікіпедія">
            <a:extLst>
              <a:ext uri="{FF2B5EF4-FFF2-40B4-BE49-F238E27FC236}">
                <a16:creationId xmlns:a16="http://schemas.microsoft.com/office/drawing/2014/main" id="{352F9225-A29C-97D9-0079-39492CD3D37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29120" y="4034498"/>
            <a:ext cx="703622" cy="379956"/>
          </a:xfrm>
          <a:prstGeom prst="rect">
            <a:avLst/>
          </a:prstGeom>
          <a:noFill/>
          <a:extLst>
            <a:ext uri="{909E8E84-426E-40DD-AFC4-6F175D3DCCD1}">
              <a14:hiddenFill xmlns:a14="http://schemas.microsoft.com/office/drawing/2010/main">
                <a:solidFill>
                  <a:srgbClr val="FFFFFF"/>
                </a:solidFill>
              </a14:hiddenFill>
            </a:ext>
          </a:extLst>
        </p:spPr>
      </p:pic>
      <p:pic>
        <p:nvPicPr>
          <p:cNvPr id="64" name="Рисунок 24">
            <a:extLst>
              <a:ext uri="{FF2B5EF4-FFF2-40B4-BE49-F238E27FC236}">
                <a16:creationId xmlns:a16="http://schemas.microsoft.com/office/drawing/2014/main" id="{D8C1FB03-00BD-D11A-EDFC-5EF92353E27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765385" y="4026140"/>
            <a:ext cx="998364" cy="396671"/>
          </a:xfrm>
          <a:prstGeom prst="rect">
            <a:avLst/>
          </a:prstGeom>
        </p:spPr>
      </p:pic>
      <p:sp>
        <p:nvSpPr>
          <p:cNvPr id="65" name="Shape 39">
            <a:extLst>
              <a:ext uri="{FF2B5EF4-FFF2-40B4-BE49-F238E27FC236}">
                <a16:creationId xmlns:a16="http://schemas.microsoft.com/office/drawing/2014/main" id="{B7D75CB7-C66C-C428-866B-7F8CD2AD78CE}"/>
              </a:ext>
            </a:extLst>
          </p:cNvPr>
          <p:cNvSpPr/>
          <p:nvPr/>
        </p:nvSpPr>
        <p:spPr>
          <a:xfrm>
            <a:off x="6980979" y="2651708"/>
            <a:ext cx="411480" cy="411480"/>
          </a:xfrm>
          <a:prstGeom prst="ellipse">
            <a:avLst/>
          </a:prstGeom>
          <a:solidFill>
            <a:srgbClr val="DAF5E7"/>
          </a:solidFill>
          <a:ln w="12700">
            <a:solidFill>
              <a:srgbClr val="DAF5E7"/>
            </a:solidFill>
            <a:prstDash val="solid"/>
          </a:ln>
        </p:spPr>
        <p:txBody>
          <a:bodyPr/>
          <a:lstStyle/>
          <a:p>
            <a:endParaRPr lang="uk-UA"/>
          </a:p>
        </p:txBody>
      </p:sp>
      <p:pic>
        <p:nvPicPr>
          <p:cNvPr id="67" name="Image 0" descr="preencoded.png">
            <a:extLst>
              <a:ext uri="{FF2B5EF4-FFF2-40B4-BE49-F238E27FC236}">
                <a16:creationId xmlns:a16="http://schemas.microsoft.com/office/drawing/2014/main" id="{2413CF2E-B5F5-E95A-45EB-E8A134F78C0C}"/>
              </a:ext>
            </a:extLst>
          </p:cNvPr>
          <p:cNvPicPr>
            <a:picLocks noChangeAspect="1"/>
          </p:cNvPicPr>
          <p:nvPr/>
        </p:nvPicPr>
        <p:blipFill>
          <a:blip r:embed="rId13">
            <a:duotone>
              <a:prstClr val="black"/>
              <a:srgbClr val="21C97A">
                <a:tint val="45000"/>
                <a:satMod val="400000"/>
              </a:srgbClr>
            </a:duotone>
            <a:extLst>
              <a:ext uri="{BEBA8EAE-BF5A-486C-A8C5-ECC9F3942E4B}">
                <a14:imgProps xmlns:a14="http://schemas.microsoft.com/office/drawing/2010/main">
                  <a14:imgLayer r:embed="rId14">
                    <a14:imgEffect>
                      <a14:colorTemperature colorTemp="1500"/>
                    </a14:imgEffect>
                    <a14:imgEffect>
                      <a14:saturation sat="0"/>
                    </a14:imgEffect>
                  </a14:imgLayer>
                </a14:imgProps>
              </a:ext>
            </a:extLst>
          </a:blip>
          <a:stretch>
            <a:fillRect/>
          </a:stretch>
        </p:blipFill>
        <p:spPr>
          <a:xfrm>
            <a:off x="7077456" y="2757226"/>
            <a:ext cx="203910" cy="2039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МЕТРИКИ ОЦІНЮВАННЯ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Метрики для порівняння ефективності</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Значення всіх трьох метрик лежать у межах [0, 1] — більше значення відповідає вищій якості рекомендованого набору.</a:t>
            </a:r>
            <a:endParaRPr lang="en-US" sz="1100" dirty="0"/>
          </a:p>
        </p:txBody>
      </p:sp>
      <p:sp>
        <p:nvSpPr>
          <p:cNvPr id="6" name="Shape 4"/>
          <p:cNvSpPr/>
          <p:nvPr/>
        </p:nvSpPr>
        <p:spPr>
          <a:xfrm>
            <a:off x="45720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91640"/>
            <a:ext cx="26974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508760" y="1920240"/>
            <a:ext cx="594360" cy="59436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1657350" y="2068830"/>
            <a:ext cx="297180" cy="297180"/>
          </a:xfrm>
          <a:prstGeom prst="rect">
            <a:avLst/>
          </a:prstGeom>
        </p:spPr>
      </p:pic>
      <p:sp>
        <p:nvSpPr>
          <p:cNvPr id="10" name="Text 7"/>
          <p:cNvSpPr/>
          <p:nvPr/>
        </p:nvSpPr>
        <p:spPr>
          <a:xfrm>
            <a:off x="45720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Recall@k</a:t>
            </a:r>
            <a:endParaRPr lang="en-US" sz="1600" dirty="0"/>
          </a:p>
        </p:txBody>
      </p:sp>
      <p:sp>
        <p:nvSpPr>
          <p:cNvPr id="11" name="Text 8"/>
          <p:cNvSpPr/>
          <p:nvPr/>
        </p:nvSpPr>
        <p:spPr>
          <a:xfrm>
            <a:off x="45720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C5BD8"/>
                </a:solidFill>
                <a:latin typeface="Calibri" pitchFamily="34" charset="0"/>
                <a:ea typeface="Calibri" pitchFamily="34" charset="-122"/>
                <a:cs typeface="Calibri" pitchFamily="34" charset="-120"/>
              </a:rPr>
              <a:t>ПОВНОТА</a:t>
            </a:r>
            <a:endParaRPr lang="en-US" sz="900" dirty="0"/>
          </a:p>
        </p:txBody>
      </p:sp>
      <p:sp>
        <p:nvSpPr>
          <p:cNvPr id="12" name="Text 9"/>
          <p:cNvSpPr/>
          <p:nvPr/>
        </p:nvSpPr>
        <p:spPr>
          <a:xfrm>
            <a:off x="640080" y="3520440"/>
            <a:ext cx="2331720" cy="1188720"/>
          </a:xfrm>
          <a:prstGeom prst="rect">
            <a:avLst/>
          </a:prstGeom>
          <a:noFill/>
          <a:ln/>
        </p:spPr>
        <p:txBody>
          <a:bodyPr wrap="square" lIns="0" tIns="0" rIns="0" bIns="0" rtlCol="0" anchor="ctr"/>
          <a:lstStyle/>
          <a:p>
            <a:pPr marL="0" indent="0" algn="ctr">
              <a:lnSpc>
                <a:spcPct val="120000"/>
              </a:lnSpc>
              <a:buNone/>
            </a:pPr>
            <a:r>
              <a:rPr lang="uk-UA" sz="1000" noProof="0" dirty="0">
                <a:solidFill>
                  <a:srgbClr val="1F2937"/>
                </a:solidFill>
                <a:latin typeface="Calibri" pitchFamily="34" charset="0"/>
                <a:ea typeface="Calibri" pitchFamily="34" charset="-122"/>
                <a:cs typeface="Calibri" pitchFamily="34" charset="-120"/>
              </a:rPr>
              <a:t>Здатність знайти всі релевантні елементи серед топ-k результатів. Відображає, яку частку важливих елементів модель знайшла.</a:t>
            </a:r>
            <a:endParaRPr lang="uk-UA" sz="1000" noProof="0" dirty="0"/>
          </a:p>
        </p:txBody>
      </p:sp>
      <p:sp>
        <p:nvSpPr>
          <p:cNvPr id="13" name="Shape 10"/>
          <p:cNvSpPr/>
          <p:nvPr/>
        </p:nvSpPr>
        <p:spPr>
          <a:xfrm>
            <a:off x="333756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1"/>
          <p:cNvSpPr/>
          <p:nvPr/>
        </p:nvSpPr>
        <p:spPr>
          <a:xfrm>
            <a:off x="3337560" y="1691640"/>
            <a:ext cx="2697480" cy="54864"/>
          </a:xfrm>
          <a:prstGeom prst="rect">
            <a:avLst/>
          </a:prstGeom>
          <a:solidFill>
            <a:srgbClr val="20B7D1"/>
          </a:solidFill>
          <a:ln w="12700">
            <a:solidFill>
              <a:srgbClr val="20B7D1"/>
            </a:solidFill>
            <a:prstDash val="solid"/>
          </a:ln>
        </p:spPr>
        <p:txBody>
          <a:bodyPr/>
          <a:lstStyle/>
          <a:p>
            <a:endParaRPr lang="uk-UA"/>
          </a:p>
        </p:txBody>
      </p:sp>
      <p:sp>
        <p:nvSpPr>
          <p:cNvPr id="15" name="Shape 12"/>
          <p:cNvSpPr/>
          <p:nvPr/>
        </p:nvSpPr>
        <p:spPr>
          <a:xfrm>
            <a:off x="4389120" y="1920240"/>
            <a:ext cx="594360" cy="594360"/>
          </a:xfrm>
          <a:prstGeom prst="ellipse">
            <a:avLst/>
          </a:prstGeom>
          <a:solidFill>
            <a:srgbClr val="D6F1F7"/>
          </a:solidFill>
          <a:ln w="12700">
            <a:solidFill>
              <a:srgbClr val="D6F1F7"/>
            </a:solidFill>
            <a:prstDash val="solid"/>
          </a:ln>
        </p:spPr>
        <p:txBody>
          <a:bodyPr/>
          <a:lstStyle/>
          <a:p>
            <a:endParaRPr lang="uk-UA"/>
          </a:p>
        </p:txBody>
      </p:sp>
      <p:pic>
        <p:nvPicPr>
          <p:cNvPr id="16" name="Image 1" descr="preencoded.png"/>
          <p:cNvPicPr>
            <a:picLocks noChangeAspect="1"/>
          </p:cNvPicPr>
          <p:nvPr/>
        </p:nvPicPr>
        <p:blipFill>
          <a:blip r:embed="rId4"/>
          <a:stretch>
            <a:fillRect/>
          </a:stretch>
        </p:blipFill>
        <p:spPr>
          <a:xfrm>
            <a:off x="4537710" y="2068830"/>
            <a:ext cx="297180" cy="297180"/>
          </a:xfrm>
          <a:prstGeom prst="rect">
            <a:avLst/>
          </a:prstGeom>
        </p:spPr>
      </p:pic>
      <p:sp>
        <p:nvSpPr>
          <p:cNvPr id="17" name="Text 13"/>
          <p:cNvSpPr/>
          <p:nvPr/>
        </p:nvSpPr>
        <p:spPr>
          <a:xfrm>
            <a:off x="333756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NDCG@k</a:t>
            </a:r>
            <a:endParaRPr lang="en-US" sz="1600" dirty="0"/>
          </a:p>
        </p:txBody>
      </p:sp>
      <p:sp>
        <p:nvSpPr>
          <p:cNvPr id="18" name="Text 14"/>
          <p:cNvSpPr/>
          <p:nvPr/>
        </p:nvSpPr>
        <p:spPr>
          <a:xfrm>
            <a:off x="333756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0B7D1"/>
                </a:solidFill>
                <a:latin typeface="Calibri" pitchFamily="34" charset="0"/>
                <a:ea typeface="Calibri" pitchFamily="34" charset="-122"/>
                <a:cs typeface="Calibri" pitchFamily="34" charset="-120"/>
              </a:rPr>
              <a:t>ЯКІСТЬ РАНЖУВАННЯ</a:t>
            </a:r>
            <a:endParaRPr lang="en-US" sz="900" dirty="0"/>
          </a:p>
        </p:txBody>
      </p:sp>
      <p:sp>
        <p:nvSpPr>
          <p:cNvPr id="19" name="Text 15"/>
          <p:cNvSpPr/>
          <p:nvPr/>
        </p:nvSpPr>
        <p:spPr>
          <a:xfrm>
            <a:off x="3520440" y="3520440"/>
            <a:ext cx="2331720" cy="1188720"/>
          </a:xfrm>
          <a:prstGeom prst="rect">
            <a:avLst/>
          </a:prstGeom>
          <a:noFill/>
          <a:ln/>
        </p:spPr>
        <p:txBody>
          <a:bodyPr wrap="square" lIns="0" tIns="0" rIns="0" bIns="0" rtlCol="0" anchor="ctr"/>
          <a:lstStyle/>
          <a:p>
            <a:pPr marL="0" indent="0" algn="ctr">
              <a:lnSpc>
                <a:spcPct val="120000"/>
              </a:lnSpc>
              <a:buNone/>
            </a:pPr>
            <a:r>
              <a:rPr lang="en-US" sz="1000" noProof="0" dirty="0">
                <a:solidFill>
                  <a:srgbClr val="1F2937"/>
                </a:solidFill>
                <a:latin typeface="Calibri" pitchFamily="34" charset="0"/>
                <a:ea typeface="Calibri" pitchFamily="34" charset="-122"/>
                <a:cs typeface="Calibri" pitchFamily="34" charset="-120"/>
              </a:rPr>
              <a:t>Normalized Discounted Cumulative Gain</a:t>
            </a:r>
            <a:r>
              <a:rPr lang="uk-UA" sz="1000" noProof="0" dirty="0">
                <a:solidFill>
                  <a:srgbClr val="1F2937"/>
                </a:solidFill>
                <a:latin typeface="Calibri" pitchFamily="34" charset="0"/>
                <a:ea typeface="Calibri" pitchFamily="34" charset="-122"/>
                <a:cs typeface="Calibri" pitchFamily="34" charset="-120"/>
              </a:rPr>
              <a:t>. Надає більшу оцінку правильно визначеним елементам, розташованим на вищих позиціях.</a:t>
            </a:r>
            <a:endParaRPr lang="uk-UA" sz="1000" noProof="0" dirty="0"/>
          </a:p>
        </p:txBody>
      </p:sp>
      <p:sp>
        <p:nvSpPr>
          <p:cNvPr id="20" name="Shape 16"/>
          <p:cNvSpPr/>
          <p:nvPr/>
        </p:nvSpPr>
        <p:spPr>
          <a:xfrm>
            <a:off x="621792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7"/>
          <p:cNvSpPr/>
          <p:nvPr/>
        </p:nvSpPr>
        <p:spPr>
          <a:xfrm>
            <a:off x="6217920" y="1691640"/>
            <a:ext cx="2697480" cy="54864"/>
          </a:xfrm>
          <a:prstGeom prst="rect">
            <a:avLst/>
          </a:prstGeom>
          <a:solidFill>
            <a:srgbClr val="F0A93B"/>
          </a:solidFill>
          <a:ln w="12700">
            <a:solidFill>
              <a:srgbClr val="F0A93B"/>
            </a:solidFill>
            <a:prstDash val="solid"/>
          </a:ln>
        </p:spPr>
        <p:txBody>
          <a:bodyPr/>
          <a:lstStyle/>
          <a:p>
            <a:endParaRPr lang="uk-UA"/>
          </a:p>
        </p:txBody>
      </p:sp>
      <p:sp>
        <p:nvSpPr>
          <p:cNvPr id="22" name="Shape 18"/>
          <p:cNvSpPr/>
          <p:nvPr/>
        </p:nvSpPr>
        <p:spPr>
          <a:xfrm>
            <a:off x="7269480" y="1920240"/>
            <a:ext cx="594360" cy="594360"/>
          </a:xfrm>
          <a:prstGeom prst="ellipse">
            <a:avLst/>
          </a:prstGeom>
          <a:solidFill>
            <a:srgbClr val="FBE9CD"/>
          </a:solidFill>
          <a:ln w="12700">
            <a:solidFill>
              <a:srgbClr val="FBE9CD"/>
            </a:solidFill>
            <a:prstDash val="solid"/>
          </a:ln>
        </p:spPr>
        <p:txBody>
          <a:bodyPr/>
          <a:lstStyle/>
          <a:p>
            <a:endParaRPr lang="uk-UA"/>
          </a:p>
        </p:txBody>
      </p:sp>
      <p:pic>
        <p:nvPicPr>
          <p:cNvPr id="23" name="Image 2" descr="preencoded.png"/>
          <p:cNvPicPr>
            <a:picLocks noChangeAspect="1"/>
          </p:cNvPicPr>
          <p:nvPr/>
        </p:nvPicPr>
        <p:blipFill>
          <a:blip r:embed="rId5"/>
          <a:stretch>
            <a:fillRect/>
          </a:stretch>
        </p:blipFill>
        <p:spPr>
          <a:xfrm>
            <a:off x="7418070" y="2068830"/>
            <a:ext cx="297180" cy="297180"/>
          </a:xfrm>
          <a:prstGeom prst="rect">
            <a:avLst/>
          </a:prstGeom>
        </p:spPr>
      </p:pic>
      <p:sp>
        <p:nvSpPr>
          <p:cNvPr id="24" name="Text 19"/>
          <p:cNvSpPr/>
          <p:nvPr/>
        </p:nvSpPr>
        <p:spPr>
          <a:xfrm>
            <a:off x="621792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Coverage@k</a:t>
            </a:r>
            <a:endParaRPr lang="en-US" sz="1600" dirty="0"/>
          </a:p>
        </p:txBody>
      </p:sp>
      <p:sp>
        <p:nvSpPr>
          <p:cNvPr id="25" name="Text 20"/>
          <p:cNvSpPr/>
          <p:nvPr/>
        </p:nvSpPr>
        <p:spPr>
          <a:xfrm>
            <a:off x="621792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F0A93B"/>
                </a:solidFill>
                <a:latin typeface="Calibri" pitchFamily="34" charset="0"/>
                <a:ea typeface="Calibri" pitchFamily="34" charset="-122"/>
                <a:cs typeface="Calibri" pitchFamily="34" charset="-120"/>
              </a:rPr>
              <a:t>РІЗНОМАНІТНІСТЬ</a:t>
            </a:r>
            <a:endParaRPr lang="en-US" sz="900" dirty="0"/>
          </a:p>
        </p:txBody>
      </p:sp>
      <p:sp>
        <p:nvSpPr>
          <p:cNvPr id="26" name="Text 21"/>
          <p:cNvSpPr/>
          <p:nvPr/>
        </p:nvSpPr>
        <p:spPr>
          <a:xfrm>
            <a:off x="6400800" y="3402330"/>
            <a:ext cx="2331720" cy="1188720"/>
          </a:xfrm>
          <a:prstGeom prst="rect">
            <a:avLst/>
          </a:prstGeom>
          <a:noFill/>
          <a:ln/>
        </p:spPr>
        <p:txBody>
          <a:bodyPr wrap="square" lIns="0" tIns="0" rIns="0" bIns="0" rtlCol="0" anchor="ctr"/>
          <a:lstStyle/>
          <a:p>
            <a:pPr marL="0" indent="0" algn="ctr">
              <a:lnSpc>
                <a:spcPct val="120000"/>
              </a:lnSpc>
              <a:buNone/>
            </a:pPr>
            <a:r>
              <a:rPr lang="en-US" sz="1000" dirty="0">
                <a:solidFill>
                  <a:srgbClr val="1F2937"/>
                </a:solidFill>
                <a:latin typeface="Calibri" pitchFamily="34" charset="0"/>
                <a:ea typeface="Calibri" pitchFamily="34" charset="-122"/>
                <a:cs typeface="Calibri" pitchFamily="34" charset="-120"/>
              </a:rPr>
              <a:t>Оцінює різноманітність використання каталогу — скільки різних фільмів система загалом використовує у рекомендаціях.</a:t>
            </a:r>
            <a:endParaRPr lang="en-US" sz="1000" dirty="0"/>
          </a:p>
        </p:txBody>
      </p:sp>
      <p:sp>
        <p:nvSpPr>
          <p:cNvPr id="28"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0"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14 / 18</a:t>
            </a:r>
            <a:endParaRPr lang="en-US" sz="900" dirty="0"/>
          </a:p>
        </p:txBody>
      </p:sp>
      <p:sp>
        <p:nvSpPr>
          <p:cNvPr id="27" name="Text 28">
            <a:extLst>
              <a:ext uri="{FF2B5EF4-FFF2-40B4-BE49-F238E27FC236}">
                <a16:creationId xmlns:a16="http://schemas.microsoft.com/office/drawing/2014/main" id="{137F9C2B-2146-897F-DA23-317DF47A6E43}"/>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6632C0F-5C1D-2C74-1F43-4E4BADC3A37D}"/>
                  </a:ext>
                </a:extLst>
              </p:cNvPr>
              <p:cNvSpPr txBox="1"/>
              <p:nvPr/>
            </p:nvSpPr>
            <p:spPr>
              <a:xfrm>
                <a:off x="805007" y="3132542"/>
                <a:ext cx="2166793" cy="47019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1100" i="1" smtClean="0">
                          <a:solidFill>
                            <a:schemeClr val="tx1"/>
                          </a:solidFill>
                          <a:latin typeface="Cambria Math" panose="02040503050406030204" pitchFamily="18" charset="0"/>
                        </a:rPr>
                        <m:t>R</m:t>
                      </m:r>
                      <m:r>
                        <a:rPr lang="en-US" sz="1100" b="0" i="1" smtClean="0">
                          <a:solidFill>
                            <a:schemeClr val="tx1"/>
                          </a:solidFill>
                          <a:latin typeface="Cambria Math" panose="02040503050406030204" pitchFamily="18" charset="0"/>
                        </a:rPr>
                        <m:t>𝑒𝑐𝑎𝑙𝑙</m:t>
                      </m:r>
                      <m:r>
                        <a:rPr lang="uk-UA" sz="1100" i="0">
                          <a:solidFill>
                            <a:schemeClr val="tx1"/>
                          </a:solidFill>
                          <a:latin typeface="Cambria Math" panose="02040503050406030204" pitchFamily="18" charset="0"/>
                        </a:rPr>
                        <m:t>@</m:t>
                      </m:r>
                      <m:r>
                        <a:rPr lang="uk-UA" sz="1100" i="1">
                          <a:solidFill>
                            <a:schemeClr val="tx1"/>
                          </a:solidFill>
                          <a:latin typeface="Cambria Math" panose="02040503050406030204" pitchFamily="18" charset="0"/>
                        </a:rPr>
                        <m:t>𝑘</m:t>
                      </m:r>
                      <m:r>
                        <a:rPr lang="uk-UA" sz="1100" i="0">
                          <a:solidFill>
                            <a:schemeClr val="tx1"/>
                          </a:solidFill>
                          <a:latin typeface="Cambria Math" panose="02040503050406030204" pitchFamily="18" charset="0"/>
                        </a:rPr>
                        <m:t>=</m:t>
                      </m:r>
                      <m:f>
                        <m:fPr>
                          <m:ctrlPr>
                            <a:rPr lang="uk-UA" sz="1100" i="1">
                              <a:solidFill>
                                <a:schemeClr val="tx1"/>
                              </a:solidFill>
                              <a:latin typeface="Cambria Math" panose="02040503050406030204" pitchFamily="18" charset="0"/>
                            </a:rPr>
                          </m:ctrlPr>
                        </m:fPr>
                        <m:num>
                          <m:nary>
                            <m:naryPr>
                              <m:chr m:val="∑"/>
                              <m:ctrlPr>
                                <a:rPr lang="uk-UA" sz="1100" i="1" smtClean="0">
                                  <a:solidFill>
                                    <a:schemeClr val="tx1"/>
                                  </a:solidFill>
                                  <a:latin typeface="Cambria Math" panose="02040503050406030204" pitchFamily="18" charset="0"/>
                                </a:rPr>
                              </m:ctrlPr>
                            </m:naryPr>
                            <m:sub>
                              <m:r>
                                <m:rPr>
                                  <m:brk m:alnAt="23"/>
                                </m:rP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=1</m:t>
                              </m:r>
                            </m:sub>
                            <m:sup>
                              <m:r>
                                <a:rPr lang="en-US" sz="1100" b="0" i="1" smtClean="0">
                                  <a:solidFill>
                                    <a:schemeClr val="tx1"/>
                                  </a:solidFill>
                                  <a:latin typeface="Cambria Math" panose="02040503050406030204" pitchFamily="18" charset="0"/>
                                </a:rPr>
                                <m:t>𝑘</m:t>
                              </m:r>
                            </m:sup>
                            <m:e>
                              <m:r>
                                <a:rPr lang="en-US" sz="1100" b="0" i="1" smtClean="0">
                                  <a:solidFill>
                                    <a:schemeClr val="tx1"/>
                                  </a:solidFill>
                                  <a:latin typeface="Cambria Math" panose="02040503050406030204" pitchFamily="18" charset="0"/>
                                </a:rPr>
                                <m:t>𝑟𝑒𝑙</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m:t>
                              </m:r>
                            </m:e>
                          </m:nary>
                        </m:num>
                        <m:den>
                          <m:r>
                            <a:rPr lang="en-US" sz="1100" b="0" i="1" smtClean="0">
                              <a:solidFill>
                                <a:schemeClr val="tx1"/>
                              </a:solidFill>
                              <a:latin typeface="Cambria Math" panose="02040503050406030204" pitchFamily="18" charset="0"/>
                            </a:rPr>
                            <m:t>𝑟𝑒</m:t>
                          </m:r>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𝑙</m:t>
                              </m:r>
                            </m:e>
                            <m:sub>
                              <m:r>
                                <a:rPr lang="en-US" sz="1100" b="0" i="1" smtClean="0">
                                  <a:solidFill>
                                    <a:schemeClr val="tx1"/>
                                  </a:solidFill>
                                  <a:latin typeface="Cambria Math" panose="02040503050406030204" pitchFamily="18" charset="0"/>
                                </a:rPr>
                                <m:t>𝑐𝑜𝑢𝑛𝑡</m:t>
                              </m:r>
                            </m:sub>
                          </m:sSub>
                        </m:den>
                      </m:f>
                    </m:oMath>
                  </m:oMathPara>
                </a14:m>
                <a:endParaRPr lang="uk-UA" sz="1100" dirty="0">
                  <a:solidFill>
                    <a:schemeClr val="tx1"/>
                  </a:solidFill>
                </a:endParaRPr>
              </a:p>
            </p:txBody>
          </p:sp>
        </mc:Choice>
        <mc:Fallback xmlns="">
          <p:sp>
            <p:nvSpPr>
              <p:cNvPr id="31" name="TextBox 30">
                <a:extLst>
                  <a:ext uri="{FF2B5EF4-FFF2-40B4-BE49-F238E27FC236}">
                    <a16:creationId xmlns:a16="http://schemas.microsoft.com/office/drawing/2014/main" id="{A6632C0F-5C1D-2C74-1F43-4E4BADC3A37D}"/>
                  </a:ext>
                </a:extLst>
              </p:cNvPr>
              <p:cNvSpPr txBox="1">
                <a:spLocks noRot="1" noChangeAspect="1" noMove="1" noResize="1" noEditPoints="1" noAdjustHandles="1" noChangeArrowheads="1" noChangeShapeType="1" noTextEdit="1"/>
              </p:cNvSpPr>
              <p:nvPr/>
            </p:nvSpPr>
            <p:spPr>
              <a:xfrm>
                <a:off x="805007" y="3132542"/>
                <a:ext cx="2166793" cy="470193"/>
              </a:xfrm>
              <a:prstGeom prst="rect">
                <a:avLst/>
              </a:prstGeom>
              <a:blipFill>
                <a:blip r:embed="rId6"/>
                <a:stretch>
                  <a:fillRect t="-49351" b="-42857"/>
                </a:stretch>
              </a:blipFill>
              <a:ln>
                <a:noFill/>
              </a:ln>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D9FC71C-C824-E141-C8BA-72BB18F5842D}"/>
                  </a:ext>
                </a:extLst>
              </p:cNvPr>
              <p:cNvSpPr txBox="1"/>
              <p:nvPr/>
            </p:nvSpPr>
            <p:spPr>
              <a:xfrm>
                <a:off x="3337560" y="3003954"/>
                <a:ext cx="2697480" cy="65197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14:m>
                  <m:oMathPara xmlns:m="http://schemas.openxmlformats.org/officeDocument/2006/math">
                    <m:oMathParaPr>
                      <m:jc m:val="center"/>
                    </m:oMathParaPr>
                    <m:oMath xmlns:m="http://schemas.openxmlformats.org/officeDocument/2006/math">
                      <m:r>
                        <a:rPr lang="uk-UA" sz="1100" i="1" smtClean="0">
                          <a:latin typeface="Cambria Math" panose="02040503050406030204" pitchFamily="18" charset="0"/>
                        </a:rPr>
                        <m:t>𝑁𝐷𝐶𝐺</m:t>
                      </m:r>
                      <m:r>
                        <a:rPr lang="uk-UA" sz="1100" i="0" smtClean="0">
                          <a:latin typeface="Cambria Math" panose="02040503050406030204" pitchFamily="18" charset="0"/>
                        </a:rPr>
                        <m:t>@</m:t>
                      </m:r>
                      <m:r>
                        <a:rPr lang="uk-UA" sz="1100" i="1" smtClean="0">
                          <a:latin typeface="Cambria Math" panose="02040503050406030204" pitchFamily="18" charset="0"/>
                        </a:rPr>
                        <m:t>𝑘</m:t>
                      </m:r>
                      <m:r>
                        <a:rPr lang="uk-UA" sz="1100" i="0" smtClean="0">
                          <a:latin typeface="Cambria Math" panose="02040503050406030204" pitchFamily="18" charset="0"/>
                        </a:rPr>
                        <m:t>=</m:t>
                      </m:r>
                      <m:f>
                        <m:fPr>
                          <m:ctrlPr>
                            <a:rPr lang="uk-UA" sz="1100" i="1" smtClean="0">
                              <a:solidFill>
                                <a:schemeClr val="tx1"/>
                              </a:solidFill>
                              <a:latin typeface="Cambria Math" panose="02040503050406030204" pitchFamily="18" charset="0"/>
                            </a:rPr>
                          </m:ctrlPr>
                        </m:fPr>
                        <m:num>
                          <m:nary>
                            <m:naryPr>
                              <m:chr m:val="∑"/>
                              <m:ctrlPr>
                                <a:rPr lang="uk-UA" sz="1100" i="1" smtClean="0">
                                  <a:solidFill>
                                    <a:schemeClr val="tx1"/>
                                  </a:solidFill>
                                  <a:latin typeface="Cambria Math" panose="02040503050406030204" pitchFamily="18" charset="0"/>
                                </a:rPr>
                              </m:ctrlPr>
                            </m:naryPr>
                            <m:sub>
                              <m:r>
                                <m:rPr>
                                  <m:brk m:alnAt="23"/>
                                </m:rP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=1</m:t>
                              </m:r>
                            </m:sub>
                            <m:sup>
                              <m:r>
                                <a:rPr lang="en-US" sz="1100" b="0" i="1" smtClean="0">
                                  <a:solidFill>
                                    <a:schemeClr val="tx1"/>
                                  </a:solidFill>
                                  <a:latin typeface="Cambria Math" panose="02040503050406030204" pitchFamily="18" charset="0"/>
                                </a:rPr>
                                <m:t>𝑘</m:t>
                              </m:r>
                            </m:sup>
                            <m:e>
                              <m:f>
                                <m:fPr>
                                  <m:ctrlPr>
                                    <a:rPr lang="uk-UA" sz="1100" i="1">
                                      <a:solidFill>
                                        <a:schemeClr val="tx1"/>
                                      </a:solidFill>
                                      <a:latin typeface="Cambria Math" panose="02040503050406030204" pitchFamily="18" charset="0"/>
                                    </a:rPr>
                                  </m:ctrlPr>
                                </m:fPr>
                                <m:num>
                                  <m:r>
                                    <a:rPr lang="uk-UA" sz="1100" i="1">
                                      <a:solidFill>
                                        <a:schemeClr val="tx1"/>
                                      </a:solidFill>
                                      <a:latin typeface="Cambria Math" panose="02040503050406030204" pitchFamily="18" charset="0"/>
                                    </a:rPr>
                                    <m:t>𝑟𝑒</m:t>
                                  </m:r>
                                  <m:r>
                                    <a:rPr lang="en-US" sz="1100" b="0" i="1" smtClean="0">
                                      <a:solidFill>
                                        <a:schemeClr val="tx1"/>
                                      </a:solidFill>
                                      <a:latin typeface="Cambria Math" panose="02040503050406030204" pitchFamily="18" charset="0"/>
                                    </a:rPr>
                                    <m:t>𝑙</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m:t>
                                  </m:r>
                                </m:num>
                                <m:den>
                                  <m:func>
                                    <m:funcPr>
                                      <m:ctrlPr>
                                        <a:rPr lang="uk-UA" sz="1100" i="1">
                                          <a:solidFill>
                                            <a:schemeClr val="tx1"/>
                                          </a:solidFill>
                                          <a:latin typeface="Cambria Math" panose="02040503050406030204" pitchFamily="18" charset="0"/>
                                        </a:rPr>
                                      </m:ctrlPr>
                                    </m:funcPr>
                                    <m:fName>
                                      <m:sSub>
                                        <m:sSubPr>
                                          <m:ctrlPr>
                                            <a:rPr lang="uk-UA" sz="1100" i="1">
                                              <a:solidFill>
                                                <a:schemeClr val="tx1"/>
                                              </a:solidFill>
                                              <a:latin typeface="Cambria Math" panose="02040503050406030204" pitchFamily="18" charset="0"/>
                                            </a:rPr>
                                          </m:ctrlPr>
                                        </m:sSubPr>
                                        <m:e>
                                          <m:r>
                                            <m:rPr>
                                              <m:sty m:val="p"/>
                                            </m:rPr>
                                            <a:rPr lang="uk-UA" sz="1100">
                                              <a:solidFill>
                                                <a:schemeClr val="tx1"/>
                                              </a:solidFill>
                                              <a:latin typeface="Cambria Math" panose="02040503050406030204" pitchFamily="18" charset="0"/>
                                            </a:rPr>
                                            <m:t>log</m:t>
                                          </m:r>
                                        </m:e>
                                        <m:sub>
                                          <m:r>
                                            <a:rPr lang="uk-UA" sz="1100">
                                              <a:solidFill>
                                                <a:schemeClr val="tx1"/>
                                              </a:solidFill>
                                              <a:latin typeface="Cambria Math" panose="02040503050406030204" pitchFamily="18" charset="0"/>
                                            </a:rPr>
                                            <m:t>2</m:t>
                                          </m:r>
                                        </m:sub>
                                      </m:sSub>
                                    </m:fName>
                                    <m:e>
                                      <m:d>
                                        <m:dPr>
                                          <m:ctrlPr>
                                            <a:rPr lang="uk-UA" sz="1100" i="1">
                                              <a:solidFill>
                                                <a:schemeClr val="tx1"/>
                                              </a:solidFill>
                                              <a:latin typeface="Cambria Math" panose="02040503050406030204" pitchFamily="18" charset="0"/>
                                            </a:rPr>
                                          </m:ctrlPr>
                                        </m:dPr>
                                        <m:e>
                                          <m:r>
                                            <a:rPr lang="uk-UA" sz="1100" i="1">
                                              <a:solidFill>
                                                <a:schemeClr val="tx1"/>
                                              </a:solidFill>
                                              <a:latin typeface="Cambria Math" panose="02040503050406030204" pitchFamily="18" charset="0"/>
                                            </a:rPr>
                                            <m:t>𝑖</m:t>
                                          </m:r>
                                          <m:r>
                                            <a:rPr lang="uk-UA" sz="1100">
                                              <a:solidFill>
                                                <a:schemeClr val="tx1"/>
                                              </a:solidFill>
                                              <a:latin typeface="Cambria Math" panose="02040503050406030204" pitchFamily="18" charset="0"/>
                                            </a:rPr>
                                            <m:t>+1</m:t>
                                          </m:r>
                                        </m:e>
                                      </m:d>
                                    </m:e>
                                  </m:func>
                                </m:den>
                              </m:f>
                            </m:e>
                          </m:nary>
                        </m:num>
                        <m:den>
                          <m:nary>
                            <m:naryPr>
                              <m:chr m:val="∑"/>
                              <m:limLoc m:val="undOvr"/>
                              <m:ctrlPr>
                                <a:rPr lang="uk-UA" sz="1100" i="1">
                                  <a:latin typeface="Cambria Math" panose="02040503050406030204" pitchFamily="18" charset="0"/>
                                </a:rPr>
                              </m:ctrlPr>
                            </m:naryPr>
                            <m:sub>
                              <m:r>
                                <a:rPr lang="en-US" sz="1100" i="1">
                                  <a:latin typeface="Cambria Math" panose="02040503050406030204" pitchFamily="18" charset="0"/>
                                </a:rPr>
                                <m:t>𝑖</m:t>
                              </m:r>
                              <m:r>
                                <a:rPr lang="en-US" sz="1100" i="1">
                                  <a:latin typeface="Cambria Math" panose="02040503050406030204" pitchFamily="18" charset="0"/>
                                </a:rPr>
                                <m:t>=1</m:t>
                              </m:r>
                            </m:sub>
                            <m:sup>
                              <m:r>
                                <m:rPr>
                                  <m:sty m:val="p"/>
                                </m:rPr>
                                <a:rPr lang="en-US" sz="1100">
                                  <a:latin typeface="Cambria Math" panose="02040503050406030204" pitchFamily="18" charset="0"/>
                                </a:rPr>
                                <m:t>min</m:t>
                              </m:r>
                              <m:r>
                                <a:rPr lang="en-US" sz="1100" i="1">
                                  <a:latin typeface="Cambria Math" panose="02040503050406030204" pitchFamily="18" charset="0"/>
                                </a:rPr>
                                <m:t>(</m:t>
                              </m:r>
                              <m:r>
                                <a:rPr lang="en-US" sz="1100" i="1">
                                  <a:latin typeface="Cambria Math" panose="02040503050406030204" pitchFamily="18" charset="0"/>
                                </a:rPr>
                                <m:t>𝑟𝑒</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𝑙</m:t>
                                  </m:r>
                                </m:e>
                                <m:sub>
                                  <m:r>
                                    <a:rPr lang="en-US" sz="1100" b="0" i="1" smtClean="0">
                                      <a:latin typeface="Cambria Math" panose="02040503050406030204" pitchFamily="18" charset="0"/>
                                    </a:rPr>
                                    <m:t>𝑐𝑜𝑢𝑛𝑡</m:t>
                                  </m:r>
                                </m:sub>
                              </m:sSub>
                              <m:r>
                                <a:rPr lang="en-US" sz="1100" i="1">
                                  <a:latin typeface="Cambria Math" panose="02040503050406030204" pitchFamily="18" charset="0"/>
                                </a:rPr>
                                <m:t>,   </m:t>
                              </m:r>
                              <m:r>
                                <a:rPr lang="en-US" sz="1100" i="1">
                                  <a:latin typeface="Cambria Math" panose="02040503050406030204" pitchFamily="18" charset="0"/>
                                </a:rPr>
                                <m:t>𝑘</m:t>
                              </m:r>
                              <m:r>
                                <a:rPr lang="en-US" sz="1100" i="1">
                                  <a:latin typeface="Cambria Math" panose="02040503050406030204" pitchFamily="18" charset="0"/>
                                </a:rPr>
                                <m:t>)</m:t>
                              </m:r>
                            </m:sup>
                            <m:e>
                              <m:sSubSup>
                                <m:sSubSupPr>
                                  <m:ctrlPr>
                                    <a:rPr lang="en-US" sz="1100" i="1" smtClean="0">
                                      <a:latin typeface="Cambria Math" panose="02040503050406030204" pitchFamily="18" charset="0"/>
                                    </a:rPr>
                                  </m:ctrlPr>
                                </m:sSubSupPr>
                                <m:e>
                                  <m:r>
                                    <a:rPr lang="en-US" sz="1100" b="0" i="1" smtClean="0">
                                      <a:latin typeface="Cambria Math" panose="02040503050406030204" pitchFamily="18" charset="0"/>
                                    </a:rPr>
                                    <m:t>𝑙𝑜𝑔</m:t>
                                  </m:r>
                                </m:e>
                                <m:sub>
                                  <m:r>
                                    <a:rPr lang="en-US" sz="1100" b="0" i="1" smtClean="0">
                                      <a:latin typeface="Cambria Math" panose="02040503050406030204" pitchFamily="18" charset="0"/>
                                    </a:rPr>
                                    <m:t>2</m:t>
                                  </m:r>
                                </m:sub>
                                <m:sup>
                                  <m:r>
                                    <a:rPr lang="en-US" sz="1100" b="0" i="1" smtClean="0">
                                      <a:latin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𝑖</m:t>
                              </m:r>
                              <m:r>
                                <a:rPr lang="en-US" sz="1100" b="0" i="1" smtClean="0">
                                  <a:latin typeface="Cambria Math" panose="02040503050406030204" pitchFamily="18" charset="0"/>
                                </a:rPr>
                                <m:t>+1)</m:t>
                              </m:r>
                            </m:e>
                          </m:nary>
                        </m:den>
                      </m:f>
                    </m:oMath>
                  </m:oMathPara>
                </a14:m>
                <a:endParaRPr lang="uk-UA" sz="1100" dirty="0"/>
              </a:p>
            </p:txBody>
          </p:sp>
        </mc:Choice>
        <mc:Fallback xmlns="">
          <p:sp>
            <p:nvSpPr>
              <p:cNvPr id="32" name="TextBox 31">
                <a:extLst>
                  <a:ext uri="{FF2B5EF4-FFF2-40B4-BE49-F238E27FC236}">
                    <a16:creationId xmlns:a16="http://schemas.microsoft.com/office/drawing/2014/main" id="{9D9FC71C-C824-E141-C8BA-72BB18F5842D}"/>
                  </a:ext>
                </a:extLst>
              </p:cNvPr>
              <p:cNvSpPr txBox="1">
                <a:spLocks noRot="1" noChangeAspect="1" noMove="1" noResize="1" noEditPoints="1" noAdjustHandles="1" noChangeArrowheads="1" noChangeShapeType="1" noTextEdit="1"/>
              </p:cNvSpPr>
              <p:nvPr/>
            </p:nvSpPr>
            <p:spPr>
              <a:xfrm>
                <a:off x="3337560" y="3003954"/>
                <a:ext cx="2697480" cy="651973"/>
              </a:xfrm>
              <a:prstGeom prst="rect">
                <a:avLst/>
              </a:prstGeom>
              <a:blipFill>
                <a:blip r:embed="rId7"/>
                <a:stretch>
                  <a:fillRect/>
                </a:stretch>
              </a:blipFill>
              <a:ln>
                <a:noFill/>
              </a:ln>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08EFC22-52E5-A936-AD98-DCA7BE853B36}"/>
                  </a:ext>
                </a:extLst>
              </p:cNvPr>
              <p:cNvSpPr txBox="1"/>
              <p:nvPr/>
            </p:nvSpPr>
            <p:spPr>
              <a:xfrm>
                <a:off x="6746691" y="3188292"/>
                <a:ext cx="1848669" cy="39792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r>
                  <a:rPr lang="en-US" sz="1100" dirty="0">
                    <a:latin typeface="Times New Roman" panose="02020603050405020304" pitchFamily="18" charset="0"/>
                    <a:cs typeface="Times New Roman" panose="02020603050405020304" pitchFamily="18" charset="0"/>
                  </a:rPr>
                  <a:t>Coverage</a:t>
                </a:r>
                <a14:m>
                  <m:oMath xmlns:m="http://schemas.openxmlformats.org/officeDocument/2006/math">
                    <m:r>
                      <a:rPr lang="uk-UA" sz="1100" i="0">
                        <a:latin typeface="Cambria Math" panose="02040503050406030204" pitchFamily="18" charset="0"/>
                      </a:rPr>
                      <m:t>@</m:t>
                    </m:r>
                    <m:r>
                      <a:rPr lang="uk-UA" sz="1100" i="1">
                        <a:latin typeface="Cambria Math" panose="02040503050406030204" pitchFamily="18" charset="0"/>
                      </a:rPr>
                      <m:t>𝑘</m:t>
                    </m:r>
                    <m:r>
                      <a:rPr lang="uk-UA" sz="1100" i="0">
                        <a:latin typeface="Cambria Math" panose="02040503050406030204" pitchFamily="18" charset="0"/>
                      </a:rPr>
                      <m:t>=</m:t>
                    </m:r>
                    <m:f>
                      <m:fPr>
                        <m:ctrlPr>
                          <a:rPr lang="uk-UA" sz="1100" i="1" smtClean="0">
                            <a:solidFill>
                              <a:schemeClr val="tx1"/>
                            </a:solidFill>
                            <a:latin typeface="Cambria Math" panose="02040503050406030204" pitchFamily="18" charset="0"/>
                          </a:rPr>
                        </m:ctrlPr>
                      </m:fPr>
                      <m:num>
                        <m:d>
                          <m:dPr>
                            <m:begChr m:val="|"/>
                            <m:endChr m:val="|"/>
                            <m:ctrlPr>
                              <a:rPr lang="uk-UA" sz="1100" i="1" smtClean="0">
                                <a:solidFill>
                                  <a:schemeClr val="tx1"/>
                                </a:solidFill>
                                <a:latin typeface="Cambria Math" panose="02040503050406030204" pitchFamily="18" charset="0"/>
                              </a:rPr>
                            </m:ctrlPr>
                          </m:dPr>
                          <m:e>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m:t>
                                </m:r>
                              </m:e>
                              <m:sub>
                                <m:r>
                                  <a:rPr lang="en-US" sz="1100" b="0" i="1" smtClean="0">
                                    <a:solidFill>
                                      <a:schemeClr val="tx1"/>
                                    </a:solidFill>
                                    <a:latin typeface="Cambria Math" panose="02040503050406030204" pitchFamily="18" charset="0"/>
                                  </a:rPr>
                                  <m:t>𝑔</m:t>
                                </m:r>
                                <m:r>
                                  <a:rPr lang="en-US"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𝐺</m:t>
                                </m:r>
                              </m:sub>
                            </m:sSub>
                            <m:sSubSup>
                              <m:sSubSupPr>
                                <m:ctrlPr>
                                  <a:rPr lang="en-US" sz="1100" b="0" i="1" smtClean="0">
                                    <a:solidFill>
                                      <a:schemeClr val="tx1"/>
                                    </a:solidFill>
                                    <a:latin typeface="Cambria Math" panose="02040503050406030204" pitchFamily="18" charset="0"/>
                                  </a:rPr>
                                </m:ctrlPr>
                              </m:sSubSupPr>
                              <m:e>
                                <m:r>
                                  <a:rPr lang="en-US" sz="1100" b="0" i="1" smtClean="0">
                                    <a:solidFill>
                                      <a:schemeClr val="tx1"/>
                                    </a:solidFill>
                                    <a:latin typeface="Cambria Math" panose="02040503050406030204" pitchFamily="18" charset="0"/>
                                  </a:rPr>
                                  <m:t>𝑟𝑒𝑐</m:t>
                                </m:r>
                              </m:e>
                              <m:sub>
                                <m:r>
                                  <a:rPr lang="en-US" sz="1100" b="0" i="1" smtClean="0">
                                    <a:solidFill>
                                      <a:schemeClr val="tx1"/>
                                    </a:solidFill>
                                    <a:latin typeface="Cambria Math" panose="02040503050406030204" pitchFamily="18" charset="0"/>
                                  </a:rPr>
                                  <m:t>𝑔</m:t>
                                </m:r>
                              </m:sub>
                              <m:sup>
                                <m:r>
                                  <a:rPr lang="en-US" sz="1100" b="0" i="1" smtClean="0">
                                    <a:solidFill>
                                      <a:schemeClr val="tx1"/>
                                    </a:solidFill>
                                    <a:latin typeface="Cambria Math" panose="02040503050406030204" pitchFamily="18" charset="0"/>
                                  </a:rPr>
                                  <m:t>𝑘</m:t>
                                </m:r>
                              </m:sup>
                            </m:sSubSup>
                          </m:e>
                        </m:d>
                      </m:num>
                      <m:den>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𝐼</m:t>
                        </m:r>
                        <m:r>
                          <a:rPr lang="en-US" sz="1100" b="0" i="1" smtClean="0">
                            <a:solidFill>
                              <a:schemeClr val="tx1"/>
                            </a:solidFill>
                            <a:latin typeface="Cambria Math" panose="02040503050406030204" pitchFamily="18" charset="0"/>
                          </a:rPr>
                          <m:t>|</m:t>
                        </m:r>
                      </m:den>
                    </m:f>
                  </m:oMath>
                </a14:m>
                <a:endParaRPr lang="uk-UA" sz="1100" dirty="0">
                  <a:latin typeface="Times New Roman" panose="02020603050405020304" pitchFamily="18"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D08EFC22-52E5-A936-AD98-DCA7BE853B36}"/>
                  </a:ext>
                </a:extLst>
              </p:cNvPr>
              <p:cNvSpPr txBox="1">
                <a:spLocks noRot="1" noChangeAspect="1" noMove="1" noResize="1" noEditPoints="1" noAdjustHandles="1" noChangeArrowheads="1" noChangeShapeType="1" noTextEdit="1"/>
              </p:cNvSpPr>
              <p:nvPr/>
            </p:nvSpPr>
            <p:spPr>
              <a:xfrm>
                <a:off x="6746691" y="3188292"/>
                <a:ext cx="1848669" cy="397929"/>
              </a:xfrm>
              <a:prstGeom prst="rect">
                <a:avLst/>
              </a:prstGeom>
              <a:blipFill>
                <a:blip r:embed="rId8"/>
                <a:stretch>
                  <a:fillRect b="-3077"/>
                </a:stretch>
              </a:blipFill>
              <a:ln>
                <a:noFill/>
              </a:ln>
            </p:spPr>
            <p:txBody>
              <a:bodyPr/>
              <a:lstStyle/>
              <a:p>
                <a:r>
                  <a:rPr lang="uk-UA">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груп</a:t>
            </a:r>
            <a:endParaRPr lang="en-US" sz="2800" dirty="0"/>
          </a:p>
        </p:txBody>
      </p:sp>
      <p:sp>
        <p:nvSpPr>
          <p:cNvPr id="5" name="Shape 3"/>
          <p:cNvSpPr/>
          <p:nvPr/>
        </p:nvSpPr>
        <p:spPr>
          <a:xfrm>
            <a:off x="457200" y="1110996"/>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110996"/>
            <a:ext cx="64008" cy="594360"/>
          </a:xfrm>
          <a:prstGeom prst="rect">
            <a:avLst/>
          </a:prstGeom>
          <a:solidFill>
            <a:srgbClr val="21C97A"/>
          </a:solidFill>
          <a:ln w="12700">
            <a:solidFill>
              <a:srgbClr val="21C97A"/>
            </a:solidFill>
            <a:prstDash val="solid"/>
          </a:ln>
        </p:spPr>
        <p:txBody>
          <a:bodyPr/>
          <a:lstStyle/>
          <a:p>
            <a:endParaRPr lang="uk-UA"/>
          </a:p>
        </p:txBody>
      </p:sp>
      <p:sp>
        <p:nvSpPr>
          <p:cNvPr id="7" name="Shape 5"/>
          <p:cNvSpPr/>
          <p:nvPr/>
        </p:nvSpPr>
        <p:spPr>
          <a:xfrm>
            <a:off x="640080" y="1220724"/>
            <a:ext cx="384048" cy="384048"/>
          </a:xfrm>
          <a:prstGeom prst="ellipse">
            <a:avLst/>
          </a:prstGeom>
          <a:solidFill>
            <a:srgbClr val="DAF5E7"/>
          </a:solidFill>
          <a:ln w="12700">
            <a:solidFill>
              <a:srgbClr val="DAF5E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316736"/>
            <a:ext cx="192024" cy="192024"/>
          </a:xfrm>
          <a:prstGeom prst="rect">
            <a:avLst/>
          </a:prstGeom>
        </p:spPr>
      </p:pic>
      <p:sp>
        <p:nvSpPr>
          <p:cNvPr id="9" name="Text 6"/>
          <p:cNvSpPr/>
          <p:nvPr/>
        </p:nvSpPr>
        <p:spPr>
          <a:xfrm>
            <a:off x="1188720" y="1275588"/>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Запропонована модель перевершує DRGR за всіма трьома метриками для рівня груп при k ∈ {5, 10, 15, 20}.</a:t>
            </a:r>
            <a:endParaRPr lang="en-US" sz="1100" dirty="0"/>
          </a:p>
        </p:txBody>
      </p:sp>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1-3. Порівняння метрик для рекомендацій на рівні груп</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15 / 18</a:t>
            </a:r>
            <a:endParaRPr lang="en-US" sz="900" dirty="0"/>
          </a:p>
        </p:txBody>
      </p:sp>
      <p:sp>
        <p:nvSpPr>
          <p:cNvPr id="17" name="Text 28">
            <a:extLst>
              <a:ext uri="{FF2B5EF4-FFF2-40B4-BE49-F238E27FC236}">
                <a16:creationId xmlns:a16="http://schemas.microsoft.com/office/drawing/2014/main" id="{B8B11DEF-1DD4-2006-C67D-0F77C10CAD5C}"/>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graphicFrame>
        <p:nvGraphicFramePr>
          <p:cNvPr id="27" name="Chart 26">
            <a:extLst>
              <a:ext uri="{FF2B5EF4-FFF2-40B4-BE49-F238E27FC236}">
                <a16:creationId xmlns:a16="http://schemas.microsoft.com/office/drawing/2014/main" id="{963FC3BD-93C4-A986-0388-BF0EA9E14DD1}"/>
              </a:ext>
            </a:extLst>
          </p:cNvPr>
          <p:cNvGraphicFramePr/>
          <p:nvPr>
            <p:extLst>
              <p:ext uri="{D42A27DB-BD31-4B8C-83A1-F6EECF244321}">
                <p14:modId xmlns:p14="http://schemas.microsoft.com/office/powerpoint/2010/main" val="2558673010"/>
              </p:ext>
            </p:extLst>
          </p:nvPr>
        </p:nvGraphicFramePr>
        <p:xfrm>
          <a:off x="156272" y="1683657"/>
          <a:ext cx="2952328" cy="29671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a:extLst>
              <a:ext uri="{FF2B5EF4-FFF2-40B4-BE49-F238E27FC236}">
                <a16:creationId xmlns:a16="http://schemas.microsoft.com/office/drawing/2014/main" id="{BA376E6A-4AEB-3FF2-4B9B-E465EAE15672}"/>
              </a:ext>
            </a:extLst>
          </p:cNvPr>
          <p:cNvGraphicFramePr/>
          <p:nvPr>
            <p:extLst>
              <p:ext uri="{D42A27DB-BD31-4B8C-83A1-F6EECF244321}">
                <p14:modId xmlns:p14="http://schemas.microsoft.com/office/powerpoint/2010/main" val="1873854974"/>
              </p:ext>
            </p:extLst>
          </p:nvPr>
        </p:nvGraphicFramePr>
        <p:xfrm>
          <a:off x="3072596" y="1706527"/>
          <a:ext cx="2952328" cy="29671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B38332FA-BD15-0CEE-9BC3-64EC3B27D7E1}"/>
              </a:ext>
            </a:extLst>
          </p:cNvPr>
          <p:cNvGraphicFramePr/>
          <p:nvPr>
            <p:extLst>
              <p:ext uri="{D42A27DB-BD31-4B8C-83A1-F6EECF244321}">
                <p14:modId xmlns:p14="http://schemas.microsoft.com/office/powerpoint/2010/main" val="1093099500"/>
              </p:ext>
            </p:extLst>
          </p:nvPr>
        </p:nvGraphicFramePr>
        <p:xfrm>
          <a:off x="6132936" y="1659635"/>
          <a:ext cx="2952328" cy="296711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окремого користувача</a:t>
            </a:r>
            <a:endParaRPr lang="en-US" sz="2800" dirty="0"/>
          </a:p>
        </p:txBody>
      </p:sp>
      <p:sp>
        <p:nvSpPr>
          <p:cNvPr id="5" name="Shape 3"/>
          <p:cNvSpPr/>
          <p:nvPr/>
        </p:nvSpPr>
        <p:spPr>
          <a:xfrm>
            <a:off x="457200" y="1101852"/>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101852"/>
            <a:ext cx="64008" cy="594360"/>
          </a:xfrm>
          <a:prstGeom prst="rect">
            <a:avLst/>
          </a:prstGeom>
          <a:solidFill>
            <a:srgbClr val="7B5CD9"/>
          </a:solidFill>
          <a:ln w="12700">
            <a:solidFill>
              <a:srgbClr val="7B5CD9"/>
            </a:solidFill>
            <a:prstDash val="solid"/>
          </a:ln>
        </p:spPr>
        <p:txBody>
          <a:bodyPr/>
          <a:lstStyle/>
          <a:p>
            <a:endParaRPr lang="uk-UA"/>
          </a:p>
        </p:txBody>
      </p:sp>
      <p:sp>
        <p:nvSpPr>
          <p:cNvPr id="7" name="Shape 5"/>
          <p:cNvSpPr/>
          <p:nvPr/>
        </p:nvSpPr>
        <p:spPr>
          <a:xfrm>
            <a:off x="658368" y="1211580"/>
            <a:ext cx="384048" cy="384048"/>
          </a:xfrm>
          <a:prstGeom prst="ellipse">
            <a:avLst/>
          </a:prstGeom>
          <a:solidFill>
            <a:srgbClr val="E5DEF7"/>
          </a:solidFill>
          <a:ln w="12700">
            <a:solidFill>
              <a:srgbClr val="E5DEF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307592"/>
            <a:ext cx="192024" cy="192024"/>
          </a:xfrm>
          <a:prstGeom prst="rect">
            <a:avLst/>
          </a:prstGeom>
        </p:spPr>
      </p:pic>
      <p:sp>
        <p:nvSpPr>
          <p:cNvPr id="9" name="Text 6"/>
          <p:cNvSpPr/>
          <p:nvPr/>
        </p:nvSpPr>
        <p:spPr>
          <a:xfrm>
            <a:off x="1188720" y="1266444"/>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На рівні окремого користувача запропонований підхід також стабільно перевершує базовий — переваги особливо помітні при великих k.</a:t>
            </a:r>
            <a:endParaRPr lang="en-US" sz="1100" dirty="0"/>
          </a:p>
        </p:txBody>
      </p:sp>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4-6. Порівняння метрик для рекомендацій на рівні окремого користувача</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16 / 18</a:t>
            </a:r>
            <a:endParaRPr lang="en-US" sz="900" dirty="0"/>
          </a:p>
        </p:txBody>
      </p:sp>
      <p:sp>
        <p:nvSpPr>
          <p:cNvPr id="17" name="Text 28">
            <a:extLst>
              <a:ext uri="{FF2B5EF4-FFF2-40B4-BE49-F238E27FC236}">
                <a16:creationId xmlns:a16="http://schemas.microsoft.com/office/drawing/2014/main" id="{9F332F00-5CAB-CE5E-EA56-E988575D4F3D}"/>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graphicFrame>
        <p:nvGraphicFramePr>
          <p:cNvPr id="21" name="Chart 20">
            <a:extLst>
              <a:ext uri="{FF2B5EF4-FFF2-40B4-BE49-F238E27FC236}">
                <a16:creationId xmlns:a16="http://schemas.microsoft.com/office/drawing/2014/main" id="{E9F45596-AA75-0B94-285A-90F6D79D8086}"/>
              </a:ext>
            </a:extLst>
          </p:cNvPr>
          <p:cNvGraphicFramePr/>
          <p:nvPr>
            <p:extLst>
              <p:ext uri="{D42A27DB-BD31-4B8C-83A1-F6EECF244321}">
                <p14:modId xmlns:p14="http://schemas.microsoft.com/office/powerpoint/2010/main" val="3766677430"/>
              </p:ext>
            </p:extLst>
          </p:nvPr>
        </p:nvGraphicFramePr>
        <p:xfrm>
          <a:off x="107504" y="1692802"/>
          <a:ext cx="2952328" cy="29671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Chart 21">
            <a:extLst>
              <a:ext uri="{FF2B5EF4-FFF2-40B4-BE49-F238E27FC236}">
                <a16:creationId xmlns:a16="http://schemas.microsoft.com/office/drawing/2014/main" id="{B0288C96-6193-A426-302F-B3FF25F2AE6A}"/>
              </a:ext>
            </a:extLst>
          </p:cNvPr>
          <p:cNvGraphicFramePr/>
          <p:nvPr>
            <p:extLst>
              <p:ext uri="{D42A27DB-BD31-4B8C-83A1-F6EECF244321}">
                <p14:modId xmlns:p14="http://schemas.microsoft.com/office/powerpoint/2010/main" val="2844259299"/>
              </p:ext>
            </p:extLst>
          </p:nvPr>
        </p:nvGraphicFramePr>
        <p:xfrm>
          <a:off x="3023828" y="1715672"/>
          <a:ext cx="2952328" cy="29671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Chart 22">
            <a:extLst>
              <a:ext uri="{FF2B5EF4-FFF2-40B4-BE49-F238E27FC236}">
                <a16:creationId xmlns:a16="http://schemas.microsoft.com/office/drawing/2014/main" id="{C200CB57-BDA6-BD0C-F452-909E3B989802}"/>
              </a:ext>
            </a:extLst>
          </p:cNvPr>
          <p:cNvGraphicFramePr/>
          <p:nvPr>
            <p:extLst>
              <p:ext uri="{D42A27DB-BD31-4B8C-83A1-F6EECF244321}">
                <p14:modId xmlns:p14="http://schemas.microsoft.com/office/powerpoint/2010/main" val="859400552"/>
              </p:ext>
            </p:extLst>
          </p:nvPr>
        </p:nvGraphicFramePr>
        <p:xfrm>
          <a:off x="6084168" y="1668780"/>
          <a:ext cx="2952328" cy="296711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ПІДСУМКИ ДОСЛІДЖЕННЯ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Висновки</a:t>
            </a:r>
            <a:endParaRPr lang="en-US" sz="2800" dirty="0"/>
          </a:p>
        </p:txBody>
      </p:sp>
      <p:sp>
        <p:nvSpPr>
          <p:cNvPr id="5" name="Shape 3"/>
          <p:cNvSpPr/>
          <p:nvPr/>
        </p:nvSpPr>
        <p:spPr>
          <a:xfrm>
            <a:off x="457200" y="12344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34440"/>
            <a:ext cx="64008" cy="621792"/>
          </a:xfrm>
          <a:prstGeom prst="rect">
            <a:avLst/>
          </a:prstGeom>
          <a:solidFill>
            <a:srgbClr val="2C5BD8"/>
          </a:solidFill>
          <a:ln w="12700">
            <a:solidFill>
              <a:srgbClr val="2C5BD8"/>
            </a:solidFill>
            <a:prstDash val="solid"/>
          </a:ln>
        </p:spPr>
        <p:txBody>
          <a:bodyPr/>
          <a:lstStyle/>
          <a:p>
            <a:endParaRPr lang="uk-UA"/>
          </a:p>
        </p:txBody>
      </p:sp>
      <p:sp>
        <p:nvSpPr>
          <p:cNvPr id="7" name="Text 5"/>
          <p:cNvSpPr/>
          <p:nvPr/>
        </p:nvSpPr>
        <p:spPr>
          <a:xfrm>
            <a:off x="640080" y="13258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554480" y="12984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Підготовка даних</a:t>
            </a:r>
            <a:endParaRPr lang="en-US" sz="1200" dirty="0"/>
          </a:p>
        </p:txBody>
      </p:sp>
      <p:sp>
        <p:nvSpPr>
          <p:cNvPr id="9" name="Text 7"/>
          <p:cNvSpPr/>
          <p:nvPr/>
        </p:nvSpPr>
        <p:spPr>
          <a:xfrm>
            <a:off x="3931920" y="1298448"/>
            <a:ext cx="4617720" cy="493776"/>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Сформовано експериментальний набір на основі MovieLens та визначено структуру взаємодій між користувачами, групами й елементами.</a:t>
            </a:r>
            <a:endParaRPr lang="uk-UA" sz="1000" noProof="0" dirty="0"/>
          </a:p>
        </p:txBody>
      </p:sp>
      <p:sp>
        <p:nvSpPr>
          <p:cNvPr id="10" name="Shape 8"/>
          <p:cNvSpPr/>
          <p:nvPr/>
        </p:nvSpPr>
        <p:spPr>
          <a:xfrm>
            <a:off x="457200" y="19202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1" name="Shape 9"/>
          <p:cNvSpPr/>
          <p:nvPr/>
        </p:nvSpPr>
        <p:spPr>
          <a:xfrm>
            <a:off x="457200" y="1920240"/>
            <a:ext cx="64008" cy="621792"/>
          </a:xfrm>
          <a:prstGeom prst="rect">
            <a:avLst/>
          </a:prstGeom>
          <a:solidFill>
            <a:srgbClr val="2C5BD8"/>
          </a:solidFill>
          <a:ln w="12700">
            <a:solidFill>
              <a:srgbClr val="2C5BD8"/>
            </a:solidFill>
            <a:prstDash val="solid"/>
          </a:ln>
        </p:spPr>
        <p:txBody>
          <a:bodyPr/>
          <a:lstStyle/>
          <a:p>
            <a:endParaRPr lang="uk-UA"/>
          </a:p>
        </p:txBody>
      </p:sp>
      <p:sp>
        <p:nvSpPr>
          <p:cNvPr id="12" name="Text 10"/>
          <p:cNvSpPr/>
          <p:nvPr/>
        </p:nvSpPr>
        <p:spPr>
          <a:xfrm>
            <a:off x="640080" y="20116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1554480" y="19842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Архітектура моделі</a:t>
            </a:r>
            <a:endParaRPr lang="en-US" sz="1200" dirty="0"/>
          </a:p>
        </p:txBody>
      </p:sp>
      <p:sp>
        <p:nvSpPr>
          <p:cNvPr id="14" name="Text 12"/>
          <p:cNvSpPr/>
          <p:nvPr/>
        </p:nvSpPr>
        <p:spPr>
          <a:xfrm>
            <a:off x="3931920" y="19842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Розроблено модель «Інтегратор – Актор – Критик» на основі машинного навчання з підкріпленням.</a:t>
            </a:r>
            <a:endParaRPr lang="en-US" sz="1000" dirty="0"/>
          </a:p>
        </p:txBody>
      </p:sp>
      <p:sp>
        <p:nvSpPr>
          <p:cNvPr id="15" name="Shape 13"/>
          <p:cNvSpPr/>
          <p:nvPr/>
        </p:nvSpPr>
        <p:spPr>
          <a:xfrm>
            <a:off x="457200" y="26060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4"/>
          <p:cNvSpPr/>
          <p:nvPr/>
        </p:nvSpPr>
        <p:spPr>
          <a:xfrm>
            <a:off x="457200" y="2606040"/>
            <a:ext cx="64008" cy="621792"/>
          </a:xfrm>
          <a:prstGeom prst="rect">
            <a:avLst/>
          </a:prstGeom>
          <a:solidFill>
            <a:srgbClr val="2C5BD8"/>
          </a:solidFill>
          <a:ln w="12700">
            <a:solidFill>
              <a:srgbClr val="2C5BD8"/>
            </a:solidFill>
            <a:prstDash val="solid"/>
          </a:ln>
        </p:spPr>
        <p:txBody>
          <a:bodyPr/>
          <a:lstStyle/>
          <a:p>
            <a:endParaRPr lang="uk-UA"/>
          </a:p>
        </p:txBody>
      </p:sp>
      <p:sp>
        <p:nvSpPr>
          <p:cNvPr id="17" name="Text 15"/>
          <p:cNvSpPr/>
          <p:nvPr/>
        </p:nvSpPr>
        <p:spPr>
          <a:xfrm>
            <a:off x="640080" y="26974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1554480" y="26700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Експериментальне навчання</a:t>
            </a:r>
            <a:endParaRPr lang="en-US" sz="1200" dirty="0"/>
          </a:p>
        </p:txBody>
      </p:sp>
      <p:sp>
        <p:nvSpPr>
          <p:cNvPr id="19" name="Text 17"/>
          <p:cNvSpPr/>
          <p:nvPr/>
        </p:nvSpPr>
        <p:spPr>
          <a:xfrm>
            <a:off x="3931920" y="2670048"/>
            <a:ext cx="4617720" cy="493776"/>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Модель натреновано та провалідовано в симульованому середовищі з використанням створеного набору даних.</a:t>
            </a:r>
            <a:endParaRPr lang="uk-UA" sz="1000" noProof="0" dirty="0"/>
          </a:p>
        </p:txBody>
      </p:sp>
      <p:sp>
        <p:nvSpPr>
          <p:cNvPr id="20" name="Shape 18"/>
          <p:cNvSpPr/>
          <p:nvPr/>
        </p:nvSpPr>
        <p:spPr>
          <a:xfrm>
            <a:off x="457200" y="32918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9"/>
          <p:cNvSpPr/>
          <p:nvPr/>
        </p:nvSpPr>
        <p:spPr>
          <a:xfrm>
            <a:off x="457200" y="3291840"/>
            <a:ext cx="64008" cy="621792"/>
          </a:xfrm>
          <a:prstGeom prst="rect">
            <a:avLst/>
          </a:prstGeom>
          <a:solidFill>
            <a:srgbClr val="2C5BD8"/>
          </a:solidFill>
          <a:ln w="12700">
            <a:solidFill>
              <a:srgbClr val="2C5BD8"/>
            </a:solidFill>
            <a:prstDash val="solid"/>
          </a:ln>
        </p:spPr>
        <p:txBody>
          <a:bodyPr/>
          <a:lstStyle/>
          <a:p>
            <a:endParaRPr lang="uk-UA"/>
          </a:p>
        </p:txBody>
      </p:sp>
      <p:sp>
        <p:nvSpPr>
          <p:cNvPr id="22" name="Text 20"/>
          <p:cNvSpPr/>
          <p:nvPr/>
        </p:nvSpPr>
        <p:spPr>
          <a:xfrm>
            <a:off x="640080" y="33832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1554480" y="33558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Переваги над DRGR</a:t>
            </a:r>
            <a:endParaRPr lang="en-US" sz="1200" dirty="0"/>
          </a:p>
        </p:txBody>
      </p:sp>
      <p:sp>
        <p:nvSpPr>
          <p:cNvPr id="24" name="Text 22"/>
          <p:cNvSpPr/>
          <p:nvPr/>
        </p:nvSpPr>
        <p:spPr>
          <a:xfrm>
            <a:off x="3931920" y="33558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Краще врахування індивідуальних вподобань, формування релевантніших рекомендацій, покращення Recall@k, NDCG@k та Coverage@k.</a:t>
            </a:r>
            <a:endParaRPr lang="en-US" sz="1000" dirty="0"/>
          </a:p>
        </p:txBody>
      </p:sp>
      <p:sp>
        <p:nvSpPr>
          <p:cNvPr id="25" name="Shape 23"/>
          <p:cNvSpPr/>
          <p:nvPr/>
        </p:nvSpPr>
        <p:spPr>
          <a:xfrm>
            <a:off x="457200" y="39776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6" name="Shape 24"/>
          <p:cNvSpPr/>
          <p:nvPr/>
        </p:nvSpPr>
        <p:spPr>
          <a:xfrm>
            <a:off x="457200" y="3977640"/>
            <a:ext cx="64008" cy="621792"/>
          </a:xfrm>
          <a:prstGeom prst="rect">
            <a:avLst/>
          </a:prstGeom>
          <a:solidFill>
            <a:srgbClr val="2C5BD8"/>
          </a:solidFill>
          <a:ln w="12700">
            <a:solidFill>
              <a:srgbClr val="2C5BD8"/>
            </a:solidFill>
            <a:prstDash val="solid"/>
          </a:ln>
        </p:spPr>
        <p:txBody>
          <a:bodyPr/>
          <a:lstStyle/>
          <a:p>
            <a:endParaRPr lang="uk-UA"/>
          </a:p>
        </p:txBody>
      </p:sp>
      <p:sp>
        <p:nvSpPr>
          <p:cNvPr id="27" name="Text 25"/>
          <p:cNvSpPr/>
          <p:nvPr/>
        </p:nvSpPr>
        <p:spPr>
          <a:xfrm>
            <a:off x="640080" y="40690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1554480" y="40416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Перспективи застосування</a:t>
            </a:r>
            <a:endParaRPr lang="en-US" sz="1200" dirty="0"/>
          </a:p>
        </p:txBody>
      </p:sp>
      <p:sp>
        <p:nvSpPr>
          <p:cNvPr id="29" name="Text 27"/>
          <p:cNvSpPr/>
          <p:nvPr/>
        </p:nvSpPr>
        <p:spPr>
          <a:xfrm>
            <a:off x="3931920" y="40416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Підхід є перспективним для потокового мультимедіа, </a:t>
            </a:r>
            <a:r>
              <a:rPr lang="uk-UA" sz="1000" dirty="0">
                <a:solidFill>
                  <a:srgbClr val="1F2937"/>
                </a:solidFill>
                <a:latin typeface="Calibri" pitchFamily="34" charset="0"/>
                <a:ea typeface="Calibri" pitchFamily="34" charset="-122"/>
                <a:cs typeface="Calibri" pitchFamily="34" charset="-120"/>
              </a:rPr>
              <a:t>електронної комерції</a:t>
            </a:r>
            <a:r>
              <a:rPr lang="en-US" sz="1000" dirty="0">
                <a:solidFill>
                  <a:srgbClr val="1F2937"/>
                </a:solidFill>
                <a:latin typeface="Calibri" pitchFamily="34" charset="0"/>
                <a:ea typeface="Calibri" pitchFamily="34" charset="-122"/>
                <a:cs typeface="Calibri" pitchFamily="34" charset="-120"/>
              </a:rPr>
              <a:t>, туристичних і соціальних сервісів.</a:t>
            </a:r>
            <a:endParaRPr lang="en-US" sz="1000" dirty="0"/>
          </a:p>
        </p:txBody>
      </p:sp>
      <p:sp>
        <p:nvSpPr>
          <p:cNvPr id="31"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3"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17 / 18</a:t>
            </a:r>
            <a:endParaRPr lang="en-US" sz="900" dirty="0"/>
          </a:p>
        </p:txBody>
      </p:sp>
      <p:sp>
        <p:nvSpPr>
          <p:cNvPr id="30" name="Text 28">
            <a:extLst>
              <a:ext uri="{FF2B5EF4-FFF2-40B4-BE49-F238E27FC236}">
                <a16:creationId xmlns:a16="http://schemas.microsoft.com/office/drawing/2014/main" id="{E4F853A8-D981-E75A-E2AD-6D279251652C}"/>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4" name="Shape 2"/>
          <p:cNvSpPr/>
          <p:nvPr/>
        </p:nvSpPr>
        <p:spPr>
          <a:xfrm>
            <a:off x="-182880" y="3831336"/>
            <a:ext cx="1463040" cy="1463040"/>
          </a:xfrm>
          <a:prstGeom prst="ellipse">
            <a:avLst/>
          </a:prstGeom>
          <a:solidFill>
            <a:srgbClr val="D6F1F7"/>
          </a:solidFill>
          <a:ln w="12700">
            <a:solidFill>
              <a:srgbClr val="D6F1F7"/>
            </a:solidFill>
            <a:prstDash val="solid"/>
          </a:ln>
        </p:spPr>
        <p:txBody>
          <a:bodyPr/>
          <a:lstStyle/>
          <a:p>
            <a:endParaRPr lang="uk-UA"/>
          </a:p>
        </p:txBody>
      </p:sp>
      <p:sp>
        <p:nvSpPr>
          <p:cNvPr id="5" name="Shape 3"/>
          <p:cNvSpPr/>
          <p:nvPr/>
        </p:nvSpPr>
        <p:spPr>
          <a:xfrm>
            <a:off x="-182880" y="-365760"/>
            <a:ext cx="822960" cy="822960"/>
          </a:xfrm>
          <a:prstGeom prst="ellipse">
            <a:avLst/>
          </a:prstGeom>
          <a:solidFill>
            <a:srgbClr val="E8F0FE"/>
          </a:solidFill>
          <a:ln w="12700">
            <a:solidFill>
              <a:srgbClr val="E8F0FE"/>
            </a:solidFill>
            <a:prstDash val="solid"/>
          </a:ln>
        </p:spPr>
        <p:txBody>
          <a:bodyPr/>
          <a:lstStyle/>
          <a:p>
            <a:endParaRPr lang="uk-UA"/>
          </a:p>
        </p:txBody>
      </p:sp>
      <p:sp>
        <p:nvSpPr>
          <p:cNvPr id="6" name="Text 4"/>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5400" b="1" dirty="0">
                <a:solidFill>
                  <a:srgbClr val="0F1A35"/>
                </a:solidFill>
                <a:latin typeface="Calibri" pitchFamily="34" charset="0"/>
                <a:ea typeface="Calibri" pitchFamily="34" charset="-122"/>
                <a:cs typeface="Calibri" pitchFamily="34" charset="-120"/>
              </a:rPr>
              <a:t>Дякую за увагу!</a:t>
            </a:r>
            <a:endParaRPr lang="en-US" sz="5400" dirty="0"/>
          </a:p>
        </p:txBody>
      </p:sp>
      <p:sp>
        <p:nvSpPr>
          <p:cNvPr id="7" name="Shape 5"/>
          <p:cNvSpPr/>
          <p:nvPr/>
        </p:nvSpPr>
        <p:spPr>
          <a:xfrm>
            <a:off x="1371600" y="2697480"/>
            <a:ext cx="640080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6"/>
          <p:cNvSpPr/>
          <p:nvPr/>
        </p:nvSpPr>
        <p:spPr>
          <a:xfrm>
            <a:off x="1371600" y="2697480"/>
            <a:ext cx="64008" cy="1417320"/>
          </a:xfrm>
          <a:prstGeom prst="rect">
            <a:avLst/>
          </a:prstGeom>
          <a:solidFill>
            <a:srgbClr val="2C5BD8"/>
          </a:solidFill>
          <a:ln w="12700">
            <a:solidFill>
              <a:srgbClr val="2C5BD8"/>
            </a:solidFill>
            <a:prstDash val="solid"/>
          </a:ln>
        </p:spPr>
        <p:txBody>
          <a:bodyPr/>
          <a:lstStyle/>
          <a:p>
            <a:endParaRPr lang="uk-UA"/>
          </a:p>
        </p:txBody>
      </p:sp>
      <p:sp>
        <p:nvSpPr>
          <p:cNvPr id="9" name="Text 7"/>
          <p:cNvSpPr/>
          <p:nvPr/>
        </p:nvSpPr>
        <p:spPr>
          <a:xfrm>
            <a:off x="1554480" y="2651760"/>
            <a:ext cx="640080" cy="640080"/>
          </a:xfrm>
          <a:prstGeom prst="rect">
            <a:avLst/>
          </a:prstGeom>
          <a:noFill/>
          <a:ln/>
        </p:spPr>
        <p:txBody>
          <a:bodyPr wrap="square" lIns="0" tIns="0" rIns="0" bIns="0" rtlCol="0" anchor="ctr"/>
          <a:lstStyle/>
          <a:p>
            <a:pPr marL="0" indent="0">
              <a:buNone/>
            </a:pPr>
            <a:r>
              <a:rPr lang="en-US" sz="5600" b="1" dirty="0">
                <a:solidFill>
                  <a:srgbClr val="2C5BD8"/>
                </a:solidFill>
                <a:latin typeface="Calibri" pitchFamily="34" charset="0"/>
                <a:ea typeface="Calibri" pitchFamily="34" charset="-122"/>
                <a:cs typeface="Calibri" pitchFamily="34" charset="-120"/>
              </a:rPr>
              <a:t>“</a:t>
            </a:r>
            <a:endParaRPr lang="en-US" sz="5600" dirty="0"/>
          </a:p>
        </p:txBody>
      </p:sp>
      <p:sp>
        <p:nvSpPr>
          <p:cNvPr id="10" name="Text 8"/>
          <p:cNvSpPr/>
          <p:nvPr/>
        </p:nvSpPr>
        <p:spPr>
          <a:xfrm>
            <a:off x="2103120" y="2862072"/>
            <a:ext cx="5532120" cy="777240"/>
          </a:xfrm>
          <a:prstGeom prst="rect">
            <a:avLst/>
          </a:prstGeom>
          <a:noFill/>
          <a:ln/>
        </p:spPr>
        <p:txBody>
          <a:bodyPr wrap="square" lIns="0" tIns="0" rIns="0" bIns="0" rtlCol="0" anchor="ctr"/>
          <a:lstStyle/>
          <a:p>
            <a:pPr marL="0" indent="0">
              <a:lnSpc>
                <a:spcPct val="120000"/>
              </a:lnSpc>
              <a:buNone/>
            </a:pPr>
            <a:r>
              <a:rPr lang="en-US" sz="1300" i="1" dirty="0">
                <a:solidFill>
                  <a:srgbClr val="0F1A35"/>
                </a:solidFill>
                <a:latin typeface="Calibri" pitchFamily="34" charset="0"/>
                <a:ea typeface="Calibri" pitchFamily="34" charset="-122"/>
                <a:cs typeface="Calibri" pitchFamily="34" charset="-120"/>
              </a:rPr>
              <a:t>Завдяки навчанню з підкріпленням ми навчаємо машини долати виклики, які навіть людям важко формалізувати</a:t>
            </a:r>
            <a:endParaRPr lang="en-US" sz="1300" dirty="0"/>
          </a:p>
        </p:txBody>
      </p:sp>
      <p:sp>
        <p:nvSpPr>
          <p:cNvPr id="11" name="Text 9"/>
          <p:cNvSpPr/>
          <p:nvPr/>
        </p:nvSpPr>
        <p:spPr>
          <a:xfrm>
            <a:off x="2103120" y="3657600"/>
            <a:ext cx="553212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 Деміс Хассабіс, CEO DeepMind</a:t>
            </a:r>
            <a:endParaRPr lang="en-US" sz="1100" dirty="0"/>
          </a:p>
        </p:txBody>
      </p:sp>
      <p:sp>
        <p:nvSpPr>
          <p:cNvPr id="12" name="Text 1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18 / 18</a:t>
            </a:r>
            <a:endParaRPr lang="en-US" sz="900" dirty="0"/>
          </a:p>
        </p:txBody>
      </p:sp>
      <p:pic>
        <p:nvPicPr>
          <p:cNvPr id="13" name="Рисунок 11">
            <a:extLst>
              <a:ext uri="{FF2B5EF4-FFF2-40B4-BE49-F238E27FC236}">
                <a16:creationId xmlns:a16="http://schemas.microsoft.com/office/drawing/2014/main" id="{B95F3B81-F8B9-9F15-7693-F4ECBBEA0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8163" y="428612"/>
            <a:ext cx="1194234" cy="1200175"/>
          </a:xfrm>
          <a:prstGeom prst="rect">
            <a:avLst/>
          </a:prstGeom>
        </p:spPr>
      </p:pic>
      <p:pic>
        <p:nvPicPr>
          <p:cNvPr id="15" name="Picture 14">
            <a:extLst>
              <a:ext uri="{FF2B5EF4-FFF2-40B4-BE49-F238E27FC236}">
                <a16:creationId xmlns:a16="http://schemas.microsoft.com/office/drawing/2014/main" id="{BC5BDF3B-5196-A5DB-55DE-D7C3D2F55A1F}"/>
              </a:ext>
            </a:extLst>
          </p:cNvPr>
          <p:cNvPicPr>
            <a:picLocks noChangeAspect="1"/>
          </p:cNvPicPr>
          <p:nvPr/>
        </p:nvPicPr>
        <p:blipFill>
          <a:blip r:embed="rId4"/>
          <a:stretch>
            <a:fillRect/>
          </a:stretch>
        </p:blipFill>
        <p:spPr>
          <a:xfrm>
            <a:off x="-22755" y="4000711"/>
            <a:ext cx="1142789" cy="114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380</TotalTime>
  <Words>3752</Words>
  <Application>Microsoft Office PowerPoint</Application>
  <PresentationFormat>On-screen Show (16:9)</PresentationFormat>
  <Paragraphs>437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Розробка групової рекомендаційної системи</dc:title>
  <dc:subject>PptxGenJS Presentation</dc:subject>
  <dc:creator>Романюк Богдан Ігорович</dc:creator>
  <cp:lastModifiedBy>Романюк Богдан</cp:lastModifiedBy>
  <cp:revision>84</cp:revision>
  <dcterms:created xsi:type="dcterms:W3CDTF">2026-05-05T21:18:59Z</dcterms:created>
  <dcterms:modified xsi:type="dcterms:W3CDTF">2026-05-09T16:23:48Z</dcterms:modified>
</cp:coreProperties>
</file>
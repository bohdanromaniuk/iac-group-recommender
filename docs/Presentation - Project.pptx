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8" r:id="rId3"/>
    <p:sldId id="283" r:id="rId4"/>
    <p:sldId id="275" r:id="rId5"/>
    <p:sldId id="277" r:id="rId6"/>
    <p:sldId id="284" r:id="rId7"/>
    <p:sldId id="268" r:id="rId8"/>
    <p:sldId id="285" r:id="rId9"/>
    <p:sldId id="270" r:id="rId10"/>
    <p:sldId id="281" r:id="rId11"/>
    <p:sldId id="282" r:id="rId12"/>
    <p:sldId id="276" r:id="rId13"/>
    <p:sldId id="286" r:id="rId14"/>
    <p:sldId id="287" r:id="rId15"/>
    <p:sldId id="271" r:id="rId16"/>
    <p:sldId id="274" r:id="rId17"/>
  </p:sldIdLst>
  <p:sldSz cx="9144000" cy="5143500" type="screen16x9"/>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CC99"/>
    <a:srgbClr val="3E84F3"/>
    <a:srgbClr val="8174E1"/>
    <a:srgbClr val="0066FF"/>
    <a:srgbClr val="3AB0BB"/>
    <a:srgbClr val="E9F0FD"/>
    <a:srgbClr val="FDA041"/>
    <a:srgbClr val="4187F4"/>
    <a:srgbClr val="0066CC"/>
    <a:srgbClr val="0075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Помір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Без стилю та сітки таблиці">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1EBBBCC-DAD2-459C-BE2E-F6DE35CF9A28}" styleName="Темний стиль 2 – акцент 3/акцент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1FECB4D8-DB02-4DC6-A0A2-4F2EBAE1DC90}" styleName="Помірний стиль 1 – акцент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261" autoAdjust="0"/>
  </p:normalViewPr>
  <p:slideViewPr>
    <p:cSldViewPr>
      <p:cViewPr varScale="1">
        <p:scale>
          <a:sx n="125" d="100"/>
          <a:sy n="125" d="100"/>
        </p:scale>
        <p:origin x="1522" y="72"/>
      </p:cViewPr>
      <p:guideLst>
        <p:guide orient="horz" pos="1620"/>
        <p:guide pos="288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cap="none" spc="20" baseline="0">
                <a:solidFill>
                  <a:schemeClr val="tx1">
                    <a:lumMod val="50000"/>
                    <a:lumOff val="50000"/>
                  </a:schemeClr>
                </a:solidFill>
                <a:latin typeface="+mn-lt"/>
                <a:ea typeface="+mn-ea"/>
                <a:cs typeface="+mn-cs"/>
              </a:defRPr>
            </a:pPr>
            <a:r>
              <a:rPr lang="uk-UA" sz="1400" dirty="0">
                <a:solidFill>
                  <a:schemeClr val="tx1"/>
                </a:solidFill>
              </a:rPr>
              <a:t>Розподіл</a:t>
            </a:r>
            <a:endParaRPr lang="en-US" dirty="0">
              <a:solidFill>
                <a:schemeClr val="tx1"/>
              </a:solidFill>
            </a:endParaRPr>
          </a:p>
        </c:rich>
      </c:tx>
      <c:overlay val="0"/>
      <c:spPr>
        <a:noFill/>
        <a:ln>
          <a:noFill/>
        </a:ln>
        <a:effectLst/>
      </c:spPr>
      <c:txPr>
        <a:bodyPr rot="0" spcFirstLastPara="1" vertOverflow="ellipsis" vert="horz" wrap="square" anchor="ctr" anchorCtr="1"/>
        <a:lstStyle/>
        <a:p>
          <a:pPr>
            <a:defRPr sz="1862" b="0" i="0" u="none" strike="noStrike" kern="1200" cap="none" spc="20" baseline="0">
              <a:solidFill>
                <a:schemeClr val="tx1">
                  <a:lumMod val="50000"/>
                  <a:lumOff val="50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Sales</c:v>
                </c:pt>
              </c:strCache>
            </c:strRef>
          </c:tx>
          <c:dPt>
            <c:idx val="0"/>
            <c:bubble3D val="0"/>
            <c:spPr>
              <a:gradFill rotWithShape="1">
                <a:gsLst>
                  <a:gs pos="0">
                    <a:schemeClr val="accent1">
                      <a:tint val="50000"/>
                      <a:satMod val="300000"/>
                    </a:schemeClr>
                  </a:gs>
                  <a:gs pos="35000">
                    <a:schemeClr val="accent1">
                      <a:tint val="37000"/>
                      <a:satMod val="300000"/>
                    </a:schemeClr>
                  </a:gs>
                  <a:gs pos="100000">
                    <a:schemeClr val="accent1">
                      <a:tint val="15000"/>
                      <a:satMod val="350000"/>
                    </a:schemeClr>
                  </a:gs>
                </a:gsLst>
                <a:lin ang="16200000" scaled="1"/>
              </a:gradFill>
              <a:ln w="9525" cap="flat" cmpd="sng" algn="ctr">
                <a:solidFill>
                  <a:schemeClr val="accent1">
                    <a:shade val="95000"/>
                  </a:schemeClr>
                </a:solidFill>
                <a:round/>
              </a:ln>
              <a:effectLst>
                <a:outerShdw blurRad="40000" dist="20000" dir="5400000" rotWithShape="0">
                  <a:srgbClr val="000000">
                    <a:alpha val="38000"/>
                  </a:srgbClr>
                </a:outerShdw>
              </a:effectLst>
            </c:spPr>
            <c:extLst>
              <c:ext xmlns:c16="http://schemas.microsoft.com/office/drawing/2014/chart" uri="{C3380CC4-5D6E-409C-BE32-E72D297353CC}">
                <c16:uniqueId val="{00000001-5F7D-4581-B2AD-24925E2119C1}"/>
              </c:ext>
            </c:extLst>
          </c:dPt>
          <c:dPt>
            <c:idx val="1"/>
            <c:bubble3D val="0"/>
            <c:spPr>
              <a:gradFill rotWithShape="1">
                <a:gsLst>
                  <a:gs pos="0">
                    <a:schemeClr val="accent3">
                      <a:tint val="50000"/>
                      <a:satMod val="300000"/>
                    </a:schemeClr>
                  </a:gs>
                  <a:gs pos="35000">
                    <a:schemeClr val="accent3">
                      <a:tint val="37000"/>
                      <a:satMod val="300000"/>
                    </a:schemeClr>
                  </a:gs>
                  <a:gs pos="100000">
                    <a:schemeClr val="accent3">
                      <a:tint val="15000"/>
                      <a:satMod val="350000"/>
                    </a:schemeClr>
                  </a:gs>
                </a:gsLst>
                <a:lin ang="16200000" scaled="1"/>
              </a:gradFill>
              <a:ln w="9525" cap="flat" cmpd="sng" algn="ctr">
                <a:solidFill>
                  <a:schemeClr val="accent3">
                    <a:shade val="95000"/>
                  </a:schemeClr>
                </a:solidFill>
                <a:round/>
              </a:ln>
              <a:effectLst>
                <a:outerShdw blurRad="40000" dist="20000" dir="5400000" rotWithShape="0">
                  <a:srgbClr val="000000">
                    <a:alpha val="38000"/>
                  </a:srgbClr>
                </a:outerShdw>
              </a:effectLst>
            </c:spPr>
            <c:extLst>
              <c:ext xmlns:c16="http://schemas.microsoft.com/office/drawing/2014/chart" uri="{C3380CC4-5D6E-409C-BE32-E72D297353CC}">
                <c16:uniqueId val="{00000003-5F7D-4581-B2AD-24925E2119C1}"/>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65000"/>
                        <a:lumOff val="35000"/>
                      </a:schemeClr>
                    </a:solidFill>
                    <a:latin typeface="+mn-lt"/>
                    <a:ea typeface="+mn-ea"/>
                    <a:cs typeface="+mn-cs"/>
                  </a:defRPr>
                </a:pPr>
                <a:endParaRPr lang="uk-UA"/>
              </a:p>
            </c:txPr>
            <c:dLblPos val="ctr"/>
            <c:showLegendKey val="0"/>
            <c:showVal val="0"/>
            <c:showCatName val="0"/>
            <c:showSerName val="0"/>
            <c:showPercent val="1"/>
            <c:showBubbleSize val="0"/>
            <c:showLeaderLines val="1"/>
            <c:leaderLines>
              <c:spPr>
                <a:ln w="9525">
                  <a:solidFill>
                    <a:schemeClr val="tx1">
                      <a:lumMod val="35000"/>
                      <a:lumOff val="65000"/>
                    </a:schemeClr>
                  </a:solidFill>
                </a:ln>
                <a:effectLst/>
              </c:spPr>
            </c:leaderLines>
            <c:extLst>
              <c:ext xmlns:c15="http://schemas.microsoft.com/office/drawing/2012/chart" uri="{CE6537A1-D6FC-4f65-9D91-7224C49458BB}"/>
            </c:extLst>
          </c:dLbls>
          <c:cat>
            <c:strRef>
              <c:f>Sheet1!$A$2:$A$3</c:f>
              <c:strCache>
                <c:ptCount val="2"/>
                <c:pt idx="0">
                  <c:v>Навчання</c:v>
                </c:pt>
                <c:pt idx="1">
                  <c:v>Тестування</c:v>
                </c:pt>
              </c:strCache>
            </c:strRef>
          </c:cat>
          <c:val>
            <c:numRef>
              <c:f>Sheet1!$B$2:$B$3</c:f>
              <c:numCache>
                <c:formatCode>General</c:formatCode>
                <c:ptCount val="2"/>
                <c:pt idx="0">
                  <c:v>70</c:v>
                </c:pt>
                <c:pt idx="1">
                  <c:v>30</c:v>
                </c:pt>
              </c:numCache>
            </c:numRef>
          </c:val>
          <c:extLst>
            <c:ext xmlns:c16="http://schemas.microsoft.com/office/drawing/2014/chart" uri="{C3380CC4-5D6E-409C-BE32-E72D297353CC}">
              <c16:uniqueId val="{00000000-3A85-428B-89D5-A6BE2F457E37}"/>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50000"/>
                  <a:lumOff val="50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Recall@k</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uk-UA"/>
        </a:p>
      </c:txPr>
    </c:title>
    <c:autoTitleDeleted val="0"/>
    <c:plotArea>
      <c:layout/>
      <c:barChart>
        <c:barDir val="col"/>
        <c:grouping val="clustered"/>
        <c:varyColors val="0"/>
        <c:ser>
          <c:idx val="0"/>
          <c:order val="0"/>
          <c:tx>
            <c:strRef>
              <c:f>Sheet1!$B$1</c:f>
              <c:strCache>
                <c:ptCount val="1"/>
                <c:pt idx="0">
                  <c:v>DRGR</c:v>
                </c:pt>
              </c:strCache>
            </c:strRef>
          </c:tx>
          <c:spPr>
            <a:solidFill>
              <a:schemeClr val="accent1"/>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Sheet1!$B$2:$B$5</c:f>
              <c:numCache>
                <c:formatCode>General</c:formatCode>
                <c:ptCount val="4"/>
                <c:pt idx="0">
                  <c:v>8.5699999999999998E-2</c:v>
                </c:pt>
                <c:pt idx="1">
                  <c:v>0.15210000000000001</c:v>
                </c:pt>
                <c:pt idx="2">
                  <c:v>0.20979999999999999</c:v>
                </c:pt>
                <c:pt idx="3">
                  <c:v>0.25290000000000001</c:v>
                </c:pt>
              </c:numCache>
            </c:numRef>
          </c:val>
          <c:extLst>
            <c:ext xmlns:c16="http://schemas.microsoft.com/office/drawing/2014/chart" uri="{C3380CC4-5D6E-409C-BE32-E72D297353CC}">
              <c16:uniqueId val="{00000000-090F-46EE-A26F-E5AE83EE590A}"/>
            </c:ext>
          </c:extLst>
        </c:ser>
        <c:ser>
          <c:idx val="1"/>
          <c:order val="1"/>
          <c:tx>
            <c:strRef>
              <c:f>Sheet1!$C$1</c:f>
              <c:strCache>
                <c:ptCount val="1"/>
                <c:pt idx="0">
                  <c:v>Запропонована</c:v>
                </c:pt>
              </c:strCache>
            </c:strRef>
          </c:tx>
          <c:spPr>
            <a:solidFill>
              <a:schemeClr val="accent3"/>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Sheet1!$C$2:$C$5</c:f>
              <c:numCache>
                <c:formatCode>General</c:formatCode>
                <c:ptCount val="4"/>
                <c:pt idx="0">
                  <c:v>0.20030000000000001</c:v>
                </c:pt>
                <c:pt idx="1">
                  <c:v>0.30830000000000002</c:v>
                </c:pt>
                <c:pt idx="2">
                  <c:v>0.3629</c:v>
                </c:pt>
                <c:pt idx="3">
                  <c:v>0.41010000000000002</c:v>
                </c:pt>
              </c:numCache>
            </c:numRef>
          </c:val>
          <c:extLst>
            <c:ext xmlns:c16="http://schemas.microsoft.com/office/drawing/2014/chart" uri="{C3380CC4-5D6E-409C-BE32-E72D297353CC}">
              <c16:uniqueId val="{00000001-090F-46EE-A26F-E5AE83EE590A}"/>
            </c:ext>
          </c:extLst>
        </c:ser>
        <c:dLbls>
          <c:dLblPos val="outEnd"/>
          <c:showLegendKey val="0"/>
          <c:showVal val="1"/>
          <c:showCatName val="0"/>
          <c:showSerName val="0"/>
          <c:showPercent val="0"/>
          <c:showBubbleSize val="0"/>
        </c:dLbls>
        <c:gapWidth val="219"/>
        <c:overlap val="-27"/>
        <c:axId val="894510928"/>
        <c:axId val="894515728"/>
      </c:barChart>
      <c:catAx>
        <c:axId val="8945109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5728"/>
        <c:crosses val="autoZero"/>
        <c:auto val="1"/>
        <c:lblAlgn val="ctr"/>
        <c:lblOffset val="100"/>
        <c:noMultiLvlLbl val="0"/>
      </c:catAx>
      <c:valAx>
        <c:axId val="894515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092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NDCG@k</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uk-UA"/>
        </a:p>
      </c:txPr>
    </c:title>
    <c:autoTitleDeleted val="0"/>
    <c:plotArea>
      <c:layout/>
      <c:barChart>
        <c:barDir val="col"/>
        <c:grouping val="clustered"/>
        <c:varyColors val="0"/>
        <c:ser>
          <c:idx val="0"/>
          <c:order val="0"/>
          <c:tx>
            <c:strRef>
              <c:f>Sheet1!$B$1</c:f>
              <c:strCache>
                <c:ptCount val="1"/>
                <c:pt idx="0">
                  <c:v>DRGR</c:v>
                </c:pt>
              </c:strCache>
            </c:strRef>
          </c:tx>
          <c:spPr>
            <a:solidFill>
              <a:schemeClr val="accent1"/>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Sheet1!$B$2:$B$5</c:f>
              <c:numCache>
                <c:formatCode>General</c:formatCode>
                <c:ptCount val="4"/>
                <c:pt idx="0">
                  <c:v>5.33E-2</c:v>
                </c:pt>
                <c:pt idx="1">
                  <c:v>7.4399999999999994E-2</c:v>
                </c:pt>
                <c:pt idx="2">
                  <c:v>8.9599999999999999E-2</c:v>
                </c:pt>
                <c:pt idx="3">
                  <c:v>9.9900000000000003E-2</c:v>
                </c:pt>
              </c:numCache>
            </c:numRef>
          </c:val>
          <c:extLst>
            <c:ext xmlns:c16="http://schemas.microsoft.com/office/drawing/2014/chart" uri="{C3380CC4-5D6E-409C-BE32-E72D297353CC}">
              <c16:uniqueId val="{00000000-F19E-4972-BCC5-32346CD7DA48}"/>
            </c:ext>
          </c:extLst>
        </c:ser>
        <c:ser>
          <c:idx val="1"/>
          <c:order val="1"/>
          <c:tx>
            <c:strRef>
              <c:f>Sheet1!$C$1</c:f>
              <c:strCache>
                <c:ptCount val="1"/>
                <c:pt idx="0">
                  <c:v>Запропонована</c:v>
                </c:pt>
              </c:strCache>
            </c:strRef>
          </c:tx>
          <c:spPr>
            <a:solidFill>
              <a:schemeClr val="accent3"/>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Sheet1!$C$2:$C$5</c:f>
              <c:numCache>
                <c:formatCode>General</c:formatCode>
                <c:ptCount val="4"/>
                <c:pt idx="0">
                  <c:v>0.124</c:v>
                </c:pt>
                <c:pt idx="1">
                  <c:v>0.15870000000000001</c:v>
                </c:pt>
                <c:pt idx="2">
                  <c:v>0.17269999999999999</c:v>
                </c:pt>
                <c:pt idx="3">
                  <c:v>0.18410000000000001</c:v>
                </c:pt>
              </c:numCache>
            </c:numRef>
          </c:val>
          <c:extLst>
            <c:ext xmlns:c16="http://schemas.microsoft.com/office/drawing/2014/chart" uri="{C3380CC4-5D6E-409C-BE32-E72D297353CC}">
              <c16:uniqueId val="{00000001-F19E-4972-BCC5-32346CD7DA48}"/>
            </c:ext>
          </c:extLst>
        </c:ser>
        <c:dLbls>
          <c:dLblPos val="outEnd"/>
          <c:showLegendKey val="0"/>
          <c:showVal val="1"/>
          <c:showCatName val="0"/>
          <c:showSerName val="0"/>
          <c:showPercent val="0"/>
          <c:showBubbleSize val="0"/>
        </c:dLbls>
        <c:gapWidth val="219"/>
        <c:overlap val="-27"/>
        <c:axId val="894510928"/>
        <c:axId val="894515728"/>
      </c:barChart>
      <c:catAx>
        <c:axId val="8945109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5728"/>
        <c:crosses val="autoZero"/>
        <c:auto val="1"/>
        <c:lblAlgn val="ctr"/>
        <c:lblOffset val="100"/>
        <c:noMultiLvlLbl val="0"/>
      </c:catAx>
      <c:valAx>
        <c:axId val="894515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092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Coverage@k</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uk-UA"/>
        </a:p>
      </c:txPr>
    </c:title>
    <c:autoTitleDeleted val="0"/>
    <c:plotArea>
      <c:layout/>
      <c:barChart>
        <c:barDir val="col"/>
        <c:grouping val="clustered"/>
        <c:varyColors val="0"/>
        <c:ser>
          <c:idx val="0"/>
          <c:order val="0"/>
          <c:tx>
            <c:strRef>
              <c:f>Sheet1!$B$1</c:f>
              <c:strCache>
                <c:ptCount val="1"/>
                <c:pt idx="0">
                  <c:v>DRGR</c:v>
                </c:pt>
              </c:strCache>
            </c:strRef>
          </c:tx>
          <c:spPr>
            <a:solidFill>
              <a:schemeClr val="accent1"/>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Sheet1!$B$2:$B$5</c:f>
              <c:numCache>
                <c:formatCode>General</c:formatCode>
                <c:ptCount val="4"/>
                <c:pt idx="0">
                  <c:v>0.22969999999999999</c:v>
                </c:pt>
                <c:pt idx="1">
                  <c:v>0.33079999999999998</c:v>
                </c:pt>
                <c:pt idx="2">
                  <c:v>0.4254</c:v>
                </c:pt>
                <c:pt idx="3">
                  <c:v>0.50349999999999995</c:v>
                </c:pt>
              </c:numCache>
            </c:numRef>
          </c:val>
          <c:extLst>
            <c:ext xmlns:c16="http://schemas.microsoft.com/office/drawing/2014/chart" uri="{C3380CC4-5D6E-409C-BE32-E72D297353CC}">
              <c16:uniqueId val="{00000000-FBA0-43D0-83CA-E5F815A52B6E}"/>
            </c:ext>
          </c:extLst>
        </c:ser>
        <c:ser>
          <c:idx val="1"/>
          <c:order val="1"/>
          <c:tx>
            <c:strRef>
              <c:f>Sheet1!$C$1</c:f>
              <c:strCache>
                <c:ptCount val="1"/>
                <c:pt idx="0">
                  <c:v>Запропонована</c:v>
                </c:pt>
              </c:strCache>
            </c:strRef>
          </c:tx>
          <c:spPr>
            <a:solidFill>
              <a:schemeClr val="accent3"/>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Sheet1!$C$2:$C$5</c:f>
              <c:numCache>
                <c:formatCode>General</c:formatCode>
                <c:ptCount val="4"/>
                <c:pt idx="0">
                  <c:v>0.30249999999999999</c:v>
                </c:pt>
                <c:pt idx="1">
                  <c:v>0.42820000000000003</c:v>
                </c:pt>
                <c:pt idx="2">
                  <c:v>0.54700000000000004</c:v>
                </c:pt>
                <c:pt idx="3">
                  <c:v>0.63219999999999998</c:v>
                </c:pt>
              </c:numCache>
            </c:numRef>
          </c:val>
          <c:extLst>
            <c:ext xmlns:c16="http://schemas.microsoft.com/office/drawing/2014/chart" uri="{C3380CC4-5D6E-409C-BE32-E72D297353CC}">
              <c16:uniqueId val="{00000001-FBA0-43D0-83CA-E5F815A52B6E}"/>
            </c:ext>
          </c:extLst>
        </c:ser>
        <c:dLbls>
          <c:dLblPos val="outEnd"/>
          <c:showLegendKey val="0"/>
          <c:showVal val="1"/>
          <c:showCatName val="0"/>
          <c:showSerName val="0"/>
          <c:showPercent val="0"/>
          <c:showBubbleSize val="0"/>
        </c:dLbls>
        <c:gapWidth val="219"/>
        <c:overlap val="-27"/>
        <c:axId val="894510928"/>
        <c:axId val="894515728"/>
      </c:barChart>
      <c:catAx>
        <c:axId val="8945109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5728"/>
        <c:crosses val="autoZero"/>
        <c:auto val="1"/>
        <c:lblAlgn val="ctr"/>
        <c:lblOffset val="100"/>
        <c:noMultiLvlLbl val="0"/>
      </c:catAx>
      <c:valAx>
        <c:axId val="894515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092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Recall@k</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uk-UA"/>
        </a:p>
      </c:txPr>
    </c:title>
    <c:autoTitleDeleted val="0"/>
    <c:plotArea>
      <c:layout/>
      <c:barChart>
        <c:barDir val="col"/>
        <c:grouping val="clustered"/>
        <c:varyColors val="0"/>
        <c:ser>
          <c:idx val="0"/>
          <c:order val="0"/>
          <c:tx>
            <c:strRef>
              <c:f>Sheet1!$B$1</c:f>
              <c:strCache>
                <c:ptCount val="1"/>
                <c:pt idx="0">
                  <c:v>DRGR</c:v>
                </c:pt>
              </c:strCache>
            </c:strRef>
          </c:tx>
          <c:spPr>
            <a:solidFill>
              <a:schemeClr val="accent6"/>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Sheet1!$B$2:$B$5</c:f>
              <c:numCache>
                <c:formatCode>General</c:formatCode>
                <c:ptCount val="4"/>
                <c:pt idx="0">
                  <c:v>6.8199999999999997E-2</c:v>
                </c:pt>
                <c:pt idx="1">
                  <c:v>0.129</c:v>
                </c:pt>
                <c:pt idx="2">
                  <c:v>0.18279999999999999</c:v>
                </c:pt>
                <c:pt idx="3">
                  <c:v>0.23530000000000001</c:v>
                </c:pt>
              </c:numCache>
            </c:numRef>
          </c:val>
          <c:extLst>
            <c:ext xmlns:c16="http://schemas.microsoft.com/office/drawing/2014/chart" uri="{C3380CC4-5D6E-409C-BE32-E72D297353CC}">
              <c16:uniqueId val="{00000000-090F-46EE-A26F-E5AE83EE590A}"/>
            </c:ext>
          </c:extLst>
        </c:ser>
        <c:ser>
          <c:idx val="1"/>
          <c:order val="1"/>
          <c:tx>
            <c:strRef>
              <c:f>Sheet1!$C$1</c:f>
              <c:strCache>
                <c:ptCount val="1"/>
                <c:pt idx="0">
                  <c:v>Запропонована</c:v>
                </c:pt>
              </c:strCache>
            </c:strRef>
          </c:tx>
          <c:spPr>
            <a:solidFill>
              <a:schemeClr val="accent5"/>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Sheet1!$C$2:$C$5</c:f>
              <c:numCache>
                <c:formatCode>General</c:formatCode>
                <c:ptCount val="4"/>
                <c:pt idx="0">
                  <c:v>0.1361</c:v>
                </c:pt>
                <c:pt idx="1">
                  <c:v>0.21410000000000001</c:v>
                </c:pt>
                <c:pt idx="2">
                  <c:v>0.26329999999999998</c:v>
                </c:pt>
                <c:pt idx="3">
                  <c:v>0.30780000000000002</c:v>
                </c:pt>
              </c:numCache>
            </c:numRef>
          </c:val>
          <c:extLst>
            <c:ext xmlns:c16="http://schemas.microsoft.com/office/drawing/2014/chart" uri="{C3380CC4-5D6E-409C-BE32-E72D297353CC}">
              <c16:uniqueId val="{00000001-090F-46EE-A26F-E5AE83EE590A}"/>
            </c:ext>
          </c:extLst>
        </c:ser>
        <c:dLbls>
          <c:dLblPos val="outEnd"/>
          <c:showLegendKey val="0"/>
          <c:showVal val="1"/>
          <c:showCatName val="0"/>
          <c:showSerName val="0"/>
          <c:showPercent val="0"/>
          <c:showBubbleSize val="0"/>
        </c:dLbls>
        <c:gapWidth val="219"/>
        <c:overlap val="-27"/>
        <c:axId val="894510928"/>
        <c:axId val="894515728"/>
      </c:barChart>
      <c:catAx>
        <c:axId val="8945109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5728"/>
        <c:crosses val="autoZero"/>
        <c:auto val="1"/>
        <c:lblAlgn val="ctr"/>
        <c:lblOffset val="100"/>
        <c:noMultiLvlLbl val="0"/>
      </c:catAx>
      <c:valAx>
        <c:axId val="894515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092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NDCG@k</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uk-UA"/>
        </a:p>
      </c:txPr>
    </c:title>
    <c:autoTitleDeleted val="0"/>
    <c:plotArea>
      <c:layout/>
      <c:barChart>
        <c:barDir val="col"/>
        <c:grouping val="clustered"/>
        <c:varyColors val="0"/>
        <c:ser>
          <c:idx val="0"/>
          <c:order val="0"/>
          <c:tx>
            <c:strRef>
              <c:f>Sheet1!$B$1</c:f>
              <c:strCache>
                <c:ptCount val="1"/>
                <c:pt idx="0">
                  <c:v>DRGR</c:v>
                </c:pt>
              </c:strCache>
            </c:strRef>
          </c:tx>
          <c:spPr>
            <a:solidFill>
              <a:schemeClr val="accent6"/>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Sheet1!$B$2:$B$5</c:f>
              <c:numCache>
                <c:formatCode>General</c:formatCode>
                <c:ptCount val="4"/>
                <c:pt idx="0">
                  <c:v>4.1200000000000001E-2</c:v>
                </c:pt>
                <c:pt idx="1">
                  <c:v>6.0699999999999997E-2</c:v>
                </c:pt>
                <c:pt idx="2">
                  <c:v>7.4800000000000005E-2</c:v>
                </c:pt>
                <c:pt idx="3">
                  <c:v>8.72E-2</c:v>
                </c:pt>
              </c:numCache>
            </c:numRef>
          </c:val>
          <c:extLst>
            <c:ext xmlns:c16="http://schemas.microsoft.com/office/drawing/2014/chart" uri="{C3380CC4-5D6E-409C-BE32-E72D297353CC}">
              <c16:uniqueId val="{00000000-F19E-4972-BCC5-32346CD7DA48}"/>
            </c:ext>
          </c:extLst>
        </c:ser>
        <c:ser>
          <c:idx val="1"/>
          <c:order val="1"/>
          <c:tx>
            <c:strRef>
              <c:f>Sheet1!$C$1</c:f>
              <c:strCache>
                <c:ptCount val="1"/>
                <c:pt idx="0">
                  <c:v>Запропонована</c:v>
                </c:pt>
              </c:strCache>
            </c:strRef>
          </c:tx>
          <c:spPr>
            <a:solidFill>
              <a:schemeClr val="accent5"/>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Sheet1!$C$2:$C$5</c:f>
              <c:numCache>
                <c:formatCode>General</c:formatCode>
                <c:ptCount val="4"/>
                <c:pt idx="0">
                  <c:v>8.3299999999999999E-2</c:v>
                </c:pt>
                <c:pt idx="1">
                  <c:v>0.108</c:v>
                </c:pt>
                <c:pt idx="2">
                  <c:v>0.12130000000000001</c:v>
                </c:pt>
                <c:pt idx="3">
                  <c:v>0.1321</c:v>
                </c:pt>
              </c:numCache>
            </c:numRef>
          </c:val>
          <c:extLst>
            <c:ext xmlns:c16="http://schemas.microsoft.com/office/drawing/2014/chart" uri="{C3380CC4-5D6E-409C-BE32-E72D297353CC}">
              <c16:uniqueId val="{00000001-F19E-4972-BCC5-32346CD7DA48}"/>
            </c:ext>
          </c:extLst>
        </c:ser>
        <c:dLbls>
          <c:dLblPos val="outEnd"/>
          <c:showLegendKey val="0"/>
          <c:showVal val="1"/>
          <c:showCatName val="0"/>
          <c:showSerName val="0"/>
          <c:showPercent val="0"/>
          <c:showBubbleSize val="0"/>
        </c:dLbls>
        <c:gapWidth val="219"/>
        <c:overlap val="-27"/>
        <c:axId val="894510928"/>
        <c:axId val="894515728"/>
      </c:barChart>
      <c:catAx>
        <c:axId val="8945109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5728"/>
        <c:crosses val="autoZero"/>
        <c:auto val="1"/>
        <c:lblAlgn val="ctr"/>
        <c:lblOffset val="100"/>
        <c:noMultiLvlLbl val="0"/>
      </c:catAx>
      <c:valAx>
        <c:axId val="894515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092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sz="1400" dirty="0"/>
              <a:t>Coverage@k</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uk-UA"/>
        </a:p>
      </c:txPr>
    </c:title>
    <c:autoTitleDeleted val="0"/>
    <c:plotArea>
      <c:layout/>
      <c:barChart>
        <c:barDir val="col"/>
        <c:grouping val="clustered"/>
        <c:varyColors val="0"/>
        <c:ser>
          <c:idx val="0"/>
          <c:order val="0"/>
          <c:tx>
            <c:strRef>
              <c:f>Sheet1!$B$1</c:f>
              <c:strCache>
                <c:ptCount val="1"/>
                <c:pt idx="0">
                  <c:v>DRGR</c:v>
                </c:pt>
              </c:strCache>
            </c:strRef>
          </c:tx>
          <c:spPr>
            <a:solidFill>
              <a:schemeClr val="accent6"/>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Sheet1!$B$2:$B$5</c:f>
              <c:numCache>
                <c:formatCode>General</c:formatCode>
                <c:ptCount val="4"/>
                <c:pt idx="0">
                  <c:v>0.16070000000000001</c:v>
                </c:pt>
                <c:pt idx="1">
                  <c:v>0.24970000000000001</c:v>
                </c:pt>
                <c:pt idx="2">
                  <c:v>0.32779999999999998</c:v>
                </c:pt>
                <c:pt idx="3">
                  <c:v>0.40489999999999998</c:v>
                </c:pt>
              </c:numCache>
            </c:numRef>
          </c:val>
          <c:extLst>
            <c:ext xmlns:c16="http://schemas.microsoft.com/office/drawing/2014/chart" uri="{C3380CC4-5D6E-409C-BE32-E72D297353CC}">
              <c16:uniqueId val="{00000000-FBA0-43D0-83CA-E5F815A52B6E}"/>
            </c:ext>
          </c:extLst>
        </c:ser>
        <c:ser>
          <c:idx val="1"/>
          <c:order val="1"/>
          <c:tx>
            <c:strRef>
              <c:f>Sheet1!$C$1</c:f>
              <c:strCache>
                <c:ptCount val="1"/>
                <c:pt idx="0">
                  <c:v>Запропонована</c:v>
                </c:pt>
              </c:strCache>
            </c:strRef>
          </c:tx>
          <c:spPr>
            <a:solidFill>
              <a:schemeClr val="accent5"/>
            </a:solidFill>
            <a:ln>
              <a:noFill/>
            </a:ln>
            <a:effectLst/>
          </c:spPr>
          <c:invertIfNegative val="0"/>
          <c:dLbls>
            <c:spPr>
              <a:noFill/>
              <a:ln>
                <a:noFill/>
              </a:ln>
              <a:effectLst/>
            </c:spPr>
            <c:txPr>
              <a:bodyPr rot="-5400000" spcFirstLastPara="1" vertOverflow="ellipsis"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cs"/>
                  </a:defRPr>
                </a:pPr>
                <a:endParaRPr lang="uk-UA"/>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k=5</c:v>
                </c:pt>
                <c:pt idx="1">
                  <c:v>k=10</c:v>
                </c:pt>
                <c:pt idx="2">
                  <c:v>k=15</c:v>
                </c:pt>
                <c:pt idx="3">
                  <c:v>k=20</c:v>
                </c:pt>
              </c:strCache>
            </c:strRef>
          </c:cat>
          <c:val>
            <c:numRef>
              <c:f>Sheet1!$C$2:$C$5</c:f>
              <c:numCache>
                <c:formatCode>General</c:formatCode>
                <c:ptCount val="4"/>
                <c:pt idx="0">
                  <c:v>0.20599999999999999</c:v>
                </c:pt>
                <c:pt idx="1">
                  <c:v>0.33710000000000001</c:v>
                </c:pt>
                <c:pt idx="2">
                  <c:v>0.43890000000000001</c:v>
                </c:pt>
                <c:pt idx="3">
                  <c:v>0.55189999999999995</c:v>
                </c:pt>
              </c:numCache>
            </c:numRef>
          </c:val>
          <c:extLst>
            <c:ext xmlns:c16="http://schemas.microsoft.com/office/drawing/2014/chart" uri="{C3380CC4-5D6E-409C-BE32-E72D297353CC}">
              <c16:uniqueId val="{00000001-FBA0-43D0-83CA-E5F815A52B6E}"/>
            </c:ext>
          </c:extLst>
        </c:ser>
        <c:dLbls>
          <c:dLblPos val="outEnd"/>
          <c:showLegendKey val="0"/>
          <c:showVal val="1"/>
          <c:showCatName val="0"/>
          <c:showSerName val="0"/>
          <c:showPercent val="0"/>
          <c:showBubbleSize val="0"/>
        </c:dLbls>
        <c:gapWidth val="219"/>
        <c:overlap val="-27"/>
        <c:axId val="894510928"/>
        <c:axId val="894515728"/>
      </c:barChart>
      <c:catAx>
        <c:axId val="894510928"/>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5728"/>
        <c:crosses val="autoZero"/>
        <c:auto val="1"/>
        <c:lblAlgn val="ctr"/>
        <c:lblOffset val="100"/>
        <c:noMultiLvlLbl val="0"/>
      </c:catAx>
      <c:valAx>
        <c:axId val="894515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crossAx val="894510928"/>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uk-UA"/>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uk-UA"/>
    </a:p>
  </c:txPr>
  <c:externalData r:id="rId3">
    <c:autoUpdate val="0"/>
  </c:externalData>
</c:chartSpace>
</file>

<file path=ppt/charts/colors1.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1">
  <a:schemeClr val="accent1"/>
  <a:schemeClr val="accent3"/>
  <a:schemeClr val="accent5"/>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4">
  <cs:axisTitle>
    <cs:lnRef idx="0"/>
    <cs:fillRef idx="0"/>
    <cs:effectRef idx="0"/>
    <cs:fontRef idx="minor">
      <a:schemeClr val="tx1">
        <a:lumMod val="50000"/>
        <a:lumOff val="50000"/>
      </a:schemeClr>
    </cs:fontRef>
    <cs:defRPr sz="1197" kern="1200" cap="all"/>
  </cs:axisTitle>
  <cs:category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dk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65000"/>
        <a:lumOff val="3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
  <cs:dataPoint3D>
    <cs:lnRef idx="0"/>
    <cs:fillRef idx="2">
      <cs:styleClr val="auto"/>
    </cs:fillRef>
    <cs:effectRef idx="1"/>
    <cs:fontRef idx="minor">
      <a:schemeClr val="dk1"/>
    </cs:fontRef>
    <cs:spPr/>
  </cs:dataPoint3D>
  <cs:dataPointLine>
    <cs:lnRef idx="0">
      <cs:styleClr val="auto"/>
    </cs:lnRef>
    <cs:fillRef idx="2">
      <cs:styleClr val="auto"/>
    </cs:fillRef>
    <cs:effectRef idx="1"/>
    <cs:fontRef idx="minor">
      <a:schemeClr val="dk1"/>
    </cs:fontRef>
    <cs:spPr>
      <a:ln w="15875" cap="rnd">
        <a:solidFill>
          <a:schemeClr val="phClr"/>
        </a:solidFill>
        <a:round/>
      </a:ln>
    </cs:spPr>
  </cs:dataPointLine>
  <cs:dataPointMarker>
    <cs:lnRef idx="0">
      <cs:styleClr val="auto"/>
    </cs:lnRef>
    <cs:fillRef idx="2">
      <cs:styleClr val="auto"/>
    </cs:fillRef>
    <cs:effectRef idx="1"/>
    <cs:fontRef idx="minor">
      <a:schemeClr val="dk1"/>
    </cs:fontRef>
    <cs:spPr>
      <a:ln w="9525" cap="flat" cmpd="sng" algn="ctr">
        <a:solidFill>
          <a:schemeClr val="phClr">
            <a:shade val="95000"/>
          </a:schemeClr>
        </a:solidFill>
        <a:round/>
      </a:ln>
    </cs:spPr>
  </cs:dataPointMarker>
  <cs:dataPointMarkerLayout symbol="circle" size="4"/>
  <cs:dataPointWireframe>
    <cs:lnRef idx="0">
      <cs:styleClr val="auto"/>
    </cs:lnRef>
    <cs:fillRef idx="2"/>
    <cs:effectRef idx="0"/>
    <cs:fontRef idx="minor">
      <a:schemeClr val="dk1"/>
    </cs:fontRef>
    <cs:spPr>
      <a:ln w="9525" cap="rnd">
        <a:solidFill>
          <a:schemeClr val="phClr"/>
        </a:solidFill>
        <a:round/>
      </a:ln>
    </cs:spPr>
  </cs:dataPointWireframe>
  <cs:dataTable>
    <cs:lnRef idx="0"/>
    <cs:fillRef idx="0"/>
    <cs:effectRef idx="0"/>
    <cs:fontRef idx="minor">
      <a:schemeClr val="tx1">
        <a:lumMod val="50000"/>
        <a:lumOff val="50000"/>
      </a:schemeClr>
    </cs:fontRef>
    <cs:spPr>
      <a:ln w="9525">
        <a:solidFill>
          <a:schemeClr val="tx1">
            <a:lumMod val="15000"/>
            <a:lumOff val="85000"/>
          </a:schemeClr>
        </a:solidFill>
      </a:ln>
    </cs:spPr>
    <cs:defRPr sz="1197" kern="1200"/>
  </cs:dataTable>
  <cs:downBar>
    <cs:lnRef idx="0"/>
    <cs:fillRef idx="0"/>
    <cs:effectRef idx="0"/>
    <cs:fontRef idx="minor">
      <a:schemeClr val="dk1"/>
    </cs:fontRef>
    <cs:spPr>
      <a:solidFill>
        <a:schemeClr val="dk1">
          <a:lumMod val="75000"/>
          <a:lumOff val="25000"/>
        </a:schemeClr>
      </a:solidFill>
      <a:ln w="9525">
        <a:solidFill>
          <a:schemeClr val="tx1">
            <a:lumMod val="50000"/>
            <a:lumOff val="50000"/>
          </a:schemeClr>
        </a:solidFill>
      </a:ln>
    </cs:spPr>
  </cs:downBar>
  <cs:dropLine>
    <cs:lnRef idx="0"/>
    <cs:fillRef idx="0"/>
    <cs:effectRef idx="0"/>
    <cs:fontRef idx="minor">
      <a:schemeClr val="dk1"/>
    </cs:fontRef>
    <cs:spPr>
      <a:ln w="9525">
        <a:solidFill>
          <a:schemeClr val="tx1">
            <a:lumMod val="35000"/>
            <a:lumOff val="65000"/>
          </a:schemeClr>
        </a:solidFill>
        <a:prstDash val="dash"/>
      </a:ln>
    </cs:spPr>
  </cs:dropLine>
  <cs:errorBar>
    <cs:lnRef idx="0"/>
    <cs:fillRef idx="0"/>
    <cs:effectRef idx="0"/>
    <cs:fontRef idx="minor">
      <a:schemeClr val="dk1"/>
    </cs:fontRef>
    <cs:spPr>
      <a:ln w="9525">
        <a:solidFill>
          <a:schemeClr val="tx1">
            <a:lumMod val="50000"/>
            <a:lumOff val="50000"/>
          </a:schemeClr>
        </a:solidFill>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solidFill>
          <a:schemeClr val="tx1">
            <a:lumMod val="15000"/>
            <a:lumOff val="85000"/>
          </a:schemeClr>
        </a:solidFill>
        <a:round/>
      </a:ln>
    </cs:spPr>
  </cs:gridlineMajor>
  <cs:gridlineMinor>
    <cs:lnRef idx="0"/>
    <cs:fillRef idx="0"/>
    <cs:effectRef idx="0"/>
    <cs:fontRef idx="minor">
      <a:schemeClr val="dk1"/>
    </cs:fontRef>
    <cs:spPr>
      <a:ln>
        <a:solidFill>
          <a:schemeClr val="tx1">
            <a:lumMod val="5000"/>
            <a:lumOff val="95000"/>
          </a:schemeClr>
        </a:solidFill>
      </a:ln>
    </cs:spPr>
  </cs:gridlineMinor>
  <cs:hiLoLine>
    <cs:lnRef idx="0"/>
    <cs:fillRef idx="0"/>
    <cs:effectRef idx="0"/>
    <cs:fontRef idx="minor">
      <a:schemeClr val="dk1"/>
    </cs:fontRef>
    <cs:spPr>
      <a:ln w="9525">
        <a:solidFill>
          <a:schemeClr val="tx1">
            <a:lumMod val="50000"/>
            <a:lumOff val="50000"/>
          </a:schemeClr>
        </a:solidFill>
        <a:prstDash val="dash"/>
      </a:ln>
    </cs:spPr>
  </cs:hiLoLine>
  <cs:leaderLine>
    <cs:lnRef idx="0"/>
    <cs:fillRef idx="0"/>
    <cs:effectRef idx="0"/>
    <cs:fontRef idx="minor">
      <a:schemeClr val="dk1"/>
    </cs:fontRef>
    <cs:spPr>
      <a:ln w="9525">
        <a:solidFill>
          <a:schemeClr val="tx1">
            <a:lumMod val="35000"/>
            <a:lumOff val="65000"/>
          </a:schemeClr>
        </a:solidFill>
      </a:ln>
    </cs:spPr>
  </cs:leaderLine>
  <cs:legend>
    <cs:lnRef idx="0"/>
    <cs:fillRef idx="0"/>
    <cs:effectRef idx="0"/>
    <cs:fontRef idx="minor">
      <a:schemeClr val="tx1">
        <a:lumMod val="50000"/>
        <a:lumOff val="50000"/>
      </a:schemeClr>
    </cs:fontRef>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50000"/>
        <a:lumOff val="50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dk1"/>
    </cs:fontRef>
    <cs:spPr>
      <a:ln w="9525">
        <a:solidFill>
          <a:schemeClr val="tx1">
            <a:lumMod val="35000"/>
            <a:lumOff val="65000"/>
          </a:schemeClr>
        </a:solidFill>
        <a:prstDash val="dash"/>
      </a:ln>
    </cs:spPr>
  </cs:seriesLine>
  <cs:title>
    <cs:lnRef idx="0"/>
    <cs:fillRef idx="0"/>
    <cs:effectRef idx="0"/>
    <cs:fontRef idx="minor">
      <a:schemeClr val="tx1">
        <a:lumMod val="50000"/>
        <a:lumOff val="50000"/>
      </a:schemeClr>
    </cs:fontRef>
    <cs:defRPr sz="1862" kern="1200" cap="none" spc="20" baseline="0"/>
  </cs:title>
  <cs:trendline>
    <cs:lnRef idx="0">
      <cs:styleClr val="auto"/>
    </cs:lnRef>
    <cs:fillRef idx="2"/>
    <cs:effectRef idx="0"/>
    <cs:fontRef idx="minor">
      <a:schemeClr val="dk1"/>
    </cs:fontRef>
    <cs:spPr>
      <a:ln w="9525" cap="rnd">
        <a:solidFill>
          <a:schemeClr val="phClr"/>
        </a:solidFill>
      </a:ln>
    </cs:spPr>
  </cs:trendline>
  <cs:trendlineLabel>
    <cs:lnRef idx="0"/>
    <cs:fillRef idx="0"/>
    <cs:effectRef idx="0"/>
    <cs:fontRef idx="minor">
      <a:schemeClr val="tx1">
        <a:lumMod val="50000"/>
        <a:lumOff val="50000"/>
      </a:schemeClr>
    </cs:fontRef>
    <cs:defRPr sz="1197" kern="1200"/>
  </cs:trendlineLabel>
  <cs:upBar>
    <cs:lnRef idx="0"/>
    <cs:fillRef idx="0"/>
    <cs:effectRef idx="0"/>
    <cs:fontRef idx="minor">
      <a:schemeClr val="dk1"/>
    </cs:fontRef>
    <cs:spPr>
      <a:solidFill>
        <a:schemeClr val="lt1"/>
      </a:solidFill>
      <a:ln w="9525">
        <a:solidFill>
          <a:schemeClr val="tx1">
            <a:lumMod val="50000"/>
            <a:lumOff val="50000"/>
          </a:schemeClr>
        </a:solidFill>
      </a:ln>
    </cs:spPr>
  </cs:upBar>
  <cs:valueAxis>
    <cs:lnRef idx="0"/>
    <cs:fillRef idx="0"/>
    <cs:effectRef idx="0"/>
    <cs:fontRef idx="minor">
      <a:schemeClr val="tx1">
        <a:lumMod val="50000"/>
        <a:lumOff val="50000"/>
      </a:schemeClr>
    </cs:fontRef>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58FDCD98-C622-4773-BA98-4AEFEE66227D}" type="datetimeFigureOut">
              <a:rPr lang="uk-UA" smtClean="0"/>
              <a:t>24.04.2026</a:t>
            </a:fld>
            <a:endParaRPr lang="uk-UA"/>
          </a:p>
        </p:txBody>
      </p:sp>
      <p:sp>
        <p:nvSpPr>
          <p:cNvPr id="4" name="Місце для зображення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7345D1F-247A-494F-A2C8-2C8C153E38AF}" type="slidenum">
              <a:rPr lang="uk-UA" smtClean="0"/>
              <a:t>‹#›</a:t>
            </a:fld>
            <a:endParaRPr lang="uk-UA"/>
          </a:p>
        </p:txBody>
      </p:sp>
    </p:spTree>
    <p:extLst>
      <p:ext uri="{BB962C8B-B14F-4D97-AF65-F5344CB8AC3E}">
        <p14:creationId xmlns:p14="http://schemas.microsoft.com/office/powerpoint/2010/main" val="2532706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Всіх вітаю, мене звати Богдан Романюк. </a:t>
            </a:r>
          </a:p>
          <a:p>
            <a:r>
              <a:rPr lang="uk-UA" dirty="0"/>
              <a:t>Я є аспірантом факультету прикладної математики та інформатики Львівського національного університету ім. Івана Франка і сьогодні ми поговоримо про розробку групової рекомендаційної системи з використанням машинного навчання з підкріпленням.</a:t>
            </a:r>
          </a:p>
        </p:txBody>
      </p:sp>
      <p:sp>
        <p:nvSpPr>
          <p:cNvPr id="4" name="Місце для номера слайда 3"/>
          <p:cNvSpPr>
            <a:spLocks noGrp="1"/>
          </p:cNvSpPr>
          <p:nvPr>
            <p:ph type="sldNum" sz="quarter" idx="5"/>
          </p:nvPr>
        </p:nvSpPr>
        <p:spPr/>
        <p:txBody>
          <a:bodyPr/>
          <a:lstStyle/>
          <a:p>
            <a:fld id="{B7345D1F-247A-494F-A2C8-2C8C153E38AF}" type="slidenum">
              <a:rPr lang="uk-UA" smtClean="0"/>
              <a:t>1</a:t>
            </a:fld>
            <a:endParaRPr lang="uk-UA" dirty="0"/>
          </a:p>
        </p:txBody>
      </p:sp>
    </p:spTree>
    <p:extLst>
      <p:ext uri="{BB962C8B-B14F-4D97-AF65-F5344CB8AC3E}">
        <p14:creationId xmlns:p14="http://schemas.microsoft.com/office/powerpoint/2010/main" val="19388221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kern="1200" dirty="0">
                <a:solidFill>
                  <a:schemeClr val="tx1"/>
                </a:solidFill>
                <a:effectLst/>
                <a:latin typeface="+mn-lt"/>
                <a:ea typeface="+mn-ea"/>
                <a:cs typeface="+mn-cs"/>
              </a:rPr>
              <a:t>Що таке рекомендація? </a:t>
            </a:r>
            <a:r>
              <a:rPr lang="uk-UA" b="1" noProof="0" dirty="0"/>
              <a:t>Рекомендація</a:t>
            </a:r>
            <a:r>
              <a:rPr lang="uk-UA" noProof="0" dirty="0"/>
              <a:t> — це процес підбору контенту або продуктів, які найкраще відповідають інтересам і потребам користувачів</a:t>
            </a:r>
            <a:r>
              <a:rPr lang="ru-RU" dirty="0"/>
              <a:t>.</a:t>
            </a:r>
            <a:r>
              <a:rPr lang="uk-UA" sz="1200" kern="1200" dirty="0">
                <a:solidFill>
                  <a:schemeClr val="tx1"/>
                </a:solidFill>
                <a:effectLst/>
                <a:latin typeface="+mn-lt"/>
                <a:ea typeface="+mn-ea"/>
                <a:cs typeface="+mn-cs"/>
              </a:rPr>
              <a:t> </a:t>
            </a:r>
          </a:p>
          <a:p>
            <a:r>
              <a:rPr lang="uk-UA" sz="1200" kern="1200" dirty="0">
                <a:solidFill>
                  <a:schemeClr val="tx1"/>
                </a:solidFill>
                <a:effectLst/>
                <a:latin typeface="+mn-lt"/>
                <a:ea typeface="+mn-ea"/>
                <a:cs typeface="+mn-cs"/>
              </a:rPr>
              <a:t>Актуальність застосування рекомендаційних систем зростає в умовах інформаційного перенасичення, адже обсяги доступної інформації постійно зростають, що ускладнює процес її ефективного пошуку та обробки. В багатьох випадках важливою </a:t>
            </a:r>
            <a:r>
              <a:rPr lang="uk-UA" noProof="0" dirty="0"/>
              <a:t>не просто рекомендувати щось одній людині, а формувати рекомендації для групи користувачів</a:t>
            </a:r>
            <a:r>
              <a:rPr lang="uk-UA" sz="1200" kern="1200" noProof="0" dirty="0">
                <a:solidFill>
                  <a:schemeClr val="tx1"/>
                </a:solidFill>
                <a:effectLst/>
                <a:latin typeface="+mn-lt"/>
                <a:ea typeface="+mn-ea"/>
                <a:cs typeface="+mn-cs"/>
              </a:rPr>
              <a:t>.</a:t>
            </a:r>
            <a:r>
              <a:rPr lang="uk-UA" sz="1200" kern="1200" dirty="0">
                <a:solidFill>
                  <a:schemeClr val="tx1"/>
                </a:solidFill>
                <a:effectLst/>
                <a:latin typeface="+mn-lt"/>
                <a:ea typeface="+mn-ea"/>
                <a:cs typeface="+mn-cs"/>
              </a:rPr>
              <a:t> Наприклад в системах потокового медіа, електронної комерції</a:t>
            </a:r>
            <a:r>
              <a:rPr lang="en-US"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або туристичних сервісах</a:t>
            </a:r>
            <a:r>
              <a:rPr lang="ru-RU" dirty="0"/>
              <a:t>, </a:t>
            </a:r>
            <a:r>
              <a:rPr lang="uk-UA" noProof="0" dirty="0"/>
              <a:t>де рішення часто приймаються спільно</a:t>
            </a:r>
            <a:r>
              <a:rPr lang="ru-RU" dirty="0"/>
              <a:t>.</a:t>
            </a:r>
            <a:endParaRPr lang="uk-UA" sz="1200" kern="1200" dirty="0">
              <a:solidFill>
                <a:schemeClr val="tx1"/>
              </a:solidFill>
              <a:effectLst/>
              <a:latin typeface="+mn-lt"/>
              <a:ea typeface="+mn-ea"/>
              <a:cs typeface="+mn-cs"/>
            </a:endParaRPr>
          </a:p>
          <a:p>
            <a:r>
              <a:rPr lang="uk-UA" b="1" dirty="0"/>
              <a:t>Перспективних підходом </a:t>
            </a:r>
            <a:r>
              <a:rPr lang="uk-UA" dirty="0"/>
              <a:t>на сьогодні є використання </a:t>
            </a:r>
            <a:r>
              <a:rPr lang="uk-UA" b="1" dirty="0"/>
              <a:t>машинного навчання з підкріпленням</a:t>
            </a:r>
            <a:r>
              <a:rPr lang="uk-UA" dirty="0"/>
              <a:t>. Воно дозволяє розглядати рекомендації як задачу послідовного прийняття рішень, де система поступово навчається і оптимізує результат на основі довготривалої взаємодії з групою користувачів.</a:t>
            </a:r>
            <a:endParaRPr lang="uk-UA" sz="1200" kern="1200" dirty="0">
              <a:solidFill>
                <a:schemeClr val="tx1"/>
              </a:solidFill>
              <a:effectLst/>
              <a:latin typeface="+mn-lt"/>
              <a:ea typeface="+mn-ea"/>
              <a:cs typeface="+mn-cs"/>
            </a:endParaRPr>
          </a:p>
        </p:txBody>
      </p:sp>
      <p:sp>
        <p:nvSpPr>
          <p:cNvPr id="4" name="Місце для номера слайда 3"/>
          <p:cNvSpPr>
            <a:spLocks noGrp="1"/>
          </p:cNvSpPr>
          <p:nvPr>
            <p:ph type="sldNum" sz="quarter" idx="5"/>
          </p:nvPr>
        </p:nvSpPr>
        <p:spPr/>
        <p:txBody>
          <a:bodyPr/>
          <a:lstStyle/>
          <a:p>
            <a:fld id="{B7345D1F-247A-494F-A2C8-2C8C153E38AF}" type="slidenum">
              <a:rPr lang="uk-UA" smtClean="0"/>
              <a:t>2</a:t>
            </a:fld>
            <a:endParaRPr lang="uk-UA" dirty="0"/>
          </a:p>
        </p:txBody>
      </p:sp>
    </p:spTree>
    <p:extLst>
      <p:ext uri="{BB962C8B-B14F-4D97-AF65-F5344CB8AC3E}">
        <p14:creationId xmlns:p14="http://schemas.microsoft.com/office/powerpoint/2010/main" val="13303570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12B3B-D519-EF6E-C18A-47CFD9D81B30}"/>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9066ACA5-F721-EA07-EAB1-7FCEB9EDC6D4}"/>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8A3A4784-4529-FA0B-BCB5-E25DD9F61CAD}"/>
              </a:ext>
            </a:extLst>
          </p:cNvPr>
          <p:cNvSpPr>
            <a:spLocks noGrp="1"/>
          </p:cNvSpPr>
          <p:nvPr>
            <p:ph type="body" idx="1"/>
          </p:nvPr>
        </p:nvSpPr>
        <p:spPr/>
        <p:txBody>
          <a:bodyPr/>
          <a:lstStyle/>
          <a:p>
            <a:r>
              <a:rPr lang="uk-UA" b="1" noProof="0" dirty="0"/>
              <a:t>У межах дослідження було проаналізовано </a:t>
            </a:r>
            <a:r>
              <a:rPr lang="uk-UA" noProof="0" dirty="0"/>
              <a:t>чотири популярні моделі для групових рекомендацій</a:t>
            </a:r>
            <a:r>
              <a:rPr lang="ru-RU" dirty="0"/>
              <a:t>. </a:t>
            </a:r>
            <a:r>
              <a:rPr lang="uk-UA" noProof="0" dirty="0"/>
              <a:t>Кожна з них має як свої переваги так і недоліки</a:t>
            </a:r>
            <a:r>
              <a:rPr lang="uk-UA" dirty="0"/>
              <a:t>. Наприклад, одні краще враховують взаємодію між користувачами, інші — використовують механізми уваги або навіть машинне навчання з підкріпленням. Проте </a:t>
            </a:r>
            <a:r>
              <a:rPr lang="uk-UA" noProof="0" dirty="0"/>
              <a:t>більшість моделей працюють зі статичними профілями користувачів і фактично орієнтуються на </a:t>
            </a:r>
            <a:r>
              <a:rPr lang="uk-UA" noProof="0" dirty="0" err="1"/>
              <a:t>короткотривальний</a:t>
            </a:r>
            <a:r>
              <a:rPr lang="uk-UA" noProof="0" dirty="0"/>
              <a:t> результат — тобто “що порадити прямо зараз”, без урахування того, як інтереси змінюються з часом</a:t>
            </a:r>
            <a:r>
              <a:rPr lang="ru-RU" dirty="0"/>
              <a:t>. </a:t>
            </a:r>
            <a:r>
              <a:rPr lang="uk-UA" noProof="0" dirty="0"/>
              <a:t>Крім того, не всі підходи достатньо добре враховують вплив кожного учасника групи на спільне рішення — а це критично важливо, коли інтереси можуть відрізнятися.</a:t>
            </a:r>
            <a:endParaRPr lang="ru-RU" dirty="0"/>
          </a:p>
          <a:p>
            <a:r>
              <a:rPr lang="uk-UA" b="1" noProof="0" dirty="0"/>
              <a:t>Саме тому основна ідея роботи </a:t>
            </a:r>
            <a:r>
              <a:rPr lang="uk-UA" noProof="0" dirty="0"/>
              <a:t>— це побудувати систему</a:t>
            </a:r>
            <a:r>
              <a:rPr lang="ru-RU" dirty="0"/>
              <a:t>,</a:t>
            </a:r>
            <a:r>
              <a:rPr lang="uk-UA" noProof="0" dirty="0"/>
              <a:t> яка одночасно враховує динаміку зміни вподобань, орієнтується на довгострокову взаємодію і при цьому </a:t>
            </a:r>
            <a:r>
              <a:rPr lang="uk-UA" noProof="0" dirty="0" err="1"/>
              <a:t>коректно</a:t>
            </a:r>
            <a:r>
              <a:rPr lang="uk-UA" noProof="0" dirty="0"/>
              <a:t> моделює внесок кожного користувача під час прийняття спільного рішення.</a:t>
            </a:r>
            <a:endParaRPr lang="uk-UA" sz="1200" kern="1200" dirty="0">
              <a:solidFill>
                <a:schemeClr val="tx1"/>
              </a:solidFill>
              <a:effectLst/>
              <a:latin typeface="+mn-lt"/>
              <a:ea typeface="+mn-ea"/>
              <a:cs typeface="+mn-cs"/>
            </a:endParaRPr>
          </a:p>
        </p:txBody>
      </p:sp>
      <p:sp>
        <p:nvSpPr>
          <p:cNvPr id="4" name="Місце для номера слайда 3">
            <a:extLst>
              <a:ext uri="{FF2B5EF4-FFF2-40B4-BE49-F238E27FC236}">
                <a16:creationId xmlns:a16="http://schemas.microsoft.com/office/drawing/2014/main" id="{76A80A8A-FE16-9B9C-07D4-DB76855B4216}"/>
              </a:ext>
            </a:extLst>
          </p:cNvPr>
          <p:cNvSpPr>
            <a:spLocks noGrp="1"/>
          </p:cNvSpPr>
          <p:nvPr>
            <p:ph type="sldNum" sz="quarter" idx="5"/>
          </p:nvPr>
        </p:nvSpPr>
        <p:spPr/>
        <p:txBody>
          <a:bodyPr/>
          <a:lstStyle/>
          <a:p>
            <a:fld id="{B7345D1F-247A-494F-A2C8-2C8C153E38AF}" type="slidenum">
              <a:rPr lang="uk-UA" smtClean="0"/>
              <a:t>3</a:t>
            </a:fld>
            <a:endParaRPr lang="uk-UA" dirty="0"/>
          </a:p>
        </p:txBody>
      </p:sp>
    </p:spTree>
    <p:extLst>
      <p:ext uri="{BB962C8B-B14F-4D97-AF65-F5344CB8AC3E}">
        <p14:creationId xmlns:p14="http://schemas.microsoft.com/office/powerpoint/2010/main" val="28539234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kern="1200" dirty="0">
                <a:solidFill>
                  <a:schemeClr val="tx1"/>
                </a:solidFill>
                <a:effectLst/>
                <a:latin typeface="+mn-lt"/>
                <a:ea typeface="+mn-ea"/>
                <a:cs typeface="+mn-cs"/>
              </a:rPr>
              <a:t>Навчання з підкріпленням базується на </a:t>
            </a:r>
            <a:r>
              <a:rPr lang="uk-UA" sz="1200" b="1" kern="1200" dirty="0">
                <a:solidFill>
                  <a:schemeClr val="tx1"/>
                </a:solidFill>
                <a:effectLst/>
                <a:latin typeface="+mn-lt"/>
                <a:ea typeface="+mn-ea"/>
                <a:cs typeface="+mn-cs"/>
              </a:rPr>
              <a:t>процесі прийняття рішень Маркова, в якому система навчається приймати рішення крок за кроком.</a:t>
            </a:r>
          </a:p>
          <a:p>
            <a:r>
              <a:rPr lang="uk-UA" noProof="0" dirty="0"/>
              <a:t>У цій моделі, як це зображено на рис. 1, рекомендаційна система виступає як агент, а середовище — це групи користувачів, елементи та історія взаємодій.</a:t>
            </a:r>
            <a:endParaRPr lang="uk-UA" sz="1200" b="1" kern="1200" dirty="0">
              <a:solidFill>
                <a:schemeClr val="tx1"/>
              </a:solidFill>
              <a:effectLst/>
              <a:latin typeface="+mn-lt"/>
              <a:ea typeface="+mn-ea"/>
              <a:cs typeface="+mn-cs"/>
            </a:endParaRPr>
          </a:p>
          <a:p>
            <a:r>
              <a:rPr lang="uk-UA" sz="1200" kern="1200" noProof="0" dirty="0">
                <a:solidFill>
                  <a:schemeClr val="tx1"/>
                </a:solidFill>
                <a:effectLst/>
                <a:latin typeface="+mn-lt"/>
                <a:ea typeface="+mn-ea"/>
                <a:cs typeface="+mn-cs"/>
              </a:rPr>
              <a:t>Агент отримує поточний стан групи, формує рекомендацію, і далі, в залежності від реакції користувачів — перегляд чи оцінка — отримує винагороду.</a:t>
            </a:r>
          </a:p>
          <a:p>
            <a:r>
              <a:rPr lang="uk-UA" noProof="0" dirty="0"/>
              <a:t>Цей процес повторюється багато разів, і за рахунок цього система поступово навчається давати кращі рекомендації. </a:t>
            </a:r>
          </a:p>
          <a:p>
            <a:r>
              <a:rPr lang="uk-UA" b="1" noProof="0" dirty="0"/>
              <a:t>Ключова ідея тут це максимізація сумарної винагороди</a:t>
            </a:r>
            <a:r>
              <a:rPr lang="uk-UA" noProof="0" dirty="0"/>
              <a:t>, тобто орієнтація на довгострокову залученість користувачів, а не тільки на миттєвий результат. Такий підхід дозволяє враховувати зміну інтересів з часом, працювати з великими обсягами даних і адаптуватись до поведінки користувачів.</a:t>
            </a:r>
            <a:endParaRPr lang="uk-UA" sz="1200" kern="1200" noProof="0" dirty="0">
              <a:solidFill>
                <a:schemeClr val="tx1"/>
              </a:solidFill>
              <a:effectLst/>
              <a:latin typeface="+mn-lt"/>
              <a:ea typeface="+mn-ea"/>
              <a:cs typeface="+mn-cs"/>
            </a:endParaRPr>
          </a:p>
        </p:txBody>
      </p:sp>
      <p:sp>
        <p:nvSpPr>
          <p:cNvPr id="4" name="Місце для номера слайда 3"/>
          <p:cNvSpPr>
            <a:spLocks noGrp="1"/>
          </p:cNvSpPr>
          <p:nvPr>
            <p:ph type="sldNum" sz="quarter" idx="5"/>
          </p:nvPr>
        </p:nvSpPr>
        <p:spPr/>
        <p:txBody>
          <a:bodyPr/>
          <a:lstStyle/>
          <a:p>
            <a:fld id="{B7345D1F-247A-494F-A2C8-2C8C153E38AF}" type="slidenum">
              <a:rPr lang="uk-UA" smtClean="0"/>
              <a:t>4</a:t>
            </a:fld>
            <a:endParaRPr lang="uk-UA"/>
          </a:p>
        </p:txBody>
      </p:sp>
    </p:spTree>
    <p:extLst>
      <p:ext uri="{BB962C8B-B14F-4D97-AF65-F5344CB8AC3E}">
        <p14:creationId xmlns:p14="http://schemas.microsoft.com/office/powerpoint/2010/main" val="31199914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sz="1200" b="1" kern="1200" dirty="0">
                <a:solidFill>
                  <a:schemeClr val="tx1"/>
                </a:solidFill>
                <a:effectLst/>
                <a:latin typeface="+mn-lt"/>
                <a:ea typeface="+mn-ea"/>
                <a:cs typeface="+mn-cs"/>
              </a:rPr>
              <a:t>Основною задачею дослідження</a:t>
            </a:r>
            <a:r>
              <a:rPr lang="uk-UA" sz="1200" kern="1200" dirty="0">
                <a:solidFill>
                  <a:schemeClr val="tx1"/>
                </a:solidFill>
                <a:effectLst/>
                <a:latin typeface="+mn-lt"/>
                <a:ea typeface="+mn-ea"/>
                <a:cs typeface="+mn-cs"/>
              </a:rPr>
              <a:t> є розробка групової рекомендаційної системи на основі машинного навчання з підкріпленням для підвищення ефективності та точності рекомендацій. </a:t>
            </a:r>
          </a:p>
          <a:p>
            <a:r>
              <a:rPr lang="uk-UA" sz="1200" b="1" kern="1200" dirty="0">
                <a:solidFill>
                  <a:schemeClr val="tx1"/>
                </a:solidFill>
                <a:effectLst/>
                <a:latin typeface="+mn-lt"/>
                <a:ea typeface="+mn-ea"/>
                <a:cs typeface="+mn-cs"/>
              </a:rPr>
              <a:t>В цьому контексті були поставлені наступні задачі:</a:t>
            </a:r>
            <a:endParaRPr lang="uk-UA" sz="1200" kern="1200" dirty="0">
              <a:solidFill>
                <a:schemeClr val="tx1"/>
              </a:solidFill>
              <a:effectLst/>
              <a:latin typeface="+mn-lt"/>
              <a:ea typeface="+mn-ea"/>
              <a:cs typeface="+mn-cs"/>
            </a:endParaRPr>
          </a:p>
          <a:p>
            <a:r>
              <a:rPr lang="uk-UA" dirty="0"/>
              <a:t>– підготовка набору даних та формування груп користувачів;</a:t>
            </a:r>
            <a:br>
              <a:rPr lang="uk-UA" dirty="0"/>
            </a:br>
            <a:r>
              <a:rPr lang="uk-UA" dirty="0"/>
              <a:t>– розробка моделі на основі архітектури Актор–Критик;</a:t>
            </a:r>
            <a:br>
              <a:rPr lang="uk-UA" dirty="0"/>
            </a:br>
            <a:r>
              <a:rPr lang="uk-UA" dirty="0"/>
              <a:t>– реалізація механізму врахування внеску кожного учасника групи;</a:t>
            </a:r>
            <a:br>
              <a:rPr lang="uk-UA" dirty="0"/>
            </a:br>
            <a:r>
              <a:rPr lang="uk-UA" dirty="0"/>
              <a:t>– навчання та тестування моделі;</a:t>
            </a:r>
            <a:br>
              <a:rPr lang="uk-UA" dirty="0"/>
            </a:br>
            <a:r>
              <a:rPr lang="uk-UA" dirty="0"/>
              <a:t>– порівняння отриманих результатів із базовим підходам.</a:t>
            </a:r>
          </a:p>
          <a:p>
            <a:r>
              <a:rPr lang="uk-UA" b="1" noProof="0" dirty="0"/>
              <a:t>Очікуваним результатом є </a:t>
            </a:r>
            <a:r>
              <a:rPr lang="uk-UA" noProof="0" dirty="0"/>
              <a:t>модель, яка формує більш релевантні групові рекомендації, краще адаптується до змін у вподобаннях користувачів та враховує їхню поведінку в довгостроковій перспективі</a:t>
            </a:r>
            <a:r>
              <a:rPr lang="uk-UA" sz="1200" kern="1200" dirty="0">
                <a:solidFill>
                  <a:schemeClr val="tx1"/>
                </a:solidFill>
                <a:effectLst/>
                <a:latin typeface="+mn-lt"/>
                <a:ea typeface="+mn-ea"/>
                <a:cs typeface="+mn-cs"/>
              </a:rPr>
              <a:t>.</a:t>
            </a:r>
          </a:p>
          <a:p>
            <a:endParaRPr lang="uk-UA" dirty="0"/>
          </a:p>
        </p:txBody>
      </p:sp>
      <p:sp>
        <p:nvSpPr>
          <p:cNvPr id="4" name="Slide Number Placeholder 3"/>
          <p:cNvSpPr>
            <a:spLocks noGrp="1"/>
          </p:cNvSpPr>
          <p:nvPr>
            <p:ph type="sldNum" sz="quarter" idx="5"/>
          </p:nvPr>
        </p:nvSpPr>
        <p:spPr/>
        <p:txBody>
          <a:bodyPr/>
          <a:lstStyle/>
          <a:p>
            <a:fld id="{B7345D1F-247A-494F-A2C8-2C8C153E38AF}" type="slidenum">
              <a:rPr lang="uk-UA" smtClean="0"/>
              <a:t>5</a:t>
            </a:fld>
            <a:endParaRPr lang="uk-UA"/>
          </a:p>
        </p:txBody>
      </p:sp>
    </p:spTree>
    <p:extLst>
      <p:ext uri="{BB962C8B-B14F-4D97-AF65-F5344CB8AC3E}">
        <p14:creationId xmlns:p14="http://schemas.microsoft.com/office/powerpoint/2010/main" val="16109522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6CCD5-6FD8-6FE6-CC83-9920013F46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AD19A9-D332-7EF2-F693-2AB64CC8A9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68D6B5-56F1-B817-A2B1-F59B71519B27}"/>
              </a:ext>
            </a:extLst>
          </p:cNvPr>
          <p:cNvSpPr>
            <a:spLocks noGrp="1"/>
          </p:cNvSpPr>
          <p:nvPr>
            <p:ph type="body" idx="1"/>
          </p:nvPr>
        </p:nvSpPr>
        <p:spPr/>
        <p:txBody>
          <a:bodyPr/>
          <a:lstStyle/>
          <a:p>
            <a:r>
              <a:rPr lang="uk-UA" dirty="0"/>
              <a:t>Для навчання та тестування моделі було використано набір даних </a:t>
            </a:r>
            <a:r>
              <a:rPr lang="en-US" b="1" dirty="0"/>
              <a:t>MovieLens</a:t>
            </a:r>
            <a:r>
              <a:rPr lang="en-US" dirty="0"/>
              <a:t>, </a:t>
            </a:r>
            <a:r>
              <a:rPr lang="uk-UA" dirty="0"/>
              <a:t>який містить велику кількість взаємодій користувачів з фільмами</a:t>
            </a:r>
            <a:r>
              <a:rPr lang="en-US" dirty="0"/>
              <a:t> </a:t>
            </a:r>
            <a:r>
              <a:rPr lang="uk-UA" dirty="0"/>
              <a:t>з однойменного сайту. </a:t>
            </a:r>
            <a:r>
              <a:rPr lang="uk-UA" noProof="0" dirty="0"/>
              <a:t>На його основі було сформовано 1000 груп користувачів розміром від 2 до 4 осіб, при цьому кожна група має щонайменше 10 спільних взаємодій. </a:t>
            </a:r>
            <a:r>
              <a:rPr lang="uk-UA" dirty="0"/>
              <a:t>Оцінки користувачів в цьому наборів від 0 до 5.</a:t>
            </a:r>
            <a:r>
              <a:rPr lang="ru-RU" dirty="0"/>
              <a:t> </a:t>
            </a:r>
            <a:endParaRPr lang="en-US" noProof="0" dirty="0"/>
          </a:p>
          <a:p>
            <a:r>
              <a:rPr lang="uk-UA" b="1" dirty="0"/>
              <a:t>Для формування групової оцінки використовуються наступні правила:</a:t>
            </a:r>
            <a:br>
              <a:rPr lang="uk-UA" dirty="0"/>
            </a:br>
            <a:r>
              <a:rPr lang="uk-UA" dirty="0"/>
              <a:t>Якщо всі учасники групи оцінили фільм на 4 або вище — вважається що фільм оцінено позитивно і присвоюється групова оцінка 1.</a:t>
            </a:r>
            <a:br>
              <a:rPr lang="uk-UA" dirty="0"/>
            </a:br>
            <a:r>
              <a:rPr lang="uk-UA" dirty="0"/>
              <a:t>Якщо всі учасники групи оцінили певний фільм але принаймні половина учасників поставила менше 4 — це негативний випадок, оцінка 0.</a:t>
            </a:r>
          </a:p>
          <a:p>
            <a:r>
              <a:rPr lang="uk-UA" dirty="0"/>
              <a:t>Інші фільмі відкидаються.</a:t>
            </a:r>
          </a:p>
          <a:p>
            <a:r>
              <a:rPr lang="uk-UA" dirty="0"/>
              <a:t>Схематично ідею побудови груп відображено на рис. 2 та рис. 3. </a:t>
            </a:r>
          </a:p>
          <a:p>
            <a:r>
              <a:rPr lang="uk-UA" dirty="0"/>
              <a:t>Статистика отриманого набору груп продемонстровано у таблиці 2.</a:t>
            </a:r>
            <a:br>
              <a:rPr lang="uk-UA" dirty="0"/>
            </a:br>
            <a:endParaRPr lang="uk-UA" dirty="0"/>
          </a:p>
        </p:txBody>
      </p:sp>
      <p:sp>
        <p:nvSpPr>
          <p:cNvPr id="4" name="Slide Number Placeholder 3">
            <a:extLst>
              <a:ext uri="{FF2B5EF4-FFF2-40B4-BE49-F238E27FC236}">
                <a16:creationId xmlns:a16="http://schemas.microsoft.com/office/drawing/2014/main" id="{342CDE64-3020-AB3E-D717-E2D4D1E49D22}"/>
              </a:ext>
            </a:extLst>
          </p:cNvPr>
          <p:cNvSpPr>
            <a:spLocks noGrp="1"/>
          </p:cNvSpPr>
          <p:nvPr>
            <p:ph type="sldNum" sz="quarter" idx="5"/>
          </p:nvPr>
        </p:nvSpPr>
        <p:spPr/>
        <p:txBody>
          <a:bodyPr/>
          <a:lstStyle/>
          <a:p>
            <a:fld id="{B7345D1F-247A-494F-A2C8-2C8C153E38AF}" type="slidenum">
              <a:rPr lang="uk-UA" smtClean="0"/>
              <a:t>6</a:t>
            </a:fld>
            <a:endParaRPr lang="uk-UA"/>
          </a:p>
        </p:txBody>
      </p:sp>
    </p:spTree>
    <p:extLst>
      <p:ext uri="{BB962C8B-B14F-4D97-AF65-F5344CB8AC3E}">
        <p14:creationId xmlns:p14="http://schemas.microsoft.com/office/powerpoint/2010/main" val="23965767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sz="1200" kern="1200" dirty="0">
                <a:solidFill>
                  <a:schemeClr val="tx1"/>
                </a:solidFill>
                <a:effectLst/>
                <a:latin typeface="+mn-lt"/>
                <a:ea typeface="+mn-ea"/>
                <a:cs typeface="+mn-cs"/>
              </a:rPr>
              <a:t>Запропонована архітектурна модель </a:t>
            </a:r>
            <a:r>
              <a:rPr lang="uk-UA" sz="1200" b="1" kern="1200" dirty="0">
                <a:solidFill>
                  <a:schemeClr val="tx1"/>
                </a:solidFill>
                <a:effectLst/>
                <a:latin typeface="+mn-lt"/>
                <a:ea typeface="+mn-ea"/>
                <a:cs typeface="+mn-cs"/>
              </a:rPr>
              <a:t>складається з трьох нейронних мереж</a:t>
            </a:r>
            <a:r>
              <a:rPr lang="uk-UA" sz="1200" kern="1200" dirty="0">
                <a:solidFill>
                  <a:schemeClr val="tx1"/>
                </a:solidFill>
                <a:effectLst/>
                <a:latin typeface="+mn-lt"/>
                <a:ea typeface="+mn-ea"/>
                <a:cs typeface="+mn-cs"/>
              </a:rPr>
              <a:t>: Інтегратора, Актора та Критика, як це зображено на рис. 4</a:t>
            </a:r>
            <a:endParaRPr lang="en-US" sz="1200" kern="1200" dirty="0">
              <a:solidFill>
                <a:schemeClr val="tx1"/>
              </a:solidFill>
              <a:effectLst/>
              <a:latin typeface="+mn-lt"/>
              <a:ea typeface="+mn-ea"/>
              <a:cs typeface="+mn-cs"/>
            </a:endParaRPr>
          </a:p>
          <a:p>
            <a:r>
              <a:rPr lang="uk-UA" sz="1200" b="1" dirty="0">
                <a:solidFill>
                  <a:srgbClr val="00B0F0"/>
                </a:solidFill>
              </a:rPr>
              <a:t>Інтегратор </a:t>
            </a:r>
            <a:r>
              <a:rPr lang="uk-UA" sz="1200" dirty="0"/>
              <a:t>–</a:t>
            </a:r>
            <a:r>
              <a:rPr lang="en-US" sz="1200" dirty="0"/>
              <a:t> </a:t>
            </a:r>
            <a:r>
              <a:rPr lang="uk-UA" sz="1200" noProof="0" dirty="0"/>
              <a:t>формує векторне представлення стану групи на основі складу групи та історії її взаємодій. Модуль враховує внесок кожного учасника у спільне представлення. Результатом роботи є узагальнений вектор стану, який відображає поточні інтереси групи та контекст останніх взаємодій</a:t>
            </a:r>
            <a:r>
              <a:rPr lang="ru-RU" sz="1200" dirty="0"/>
              <a:t>.</a:t>
            </a:r>
          </a:p>
          <a:p>
            <a:r>
              <a:rPr lang="uk-UA" sz="1200" b="1" dirty="0">
                <a:solidFill>
                  <a:srgbClr val="00B0F0"/>
                </a:solidFill>
              </a:rPr>
              <a:t>Актор</a:t>
            </a:r>
            <a:r>
              <a:rPr lang="uk-UA" sz="1200" dirty="0">
                <a:solidFill>
                  <a:srgbClr val="00B0F0"/>
                </a:solidFill>
              </a:rPr>
              <a:t> </a:t>
            </a:r>
            <a:r>
              <a:rPr lang="uk-UA" sz="1200" dirty="0"/>
              <a:t>– відповідає за формування рекомендаційної стратегії на основі поточного стану групи. Результатом є вектор, що задає наближене подання рекомендації, на основі якого в подальшому здійснюється рекомендація.</a:t>
            </a:r>
            <a:endParaRPr lang="en-US" sz="1200" b="1" dirty="0">
              <a:solidFill>
                <a:srgbClr val="00CC99"/>
              </a:solidFill>
            </a:endParaRPr>
          </a:p>
          <a:p>
            <a:r>
              <a:rPr lang="uk-UA" sz="1200" b="1" dirty="0">
                <a:solidFill>
                  <a:srgbClr val="00CC99"/>
                </a:solidFill>
              </a:rPr>
              <a:t>Критик</a:t>
            </a:r>
            <a:r>
              <a:rPr lang="uk-UA" sz="1200" dirty="0">
                <a:solidFill>
                  <a:srgbClr val="00CC99"/>
                </a:solidFill>
              </a:rPr>
              <a:t> </a:t>
            </a:r>
            <a:r>
              <a:rPr lang="uk-UA" sz="1200" dirty="0"/>
              <a:t>– оцінює якість сформованої рекомендації. </a:t>
            </a:r>
            <a:r>
              <a:rPr lang="uk-UA" sz="1200" noProof="0" dirty="0"/>
              <a:t>На основі стану групи та сформованої наближеної рекомендації він обчислює Q-значення, яке характеризує якість обраної рекомендації. Отримана оцінка використовується для коригування параметрів Актора</a:t>
            </a:r>
            <a:endParaRPr lang="ru-RU" sz="1200" noProof="0" dirty="0"/>
          </a:p>
          <a:p>
            <a:r>
              <a:rPr lang="uk-UA" sz="1200" b="1" noProof="0" dirty="0"/>
              <a:t>Цю архітектуру реалізовано </a:t>
            </a:r>
            <a:r>
              <a:rPr lang="uk-UA" sz="1200" noProof="0" dirty="0"/>
              <a:t>з використанням пакету </a:t>
            </a:r>
            <a:r>
              <a:rPr lang="en-US" sz="1200" b="1" noProof="0" dirty="0"/>
              <a:t>PyTorch</a:t>
            </a:r>
            <a:r>
              <a:rPr lang="en-US" sz="1200" noProof="0" dirty="0"/>
              <a:t> </a:t>
            </a:r>
            <a:r>
              <a:rPr lang="uk-UA" sz="1200" noProof="0" dirty="0"/>
              <a:t>та мови програмування </a:t>
            </a:r>
            <a:r>
              <a:rPr lang="en-US" sz="1200" b="1" noProof="0" dirty="0"/>
              <a:t>Python</a:t>
            </a:r>
            <a:r>
              <a:rPr lang="en-US" sz="1200" noProof="0" dirty="0"/>
              <a:t>.</a:t>
            </a:r>
            <a:r>
              <a:rPr lang="ru-RU" sz="1200" noProof="0" dirty="0"/>
              <a:t> </a:t>
            </a:r>
            <a:endParaRPr lang="uk-UA" sz="1200" dirty="0"/>
          </a:p>
          <a:p>
            <a:pPr marL="285750" indent="-285750">
              <a:buFont typeface="Wingdings" panose="05000000000000000000" pitchFamily="2" charset="2"/>
              <a:buChar char="ü"/>
            </a:pPr>
            <a:endParaRPr lang="uk-UA" sz="1200" dirty="0"/>
          </a:p>
        </p:txBody>
      </p:sp>
      <p:sp>
        <p:nvSpPr>
          <p:cNvPr id="4" name="Місце для номера слайда 3"/>
          <p:cNvSpPr>
            <a:spLocks noGrp="1"/>
          </p:cNvSpPr>
          <p:nvPr>
            <p:ph type="sldNum" sz="quarter" idx="5"/>
          </p:nvPr>
        </p:nvSpPr>
        <p:spPr/>
        <p:txBody>
          <a:bodyPr/>
          <a:lstStyle/>
          <a:p>
            <a:fld id="{B7345D1F-247A-494F-A2C8-2C8C153E38AF}" type="slidenum">
              <a:rPr lang="uk-UA" smtClean="0"/>
              <a:t>7</a:t>
            </a:fld>
            <a:endParaRPr lang="uk-UA"/>
          </a:p>
        </p:txBody>
      </p:sp>
    </p:spTree>
    <p:extLst>
      <p:ext uri="{BB962C8B-B14F-4D97-AF65-F5344CB8AC3E}">
        <p14:creationId xmlns:p14="http://schemas.microsoft.com/office/powerpoint/2010/main" val="3542487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44C7BC-2516-08B0-D669-C5955E96514E}"/>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32595025-FC28-8058-E9B1-9B5884F85787}"/>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BC06A1AA-487B-088D-6EAA-389890B86298}"/>
              </a:ext>
            </a:extLst>
          </p:cNvPr>
          <p:cNvSpPr>
            <a:spLocks noGrp="1"/>
          </p:cNvSpPr>
          <p:nvPr>
            <p:ph type="body" idx="1"/>
          </p:nvPr>
        </p:nvSpPr>
        <p:spPr/>
        <p:txBody>
          <a:bodyPr/>
          <a:lstStyle/>
          <a:p>
            <a:r>
              <a:rPr lang="uk-UA" b="1" dirty="0"/>
              <a:t>Інтегратор</a:t>
            </a:r>
            <a:r>
              <a:rPr lang="uk-UA" dirty="0"/>
              <a:t> у запропонованій моделі відповідає за формування </a:t>
            </a:r>
            <a:r>
              <a:rPr lang="uk-UA" b="1" dirty="0"/>
              <a:t>поточного стану групи</a:t>
            </a:r>
            <a:r>
              <a:rPr lang="uk-UA" dirty="0"/>
              <a:t>.</a:t>
            </a:r>
            <a:br>
              <a:rPr lang="uk-UA" dirty="0"/>
            </a:br>
            <a:r>
              <a:rPr lang="uk-UA" dirty="0"/>
              <a:t>На його вхід подаються дві складові: сама група користувачів і історія їхніх попередніх взаємодій з елементами.</a:t>
            </a:r>
          </a:p>
          <a:p>
            <a:r>
              <a:rPr lang="uk-UA" dirty="0"/>
              <a:t>Спочатку кожен користувач перетворюється на векторне представлення.</a:t>
            </a:r>
            <a:br>
              <a:rPr lang="uk-UA" dirty="0"/>
            </a:br>
            <a:r>
              <a:rPr lang="uk-UA" dirty="0"/>
              <a:t>Після цього застосовується механізм </a:t>
            </a:r>
            <a:r>
              <a:rPr lang="uk-UA" dirty="0" err="1"/>
              <a:t>самоуваги</a:t>
            </a:r>
            <a:r>
              <a:rPr lang="en-US" dirty="0"/>
              <a:t>, </a:t>
            </a:r>
            <a:r>
              <a:rPr lang="uk-UA" dirty="0"/>
              <a:t>який дає змогу врахувати взаємний вплив учасників групи один на одного.</a:t>
            </a:r>
            <a:br>
              <a:rPr lang="uk-UA" dirty="0"/>
            </a:br>
            <a:r>
              <a:rPr lang="uk-UA" dirty="0"/>
              <a:t>Тобто модель аналізує не лише те, хто входить до групи, а й те, як саме ці користувачі співвідносяться між собою в межах спільного вибору.</a:t>
            </a:r>
          </a:p>
          <a:p>
            <a:r>
              <a:rPr lang="uk-UA" dirty="0"/>
              <a:t>Далі початкові та оновлені користувацькі представлення об’єднуються, і на цій основі формується узагальнене представлення всієї групи.</a:t>
            </a:r>
          </a:p>
          <a:p>
            <a:r>
              <a:rPr lang="uk-UA" b="1" dirty="0"/>
              <a:t>Історія взаємодій </a:t>
            </a:r>
            <a:r>
              <a:rPr lang="uk-UA" dirty="0"/>
              <a:t>опрацьовується окремо. Для цього беруться останні </a:t>
            </a:r>
            <a:r>
              <a:rPr lang="en-US" dirty="0"/>
              <a:t>N </a:t>
            </a:r>
            <a:r>
              <a:rPr lang="uk-UA" dirty="0"/>
              <a:t>елементів, кожен із яких також перетворюється у вектор ознак, після чого ці вектори об’єднуються в єдине представлення історії. </a:t>
            </a:r>
          </a:p>
          <a:p>
            <a:r>
              <a:rPr lang="uk-UA" b="1" dirty="0"/>
              <a:t>На завершальному етапі </a:t>
            </a:r>
            <a:r>
              <a:rPr lang="uk-UA" dirty="0"/>
              <a:t>групове та історичне представлення </a:t>
            </a:r>
            <a:r>
              <a:rPr lang="uk-UA" dirty="0" err="1"/>
              <a:t>конкатенуються</a:t>
            </a:r>
            <a:r>
              <a:rPr lang="uk-UA" dirty="0"/>
              <a:t>.</a:t>
            </a:r>
            <a:br>
              <a:rPr lang="uk-UA" dirty="0"/>
            </a:br>
            <a:r>
              <a:rPr lang="uk-UA" dirty="0"/>
              <a:t>У результаті отримуємо вектор стану, який одночасно враховує склад групи, взаємозв’язки між її учасниками та послідовність попередніх взаємодій.</a:t>
            </a:r>
          </a:p>
        </p:txBody>
      </p:sp>
      <p:sp>
        <p:nvSpPr>
          <p:cNvPr id="4" name="Місце для номера слайда 3">
            <a:extLst>
              <a:ext uri="{FF2B5EF4-FFF2-40B4-BE49-F238E27FC236}">
                <a16:creationId xmlns:a16="http://schemas.microsoft.com/office/drawing/2014/main" id="{6AE74FE6-53D0-793D-476A-E38A38C12C96}"/>
              </a:ext>
            </a:extLst>
          </p:cNvPr>
          <p:cNvSpPr>
            <a:spLocks noGrp="1"/>
          </p:cNvSpPr>
          <p:nvPr>
            <p:ph type="sldNum" sz="quarter" idx="5"/>
          </p:nvPr>
        </p:nvSpPr>
        <p:spPr/>
        <p:txBody>
          <a:bodyPr/>
          <a:lstStyle/>
          <a:p>
            <a:fld id="{B7345D1F-247A-494F-A2C8-2C8C153E38AF}" type="slidenum">
              <a:rPr lang="uk-UA" smtClean="0"/>
              <a:t>8</a:t>
            </a:fld>
            <a:endParaRPr lang="uk-UA"/>
          </a:p>
        </p:txBody>
      </p:sp>
    </p:spTree>
    <p:extLst>
      <p:ext uri="{BB962C8B-B14F-4D97-AF65-F5344CB8AC3E}">
        <p14:creationId xmlns:p14="http://schemas.microsoft.com/office/powerpoint/2010/main" val="2119862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r>
              <a:rPr lang="uk-UA" dirty="0"/>
              <a:t>Розглянемо детальніше архітектур мереж Актор–Критик.</a:t>
            </a:r>
          </a:p>
          <a:p>
            <a:r>
              <a:rPr lang="uk-UA" b="1" dirty="0"/>
              <a:t>Актор відповідає за генерацію рекомендацій.</a:t>
            </a:r>
            <a:br>
              <a:rPr lang="uk-UA" dirty="0"/>
            </a:br>
            <a:r>
              <a:rPr lang="uk-UA" dirty="0"/>
              <a:t>Він отримує на вхід стан групи, сформований Інтегратором, і пропускає його через кілька повнозв’язних шарів з активаційною функцією </a:t>
            </a:r>
            <a:r>
              <a:rPr lang="en-US" dirty="0" err="1"/>
              <a:t>ReLU</a:t>
            </a:r>
            <a:r>
              <a:rPr lang="uk-UA" dirty="0"/>
              <a:t>.</a:t>
            </a:r>
            <a:br>
              <a:rPr lang="uk-UA" dirty="0"/>
            </a:br>
            <a:r>
              <a:rPr lang="uk-UA" dirty="0"/>
              <a:t>Для стабільності навчання також використовується механізм </a:t>
            </a:r>
            <a:r>
              <a:rPr lang="en-US" dirty="0"/>
              <a:t>Dropout.</a:t>
            </a:r>
          </a:p>
          <a:p>
            <a:r>
              <a:rPr lang="uk-UA" dirty="0"/>
              <a:t>На виході </a:t>
            </a:r>
            <a:r>
              <a:rPr lang="uk-UA" b="1" dirty="0"/>
              <a:t>Актор</a:t>
            </a:r>
            <a:r>
              <a:rPr lang="uk-UA" dirty="0"/>
              <a:t> формує вектор наближеної рекомендації — це узагальнене представлення вподобань групи.</a:t>
            </a:r>
            <a:br>
              <a:rPr lang="uk-UA" dirty="0"/>
            </a:br>
            <a:r>
              <a:rPr lang="uk-UA" dirty="0"/>
              <a:t>Далі цей вектор порівнюється з векторними представленнями всіх елементів на основі метрики порівняння векторів, обчислюється релевантність, і формується список рекомендацій — </a:t>
            </a:r>
            <a:r>
              <a:rPr lang="en-US" dirty="0"/>
              <a:t>top-k.</a:t>
            </a:r>
          </a:p>
          <a:p>
            <a:endParaRPr lang="uk-UA" dirty="0"/>
          </a:p>
          <a:p>
            <a:r>
              <a:rPr lang="uk-UA" b="1" dirty="0"/>
              <a:t>Критик, у свою чергу, оцінює якість цієї рекомендації.</a:t>
            </a:r>
            <a:br>
              <a:rPr lang="uk-UA" dirty="0"/>
            </a:br>
            <a:r>
              <a:rPr lang="uk-UA" dirty="0"/>
              <a:t>Він отримує і стан групи, і вектор наближеної рекомендації, сформований Актором, об’єднує їх і пропускає через нейронну мережу.</a:t>
            </a:r>
          </a:p>
          <a:p>
            <a:r>
              <a:rPr lang="uk-UA" dirty="0"/>
              <a:t>На виході критик формує скалярне </a:t>
            </a:r>
            <a:r>
              <a:rPr lang="en-US" dirty="0"/>
              <a:t>Q-</a:t>
            </a:r>
            <a:r>
              <a:rPr lang="uk-UA" dirty="0"/>
              <a:t>значення, яке показує, наскільки хорошою є дана рекомендація з точки зору майбутньої винагороди.</a:t>
            </a:r>
          </a:p>
          <a:p>
            <a:r>
              <a:rPr lang="uk-UA" dirty="0"/>
              <a:t>Саме ця оцінка використовується для навчання Актора. Модель поступово вчиться генерувати такі рекомендації, які максимізують довгострокову винагороду.</a:t>
            </a:r>
          </a:p>
        </p:txBody>
      </p:sp>
      <p:sp>
        <p:nvSpPr>
          <p:cNvPr id="4" name="Місце для номера слайда 3"/>
          <p:cNvSpPr>
            <a:spLocks noGrp="1"/>
          </p:cNvSpPr>
          <p:nvPr>
            <p:ph type="sldNum" sz="quarter" idx="5"/>
          </p:nvPr>
        </p:nvSpPr>
        <p:spPr/>
        <p:txBody>
          <a:bodyPr/>
          <a:lstStyle/>
          <a:p>
            <a:fld id="{B7345D1F-247A-494F-A2C8-2C8C153E38AF}" type="slidenum">
              <a:rPr lang="uk-UA" smtClean="0"/>
              <a:t>9</a:t>
            </a:fld>
            <a:endParaRPr lang="uk-UA"/>
          </a:p>
        </p:txBody>
      </p:sp>
    </p:spTree>
    <p:extLst>
      <p:ext uri="{BB962C8B-B14F-4D97-AF65-F5344CB8AC3E}">
        <p14:creationId xmlns:p14="http://schemas.microsoft.com/office/powerpoint/2010/main" val="19358889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72733-2482-C946-DFA4-233795987EF2}"/>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9D42AE44-6C14-7B7E-CCE4-2C54C202038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Місце для нотаток 2">
                <a:extLst>
                  <a:ext uri="{FF2B5EF4-FFF2-40B4-BE49-F238E27FC236}">
                    <a16:creationId xmlns:a16="http://schemas.microsoft.com/office/drawing/2014/main" id="{60A194CE-ACD3-4012-3DBE-5252AE72733C}"/>
                  </a:ext>
                </a:extLst>
              </p:cNvPr>
              <p:cNvSpPr>
                <a:spLocks noGrp="1"/>
              </p:cNvSpPr>
              <p:nvPr>
                <p:ph type="body" idx="1"/>
              </p:nvPr>
            </p:nvSpPr>
            <p:spPr/>
            <p:txBody>
              <a:bodyPr/>
              <a:lstStyle/>
              <a:p>
                <a:r>
                  <a:rPr lang="uk-UA" dirty="0"/>
                  <a:t>Навчання моделі відбувається з використанням алгоритму </a:t>
                </a:r>
                <a:r>
                  <a:rPr lang="uk-UA" sz="1200" b="1" kern="1200" dirty="0">
                    <a:solidFill>
                      <a:schemeClr val="tx1"/>
                    </a:solidFill>
                    <a:effectLst/>
                    <a:latin typeface="+mn-lt"/>
                    <a:ea typeface="+mn-ea"/>
                    <a:cs typeface="+mn-cs"/>
                  </a:rPr>
                  <a:t>Градієнта</a:t>
                </a:r>
                <a:r>
                  <a:rPr lang="uk-UA" sz="1200" kern="1200" dirty="0">
                    <a:solidFill>
                      <a:schemeClr val="tx1"/>
                    </a:solidFill>
                    <a:effectLst/>
                    <a:latin typeface="+mn-lt"/>
                    <a:ea typeface="+mn-ea"/>
                    <a:cs typeface="+mn-cs"/>
                  </a:rPr>
                  <a:t> </a:t>
                </a:r>
                <a:r>
                  <a:rPr lang="uk-UA" sz="1200" b="1" kern="1200" dirty="0">
                    <a:solidFill>
                      <a:schemeClr val="tx1"/>
                    </a:solidFill>
                    <a:effectLst/>
                    <a:latin typeface="+mn-lt"/>
                    <a:ea typeface="+mn-ea"/>
                    <a:cs typeface="+mn-cs"/>
                  </a:rPr>
                  <a:t>Глибокої Детермінованої Стратегії, </a:t>
                </a:r>
                <a:r>
                  <a:rPr lang="uk-UA" sz="1200" b="0" kern="1200" dirty="0">
                    <a:solidFill>
                      <a:schemeClr val="tx1"/>
                    </a:solidFill>
                    <a:effectLst/>
                    <a:latin typeface="+mn-lt"/>
                    <a:ea typeface="+mn-ea"/>
                    <a:cs typeface="+mn-cs"/>
                  </a:rPr>
                  <a:t>який</a:t>
                </a:r>
                <a:r>
                  <a:rPr lang="uk-UA" sz="1200" b="1" kern="1200" dirty="0">
                    <a:solidFill>
                      <a:schemeClr val="tx1"/>
                    </a:solidFill>
                    <a:effectLst/>
                    <a:latin typeface="+mn-lt"/>
                    <a:ea typeface="+mn-ea"/>
                    <a:cs typeface="+mn-cs"/>
                  </a:rPr>
                  <a:t> </a:t>
                </a:r>
                <a:r>
                  <a:rPr lang="uk-UA" dirty="0"/>
                  <a:t>добре підходить для задач, де система має не просто один раз видати рекомендацію, а поступово вчитися приймати кращі рішення на основі зворотного зв’язку.</a:t>
                </a:r>
              </a:p>
              <a:p>
                <a:r>
                  <a:rPr lang="uk-UA" b="1" dirty="0"/>
                  <a:t>У цьому підході використовуються дві пари мереж:</a:t>
                </a:r>
                <a:r>
                  <a:rPr lang="uk-UA" dirty="0"/>
                  <a:t> основні Актор і Критик та їхні цільові копії.</a:t>
                </a:r>
                <a:br>
                  <a:rPr lang="uk-UA" dirty="0"/>
                </a:br>
                <a:r>
                  <a:rPr lang="uk-UA" dirty="0"/>
                  <a:t>Цільові мережі потрібні для того, щоб навчання було стабільнішим і модель не змінювала свої оцінки надто різко на кожному кроці.</a:t>
                </a:r>
              </a:p>
              <a:p>
                <a:r>
                  <a:rPr lang="uk-UA" b="1" dirty="0"/>
                  <a:t>Критик </a:t>
                </a:r>
                <a:r>
                  <a:rPr lang="uk-UA" dirty="0"/>
                  <a:t>у цій архітектурі відповідає за оцінювання якості вибраної дії.</a:t>
                </a:r>
                <a:br>
                  <a:rPr lang="uk-UA" dirty="0"/>
                </a:br>
                <a:r>
                  <a:rPr lang="uk-UA" dirty="0"/>
                  <a:t>Він порівнює передбачене </a:t>
                </a:r>
                <a:r>
                  <a:rPr lang="en-US" dirty="0"/>
                  <a:t>Q-</a:t>
                </a:r>
                <a:r>
                  <a:rPr lang="uk-UA" dirty="0"/>
                  <a:t>значення з цільовим значенням, яке обчислюється за рівнянням Беллмана, і таким чином вчиться точніше оцінювати, наскільки вдалою була рекомендація.</a:t>
                </a:r>
              </a:p>
              <a:p>
                <a:r>
                  <a:rPr lang="uk-UA" b="1" dirty="0"/>
                  <a:t>Актор</a:t>
                </a:r>
                <a:r>
                  <a:rPr lang="uk-UA" dirty="0"/>
                  <a:t>, у свою чергу, навчається вже на основі оцінок </a:t>
                </a:r>
                <a:r>
                  <a:rPr lang="uk-UA" b="1" dirty="0"/>
                  <a:t>Критика</a:t>
                </a:r>
                <a:r>
                  <a:rPr lang="uk-UA" dirty="0"/>
                  <a:t>.</a:t>
                </a:r>
                <a:br>
                  <a:rPr lang="uk-UA" dirty="0"/>
                </a:br>
                <a:r>
                  <a:rPr lang="uk-UA" dirty="0"/>
                  <a:t>Його задача — генерувати такі дії, які з найбільшою ймовірністю приведуть до високої винагороди.</a:t>
                </a:r>
                <a:br>
                  <a:rPr lang="uk-UA" dirty="0"/>
                </a:br>
                <a:r>
                  <a:rPr lang="uk-UA" b="1" noProof="0" dirty="0"/>
                  <a:t>Тобто Актор поступово вчиться формувати кращі рекомендації, а Критик оцінює їхню якість і за рахунок цього допомагає Актору надалі обирати кращі дії.</a:t>
                </a:r>
              </a:p>
              <a:p>
                <a:endParaRPr lang="uk-UA" sz="1200" kern="1200" dirty="0">
                  <a:solidFill>
                    <a:schemeClr val="tx1"/>
                  </a:solidFill>
                  <a:effectLst/>
                  <a:latin typeface="+mn-lt"/>
                  <a:ea typeface="+mn-ea"/>
                  <a:cs typeface="+mn-cs"/>
                </a:endParaRPr>
              </a:p>
              <a:p>
                <a:r>
                  <a:rPr lang="uk-UA" dirty="0"/>
                  <a:t>Окремо варто зауважити, що цільові мережі оновлюються поступово, через механізм м’якого оновлення.</a:t>
                </a:r>
                <a:br>
                  <a:rPr lang="uk-UA" dirty="0"/>
                </a:br>
                <a:r>
                  <a:rPr lang="uk-UA" dirty="0"/>
                  <a:t>Завдяки цьому процес навчання стає більш плавним і стійким.</a:t>
                </a:r>
                <a:endParaRPr lang="uk-UA" sz="1200" kern="1200" dirty="0">
                  <a:solidFill>
                    <a:schemeClr val="tx1"/>
                  </a:solidFill>
                  <a:effectLst/>
                  <a:latin typeface="+mn-lt"/>
                  <a:ea typeface="+mn-ea"/>
                  <a:cs typeface="+mn-cs"/>
                </a:endParaRPr>
              </a:p>
            </p:txBody>
          </p:sp>
        </mc:Choice>
        <mc:Fallback xmlns="">
          <p:sp>
            <p:nvSpPr>
              <p:cNvPr id="3" name="Місце для нотаток 2">
                <a:extLst>
                  <a:ext uri="{FF2B5EF4-FFF2-40B4-BE49-F238E27FC236}">
                    <a16:creationId xmlns:a16="http://schemas.microsoft.com/office/drawing/2014/main" id="{60A194CE-ACD3-4012-3DBE-5252AE72733C}"/>
                  </a:ext>
                </a:extLst>
              </p:cNvPr>
              <p:cNvSpPr>
                <a:spLocks noGrp="1"/>
              </p:cNvSpPr>
              <p:nvPr>
                <p:ph type="body" idx="1"/>
              </p:nvPr>
            </p:nvSpPr>
            <p:spPr/>
            <p:txBody>
              <a:bodyPr/>
              <a:lstStyle/>
              <a:p>
                <a:r>
                  <a:rPr lang="uk-UA" sz="1200" kern="1200" dirty="0">
                    <a:solidFill>
                      <a:schemeClr val="tx1"/>
                    </a:solidFill>
                    <a:effectLst/>
                    <a:latin typeface="+mn-lt"/>
                    <a:ea typeface="+mn-ea"/>
                    <a:cs typeface="+mn-cs"/>
                  </a:rPr>
                  <a:t>Система навчається з використанням алгоритми </a:t>
                </a:r>
                <a:r>
                  <a:rPr lang="uk-UA" sz="1200" b="1" kern="1200" dirty="0">
                    <a:solidFill>
                      <a:schemeClr val="tx1"/>
                    </a:solidFill>
                    <a:effectLst/>
                    <a:latin typeface="+mn-lt"/>
                    <a:ea typeface="+mn-ea"/>
                    <a:cs typeface="+mn-cs"/>
                  </a:rPr>
                  <a:t>Градієнта</a:t>
                </a:r>
                <a:r>
                  <a:rPr lang="uk-UA" sz="1200" kern="1200" dirty="0">
                    <a:solidFill>
                      <a:schemeClr val="tx1"/>
                    </a:solidFill>
                    <a:effectLst/>
                    <a:latin typeface="+mn-lt"/>
                    <a:ea typeface="+mn-ea"/>
                    <a:cs typeface="+mn-cs"/>
                  </a:rPr>
                  <a:t> </a:t>
                </a:r>
                <a:r>
                  <a:rPr lang="uk-UA" sz="1200" b="1" kern="1200" dirty="0">
                    <a:solidFill>
                      <a:schemeClr val="tx1"/>
                    </a:solidFill>
                    <a:effectLst/>
                    <a:latin typeface="+mn-lt"/>
                    <a:ea typeface="+mn-ea"/>
                    <a:cs typeface="+mn-cs"/>
                  </a:rPr>
                  <a:t>Глибокої Детермінованої Стратегії </a:t>
                </a:r>
                <a:r>
                  <a:rPr lang="en-US" sz="1200" b="1" kern="1200" dirty="0">
                    <a:solidFill>
                      <a:schemeClr val="tx1"/>
                    </a:solidFill>
                    <a:effectLst/>
                    <a:latin typeface="+mn-lt"/>
                    <a:ea typeface="+mn-ea"/>
                    <a:cs typeface="+mn-cs"/>
                  </a:rPr>
                  <a:t>(DDPG)</a:t>
                </a:r>
                <a:r>
                  <a:rPr lang="uk-UA" sz="1200" kern="1200" dirty="0">
                    <a:solidFill>
                      <a:schemeClr val="tx1"/>
                    </a:solidFill>
                    <a:effectLst/>
                    <a:latin typeface="+mn-lt"/>
                    <a:ea typeface="+mn-ea"/>
                    <a:cs typeface="+mn-cs"/>
                  </a:rPr>
                  <a:t>, який включає створення початкових та цільових мереж, забезпечуючи стабільнішу модель і поєднує переваги методів машинного навчання з підкріпленням та глибинного навчання, створюючи масштабовану та адаптивну систему. Цільові мережі стабілізують навчання завдяки повільному зміщенню цільових значень у навчанні з часовою різницею (</a:t>
                </a:r>
                <a:r>
                  <a:rPr lang="en-US" sz="1200" b="1" kern="1200" dirty="0">
                    <a:solidFill>
                      <a:schemeClr val="tx1"/>
                    </a:solidFill>
                    <a:effectLst/>
                    <a:latin typeface="+mn-lt"/>
                    <a:ea typeface="+mn-ea"/>
                    <a:cs typeface="+mn-cs"/>
                  </a:rPr>
                  <a:t>TD</a:t>
                </a:r>
                <a:r>
                  <a:rPr lang="ru-RU" sz="1200" b="1" kern="1200" dirty="0">
                    <a:solidFill>
                      <a:schemeClr val="tx1"/>
                    </a:solidFill>
                    <a:effectLst/>
                    <a:latin typeface="+mn-lt"/>
                    <a:ea typeface="+mn-ea"/>
                    <a:cs typeface="+mn-cs"/>
                  </a:rPr>
                  <a:t>-</a:t>
                </a:r>
                <a:r>
                  <a:rPr lang="en-US" sz="1200" b="1" kern="1200" dirty="0">
                    <a:solidFill>
                      <a:schemeClr val="tx1"/>
                    </a:solidFill>
                    <a:effectLst/>
                    <a:latin typeface="+mn-lt"/>
                    <a:ea typeface="+mn-ea"/>
                    <a:cs typeface="+mn-cs"/>
                  </a:rPr>
                  <a:t>learning</a:t>
                </a:r>
                <a:r>
                  <a:rPr lang="uk-UA" sz="1200" kern="1200" dirty="0">
                    <a:solidFill>
                      <a:schemeClr val="tx1"/>
                    </a:solidFill>
                    <a:effectLst/>
                    <a:latin typeface="+mn-lt"/>
                    <a:ea typeface="+mn-ea"/>
                    <a:cs typeface="+mn-cs"/>
                  </a:rPr>
                  <a:t>). Метою навчання є пошук такої наближеної рекомендації, яка максимізує довгострокову залученість та задоволеність користувача. </a:t>
                </a:r>
              </a:p>
              <a:p>
                <a:r>
                  <a:rPr lang="uk-UA" sz="1200" kern="1200" dirty="0">
                    <a:solidFill>
                      <a:schemeClr val="tx1"/>
                    </a:solidFill>
                    <a:effectLst/>
                    <a:latin typeface="+mn-lt"/>
                    <a:ea typeface="+mn-ea"/>
                    <a:cs typeface="+mn-cs"/>
                  </a:rPr>
                  <a:t>Початкова мережа </a:t>
                </a:r>
                <a:r>
                  <a:rPr lang="uk-UA" sz="1200" b="1" kern="1200" dirty="0">
                    <a:solidFill>
                      <a:schemeClr val="tx1"/>
                    </a:solidFill>
                    <a:effectLst/>
                    <a:latin typeface="+mn-lt"/>
                    <a:ea typeface="+mn-ea"/>
                    <a:cs typeface="+mn-cs"/>
                  </a:rPr>
                  <a:t>Актор</a:t>
                </a:r>
                <a:r>
                  <a:rPr lang="uk-UA" sz="1200" kern="1200" dirty="0">
                    <a:solidFill>
                      <a:schemeClr val="tx1"/>
                    </a:solidFill>
                    <a:effectLst/>
                    <a:latin typeface="+mn-lt"/>
                    <a:ea typeface="+mn-ea"/>
                    <a:cs typeface="+mn-cs"/>
                  </a:rPr>
                  <a:t> позначається як </a:t>
                </a:r>
                <a:r>
                  <a:rPr lang="uk-UA" sz="1200" i="1" kern="1200" dirty="0">
                    <a:solidFill>
                      <a:schemeClr val="tx1"/>
                    </a:solidFill>
                    <a:effectLst/>
                    <a:latin typeface="+mn-lt"/>
                    <a:ea typeface="+mn-ea"/>
                    <a:cs typeface="+mn-cs"/>
                  </a:rPr>
                  <a:t>π</a:t>
                </a:r>
                <a:r>
                  <a:rPr lang="uk-UA" sz="1200" i="1" kern="1200" baseline="-25000" dirty="0">
                    <a:solidFill>
                      <a:schemeClr val="tx1"/>
                    </a:solidFill>
                    <a:effectLst/>
                    <a:latin typeface="+mn-lt"/>
                    <a:ea typeface="+mn-ea"/>
                    <a:cs typeface="+mn-cs"/>
                  </a:rPr>
                  <a:t>θ</a:t>
                </a:r>
                <a:r>
                  <a:rPr lang="ru-RU" sz="1200" i="1" kern="1200" dirty="0">
                    <a:solidFill>
                      <a:schemeClr val="tx1"/>
                    </a:solidFill>
                    <a:effectLst/>
                    <a:latin typeface="+mn-lt"/>
                    <a:ea typeface="+mn-ea"/>
                    <a:cs typeface="+mn-cs"/>
                  </a:rPr>
                  <a:t>(</a:t>
                </a:r>
                <a:r>
                  <a:rPr lang="uk-UA" sz="1200" i="1" kern="1200" dirty="0">
                    <a:solidFill>
                      <a:schemeClr val="tx1"/>
                    </a:solidFill>
                    <a:effectLst/>
                    <a:latin typeface="+mn-lt"/>
                    <a:ea typeface="+mn-ea"/>
                    <a:cs typeface="+mn-cs"/>
                  </a:rPr>
                  <a:t>s</a:t>
                </a:r>
                <a:r>
                  <a:rPr lang="ru-RU" sz="1200" i="1" kern="1200" dirty="0">
                    <a:solidFill>
                      <a:schemeClr val="tx1"/>
                    </a:solidFill>
                    <a:effectLst/>
                    <a:latin typeface="+mn-lt"/>
                    <a:ea typeface="+mn-ea"/>
                    <a:cs typeface="+mn-cs"/>
                  </a:rPr>
                  <a:t>) </a:t>
                </a:r>
                <a:r>
                  <a:rPr lang="ru-RU" sz="1200" kern="1200" dirty="0">
                    <a:solidFill>
                      <a:schemeClr val="tx1"/>
                    </a:solidFill>
                    <a:effectLst/>
                    <a:latin typeface="+mn-lt"/>
                    <a:ea typeface="+mn-ea"/>
                    <a:cs typeface="+mn-cs"/>
                  </a:rPr>
                  <a:t>та </a:t>
                </a:r>
                <a:r>
                  <a:rPr lang="uk-UA" sz="1200" kern="1200" dirty="0" err="1">
                    <a:solidFill>
                      <a:schemeClr val="tx1"/>
                    </a:solidFill>
                    <a:effectLst/>
                    <a:latin typeface="+mn-lt"/>
                    <a:ea typeface="+mn-ea"/>
                    <a:cs typeface="+mn-cs"/>
                  </a:rPr>
                  <a:t>параметризована</a:t>
                </a:r>
                <a:r>
                  <a:rPr lang="uk-UA" sz="1200" kern="1200" dirty="0">
                    <a:solidFill>
                      <a:schemeClr val="tx1"/>
                    </a:solidFill>
                    <a:effectLst/>
                    <a:latin typeface="+mn-lt"/>
                    <a:ea typeface="+mn-ea"/>
                    <a:cs typeface="+mn-cs"/>
                  </a:rPr>
                  <a:t> вектором θ (</a:t>
                </a:r>
                <a:r>
                  <a:rPr lang="uk-UA" sz="1200" b="1" kern="1200" dirty="0">
                    <a:solidFill>
                      <a:schemeClr val="tx1"/>
                    </a:solidFill>
                    <a:effectLst/>
                    <a:latin typeface="+mn-lt"/>
                    <a:ea typeface="+mn-ea"/>
                    <a:cs typeface="+mn-cs"/>
                  </a:rPr>
                  <a:t>ТЕТА</a:t>
                </a:r>
                <a:r>
                  <a:rPr lang="uk-UA" sz="1200" kern="12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а початкова мережа </a:t>
                </a:r>
                <a:r>
                  <a:rPr lang="uk-UA" sz="1200" b="1" kern="1200" dirty="0">
                    <a:solidFill>
                      <a:schemeClr val="tx1"/>
                    </a:solidFill>
                    <a:effectLst/>
                    <a:latin typeface="+mn-lt"/>
                    <a:ea typeface="+mn-ea"/>
                    <a:cs typeface="+mn-cs"/>
                  </a:rPr>
                  <a:t>Критик</a:t>
                </a:r>
                <a:r>
                  <a:rPr lang="uk-UA" sz="1200" kern="1200" dirty="0">
                    <a:solidFill>
                      <a:schemeClr val="tx1"/>
                    </a:solidFill>
                    <a:effectLst/>
                    <a:latin typeface="+mn-lt"/>
                    <a:ea typeface="+mn-ea"/>
                    <a:cs typeface="+mn-cs"/>
                  </a:rPr>
                  <a:t> – як </a:t>
                </a:r>
                <a:r>
                  <a:rPr lang="uk-UA" sz="1200" i="1" kern="1200" dirty="0" err="1">
                    <a:solidFill>
                      <a:schemeClr val="tx1"/>
                    </a:solidFill>
                    <a:effectLst/>
                    <a:latin typeface="+mn-lt"/>
                    <a:ea typeface="+mn-ea"/>
                    <a:cs typeface="+mn-cs"/>
                  </a:rPr>
                  <a:t>Q</a:t>
                </a:r>
                <a:r>
                  <a:rPr lang="uk-UA" sz="1200" i="1" kern="1200" baseline="-25000" dirty="0" err="1">
                    <a:solidFill>
                      <a:schemeClr val="tx1"/>
                    </a:solidFill>
                    <a:effectLst/>
                    <a:latin typeface="+mn-lt"/>
                    <a:ea typeface="+mn-ea"/>
                    <a:cs typeface="+mn-cs"/>
                  </a:rPr>
                  <a:t>ϕ</a:t>
                </a:r>
                <a:r>
                  <a:rPr lang="ru-RU" sz="1200" i="1" kern="1200" dirty="0">
                    <a:solidFill>
                      <a:schemeClr val="tx1"/>
                    </a:solidFill>
                    <a:effectLst/>
                    <a:latin typeface="+mn-lt"/>
                    <a:ea typeface="+mn-ea"/>
                    <a:cs typeface="+mn-cs"/>
                  </a:rPr>
                  <a:t>(</a:t>
                </a:r>
                <a:r>
                  <a:rPr lang="uk-UA" sz="1200" i="1" kern="1200" dirty="0">
                    <a:solidFill>
                      <a:schemeClr val="tx1"/>
                    </a:solidFill>
                    <a:effectLst/>
                    <a:latin typeface="+mn-lt"/>
                    <a:ea typeface="+mn-ea"/>
                    <a:cs typeface="+mn-cs"/>
                  </a:rPr>
                  <a:t>s</a:t>
                </a:r>
                <a:r>
                  <a:rPr lang="ru-RU" sz="1200" i="1" kern="1200" dirty="0">
                    <a:solidFill>
                      <a:schemeClr val="tx1"/>
                    </a:solidFill>
                    <a:effectLst/>
                    <a:latin typeface="+mn-lt"/>
                    <a:ea typeface="+mn-ea"/>
                    <a:cs typeface="+mn-cs"/>
                  </a:rPr>
                  <a:t>,</a:t>
                </a:r>
                <a:r>
                  <a:rPr lang="uk-UA" sz="1200" i="1" kern="1200" dirty="0">
                    <a:solidFill>
                      <a:schemeClr val="tx1"/>
                    </a:solidFill>
                    <a:effectLst/>
                    <a:latin typeface="+mn-lt"/>
                    <a:ea typeface="+mn-ea"/>
                    <a:cs typeface="+mn-cs"/>
                  </a:rPr>
                  <a:t>a</a:t>
                </a:r>
                <a:r>
                  <a:rPr lang="ru-RU" sz="1200" i="1" kern="1200" dirty="0">
                    <a:solidFill>
                      <a:schemeClr val="tx1"/>
                    </a:solidFill>
                    <a:effectLst/>
                    <a:latin typeface="+mn-lt"/>
                    <a:ea typeface="+mn-ea"/>
                    <a:cs typeface="+mn-cs"/>
                  </a:rPr>
                  <a:t>) </a:t>
                </a:r>
                <a:r>
                  <a:rPr lang="ru-RU" sz="1200" kern="1200" dirty="0">
                    <a:solidFill>
                      <a:schemeClr val="tx1"/>
                    </a:solidFill>
                    <a:effectLst/>
                    <a:latin typeface="+mn-lt"/>
                    <a:ea typeface="+mn-ea"/>
                    <a:cs typeface="+mn-cs"/>
                  </a:rPr>
                  <a:t>та</a:t>
                </a:r>
                <a:r>
                  <a:rPr lang="ru-RU" sz="1200" i="1"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параметризована</a:t>
                </a:r>
                <a:r>
                  <a:rPr lang="uk-UA" sz="1200" kern="1200" dirty="0">
                    <a:solidFill>
                      <a:schemeClr val="tx1"/>
                    </a:solidFill>
                    <a:effectLst/>
                    <a:latin typeface="+mn-lt"/>
                    <a:ea typeface="+mn-ea"/>
                    <a:cs typeface="+mn-cs"/>
                  </a:rPr>
                  <a:t> вектором </a:t>
                </a:r>
                <a:r>
                  <a:rPr lang="ru-RU" sz="1200" i="1" kern="1200" dirty="0">
                    <a:solidFill>
                      <a:schemeClr val="tx1"/>
                    </a:solidFill>
                    <a:effectLst/>
                    <a:latin typeface="+mn-lt"/>
                    <a:ea typeface="+mn-ea"/>
                    <a:cs typeface="+mn-cs"/>
                  </a:rPr>
                  <a:t>ϕ </a:t>
                </a:r>
                <a:r>
                  <a:rPr lang="ru-RU" sz="1200" kern="1200" dirty="0">
                    <a:solidFill>
                      <a:schemeClr val="tx1"/>
                    </a:solidFill>
                    <a:effectLst/>
                    <a:latin typeface="+mn-lt"/>
                    <a:ea typeface="+mn-ea"/>
                    <a:cs typeface="+mn-cs"/>
                  </a:rPr>
                  <a:t>(</a:t>
                </a:r>
                <a:r>
                  <a:rPr lang="ru-RU" sz="1200" b="1" kern="1200" dirty="0">
                    <a:solidFill>
                      <a:schemeClr val="tx1"/>
                    </a:solidFill>
                    <a:effectLst/>
                    <a:latin typeface="+mn-lt"/>
                    <a:ea typeface="+mn-ea"/>
                    <a:cs typeface="+mn-cs"/>
                  </a:rPr>
                  <a:t>ФІ</a:t>
                </a:r>
                <a:r>
                  <a:rPr lang="ru-RU" sz="1200" i="1" kern="1200" dirty="0">
                    <a:solidFill>
                      <a:schemeClr val="tx1"/>
                    </a:solidFill>
                    <a:effectLst/>
                    <a:latin typeface="+mn-lt"/>
                    <a:ea typeface="+mn-ea"/>
                    <a:cs typeface="+mn-cs"/>
                  </a:rPr>
                  <a:t>)</a:t>
                </a:r>
                <a:r>
                  <a:rPr lang="uk-UA" sz="1200" kern="1200" dirty="0">
                    <a:solidFill>
                      <a:schemeClr val="tx1"/>
                    </a:solidFill>
                    <a:effectLst/>
                    <a:latin typeface="+mn-lt"/>
                    <a:ea typeface="+mn-ea"/>
                    <a:cs typeface="+mn-cs"/>
                  </a:rPr>
                  <a:t>, де </a:t>
                </a:r>
                <a:r>
                  <a:rPr lang="uk-UA" sz="1200" i="1" kern="1200" dirty="0">
                    <a:solidFill>
                      <a:schemeClr val="tx1"/>
                    </a:solidFill>
                    <a:effectLst/>
                    <a:latin typeface="+mn-lt"/>
                    <a:ea typeface="+mn-ea"/>
                    <a:cs typeface="+mn-cs"/>
                  </a:rPr>
                  <a:t>s</a:t>
                </a:r>
                <a:r>
                  <a:rPr lang="uk-UA" sz="1200" kern="1200" dirty="0">
                    <a:solidFill>
                      <a:schemeClr val="tx1"/>
                    </a:solidFill>
                    <a:effectLst/>
                    <a:latin typeface="+mn-lt"/>
                    <a:ea typeface="+mn-ea"/>
                    <a:cs typeface="+mn-cs"/>
                  </a:rPr>
                  <a:t> – це стан, </a:t>
                </a:r>
                <a:r>
                  <a:rPr lang="uk-UA" sz="1200" i="1" kern="1200" dirty="0">
                    <a:solidFill>
                      <a:schemeClr val="tx1"/>
                    </a:solidFill>
                    <a:effectLst/>
                    <a:latin typeface="+mn-lt"/>
                    <a:ea typeface="+mn-ea"/>
                    <a:cs typeface="+mn-cs"/>
                  </a:rPr>
                  <a:t>a</a:t>
                </a:r>
                <a:r>
                  <a:rPr lang="uk-UA" sz="1200" kern="1200" dirty="0">
                    <a:solidFill>
                      <a:schemeClr val="tx1"/>
                    </a:solidFill>
                    <a:effectLst/>
                    <a:latin typeface="+mn-lt"/>
                    <a:ea typeface="+mn-ea"/>
                    <a:cs typeface="+mn-cs"/>
                  </a:rPr>
                  <a:t> – дія</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Відповідно цільові мережі позначаються як </a:t>
                </a:r>
                <a:r>
                  <a:rPr lang="uk-UA" sz="1200" i="1" kern="1200" dirty="0">
                    <a:solidFill>
                      <a:schemeClr val="tx1"/>
                    </a:solidFill>
                    <a:effectLst/>
                    <a:latin typeface="+mn-lt"/>
                    <a:ea typeface="+mn-ea"/>
                    <a:cs typeface="+mn-cs"/>
                  </a:rPr>
                  <a:t>π</a:t>
                </a:r>
                <a:r>
                  <a:rPr lang="uk-UA" sz="1200" i="1" kern="1200" baseline="-25000" dirty="0">
                    <a:solidFill>
                      <a:schemeClr val="tx1"/>
                    </a:solidFill>
                    <a:effectLst/>
                    <a:latin typeface="+mn-lt"/>
                    <a:ea typeface="+mn-ea"/>
                    <a:cs typeface="+mn-cs"/>
                  </a:rPr>
                  <a:t>θ</a:t>
                </a:r>
                <a:r>
                  <a:rPr lang="ru-RU" sz="1200" i="1" kern="1200" baseline="-25000" dirty="0">
                    <a:solidFill>
                      <a:schemeClr val="tx1"/>
                    </a:solidFill>
                    <a:effectLst/>
                    <a:latin typeface="+mn-lt"/>
                    <a:ea typeface="+mn-ea"/>
                    <a:cs typeface="+mn-cs"/>
                  </a:rPr>
                  <a:t>′</a:t>
                </a:r>
                <a:r>
                  <a:rPr lang="ru-RU" sz="1200" i="1" kern="1200" dirty="0">
                    <a:solidFill>
                      <a:schemeClr val="tx1"/>
                    </a:solidFill>
                    <a:effectLst/>
                    <a:latin typeface="+mn-lt"/>
                    <a:ea typeface="+mn-ea"/>
                    <a:cs typeface="+mn-cs"/>
                  </a:rPr>
                  <a:t>(</a:t>
                </a:r>
                <a:r>
                  <a:rPr lang="uk-UA" sz="1200" i="1" kern="1200" dirty="0">
                    <a:solidFill>
                      <a:schemeClr val="tx1"/>
                    </a:solidFill>
                    <a:effectLst/>
                    <a:latin typeface="+mn-lt"/>
                    <a:ea typeface="+mn-ea"/>
                    <a:cs typeface="+mn-cs"/>
                  </a:rPr>
                  <a:t>s</a:t>
                </a:r>
                <a:r>
                  <a:rPr lang="ru-RU" sz="1200" i="1"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для цільового </a:t>
                </a:r>
                <a:r>
                  <a:rPr lang="uk-UA" sz="1200" b="1" kern="1200" dirty="0">
                    <a:solidFill>
                      <a:schemeClr val="tx1"/>
                    </a:solidFill>
                    <a:effectLst/>
                    <a:latin typeface="+mn-lt"/>
                    <a:ea typeface="+mn-ea"/>
                    <a:cs typeface="+mn-cs"/>
                  </a:rPr>
                  <a:t>Актора</a:t>
                </a:r>
                <a:r>
                  <a:rPr lang="uk-UA" sz="1200" kern="1200" dirty="0">
                    <a:solidFill>
                      <a:schemeClr val="tx1"/>
                    </a:solidFill>
                    <a:effectLst/>
                    <a:latin typeface="+mn-lt"/>
                    <a:ea typeface="+mn-ea"/>
                    <a:cs typeface="+mn-cs"/>
                  </a:rPr>
                  <a:t>  та </a:t>
                </a:r>
                <a:r>
                  <a:rPr lang="uk-UA" sz="1200" i="1" kern="1200" dirty="0" err="1">
                    <a:solidFill>
                      <a:schemeClr val="tx1"/>
                    </a:solidFill>
                    <a:effectLst/>
                    <a:latin typeface="+mn-lt"/>
                    <a:ea typeface="+mn-ea"/>
                    <a:cs typeface="+mn-cs"/>
                  </a:rPr>
                  <a:t>Q</a:t>
                </a:r>
                <a:r>
                  <a:rPr lang="uk-UA" sz="1200" i="1" kern="1200" baseline="-25000" dirty="0" err="1">
                    <a:solidFill>
                      <a:schemeClr val="tx1"/>
                    </a:solidFill>
                    <a:effectLst/>
                    <a:latin typeface="+mn-lt"/>
                    <a:ea typeface="+mn-ea"/>
                    <a:cs typeface="+mn-cs"/>
                  </a:rPr>
                  <a:t>ϕ</a:t>
                </a:r>
                <a:r>
                  <a:rPr lang="ru-RU" sz="1200" i="1" kern="1200" baseline="-25000" dirty="0">
                    <a:solidFill>
                      <a:schemeClr val="tx1"/>
                    </a:solidFill>
                    <a:effectLst/>
                    <a:latin typeface="+mn-lt"/>
                    <a:ea typeface="+mn-ea"/>
                    <a:cs typeface="+mn-cs"/>
                  </a:rPr>
                  <a:t>′ </a:t>
                </a:r>
                <a:r>
                  <a:rPr lang="ru-RU" sz="1200" i="1" kern="1200" dirty="0">
                    <a:solidFill>
                      <a:schemeClr val="tx1"/>
                    </a:solidFill>
                    <a:effectLst/>
                    <a:latin typeface="+mn-lt"/>
                    <a:ea typeface="+mn-ea"/>
                    <a:cs typeface="+mn-cs"/>
                  </a:rPr>
                  <a:t>(</a:t>
                </a:r>
                <a:r>
                  <a:rPr lang="uk-UA" sz="1200" i="1" kern="1200" dirty="0">
                    <a:solidFill>
                      <a:schemeClr val="tx1"/>
                    </a:solidFill>
                    <a:effectLst/>
                    <a:latin typeface="+mn-lt"/>
                    <a:ea typeface="+mn-ea"/>
                    <a:cs typeface="+mn-cs"/>
                  </a:rPr>
                  <a:t>s</a:t>
                </a:r>
                <a:r>
                  <a:rPr lang="ru-RU" sz="1200" i="1" kern="1200" dirty="0">
                    <a:solidFill>
                      <a:schemeClr val="tx1"/>
                    </a:solidFill>
                    <a:effectLst/>
                    <a:latin typeface="+mn-lt"/>
                    <a:ea typeface="+mn-ea"/>
                    <a:cs typeface="+mn-cs"/>
                  </a:rPr>
                  <a:t>′,</a:t>
                </a:r>
                <a:r>
                  <a:rPr lang="ru-RU" sz="1200" b="1" i="1" kern="1200" dirty="0">
                    <a:solidFill>
                      <a:schemeClr val="tx1"/>
                    </a:solidFill>
                    <a:effectLst/>
                    <a:latin typeface="+mn-lt"/>
                    <a:ea typeface="+mn-ea"/>
                    <a:cs typeface="+mn-cs"/>
                  </a:rPr>
                  <a:t>•</a:t>
                </a:r>
                <a:r>
                  <a:rPr lang="ru-RU" sz="1200" i="1" kern="12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для цільового </a:t>
                </a:r>
                <a:r>
                  <a:rPr lang="uk-UA" sz="1200" b="1" kern="1200" dirty="0">
                    <a:solidFill>
                      <a:schemeClr val="tx1"/>
                    </a:solidFill>
                    <a:effectLst/>
                    <a:latin typeface="+mn-lt"/>
                    <a:ea typeface="+mn-ea"/>
                    <a:cs typeface="+mn-cs"/>
                  </a:rPr>
                  <a:t>Критика</a:t>
                </a:r>
                <a:r>
                  <a:rPr lang="ru-RU" sz="1200" kern="1200" dirty="0">
                    <a:solidFill>
                      <a:schemeClr val="tx1"/>
                    </a:solidFill>
                    <a:effectLst/>
                    <a:latin typeface="+mn-lt"/>
                    <a:ea typeface="+mn-ea"/>
                    <a:cs typeface="+mn-cs"/>
                  </a:rPr>
                  <a:t>.</a:t>
                </a:r>
                <a:endParaRPr lang="uk-UA"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Ціллю мережі </a:t>
                </a:r>
                <a:r>
                  <a:rPr lang="uk-UA" sz="1200" b="1" kern="1200" dirty="0">
                    <a:solidFill>
                      <a:schemeClr val="tx1"/>
                    </a:solidFill>
                    <a:effectLst/>
                    <a:latin typeface="+mn-lt"/>
                    <a:ea typeface="+mn-ea"/>
                    <a:cs typeface="+mn-cs"/>
                  </a:rPr>
                  <a:t>Критик</a:t>
                </a:r>
                <a:r>
                  <a:rPr lang="uk-UA" sz="1200" kern="1200" dirty="0">
                    <a:solidFill>
                      <a:schemeClr val="tx1"/>
                    </a:solidFill>
                    <a:effectLst/>
                    <a:latin typeface="+mn-lt"/>
                    <a:ea typeface="+mn-ea"/>
                    <a:cs typeface="+mn-cs"/>
                  </a:rPr>
                  <a:t> є мінімізація середньоквадратичної похибки між передбаченим Q-значенням та цільовим Q-значенням, обчисленим за допомогою рівняння Беллмана поданого у формулі (1).</a:t>
                </a:r>
              </a:p>
              <a:p>
                <a:r>
                  <a:rPr lang="uk-UA" sz="1200" b="1" kern="1200" dirty="0">
                    <a:solidFill>
                      <a:schemeClr val="tx1"/>
                    </a:solidFill>
                    <a:effectLst/>
                    <a:latin typeface="+mn-lt"/>
                    <a:ea typeface="+mn-ea"/>
                    <a:cs typeface="+mn-cs"/>
                  </a:rPr>
                  <a:t>Актор</a:t>
                </a:r>
                <a:r>
                  <a:rPr lang="uk-UA" sz="1200" kern="1200" dirty="0">
                    <a:solidFill>
                      <a:schemeClr val="tx1"/>
                    </a:solidFill>
                    <a:effectLst/>
                    <a:latin typeface="+mn-lt"/>
                    <a:ea typeface="+mn-ea"/>
                    <a:cs typeface="+mn-cs"/>
                  </a:rPr>
                  <a:t> оптимізується за допомогою теореми про градієнт детермінованої стратегії. Градієнт очікуваної винагороди </a:t>
                </a:r>
                <a:r>
                  <a:rPr lang="uk-UA" sz="1200" i="1" kern="1200" dirty="0">
                    <a:solidFill>
                      <a:schemeClr val="tx1"/>
                    </a:solidFill>
                    <a:effectLst/>
                    <a:latin typeface="+mn-lt"/>
                    <a:ea typeface="+mn-ea"/>
                    <a:cs typeface="+mn-cs"/>
                  </a:rPr>
                  <a:t>J</a:t>
                </a:r>
                <a:r>
                  <a:rPr lang="ru-RU" sz="1200" i="1" kern="1200" dirty="0">
                    <a:solidFill>
                      <a:schemeClr val="tx1"/>
                    </a:solidFill>
                    <a:effectLst/>
                    <a:latin typeface="+mn-lt"/>
                    <a:ea typeface="+mn-ea"/>
                    <a:cs typeface="+mn-cs"/>
                  </a:rPr>
                  <a:t>(θ)</a:t>
                </a:r>
                <a:r>
                  <a:rPr lang="uk-UA" sz="1200" kern="1200" dirty="0">
                    <a:solidFill>
                      <a:schemeClr val="tx1"/>
                    </a:solidFill>
                    <a:effectLst/>
                    <a:latin typeface="+mn-lt"/>
                    <a:ea typeface="+mn-ea"/>
                    <a:cs typeface="+mn-cs"/>
                  </a:rPr>
                  <a:t> апроксимується як формула (2).</a:t>
                </a:r>
              </a:p>
              <a:p>
                <a:r>
                  <a:rPr lang="uk-UA" sz="1200" kern="1200" dirty="0">
                    <a:solidFill>
                      <a:schemeClr val="tx1"/>
                    </a:solidFill>
                    <a:effectLst/>
                    <a:latin typeface="+mn-lt"/>
                    <a:ea typeface="+mn-ea"/>
                    <a:cs typeface="+mn-cs"/>
                  </a:rPr>
                  <a:t>Мережа </a:t>
                </a:r>
                <a:r>
                  <a:rPr lang="uk-UA" sz="1200" b="1" kern="1200" dirty="0">
                    <a:solidFill>
                      <a:schemeClr val="tx1"/>
                    </a:solidFill>
                    <a:effectLst/>
                    <a:latin typeface="+mn-lt"/>
                    <a:ea typeface="+mn-ea"/>
                    <a:cs typeface="+mn-cs"/>
                  </a:rPr>
                  <a:t>Актор</a:t>
                </a:r>
                <a:r>
                  <a:rPr lang="uk-UA" sz="1200" kern="1200" dirty="0">
                    <a:solidFill>
                      <a:schemeClr val="tx1"/>
                    </a:solidFill>
                    <a:effectLst/>
                    <a:latin typeface="+mn-lt"/>
                    <a:ea typeface="+mn-ea"/>
                    <a:cs typeface="+mn-cs"/>
                  </a:rPr>
                  <a:t> навчається обирати такі дії, які відповідно до прогнозу Критика, приведуть до високих винагород. На практиці, функція втрат для мережі Актор визначається як негативне очікуване значення Q-функції з поточною стратегією формула (3). </a:t>
                </a:r>
              </a:p>
              <a:p>
                <a:r>
                  <a:rPr lang="uk-UA" sz="1200" kern="1200" dirty="0">
                    <a:solidFill>
                      <a:schemeClr val="tx1"/>
                    </a:solidFill>
                    <a:effectLst/>
                    <a:latin typeface="+mn-lt"/>
                    <a:ea typeface="+mn-ea"/>
                    <a:cs typeface="+mn-cs"/>
                  </a:rPr>
                  <a:t>У процесі зворотного поширення градієнта в мережі Актор використовується </a:t>
                </a:r>
                <a:r>
                  <a:rPr lang="uk-UA" sz="1200" b="1" kern="1200" dirty="0">
                    <a:solidFill>
                      <a:schemeClr val="tx1"/>
                    </a:solidFill>
                    <a:effectLst/>
                    <a:latin typeface="+mn-lt"/>
                    <a:ea typeface="+mn-ea"/>
                    <a:cs typeface="+mn-cs"/>
                  </a:rPr>
                  <a:t>відсікання градієнтів </a:t>
                </a:r>
                <a:r>
                  <a:rPr lang="uk-UA" sz="1200" kern="1200" dirty="0">
                    <a:solidFill>
                      <a:schemeClr val="tx1"/>
                    </a:solidFill>
                    <a:effectLst/>
                    <a:latin typeface="+mn-lt"/>
                    <a:ea typeface="+mn-ea"/>
                    <a:cs typeface="+mn-cs"/>
                  </a:rPr>
                  <a:t>у діапазоні [−1, 1] для уникнення проблеми вибуху градієнтів, що може зробити процес навчання нестабільним та незбіжним.</a:t>
                </a:r>
              </a:p>
              <a:p>
                <a:r>
                  <a:rPr lang="uk-UA" sz="1200" kern="1200" dirty="0">
                    <a:solidFill>
                      <a:schemeClr val="tx1"/>
                    </a:solidFill>
                    <a:effectLst/>
                    <a:latin typeface="+mn-lt"/>
                    <a:ea typeface="+mn-ea"/>
                    <a:cs typeface="+mn-cs"/>
                  </a:rPr>
                  <a:t>Отже, основна ідея полягає в тому, що </a:t>
                </a:r>
                <a:r>
                  <a:rPr lang="uk-UA" sz="1200" b="1" kern="1200" dirty="0">
                    <a:solidFill>
                      <a:schemeClr val="tx1"/>
                    </a:solidFill>
                    <a:effectLst/>
                    <a:latin typeface="+mn-lt"/>
                    <a:ea typeface="+mn-ea"/>
                    <a:cs typeface="+mn-cs"/>
                  </a:rPr>
                  <a:t>Актор</a:t>
                </a:r>
                <a:r>
                  <a:rPr lang="uk-UA" sz="1200" kern="1200" dirty="0">
                    <a:solidFill>
                      <a:schemeClr val="tx1"/>
                    </a:solidFill>
                    <a:effectLst/>
                    <a:latin typeface="+mn-lt"/>
                    <a:ea typeface="+mn-ea"/>
                    <a:cs typeface="+mn-cs"/>
                  </a:rPr>
                  <a:t> навчається обирати такі дії, які відповідно до прогнозу </a:t>
                </a:r>
                <a:r>
                  <a:rPr lang="uk-UA" sz="1200" b="1" kern="1200" dirty="0">
                    <a:solidFill>
                      <a:schemeClr val="tx1"/>
                    </a:solidFill>
                    <a:effectLst/>
                    <a:latin typeface="+mn-lt"/>
                    <a:ea typeface="+mn-ea"/>
                    <a:cs typeface="+mn-cs"/>
                  </a:rPr>
                  <a:t>Критика</a:t>
                </a:r>
                <a:r>
                  <a:rPr lang="uk-UA" sz="1200" kern="1200" dirty="0">
                    <a:solidFill>
                      <a:schemeClr val="tx1"/>
                    </a:solidFill>
                    <a:effectLst/>
                    <a:latin typeface="+mn-lt"/>
                    <a:ea typeface="+mn-ea"/>
                    <a:cs typeface="+mn-cs"/>
                  </a:rPr>
                  <a:t>, приведуть до високих винагород.</a:t>
                </a:r>
              </a:p>
              <a:p>
                <a:r>
                  <a:rPr lang="uk-UA" sz="1200" kern="1200" dirty="0">
                    <a:solidFill>
                      <a:schemeClr val="tx1"/>
                    </a:solidFill>
                    <a:effectLst/>
                    <a:latin typeface="+mn-lt"/>
                    <a:ea typeface="+mn-ea"/>
                    <a:cs typeface="+mn-cs"/>
                  </a:rPr>
                  <a:t>Цільові мережі </a:t>
                </a:r>
                <a:r>
                  <a:rPr lang="uk-UA" sz="1200" i="1" kern="1200" dirty="0" err="1">
                    <a:solidFill>
                      <a:schemeClr val="tx1"/>
                    </a:solidFill>
                    <a:effectLst/>
                    <a:latin typeface="+mn-lt"/>
                    <a:ea typeface="+mn-ea"/>
                    <a:cs typeface="+mn-cs"/>
                  </a:rPr>
                  <a:t>Q</a:t>
                </a:r>
                <a:r>
                  <a:rPr lang="uk-UA" sz="1200" i="1" kern="1200" baseline="-25000" dirty="0" err="1">
                    <a:solidFill>
                      <a:schemeClr val="tx1"/>
                    </a:solidFill>
                    <a:effectLst/>
                    <a:latin typeface="+mn-lt"/>
                    <a:ea typeface="+mn-ea"/>
                    <a:cs typeface="+mn-cs"/>
                  </a:rPr>
                  <a:t>ϕ</a:t>
                </a:r>
                <a:r>
                  <a:rPr lang="ru-RU" sz="1200" i="1" kern="1200" baseline="-25000" dirty="0">
                    <a:solidFill>
                      <a:schemeClr val="tx1"/>
                    </a:solidFill>
                    <a:effectLst/>
                    <a:latin typeface="+mn-lt"/>
                    <a:ea typeface="+mn-ea"/>
                    <a:cs typeface="+mn-cs"/>
                  </a:rPr>
                  <a:t>′</a:t>
                </a:r>
                <a:r>
                  <a:rPr lang="ru-RU" sz="1200" i="0" kern="1200">
                    <a:solidFill>
                      <a:schemeClr val="tx1"/>
                    </a:solidFill>
                    <a:effectLst/>
                    <a:latin typeface="Cambria Math" panose="02040503050406030204" pitchFamily="18" charset="0"/>
                    <a:ea typeface="+mn-ea"/>
                    <a:cs typeface="+mn-cs"/>
                  </a:rPr>
                  <a:t> </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та </a:t>
                </a:r>
                <a:r>
                  <a:rPr lang="uk-UA" sz="1200" i="1" kern="1200" dirty="0">
                    <a:solidFill>
                      <a:schemeClr val="tx1"/>
                    </a:solidFill>
                    <a:effectLst/>
                    <a:latin typeface="+mn-lt"/>
                    <a:ea typeface="+mn-ea"/>
                    <a:cs typeface="+mn-cs"/>
                  </a:rPr>
                  <a:t>π</a:t>
                </a:r>
                <a:r>
                  <a:rPr lang="uk-UA" sz="1200" i="1" kern="1200" baseline="-25000" dirty="0">
                    <a:solidFill>
                      <a:schemeClr val="tx1"/>
                    </a:solidFill>
                    <a:effectLst/>
                    <a:latin typeface="+mn-lt"/>
                    <a:ea typeface="+mn-ea"/>
                    <a:cs typeface="+mn-cs"/>
                  </a:rPr>
                  <a:t>θ</a:t>
                </a:r>
                <a:r>
                  <a:rPr lang="ru-RU" sz="1200" i="1" kern="1200" baseline="-250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оновлюються за схемою м’яких оновлень, що задається як формула (4). </a:t>
                </a:r>
              </a:p>
            </p:txBody>
          </p:sp>
        </mc:Fallback>
      </mc:AlternateContent>
      <p:sp>
        <p:nvSpPr>
          <p:cNvPr id="4" name="Місце для номера слайда 3">
            <a:extLst>
              <a:ext uri="{FF2B5EF4-FFF2-40B4-BE49-F238E27FC236}">
                <a16:creationId xmlns:a16="http://schemas.microsoft.com/office/drawing/2014/main" id="{7CDE0E4E-2C0B-3137-3F9E-BFDE5C7F2E09}"/>
              </a:ext>
            </a:extLst>
          </p:cNvPr>
          <p:cNvSpPr>
            <a:spLocks noGrp="1"/>
          </p:cNvSpPr>
          <p:nvPr>
            <p:ph type="sldNum" sz="quarter" idx="5"/>
          </p:nvPr>
        </p:nvSpPr>
        <p:spPr/>
        <p:txBody>
          <a:bodyPr/>
          <a:lstStyle/>
          <a:p>
            <a:fld id="{B7345D1F-247A-494F-A2C8-2C8C153E38AF}" type="slidenum">
              <a:rPr lang="uk-UA" smtClean="0"/>
              <a:t>10</a:t>
            </a:fld>
            <a:endParaRPr lang="uk-UA"/>
          </a:p>
        </p:txBody>
      </p:sp>
    </p:spTree>
    <p:extLst>
      <p:ext uri="{BB962C8B-B14F-4D97-AF65-F5344CB8AC3E}">
        <p14:creationId xmlns:p14="http://schemas.microsoft.com/office/powerpoint/2010/main" val="265063117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CE0964-C28B-9BE8-6DEA-36B6DB91CC77}"/>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0571F754-6ED9-D651-E8BC-DEE9427F273A}"/>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Місце для нотаток 2">
                <a:extLst>
                  <a:ext uri="{FF2B5EF4-FFF2-40B4-BE49-F238E27FC236}">
                    <a16:creationId xmlns:a16="http://schemas.microsoft.com/office/drawing/2014/main" id="{76B6FDDF-D026-D3FB-A5D1-EE17C4F6E5A5}"/>
                  </a:ext>
                </a:extLst>
              </p:cNvPr>
              <p:cNvSpPr>
                <a:spLocks noGrp="1"/>
              </p:cNvSpPr>
              <p:nvPr>
                <p:ph type="body" idx="1"/>
              </p:nvPr>
            </p:nvSpPr>
            <p:spPr/>
            <p:txBody>
              <a:bodyPr/>
              <a:lstStyle/>
              <a:p>
                <a:r>
                  <a:rPr lang="uk-UA" noProof="0" dirty="0"/>
                  <a:t>Для навчання моделі було підібрано набір параметрів, який забезпечує достатньо стабільний процес навчання.</a:t>
                </a:r>
              </a:p>
              <a:p>
                <a:r>
                  <a:rPr lang="uk-UA" noProof="0" dirty="0"/>
                  <a:t>Навчання проводилось протягом 50 епох.</a:t>
                </a:r>
                <a:br>
                  <a:rPr lang="ru-RU" dirty="0"/>
                </a:br>
                <a:r>
                  <a:rPr lang="uk-UA" b="1" noProof="0" dirty="0"/>
                  <a:t>Дані були розділені хронологічно: </a:t>
                </a:r>
                <a:r>
                  <a:rPr lang="uk-UA" noProof="0" dirty="0"/>
                  <a:t>70% використано для навчання, а 30% — для тестування, причому тестова вибірка містить новіші взаємодії.</a:t>
                </a:r>
              </a:p>
              <a:p>
                <a:r>
                  <a:rPr lang="uk-UA" dirty="0"/>
                  <a:t>Для векторного подання груп, користувачів та історії взаємодій використано базову розмірність 64, а для опису історії бралися останні 10 елементів.</a:t>
                </a:r>
                <a:br>
                  <a:rPr lang="uk-UA" dirty="0"/>
                </a:br>
                <a:r>
                  <a:rPr lang="uk-UA" b="1" dirty="0"/>
                  <a:t>Усі три мережі — Інтегратор, Актор і Критик </a:t>
                </a:r>
                <a:r>
                  <a:rPr lang="uk-UA" dirty="0"/>
                  <a:t>— оптимізувались за допомогою оптимізатора </a:t>
                </a:r>
                <a:r>
                  <a:rPr lang="en-US" b="1" dirty="0"/>
                  <a:t>Ranger</a:t>
                </a:r>
                <a:r>
                  <a:rPr lang="uk-UA" dirty="0"/>
                  <a:t>.</a:t>
                </a:r>
              </a:p>
              <a:p>
                <a:r>
                  <a:rPr lang="uk-UA" dirty="0"/>
                  <a:t>Що стосується реалізації, модель виконувалася у середовищі </a:t>
                </a:r>
                <a:r>
                  <a:rPr lang="en-US" b="1" dirty="0"/>
                  <a:t>Ubuntu 24.04</a:t>
                </a:r>
                <a:r>
                  <a:rPr lang="uk-UA" b="1" dirty="0"/>
                  <a:t> у вигляді консольної аплікації </a:t>
                </a:r>
                <a:r>
                  <a:rPr lang="uk-UA" dirty="0"/>
                  <a:t>з використанням мови програмування </a:t>
                </a:r>
                <a:r>
                  <a:rPr lang="en-US" b="1" dirty="0"/>
                  <a:t>Python</a:t>
                </a:r>
                <a:r>
                  <a:rPr lang="en-US" dirty="0"/>
                  <a:t> </a:t>
                </a:r>
                <a:r>
                  <a:rPr lang="uk-UA" dirty="0"/>
                  <a:t>та пакетів </a:t>
                </a:r>
                <a:r>
                  <a:rPr lang="en-US" b="1" dirty="0"/>
                  <a:t>PyTorch, scikit-learn </a:t>
                </a:r>
                <a:r>
                  <a:rPr lang="uk-UA" b="1" dirty="0"/>
                  <a:t>та </a:t>
                </a:r>
                <a:r>
                  <a:rPr lang="en-US" b="1" dirty="0"/>
                  <a:t>SciPy</a:t>
                </a:r>
                <a:r>
                  <a:rPr lang="en-US" dirty="0"/>
                  <a:t>.</a:t>
                </a:r>
                <a:r>
                  <a:rPr lang="uk-UA" dirty="0"/>
                  <a:t> Середовище взаємодії побудоване з використанням пакету </a:t>
                </a:r>
                <a:r>
                  <a:rPr lang="en-US" b="1" noProof="0" dirty="0"/>
                  <a:t>gymnasium</a:t>
                </a:r>
                <a:r>
                  <a:rPr lang="uk-UA" noProof="0" dirty="0"/>
                  <a:t>.</a:t>
                </a:r>
                <a:endParaRPr lang="uk-UA" dirty="0"/>
              </a:p>
              <a:p>
                <a:endParaRPr lang="uk-UA" dirty="0"/>
              </a:p>
            </p:txBody>
          </p:sp>
        </mc:Choice>
        <mc:Fallback xmlns="">
          <p:sp>
            <p:nvSpPr>
              <p:cNvPr id="3" name="Місце для нотаток 2">
                <a:extLst>
                  <a:ext uri="{FF2B5EF4-FFF2-40B4-BE49-F238E27FC236}">
                    <a16:creationId xmlns:a16="http://schemas.microsoft.com/office/drawing/2014/main" id="{76B6FDDF-D026-D3FB-A5D1-EE17C4F6E5A5}"/>
                  </a:ext>
                </a:extLst>
              </p:cNvPr>
              <p:cNvSpPr>
                <a:spLocks noGrp="1"/>
              </p:cNvSpPr>
              <p:nvPr>
                <p:ph type="body" idx="1"/>
              </p:nvPr>
            </p:nvSpPr>
            <p:spPr/>
            <p:txBody>
              <a:bodyPr/>
              <a:lstStyle/>
              <a:p>
                <a:r>
                  <a:rPr lang="uk-UA" sz="1200" kern="1200" dirty="0">
                    <a:solidFill>
                      <a:schemeClr val="tx1"/>
                    </a:solidFill>
                    <a:effectLst/>
                    <a:latin typeface="+mn-lt"/>
                    <a:ea typeface="+mn-ea"/>
                    <a:cs typeface="+mn-cs"/>
                  </a:rPr>
                  <a:t>Цільові мережі </a:t>
                </a:r>
                <a:r>
                  <a:rPr lang="uk-UA" sz="1200" i="1" kern="1200" dirty="0" err="1">
                    <a:solidFill>
                      <a:schemeClr val="tx1"/>
                    </a:solidFill>
                    <a:effectLst/>
                    <a:latin typeface="+mn-lt"/>
                    <a:ea typeface="+mn-ea"/>
                    <a:cs typeface="+mn-cs"/>
                  </a:rPr>
                  <a:t>Q</a:t>
                </a:r>
                <a:r>
                  <a:rPr lang="uk-UA" sz="1200" i="1" kern="1200" baseline="-25000" dirty="0" err="1">
                    <a:solidFill>
                      <a:schemeClr val="tx1"/>
                    </a:solidFill>
                    <a:effectLst/>
                    <a:latin typeface="+mn-lt"/>
                    <a:ea typeface="+mn-ea"/>
                    <a:cs typeface="+mn-cs"/>
                  </a:rPr>
                  <a:t>ϕ</a:t>
                </a:r>
                <a:r>
                  <a:rPr lang="ru-RU" sz="1200" i="1" kern="1200" baseline="-25000" dirty="0">
                    <a:solidFill>
                      <a:schemeClr val="tx1"/>
                    </a:solidFill>
                    <a:effectLst/>
                    <a:latin typeface="+mn-lt"/>
                    <a:ea typeface="+mn-ea"/>
                    <a:cs typeface="+mn-cs"/>
                  </a:rPr>
                  <a:t>′</a:t>
                </a:r>
                <a:r>
                  <a:rPr lang="ru-RU" sz="1200" i="0" kern="1200">
                    <a:solidFill>
                      <a:schemeClr val="tx1"/>
                    </a:solidFill>
                    <a:effectLst/>
                    <a:latin typeface="+mn-lt"/>
                    <a:ea typeface="+mn-ea"/>
                    <a:cs typeface="+mn-cs"/>
                  </a:rPr>
                  <a:t> </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та </a:t>
                </a:r>
                <a:r>
                  <a:rPr lang="uk-UA" sz="1200" i="1" kern="1200" dirty="0">
                    <a:solidFill>
                      <a:schemeClr val="tx1"/>
                    </a:solidFill>
                    <a:effectLst/>
                    <a:latin typeface="+mn-lt"/>
                    <a:ea typeface="+mn-ea"/>
                    <a:cs typeface="+mn-cs"/>
                  </a:rPr>
                  <a:t>π</a:t>
                </a:r>
                <a:r>
                  <a:rPr lang="uk-UA" sz="1200" i="1" kern="1200" baseline="-25000" dirty="0">
                    <a:solidFill>
                      <a:schemeClr val="tx1"/>
                    </a:solidFill>
                    <a:effectLst/>
                    <a:latin typeface="+mn-lt"/>
                    <a:ea typeface="+mn-ea"/>
                    <a:cs typeface="+mn-cs"/>
                  </a:rPr>
                  <a:t>θ</a:t>
                </a:r>
                <a:r>
                  <a:rPr lang="ru-RU" sz="1200" i="1" kern="1200" baseline="-250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оновлюються за схемою м’яких оновлень, що задається як формула (4). Обидві мережі оптимізуються з використанням оптимізатора </a:t>
                </a:r>
                <a:r>
                  <a:rPr lang="uk-UA" sz="1200" kern="1200" dirty="0" err="1">
                    <a:solidFill>
                      <a:schemeClr val="tx1"/>
                    </a:solidFill>
                    <a:effectLst/>
                    <a:latin typeface="+mn-lt"/>
                    <a:ea typeface="+mn-ea"/>
                    <a:cs typeface="+mn-cs"/>
                  </a:rPr>
                  <a:t>Ranger</a:t>
                </a:r>
                <a:r>
                  <a:rPr lang="en-US" sz="1200"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який об'єднує </a:t>
                </a:r>
                <a:r>
                  <a:rPr lang="uk-UA" sz="1200" kern="1200" dirty="0" err="1">
                    <a:solidFill>
                      <a:schemeClr val="tx1"/>
                    </a:solidFill>
                    <a:effectLst/>
                    <a:latin typeface="+mn-lt"/>
                    <a:ea typeface="+mn-ea"/>
                    <a:cs typeface="+mn-cs"/>
                  </a:rPr>
                  <a:t>Rectified</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Adam</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RAdam</a:t>
                </a:r>
                <a:r>
                  <a:rPr lang="uk-UA" sz="1200" kern="1200" dirty="0">
                    <a:solidFill>
                      <a:schemeClr val="tx1"/>
                    </a:solidFill>
                    <a:effectLst/>
                    <a:latin typeface="+mn-lt"/>
                    <a:ea typeface="+mn-ea"/>
                    <a:cs typeface="+mn-cs"/>
                  </a:rPr>
                  <a:t>) із </a:t>
                </a:r>
                <a:r>
                  <a:rPr lang="uk-UA" sz="1200" kern="1200" dirty="0" err="1">
                    <a:solidFill>
                      <a:schemeClr val="tx1"/>
                    </a:solidFill>
                    <a:effectLst/>
                    <a:latin typeface="+mn-lt"/>
                    <a:ea typeface="+mn-ea"/>
                    <a:cs typeface="+mn-cs"/>
                  </a:rPr>
                  <a:t>Lookahead</a:t>
                </a:r>
                <a:r>
                  <a:rPr lang="uk-UA" sz="1200" kern="1200" dirty="0">
                    <a:solidFill>
                      <a:schemeClr val="tx1"/>
                    </a:solidFill>
                    <a:effectLst/>
                    <a:latin typeface="+mn-lt"/>
                    <a:ea typeface="+mn-ea"/>
                    <a:cs typeface="+mn-cs"/>
                  </a:rPr>
                  <a:t> для підвищення стабільності та збіжності</a:t>
                </a:r>
                <a:r>
                  <a:rPr lang="en-US" sz="1200" kern="1200" dirty="0">
                    <a:solidFill>
                      <a:schemeClr val="tx1"/>
                    </a:solidFill>
                    <a:effectLst/>
                    <a:latin typeface="+mn-lt"/>
                    <a:ea typeface="+mn-ea"/>
                    <a:cs typeface="+mn-cs"/>
                  </a:rPr>
                  <a:t>)</a:t>
                </a:r>
                <a:r>
                  <a:rPr lang="uk-UA" sz="1200" kern="1200" dirty="0">
                    <a:solidFill>
                      <a:schemeClr val="tx1"/>
                    </a:solidFill>
                    <a:effectLst/>
                    <a:latin typeface="+mn-lt"/>
                    <a:ea typeface="+mn-ea"/>
                    <a:cs typeface="+mn-cs"/>
                  </a:rPr>
                  <a:t>.</a:t>
                </a:r>
              </a:p>
              <a:p>
                <a:r>
                  <a:rPr lang="uk-UA" sz="1200" kern="1200" dirty="0">
                    <a:solidFill>
                      <a:schemeClr val="tx1"/>
                    </a:solidFill>
                    <a:effectLst/>
                    <a:latin typeface="+mn-lt"/>
                    <a:ea typeface="+mn-ea"/>
                    <a:cs typeface="+mn-cs"/>
                  </a:rPr>
                  <a:t>Важливим є аспект, що </a:t>
                </a:r>
                <a:r>
                  <a:rPr lang="uk-UA" sz="1200" b="1" kern="1200" dirty="0">
                    <a:solidFill>
                      <a:schemeClr val="tx1"/>
                    </a:solidFill>
                    <a:effectLst/>
                    <a:latin typeface="+mn-lt"/>
                    <a:ea typeface="+mn-ea"/>
                    <a:cs typeface="+mn-cs"/>
                  </a:rPr>
                  <a:t>архітектура Актор-Критик є ідентичною</a:t>
                </a:r>
                <a:r>
                  <a:rPr lang="uk-UA" sz="1200" kern="1200" dirty="0">
                    <a:solidFill>
                      <a:schemeClr val="tx1"/>
                    </a:solidFill>
                    <a:effectLst/>
                    <a:latin typeface="+mn-lt"/>
                    <a:ea typeface="+mn-ea"/>
                    <a:cs typeface="+mn-cs"/>
                  </a:rPr>
                  <a:t> як для одноагентного, так і для мультиагентного середовища.</a:t>
                </a:r>
              </a:p>
              <a:p>
                <a:r>
                  <a:rPr lang="uk-UA" sz="1200" b="1" kern="1200" dirty="0">
                    <a:solidFill>
                      <a:schemeClr val="tx1"/>
                    </a:solidFill>
                    <a:effectLst/>
                    <a:latin typeface="+mn-lt"/>
                    <a:ea typeface="+mn-ea"/>
                    <a:cs typeface="+mn-cs"/>
                  </a:rPr>
                  <a:t>Процедура навчання варіюється залежно від того, чи є агент спільним або персоналізованим.</a:t>
                </a:r>
                <a:endParaRPr lang="uk-UA" sz="1200" kern="1200" dirty="0">
                  <a:solidFill>
                    <a:schemeClr val="tx1"/>
                  </a:solidFill>
                  <a:effectLst/>
                  <a:latin typeface="+mn-lt"/>
                  <a:ea typeface="+mn-ea"/>
                  <a:cs typeface="+mn-cs"/>
                </a:endParaRPr>
              </a:p>
              <a:p>
                <a:r>
                  <a:rPr lang="uk-UA" sz="1200" kern="1200" dirty="0">
                    <a:solidFill>
                      <a:schemeClr val="tx1"/>
                    </a:solidFill>
                    <a:effectLst/>
                    <a:latin typeface="+mn-lt"/>
                    <a:ea typeface="+mn-ea"/>
                    <a:cs typeface="+mn-cs"/>
                  </a:rPr>
                  <a:t>У </a:t>
                </a:r>
                <a:r>
                  <a:rPr lang="uk-UA" sz="1200" b="1" kern="1200" dirty="0">
                    <a:solidFill>
                      <a:schemeClr val="tx1"/>
                    </a:solidFill>
                    <a:effectLst/>
                    <a:latin typeface="+mn-lt"/>
                    <a:ea typeface="+mn-ea"/>
                    <a:cs typeface="+mn-cs"/>
                  </a:rPr>
                  <a:t>централізованій</a:t>
                </a:r>
                <a:r>
                  <a:rPr lang="uk-UA" sz="1200" kern="1200" dirty="0">
                    <a:solidFill>
                      <a:schemeClr val="tx1"/>
                    </a:solidFill>
                    <a:effectLst/>
                    <a:latin typeface="+mn-lt"/>
                    <a:ea typeface="+mn-ea"/>
                    <a:cs typeface="+mn-cs"/>
                  </a:rPr>
                  <a:t> архітектурі</a:t>
                </a:r>
                <a:r>
                  <a:rPr lang="uk-UA" sz="1200" b="1" kern="1200" dirty="0">
                    <a:solidFill>
                      <a:schemeClr val="tx1"/>
                    </a:solidFill>
                    <a:effectLst/>
                    <a:latin typeface="+mn-lt"/>
                    <a:ea typeface="+mn-ea"/>
                    <a:cs typeface="+mn-cs"/>
                  </a:rPr>
                  <a:t> </a:t>
                </a:r>
                <a:r>
                  <a:rPr lang="uk-UA" sz="1200" kern="1200" dirty="0">
                    <a:solidFill>
                      <a:schemeClr val="tx1"/>
                    </a:solidFill>
                    <a:effectLst/>
                    <a:latin typeface="+mn-lt"/>
                    <a:ea typeface="+mn-ea"/>
                    <a:cs typeface="+mn-cs"/>
                  </a:rPr>
                  <a:t>модель навчається на групах взаємодій (</a:t>
                </a:r>
                <a:r>
                  <a:rPr lang="uk-UA" sz="1200" kern="1200" dirty="0" err="1">
                    <a:solidFill>
                      <a:schemeClr val="tx1"/>
                    </a:solidFill>
                    <a:effectLst/>
                    <a:latin typeface="+mn-lt"/>
                    <a:ea typeface="+mn-ea"/>
                    <a:cs typeface="+mn-cs"/>
                  </a:rPr>
                  <a:t>batch</a:t>
                </a:r>
                <a:r>
                  <a:rPr lang="uk-UA" sz="1200" kern="1200" dirty="0">
                    <a:solidFill>
                      <a:schemeClr val="tx1"/>
                    </a:solidFill>
                    <a:effectLst/>
                    <a:latin typeface="+mn-lt"/>
                    <a:ea typeface="+mn-ea"/>
                    <a:cs typeface="+mn-cs"/>
                  </a:rPr>
                  <a:t> </a:t>
                </a:r>
                <a:r>
                  <a:rPr lang="uk-UA" sz="1200" kern="1200" dirty="0" err="1">
                    <a:solidFill>
                      <a:schemeClr val="tx1"/>
                    </a:solidFill>
                    <a:effectLst/>
                    <a:latin typeface="+mn-lt"/>
                    <a:ea typeface="+mn-ea"/>
                    <a:cs typeface="+mn-cs"/>
                  </a:rPr>
                  <a:t>processing</a:t>
                </a:r>
                <a:r>
                  <a:rPr lang="uk-UA" sz="1200" kern="1200" dirty="0">
                    <a:solidFill>
                      <a:schemeClr val="tx1"/>
                    </a:solidFill>
                    <a:effectLst/>
                    <a:latin typeface="+mn-lt"/>
                    <a:ea typeface="+mn-ea"/>
                    <a:cs typeface="+mn-cs"/>
                  </a:rPr>
                  <a:t>), відібраних із загальної популяції користувачів. Кожна навчальна група включає дані від кількох користувачів (наприклад, 25 користувачів), що дозволяє моделі вивчати загальну поведінкову стратегію, яка відображає загальні поведінкові шаблони. Такий підхід сприяє узагальненню, однак може не враховувати індивідуальні вподобання.</a:t>
                </a:r>
              </a:p>
              <a:p>
                <a:r>
                  <a:rPr lang="uk-UA" sz="1200" kern="1200" dirty="0">
                    <a:solidFill>
                      <a:schemeClr val="tx1"/>
                    </a:solidFill>
                    <a:effectLst/>
                    <a:latin typeface="+mn-lt"/>
                    <a:ea typeface="+mn-ea"/>
                    <a:cs typeface="+mn-cs"/>
                  </a:rPr>
                  <a:t>У </a:t>
                </a:r>
                <a:r>
                  <a:rPr lang="uk-UA" sz="1200" b="1" kern="1200" dirty="0">
                    <a:solidFill>
                      <a:schemeClr val="tx1"/>
                    </a:solidFill>
                    <a:effectLst/>
                    <a:latin typeface="+mn-lt"/>
                    <a:ea typeface="+mn-ea"/>
                    <a:cs typeface="+mn-cs"/>
                  </a:rPr>
                  <a:t>децентралізованій</a:t>
                </a:r>
                <a:r>
                  <a:rPr lang="uk-UA" sz="1200" kern="1200" dirty="0">
                    <a:solidFill>
                      <a:schemeClr val="tx1"/>
                    </a:solidFill>
                    <a:effectLst/>
                    <a:latin typeface="+mn-lt"/>
                    <a:ea typeface="+mn-ea"/>
                    <a:cs typeface="+mn-cs"/>
                  </a:rPr>
                  <a:t> архітектурі загальна модель додатково тренується, використовуючи дані взаємодії від певного користувача. Навчальний процес передбачає кількаразове навчання на основі тієї самої історії взаємодій, що компенсує обмеженість даних. Для посилення впливу цієї інформації тимчасово збільшується швидкість навчання.</a:t>
                </a:r>
              </a:p>
              <a:p>
                <a:r>
                  <a:rPr lang="uk-UA" sz="1200" kern="1200" dirty="0">
                    <a:solidFill>
                      <a:schemeClr val="tx1"/>
                    </a:solidFill>
                    <a:effectLst/>
                    <a:latin typeface="+mn-lt"/>
                    <a:ea typeface="+mn-ea"/>
                    <a:cs typeface="+mn-cs"/>
                  </a:rPr>
                  <a:t>Ці два підходи відображають основну ідею запропонованої моделі: централізоване тренування забезпечує масштабованість і узгодженість, тоді як додаткове децентралізоване навчання забезпечує персоналізацію та локальну адаптацію. Ініціалізація персоналізованих агентів на основі спільної моделі дозволяє поєднати переваги обох парадигм.</a:t>
                </a:r>
              </a:p>
            </p:txBody>
          </p:sp>
        </mc:Fallback>
      </mc:AlternateContent>
      <p:sp>
        <p:nvSpPr>
          <p:cNvPr id="4" name="Місце для номера слайда 3">
            <a:extLst>
              <a:ext uri="{FF2B5EF4-FFF2-40B4-BE49-F238E27FC236}">
                <a16:creationId xmlns:a16="http://schemas.microsoft.com/office/drawing/2014/main" id="{F31456DA-2B3C-B65C-16E1-13D0D3E11ED7}"/>
              </a:ext>
            </a:extLst>
          </p:cNvPr>
          <p:cNvSpPr>
            <a:spLocks noGrp="1"/>
          </p:cNvSpPr>
          <p:nvPr>
            <p:ph type="sldNum" sz="quarter" idx="5"/>
          </p:nvPr>
        </p:nvSpPr>
        <p:spPr/>
        <p:txBody>
          <a:bodyPr/>
          <a:lstStyle/>
          <a:p>
            <a:fld id="{B7345D1F-247A-494F-A2C8-2C8C153E38AF}" type="slidenum">
              <a:rPr lang="uk-UA" smtClean="0"/>
              <a:t>11</a:t>
            </a:fld>
            <a:endParaRPr lang="uk-UA"/>
          </a:p>
        </p:txBody>
      </p:sp>
    </p:spTree>
    <p:extLst>
      <p:ext uri="{BB962C8B-B14F-4D97-AF65-F5344CB8AC3E}">
        <p14:creationId xmlns:p14="http://schemas.microsoft.com/office/powerpoint/2010/main" val="14327108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8218BF-A926-ED58-7D22-79E553C424E5}"/>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5E7534DC-6C05-D968-1A27-0D1A5BA67FAF}"/>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BB9E94BC-4451-BC5E-F371-A81F806373E0}"/>
              </a:ext>
            </a:extLst>
          </p:cNvPr>
          <p:cNvSpPr>
            <a:spLocks noGrp="1"/>
          </p:cNvSpPr>
          <p:nvPr>
            <p:ph type="body" idx="1"/>
          </p:nvPr>
        </p:nvSpPr>
        <p:spPr/>
        <p:txBody>
          <a:bodyPr/>
          <a:lstStyle/>
          <a:p>
            <a:r>
              <a:rPr lang="uk-UA" noProof="0" dirty="0"/>
              <a:t>Для порівняння ефективності моделей у роботі використано три метрики: </a:t>
            </a:r>
            <a:r>
              <a:rPr lang="uk-UA" b="1" noProof="0" dirty="0"/>
              <a:t>Recall@k</a:t>
            </a:r>
            <a:r>
              <a:rPr lang="uk-UA" noProof="0" dirty="0"/>
              <a:t>, </a:t>
            </a:r>
            <a:r>
              <a:rPr lang="uk-UA" b="1" noProof="0" dirty="0"/>
              <a:t>NDCG@k</a:t>
            </a:r>
            <a:r>
              <a:rPr lang="uk-UA" noProof="0" dirty="0"/>
              <a:t> та </a:t>
            </a:r>
            <a:r>
              <a:rPr lang="uk-UA" b="1" noProof="0" dirty="0"/>
              <a:t>Coverage@k</a:t>
            </a:r>
            <a:r>
              <a:rPr lang="uk-UA" noProof="0" dirty="0"/>
              <a:t>.</a:t>
            </a:r>
          </a:p>
          <a:p>
            <a:r>
              <a:rPr lang="uk-UA" b="1" noProof="0" dirty="0"/>
              <a:t>Recall@k</a:t>
            </a:r>
            <a:r>
              <a:rPr lang="uk-UA" noProof="0" dirty="0"/>
              <a:t> показує, наскільки добре система знаходить релевантні елементи серед перших </a:t>
            </a:r>
            <a:r>
              <a:rPr lang="uk-UA" i="1" noProof="0" dirty="0"/>
              <a:t>k</a:t>
            </a:r>
            <a:r>
              <a:rPr lang="uk-UA" noProof="0" dirty="0"/>
              <a:t> запропонованих.</a:t>
            </a:r>
            <a:br>
              <a:rPr lang="uk-UA" noProof="0" dirty="0"/>
            </a:br>
            <a:r>
              <a:rPr lang="uk-UA" noProof="0" dirty="0"/>
              <a:t>Тобто ця метрика відображає повноту рекомендаційного списку.</a:t>
            </a:r>
          </a:p>
          <a:p>
            <a:r>
              <a:rPr lang="uk-UA" b="1" noProof="0" dirty="0"/>
              <a:t>NDCG@k</a:t>
            </a:r>
            <a:r>
              <a:rPr lang="uk-UA" noProof="0" dirty="0"/>
              <a:t> використовується для оцінювання якості ранжування.</a:t>
            </a:r>
            <a:br>
              <a:rPr lang="uk-UA" noProof="0" dirty="0"/>
            </a:br>
            <a:r>
              <a:rPr lang="uk-UA" noProof="0" dirty="0"/>
              <a:t>Вона враховує не лише наявність релевантних елементів у списку, а й те, на яких саме позиціях вони розташовані. Чим вище релевантні рекомендації знаходяться в списку, тим більшим є значення цієї метрики.</a:t>
            </a:r>
          </a:p>
          <a:p>
            <a:r>
              <a:rPr lang="uk-UA" b="1" noProof="0" dirty="0"/>
              <a:t>Coverage@k</a:t>
            </a:r>
            <a:r>
              <a:rPr lang="uk-UA" noProof="0" dirty="0"/>
              <a:t> характеризує різноманітність рекомендацій.</a:t>
            </a:r>
            <a:br>
              <a:rPr lang="uk-UA" noProof="0" dirty="0"/>
            </a:br>
            <a:r>
              <a:rPr lang="uk-UA" noProof="0" dirty="0"/>
              <a:t>Вона показує, яку частину нових елементів система реально використовує при формуванні рекомендацій для різних груп.</a:t>
            </a:r>
          </a:p>
          <a:p>
            <a:r>
              <a:rPr lang="uk-UA" noProof="0" dirty="0"/>
              <a:t>Таким чином, Recall@k дозволяє оцінити повноту, NDCG@k — якість ранжування, а Coverage@k — широту охоплення елементів каталогу.</a:t>
            </a:r>
          </a:p>
          <a:p>
            <a:r>
              <a:rPr lang="uk-UA" noProof="0" dirty="0"/>
              <a:t>Важливо, що значення всіх трьох метрик лежать у межах від </a:t>
            </a:r>
            <a:r>
              <a:rPr lang="uk-UA" b="1" noProof="0" dirty="0"/>
              <a:t>0 до 1</a:t>
            </a:r>
            <a:r>
              <a:rPr lang="uk-UA" noProof="0" dirty="0"/>
              <a:t>, і більше значення відповідає кращій якості рекомендацій.</a:t>
            </a:r>
          </a:p>
        </p:txBody>
      </p:sp>
      <p:sp>
        <p:nvSpPr>
          <p:cNvPr id="4" name="Місце для номера слайда 3">
            <a:extLst>
              <a:ext uri="{FF2B5EF4-FFF2-40B4-BE49-F238E27FC236}">
                <a16:creationId xmlns:a16="http://schemas.microsoft.com/office/drawing/2014/main" id="{9AA08D8A-C35B-54C0-AFF9-B2EF6D8EBB71}"/>
              </a:ext>
            </a:extLst>
          </p:cNvPr>
          <p:cNvSpPr>
            <a:spLocks noGrp="1"/>
          </p:cNvSpPr>
          <p:nvPr>
            <p:ph type="sldNum" sz="quarter" idx="5"/>
          </p:nvPr>
        </p:nvSpPr>
        <p:spPr/>
        <p:txBody>
          <a:bodyPr/>
          <a:lstStyle/>
          <a:p>
            <a:fld id="{B7345D1F-247A-494F-A2C8-2C8C153E38AF}" type="slidenum">
              <a:rPr lang="uk-UA" smtClean="0"/>
              <a:t>12</a:t>
            </a:fld>
            <a:endParaRPr lang="uk-UA"/>
          </a:p>
        </p:txBody>
      </p:sp>
    </p:spTree>
    <p:extLst>
      <p:ext uri="{BB962C8B-B14F-4D97-AF65-F5344CB8AC3E}">
        <p14:creationId xmlns:p14="http://schemas.microsoft.com/office/powerpoint/2010/main" val="80395358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721ADB-159C-DC2B-59DF-3A6F78D9EE11}"/>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A41FD891-385A-7909-83AD-4F61DEF255B4}"/>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Місце для нотаток 2">
                <a:extLst>
                  <a:ext uri="{FF2B5EF4-FFF2-40B4-BE49-F238E27FC236}">
                    <a16:creationId xmlns:a16="http://schemas.microsoft.com/office/drawing/2014/main" id="{B36B77A9-B0AB-AA6E-D4D3-EDE46A3D948A}"/>
                  </a:ext>
                </a:extLst>
              </p:cNvPr>
              <p:cNvSpPr>
                <a:spLocks noGrp="1"/>
              </p:cNvSpPr>
              <p:nvPr>
                <p:ph type="body" idx="1"/>
              </p:nvPr>
            </p:nvSpPr>
            <p:spPr/>
            <p:txBody>
              <a:bodyPr/>
              <a:lstStyle/>
              <a:p>
                <a:r>
                  <a:rPr lang="uk-UA" sz="1200" kern="1200" dirty="0">
                    <a:solidFill>
                      <a:schemeClr val="tx1"/>
                    </a:solidFill>
                    <a:effectLst/>
                    <a:latin typeface="+mn-lt"/>
                    <a:ea typeface="+mn-ea"/>
                    <a:cs typeface="+mn-cs"/>
                  </a:rPr>
                  <a:t>Порівняння проведено з моделлю </a:t>
                </a:r>
                <a:r>
                  <a:rPr lang="en-US" sz="1200" b="1" kern="1200" dirty="0">
                    <a:solidFill>
                      <a:schemeClr val="tx1"/>
                    </a:solidFill>
                    <a:effectLst/>
                    <a:latin typeface="+mn-lt"/>
                    <a:ea typeface="+mn-ea"/>
                    <a:cs typeface="+mn-cs"/>
                  </a:rPr>
                  <a:t>DRGR</a:t>
                </a:r>
                <a:r>
                  <a:rPr lang="uk-UA" sz="1200" kern="1200" dirty="0">
                    <a:solidFill>
                      <a:schemeClr val="tx1"/>
                    </a:solidFill>
                    <a:effectLst/>
                    <a:latin typeface="+mn-lt"/>
                    <a:ea typeface="+mn-ea"/>
                    <a:cs typeface="+mn-cs"/>
                  </a:rPr>
                  <a:t>, оскільки вона також використовує машинне навчання з підкріпленням. </a:t>
                </a:r>
              </a:p>
              <a:p>
                <a:r>
                  <a:rPr lang="uk-UA" dirty="0"/>
                  <a:t>Для оцінювання якості рекомендацій розглядалися значення </a:t>
                </a:r>
                <a14:m>
                  <m:oMath xmlns:m="http://schemas.openxmlformats.org/officeDocument/2006/math">
                    <m:r>
                      <a:rPr lang="uk-UA" sz="1200" i="1" kern="1200">
                        <a:solidFill>
                          <a:schemeClr val="tx1"/>
                        </a:solidFill>
                        <a:latin typeface="Cambria Math" panose="02040503050406030204" pitchFamily="18" charset="0"/>
                        <a:ea typeface="+mn-ea"/>
                        <a:cs typeface="+mn-cs"/>
                      </a:rPr>
                      <m:t>𝑘</m:t>
                    </m:r>
                    <m:r>
                      <a:rPr lang="uk-UA" sz="1200" i="0" kern="1200">
                        <a:solidFill>
                          <a:schemeClr val="tx1"/>
                        </a:solidFill>
                        <a:latin typeface="Cambria Math" panose="02040503050406030204" pitchFamily="18" charset="0"/>
                        <a:ea typeface="+mn-ea"/>
                        <a:cs typeface="+mn-cs"/>
                      </a:rPr>
                      <m:t>=5,10,15,20</m:t>
                    </m:r>
                  </m:oMath>
                </a14:m>
                <a:r>
                  <a:rPr lang="uk-UA" dirty="0"/>
                  <a:t>, що дало змогу проаналізувати роботу моделі як на коротких списках рекомендацій, де особливо важливі перші позиції, так і на ширших наборах, щоб перевірити стабільність її результатів у різних сценаріях</a:t>
                </a:r>
                <a:r>
                  <a:rPr lang="uk-UA" baseline="0" dirty="0"/>
                  <a:t>.</a:t>
                </a:r>
              </a:p>
              <a:p>
                <a:r>
                  <a:rPr lang="uk-UA" b="1" baseline="0" noProof="0" dirty="0"/>
                  <a:t>Отримані результати показали</a:t>
                </a:r>
                <a:r>
                  <a:rPr lang="uk-UA" baseline="0" noProof="0" dirty="0"/>
                  <a:t>, що запропонована модель має перевагу над базовим підходом за всіма трьома метриками — для всіх значень k. Це добре видно на діаграмах, де стовпчики запропонованої моделі в кожному випадку є вищими за відповідні стовпчики DRGR. </a:t>
                </a:r>
              </a:p>
              <a:p>
                <a:r>
                  <a:rPr lang="uk-UA" noProof="0" dirty="0"/>
                  <a:t>Варто зазначити, що наведені діаграми відображають результати саме на рівні групових рекомендацій.</a:t>
                </a:r>
              </a:p>
            </p:txBody>
          </p:sp>
        </mc:Choice>
        <mc:Fallback xmlns="">
          <p:sp>
            <p:nvSpPr>
              <p:cNvPr id="3" name="Місце для нотаток 2">
                <a:extLst>
                  <a:ext uri="{FF2B5EF4-FFF2-40B4-BE49-F238E27FC236}">
                    <a16:creationId xmlns:a16="http://schemas.microsoft.com/office/drawing/2014/main" id="{B36B77A9-B0AB-AA6E-D4D3-EDE46A3D948A}"/>
                  </a:ext>
                </a:extLst>
              </p:cNvPr>
              <p:cNvSpPr>
                <a:spLocks noGrp="1"/>
              </p:cNvSpPr>
              <p:nvPr>
                <p:ph type="body" idx="1"/>
              </p:nvPr>
            </p:nvSpPr>
            <p:spPr/>
            <p:txBody>
              <a:bodyPr/>
              <a:lstStyle/>
              <a:p>
                <a:r>
                  <a:rPr lang="uk-UA" sz="1200" kern="1200" dirty="0">
                    <a:solidFill>
                      <a:schemeClr val="tx1"/>
                    </a:solidFill>
                    <a:effectLst/>
                    <a:latin typeface="+mn-lt"/>
                    <a:ea typeface="+mn-ea"/>
                    <a:cs typeface="+mn-cs"/>
                  </a:rPr>
                  <a:t>Порівняння проведено з моделлю </a:t>
                </a:r>
                <a:r>
                  <a:rPr lang="en-US" sz="1200" b="1" kern="1200" dirty="0">
                    <a:solidFill>
                      <a:schemeClr val="tx1"/>
                    </a:solidFill>
                    <a:effectLst/>
                    <a:latin typeface="+mn-lt"/>
                    <a:ea typeface="+mn-ea"/>
                    <a:cs typeface="+mn-cs"/>
                  </a:rPr>
                  <a:t>DRGR</a:t>
                </a:r>
                <a:r>
                  <a:rPr lang="uk-UA" sz="1200" kern="1200" dirty="0">
                    <a:solidFill>
                      <a:schemeClr val="tx1"/>
                    </a:solidFill>
                    <a:effectLst/>
                    <a:latin typeface="+mn-lt"/>
                    <a:ea typeface="+mn-ea"/>
                    <a:cs typeface="+mn-cs"/>
                  </a:rPr>
                  <a:t>, оскільки вона також використовує машинне навчання з підкріпленням. </a:t>
                </a:r>
              </a:p>
              <a:p>
                <a:r>
                  <a:rPr lang="uk-UA" dirty="0"/>
                  <a:t>Для оцінювання якості рекомендацій розглядалися значення </a:t>
                </a:r>
                <a:r>
                  <a:rPr lang="uk-UA" sz="1200" i="0" kern="1200">
                    <a:solidFill>
                      <a:schemeClr val="tx1"/>
                    </a:solidFill>
                    <a:latin typeface="+mn-lt"/>
                    <a:ea typeface="+mn-ea"/>
                    <a:cs typeface="+mn-cs"/>
                  </a:rPr>
                  <a:t>𝑘=5,10,15,20</a:t>
                </a:r>
                <a:r>
                  <a:rPr lang="uk-UA" dirty="0"/>
                  <a:t>, що дало змогу проаналізувати роботу моделі як на коротких списках рекомендацій, де особливо важливі перші позиції, так і на ширших наборах, щоб перевірити стабільність її результатів у різних сценаріях</a:t>
                </a:r>
                <a:r>
                  <a:rPr lang="uk-UA" baseline="0" dirty="0"/>
                  <a:t>.</a:t>
                </a:r>
              </a:p>
              <a:p>
                <a:r>
                  <a:rPr lang="uk-UA" b="1" baseline="0" noProof="0" dirty="0"/>
                  <a:t>Отримані результати показали</a:t>
                </a:r>
                <a:r>
                  <a:rPr lang="uk-UA" baseline="0" noProof="0" dirty="0"/>
                  <a:t>, що запропонована модель має перевагу над базовим підходом за всіма трьома метриками — для всіх значень k. Це добре видно на діаграмах, де стовпчики запропонованої моделі в кожному випадку є вищими за відповідні стовпчики DRGR. </a:t>
                </a:r>
              </a:p>
              <a:p>
                <a:r>
                  <a:rPr lang="uk-UA" noProof="0" dirty="0"/>
                  <a:t>Варто зазначити, що наведені діаграми відображають результати саме на рівні групових рекомендацій.</a:t>
                </a:r>
              </a:p>
            </p:txBody>
          </p:sp>
        </mc:Fallback>
      </mc:AlternateContent>
      <p:sp>
        <p:nvSpPr>
          <p:cNvPr id="4" name="Місце для номера слайда 3">
            <a:extLst>
              <a:ext uri="{FF2B5EF4-FFF2-40B4-BE49-F238E27FC236}">
                <a16:creationId xmlns:a16="http://schemas.microsoft.com/office/drawing/2014/main" id="{F8670026-9701-5408-3114-4F753D41CBB5}"/>
              </a:ext>
            </a:extLst>
          </p:cNvPr>
          <p:cNvSpPr>
            <a:spLocks noGrp="1"/>
          </p:cNvSpPr>
          <p:nvPr>
            <p:ph type="sldNum" sz="quarter" idx="5"/>
          </p:nvPr>
        </p:nvSpPr>
        <p:spPr/>
        <p:txBody>
          <a:bodyPr/>
          <a:lstStyle/>
          <a:p>
            <a:fld id="{B7345D1F-247A-494F-A2C8-2C8C153E38AF}" type="slidenum">
              <a:rPr lang="uk-UA" smtClean="0"/>
              <a:t>13</a:t>
            </a:fld>
            <a:endParaRPr lang="uk-UA"/>
          </a:p>
        </p:txBody>
      </p:sp>
    </p:spTree>
    <p:extLst>
      <p:ext uri="{BB962C8B-B14F-4D97-AF65-F5344CB8AC3E}">
        <p14:creationId xmlns:p14="http://schemas.microsoft.com/office/powerpoint/2010/main" val="35819777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BCF65-988D-8ED7-E32F-E83EB66579CF}"/>
            </a:ext>
          </a:extLst>
        </p:cNvPr>
        <p:cNvGrpSpPr/>
        <p:nvPr/>
      </p:nvGrpSpPr>
      <p:grpSpPr>
        <a:xfrm>
          <a:off x="0" y="0"/>
          <a:ext cx="0" cy="0"/>
          <a:chOff x="0" y="0"/>
          <a:chExt cx="0" cy="0"/>
        </a:xfrm>
      </p:grpSpPr>
      <p:sp>
        <p:nvSpPr>
          <p:cNvPr id="2" name="Місце для зображення 1">
            <a:extLst>
              <a:ext uri="{FF2B5EF4-FFF2-40B4-BE49-F238E27FC236}">
                <a16:creationId xmlns:a16="http://schemas.microsoft.com/office/drawing/2014/main" id="{C7656117-1B1B-00D7-7F47-BB4F4927F14C}"/>
              </a:ext>
            </a:extLst>
          </p:cNvPr>
          <p:cNvSpPr>
            <a:spLocks noGrp="1" noRot="1" noChangeAspect="1"/>
          </p:cNvSpPr>
          <p:nvPr>
            <p:ph type="sldImg"/>
          </p:nvPr>
        </p:nvSpPr>
        <p:spPr/>
      </p:sp>
      <p:sp>
        <p:nvSpPr>
          <p:cNvPr id="3" name="Місце для нотаток 2">
            <a:extLst>
              <a:ext uri="{FF2B5EF4-FFF2-40B4-BE49-F238E27FC236}">
                <a16:creationId xmlns:a16="http://schemas.microsoft.com/office/drawing/2014/main" id="{E7D4FA35-177F-5485-7468-B059721AA7D5}"/>
              </a:ext>
            </a:extLst>
          </p:cNvPr>
          <p:cNvSpPr>
            <a:spLocks noGrp="1"/>
          </p:cNvSpPr>
          <p:nvPr>
            <p:ph type="body" idx="1"/>
          </p:nvPr>
        </p:nvSpPr>
        <p:spPr/>
        <p:txBody>
          <a:bodyPr/>
          <a:lstStyle/>
          <a:p>
            <a:r>
              <a:rPr lang="uk-UA" noProof="0" dirty="0"/>
              <a:t>Водночас аналогічну перевагу запропонована модель продемонструвала і при оцінюванні рекомендацій на рівні окремих користувачів.</a:t>
            </a:r>
            <a:endParaRPr lang="uk-UA" sz="1200" kern="1200" noProof="0" dirty="0">
              <a:solidFill>
                <a:schemeClr val="tx1"/>
              </a:solidFill>
              <a:effectLst/>
              <a:latin typeface="+mn-lt"/>
              <a:ea typeface="+mn-ea"/>
              <a:cs typeface="+mn-cs"/>
            </a:endParaRPr>
          </a:p>
        </p:txBody>
      </p:sp>
      <p:sp>
        <p:nvSpPr>
          <p:cNvPr id="4" name="Місце для номера слайда 3">
            <a:extLst>
              <a:ext uri="{FF2B5EF4-FFF2-40B4-BE49-F238E27FC236}">
                <a16:creationId xmlns:a16="http://schemas.microsoft.com/office/drawing/2014/main" id="{9812DA82-3BED-56AB-AC67-D038A27C4EF1}"/>
              </a:ext>
            </a:extLst>
          </p:cNvPr>
          <p:cNvSpPr>
            <a:spLocks noGrp="1"/>
          </p:cNvSpPr>
          <p:nvPr>
            <p:ph type="sldNum" sz="quarter" idx="5"/>
          </p:nvPr>
        </p:nvSpPr>
        <p:spPr/>
        <p:txBody>
          <a:bodyPr/>
          <a:lstStyle/>
          <a:p>
            <a:fld id="{B7345D1F-247A-494F-A2C8-2C8C153E38AF}" type="slidenum">
              <a:rPr lang="uk-UA" smtClean="0"/>
              <a:t>14</a:t>
            </a:fld>
            <a:endParaRPr lang="uk-UA"/>
          </a:p>
        </p:txBody>
      </p:sp>
    </p:spTree>
    <p:extLst>
      <p:ext uri="{BB962C8B-B14F-4D97-AF65-F5344CB8AC3E}">
        <p14:creationId xmlns:p14="http://schemas.microsoft.com/office/powerpoint/2010/main" val="181799644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Місце для зображення 1"/>
          <p:cNvSpPr>
            <a:spLocks noGrp="1" noRot="1" noChangeAspect="1"/>
          </p:cNvSpPr>
          <p:nvPr>
            <p:ph type="sldImg"/>
          </p:nvPr>
        </p:nvSpPr>
        <p:spPr/>
      </p:sp>
      <p:sp>
        <p:nvSpPr>
          <p:cNvPr id="3" name="Місце для нотаток 2"/>
          <p:cNvSpPr>
            <a:spLocks noGrp="1"/>
          </p:cNvSpPr>
          <p:nvPr>
            <p:ph type="body" idx="1"/>
          </p:nvPr>
        </p:nvSpPr>
        <p:spPr/>
        <p:txBody>
          <a:bodyPr/>
          <a:lstStyle/>
          <a:p>
            <a:pPr lvl="0"/>
            <a:r>
              <a:rPr lang="uk-UA" noProof="0" dirty="0"/>
              <a:t>Отже, у межах цієї роботи було підготовлено експериментальний набір даних, сформовано групи користувачів і розроблено модель групових рекомендацій на основі архітектури Інтегратор–Актор–Критик. </a:t>
            </a:r>
          </a:p>
          <a:p>
            <a:pPr lvl="0"/>
            <a:r>
              <a:rPr lang="uk-UA" b="1" noProof="0" dirty="0"/>
              <a:t>Проведені експерименти показали</a:t>
            </a:r>
            <a:r>
              <a:rPr lang="uk-UA" noProof="0" dirty="0"/>
              <a:t>, що запропонований підхід має перевагу над базовою моделлю DRGR, зокрема краще враховує індивідуальні вподобання учасників групи, вплив кожного користувача на спільне рішення та формує більш релевантні рекомендації. Це також підтверджується покращенням основних метрик. </a:t>
            </a:r>
          </a:p>
          <a:p>
            <a:pPr lvl="0"/>
            <a:r>
              <a:rPr lang="uk-UA" noProof="0" dirty="0"/>
              <a:t>Отже, запропонована модель є перспективною для задач групового рекомендаційного вибору в сучасних інформаційних сервісах.</a:t>
            </a:r>
          </a:p>
          <a:p>
            <a:pPr lvl="0"/>
            <a:endParaRPr lang="uk-UA" noProof="0" dirty="0"/>
          </a:p>
          <a:p>
            <a:pPr lvl="0"/>
            <a:r>
              <a:rPr lang="uk-UA" dirty="0"/>
              <a:t>У подальшому </a:t>
            </a:r>
            <a:r>
              <a:rPr lang="uk-UA" b="1" dirty="0"/>
              <a:t>перспективним</a:t>
            </a:r>
            <a:r>
              <a:rPr lang="uk-UA" dirty="0"/>
              <a:t> є дослідження альтернативних методів агрегації та більш гнучкого, динамічного формування груп. Також окремим напрямом розвитку </a:t>
            </a:r>
            <a:r>
              <a:rPr lang="uk-UA"/>
              <a:t>є застосування </a:t>
            </a:r>
            <a:r>
              <a:rPr lang="uk-UA" dirty="0"/>
              <a:t>моделі для користувачів з обмеженою історією взаємодій або недостатньою кількістю індивідуальних даних.</a:t>
            </a:r>
            <a:endParaRPr lang="uk-UA" noProof="0" dirty="0"/>
          </a:p>
        </p:txBody>
      </p:sp>
      <p:sp>
        <p:nvSpPr>
          <p:cNvPr id="4" name="Місце для номера слайда 3"/>
          <p:cNvSpPr>
            <a:spLocks noGrp="1"/>
          </p:cNvSpPr>
          <p:nvPr>
            <p:ph type="sldNum" sz="quarter" idx="5"/>
          </p:nvPr>
        </p:nvSpPr>
        <p:spPr/>
        <p:txBody>
          <a:bodyPr/>
          <a:lstStyle/>
          <a:p>
            <a:fld id="{B7345D1F-247A-494F-A2C8-2C8C153E38AF}" type="slidenum">
              <a:rPr lang="uk-UA" smtClean="0"/>
              <a:t>15</a:t>
            </a:fld>
            <a:endParaRPr lang="uk-UA"/>
          </a:p>
        </p:txBody>
      </p:sp>
    </p:spTree>
    <p:extLst>
      <p:ext uri="{BB962C8B-B14F-4D97-AF65-F5344CB8AC3E}">
        <p14:creationId xmlns:p14="http://schemas.microsoft.com/office/powerpoint/2010/main" val="42575934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685800" y="1597819"/>
            <a:ext cx="7772400" cy="1102519"/>
          </a:xfrm>
        </p:spPr>
        <p:txBody>
          <a:bodyPr/>
          <a:lstStyle/>
          <a:p>
            <a:r>
              <a:rPr lang="uk-UA"/>
              <a:t>Зразок заголовка</a:t>
            </a:r>
          </a:p>
        </p:txBody>
      </p:sp>
      <p:sp>
        <p:nvSpPr>
          <p:cNvPr id="3" name="Підзаголовок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uk-UA"/>
              <a:t>Зразок підзаголовка</a:t>
            </a:r>
          </a:p>
        </p:txBody>
      </p:sp>
      <p:sp>
        <p:nvSpPr>
          <p:cNvPr id="4" name="Місце для дати 3"/>
          <p:cNvSpPr>
            <a:spLocks noGrp="1"/>
          </p:cNvSpPr>
          <p:nvPr>
            <p:ph type="dt" sz="half" idx="10"/>
          </p:nvPr>
        </p:nvSpPr>
        <p:spPr/>
        <p:txBody>
          <a:bodyPr/>
          <a:lstStyle/>
          <a:p>
            <a:fld id="{C90A66AE-81F5-474A-B74B-EE41E9320F19}" type="datetimeFigureOut">
              <a:rPr lang="uk-UA" smtClean="0"/>
              <a:t>24.04.2026</a:t>
            </a:fld>
            <a:endParaRPr lang="uk-UA"/>
          </a:p>
        </p:txBody>
      </p:sp>
      <p:sp>
        <p:nvSpPr>
          <p:cNvPr id="5" name="Місце для нижнього колонтитула 4"/>
          <p:cNvSpPr>
            <a:spLocks noGrp="1"/>
          </p:cNvSpPr>
          <p:nvPr>
            <p:ph type="ftr" sz="quarter" idx="11"/>
          </p:nvPr>
        </p:nvSpPr>
        <p:spPr/>
        <p:txBody>
          <a:bodyPr/>
          <a:lstStyle/>
          <a:p>
            <a:endParaRPr lang="uk-UA"/>
          </a:p>
        </p:txBody>
      </p:sp>
      <p:sp>
        <p:nvSpPr>
          <p:cNvPr id="6" name="Місце для номера слайда 5"/>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і об'є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uk-UA"/>
              <a:t>Зразок заголовка</a:t>
            </a:r>
          </a:p>
        </p:txBody>
      </p:sp>
      <p:sp>
        <p:nvSpPr>
          <p:cNvPr id="3" name="Місце для вмісту 2"/>
          <p:cNvSpPr>
            <a:spLocks noGrp="1"/>
          </p:cNvSpPr>
          <p:nvPr>
            <p:ph idx="1"/>
          </p:nvPr>
        </p:nvSpPr>
        <p:spPr/>
        <p:txBody>
          <a:body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p:cNvSpPr>
            <a:spLocks noGrp="1"/>
          </p:cNvSpPr>
          <p:nvPr>
            <p:ph type="dt" sz="half" idx="10"/>
          </p:nvPr>
        </p:nvSpPr>
        <p:spPr/>
        <p:txBody>
          <a:bodyPr/>
          <a:lstStyle/>
          <a:p>
            <a:fld id="{C90A66AE-81F5-474A-B74B-EE41E9320F19}" type="datetimeFigureOut">
              <a:rPr lang="uk-UA" smtClean="0"/>
              <a:t>24.04.2026</a:t>
            </a:fld>
            <a:endParaRPr lang="uk-UA"/>
          </a:p>
        </p:txBody>
      </p:sp>
      <p:sp>
        <p:nvSpPr>
          <p:cNvPr id="5" name="Місце для нижнього колонтитула 4"/>
          <p:cNvSpPr>
            <a:spLocks noGrp="1"/>
          </p:cNvSpPr>
          <p:nvPr>
            <p:ph type="ftr" sz="quarter" idx="11"/>
          </p:nvPr>
        </p:nvSpPr>
        <p:spPr/>
        <p:txBody>
          <a:bodyPr/>
          <a:lstStyle/>
          <a:p>
            <a:endParaRPr lang="uk-UA"/>
          </a:p>
        </p:txBody>
      </p:sp>
      <p:sp>
        <p:nvSpPr>
          <p:cNvPr id="6" name="Місце для номера слайда 5"/>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озділу">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722313" y="3305176"/>
            <a:ext cx="7772400" cy="1021556"/>
          </a:xfrm>
        </p:spPr>
        <p:txBody>
          <a:bodyPr anchor="t"/>
          <a:lstStyle>
            <a:lvl1pPr algn="l">
              <a:defRPr sz="4000" b="1" cap="all"/>
            </a:lvl1pPr>
          </a:lstStyle>
          <a:p>
            <a:r>
              <a:rPr lang="uk-UA"/>
              <a:t>Зразок заголовка</a:t>
            </a:r>
          </a:p>
        </p:txBody>
      </p:sp>
      <p:sp>
        <p:nvSpPr>
          <p:cNvPr id="3" name="Місце для тексту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uk-UA"/>
              <a:t>Зразок тексту</a:t>
            </a:r>
          </a:p>
        </p:txBody>
      </p:sp>
      <p:sp>
        <p:nvSpPr>
          <p:cNvPr id="4" name="Місце для дати 3"/>
          <p:cNvSpPr>
            <a:spLocks noGrp="1"/>
          </p:cNvSpPr>
          <p:nvPr>
            <p:ph type="dt" sz="half" idx="10"/>
          </p:nvPr>
        </p:nvSpPr>
        <p:spPr/>
        <p:txBody>
          <a:bodyPr/>
          <a:lstStyle/>
          <a:p>
            <a:fld id="{C90A66AE-81F5-474A-B74B-EE41E9320F19}" type="datetimeFigureOut">
              <a:rPr lang="uk-UA" smtClean="0"/>
              <a:t>24.04.2026</a:t>
            </a:fld>
            <a:endParaRPr lang="uk-UA"/>
          </a:p>
        </p:txBody>
      </p:sp>
      <p:sp>
        <p:nvSpPr>
          <p:cNvPr id="5" name="Місце для нижнього колонтитула 4"/>
          <p:cNvSpPr>
            <a:spLocks noGrp="1"/>
          </p:cNvSpPr>
          <p:nvPr>
            <p:ph type="ftr" sz="quarter" idx="11"/>
          </p:nvPr>
        </p:nvSpPr>
        <p:spPr/>
        <p:txBody>
          <a:bodyPr/>
          <a:lstStyle/>
          <a:p>
            <a:endParaRPr lang="uk-UA"/>
          </a:p>
        </p:txBody>
      </p:sp>
      <p:sp>
        <p:nvSpPr>
          <p:cNvPr id="6" name="Місце для номера слайда 5"/>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uk-UA"/>
              <a:t>Зразок заголовка</a:t>
            </a:r>
          </a:p>
        </p:txBody>
      </p:sp>
      <p:sp>
        <p:nvSpPr>
          <p:cNvPr id="3" name="Місце для вмісту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p:cNvSpPr>
            <a:spLocks noGrp="1"/>
          </p:cNvSpPr>
          <p:nvPr>
            <p:ph type="dt" sz="half" idx="10"/>
          </p:nvPr>
        </p:nvSpPr>
        <p:spPr/>
        <p:txBody>
          <a:bodyPr/>
          <a:lstStyle/>
          <a:p>
            <a:fld id="{C90A66AE-81F5-474A-B74B-EE41E9320F19}" type="datetimeFigureOut">
              <a:rPr lang="uk-UA" smtClean="0"/>
              <a:t>24.04.2026</a:t>
            </a:fld>
            <a:endParaRPr lang="uk-UA"/>
          </a:p>
        </p:txBody>
      </p:sp>
      <p:sp>
        <p:nvSpPr>
          <p:cNvPr id="6" name="Місце для нижнього колонтитула 5"/>
          <p:cNvSpPr>
            <a:spLocks noGrp="1"/>
          </p:cNvSpPr>
          <p:nvPr>
            <p:ph type="ftr" sz="quarter" idx="11"/>
          </p:nvPr>
        </p:nvSpPr>
        <p:spPr/>
        <p:txBody>
          <a:bodyPr/>
          <a:lstStyle/>
          <a:p>
            <a:endParaRPr lang="uk-UA"/>
          </a:p>
        </p:txBody>
      </p:sp>
      <p:sp>
        <p:nvSpPr>
          <p:cNvPr id="7" name="Місце для номера слайда 6"/>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lvl1pPr>
              <a:defRPr/>
            </a:lvl1pPr>
          </a:lstStyle>
          <a:p>
            <a:r>
              <a:rPr lang="uk-UA"/>
              <a:t>Зразок заголовка</a:t>
            </a:r>
          </a:p>
        </p:txBody>
      </p:sp>
      <p:sp>
        <p:nvSpPr>
          <p:cNvPr id="3" name="Місце для тексту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Зразок тексту</a:t>
            </a:r>
          </a:p>
        </p:txBody>
      </p:sp>
      <p:sp>
        <p:nvSpPr>
          <p:cNvPr id="4" name="Місце для вмісту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p:cNvSpPr>
            <a:spLocks noGrp="1"/>
          </p:cNvSpPr>
          <p:nvPr>
            <p:ph type="body" sz="quarter" idx="3"/>
          </p:nvPr>
        </p:nvSpPr>
        <p:spPr>
          <a:xfrm>
            <a:off x="4645026"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Зразок тексту</a:t>
            </a:r>
          </a:p>
        </p:txBody>
      </p:sp>
      <p:sp>
        <p:nvSpPr>
          <p:cNvPr id="6" name="Місце для вмісту 5"/>
          <p:cNvSpPr>
            <a:spLocks noGrp="1"/>
          </p:cNvSpPr>
          <p:nvPr>
            <p:ph sz="quarter" idx="4"/>
          </p:nvPr>
        </p:nvSpPr>
        <p:spPr>
          <a:xfrm>
            <a:off x="4645026"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p:cNvSpPr>
            <a:spLocks noGrp="1"/>
          </p:cNvSpPr>
          <p:nvPr>
            <p:ph type="dt" sz="half" idx="10"/>
          </p:nvPr>
        </p:nvSpPr>
        <p:spPr/>
        <p:txBody>
          <a:bodyPr/>
          <a:lstStyle/>
          <a:p>
            <a:fld id="{C90A66AE-81F5-474A-B74B-EE41E9320F19}" type="datetimeFigureOut">
              <a:rPr lang="uk-UA" smtClean="0"/>
              <a:t>24.04.2026</a:t>
            </a:fld>
            <a:endParaRPr lang="uk-UA"/>
          </a:p>
        </p:txBody>
      </p:sp>
      <p:sp>
        <p:nvSpPr>
          <p:cNvPr id="8" name="Місце для нижнього колонтитула 7"/>
          <p:cNvSpPr>
            <a:spLocks noGrp="1"/>
          </p:cNvSpPr>
          <p:nvPr>
            <p:ph type="ftr" sz="quarter" idx="11"/>
          </p:nvPr>
        </p:nvSpPr>
        <p:spPr/>
        <p:txBody>
          <a:bodyPr/>
          <a:lstStyle/>
          <a:p>
            <a:endParaRPr lang="uk-UA"/>
          </a:p>
        </p:txBody>
      </p:sp>
      <p:sp>
        <p:nvSpPr>
          <p:cNvPr id="9" name="Місце для номера слайда 8"/>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uk-UA"/>
              <a:t>Зразок заголовка</a:t>
            </a:r>
          </a:p>
        </p:txBody>
      </p:sp>
      <p:sp>
        <p:nvSpPr>
          <p:cNvPr id="3" name="Місце для дати 2"/>
          <p:cNvSpPr>
            <a:spLocks noGrp="1"/>
          </p:cNvSpPr>
          <p:nvPr>
            <p:ph type="dt" sz="half" idx="10"/>
          </p:nvPr>
        </p:nvSpPr>
        <p:spPr/>
        <p:txBody>
          <a:bodyPr/>
          <a:lstStyle/>
          <a:p>
            <a:fld id="{C90A66AE-81F5-474A-B74B-EE41E9320F19}" type="datetimeFigureOut">
              <a:rPr lang="uk-UA" smtClean="0"/>
              <a:t>24.04.2026</a:t>
            </a:fld>
            <a:endParaRPr lang="uk-UA"/>
          </a:p>
        </p:txBody>
      </p:sp>
      <p:sp>
        <p:nvSpPr>
          <p:cNvPr id="4" name="Місце для нижнього колонтитула 3"/>
          <p:cNvSpPr>
            <a:spLocks noGrp="1"/>
          </p:cNvSpPr>
          <p:nvPr>
            <p:ph type="ftr" sz="quarter" idx="11"/>
          </p:nvPr>
        </p:nvSpPr>
        <p:spPr/>
        <p:txBody>
          <a:bodyPr/>
          <a:lstStyle/>
          <a:p>
            <a:endParaRPr lang="uk-UA"/>
          </a:p>
        </p:txBody>
      </p:sp>
      <p:sp>
        <p:nvSpPr>
          <p:cNvPr id="5" name="Місце для номера слайда 4"/>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p:cNvSpPr>
            <a:spLocks noGrp="1"/>
          </p:cNvSpPr>
          <p:nvPr>
            <p:ph type="dt" sz="half" idx="10"/>
          </p:nvPr>
        </p:nvSpPr>
        <p:spPr/>
        <p:txBody>
          <a:bodyPr/>
          <a:lstStyle/>
          <a:p>
            <a:fld id="{C90A66AE-81F5-474A-B74B-EE41E9320F19}" type="datetimeFigureOut">
              <a:rPr lang="uk-UA" smtClean="0"/>
              <a:t>24.04.2026</a:t>
            </a:fld>
            <a:endParaRPr lang="uk-UA"/>
          </a:p>
        </p:txBody>
      </p:sp>
      <p:sp>
        <p:nvSpPr>
          <p:cNvPr id="3" name="Місце для нижнього колонтитула 2"/>
          <p:cNvSpPr>
            <a:spLocks noGrp="1"/>
          </p:cNvSpPr>
          <p:nvPr>
            <p:ph type="ftr" sz="quarter" idx="11"/>
          </p:nvPr>
        </p:nvSpPr>
        <p:spPr/>
        <p:txBody>
          <a:bodyPr/>
          <a:lstStyle/>
          <a:p>
            <a:endParaRPr lang="uk-UA"/>
          </a:p>
        </p:txBody>
      </p:sp>
      <p:sp>
        <p:nvSpPr>
          <p:cNvPr id="4" name="Місце для номера слайда 3"/>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з підписом">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1" y="204787"/>
            <a:ext cx="3008313" cy="871538"/>
          </a:xfrm>
        </p:spPr>
        <p:txBody>
          <a:bodyPr anchor="b"/>
          <a:lstStyle>
            <a:lvl1pPr algn="l">
              <a:defRPr sz="2000" b="1"/>
            </a:lvl1pPr>
          </a:lstStyle>
          <a:p>
            <a:r>
              <a:rPr lang="uk-UA"/>
              <a:t>Зразок заголовка</a:t>
            </a:r>
          </a:p>
        </p:txBody>
      </p:sp>
      <p:sp>
        <p:nvSpPr>
          <p:cNvPr id="3" name="Місце для вмісту 2"/>
          <p:cNvSpPr>
            <a:spLocks noGrp="1"/>
          </p:cNvSpPr>
          <p:nvPr>
            <p:ph idx="1"/>
          </p:nvPr>
        </p:nvSpPr>
        <p:spPr>
          <a:xfrm>
            <a:off x="3575050" y="204788"/>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p:cNvSpPr>
            <a:spLocks noGrp="1"/>
          </p:cNvSpPr>
          <p:nvPr>
            <p:ph type="body" sz="half" idx="2"/>
          </p:nvPr>
        </p:nvSpPr>
        <p:spPr>
          <a:xfrm>
            <a:off x="457201" y="1076326"/>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uk-UA"/>
              <a:t>Зразок тексту</a:t>
            </a:r>
          </a:p>
        </p:txBody>
      </p:sp>
      <p:sp>
        <p:nvSpPr>
          <p:cNvPr id="5" name="Місце для дати 4"/>
          <p:cNvSpPr>
            <a:spLocks noGrp="1"/>
          </p:cNvSpPr>
          <p:nvPr>
            <p:ph type="dt" sz="half" idx="10"/>
          </p:nvPr>
        </p:nvSpPr>
        <p:spPr/>
        <p:txBody>
          <a:bodyPr/>
          <a:lstStyle/>
          <a:p>
            <a:fld id="{C90A66AE-81F5-474A-B74B-EE41E9320F19}" type="datetimeFigureOut">
              <a:rPr lang="uk-UA" smtClean="0"/>
              <a:t>24.04.2026</a:t>
            </a:fld>
            <a:endParaRPr lang="uk-UA"/>
          </a:p>
        </p:txBody>
      </p:sp>
      <p:sp>
        <p:nvSpPr>
          <p:cNvPr id="6" name="Місце для нижнього колонтитула 5"/>
          <p:cNvSpPr>
            <a:spLocks noGrp="1"/>
          </p:cNvSpPr>
          <p:nvPr>
            <p:ph type="ftr" sz="quarter" idx="11"/>
          </p:nvPr>
        </p:nvSpPr>
        <p:spPr/>
        <p:txBody>
          <a:bodyPr/>
          <a:lstStyle/>
          <a:p>
            <a:endParaRPr lang="uk-UA"/>
          </a:p>
        </p:txBody>
      </p:sp>
      <p:sp>
        <p:nvSpPr>
          <p:cNvPr id="7" name="Місце для номера слайда 6"/>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Зображення з підписом">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92288" y="3600450"/>
            <a:ext cx="5486400" cy="425054"/>
          </a:xfrm>
        </p:spPr>
        <p:txBody>
          <a:bodyPr anchor="b"/>
          <a:lstStyle>
            <a:lvl1pPr algn="l">
              <a:defRPr sz="2000" b="1"/>
            </a:lvl1pPr>
          </a:lstStyle>
          <a:p>
            <a:r>
              <a:rPr lang="uk-UA"/>
              <a:t>Зразок заголовка</a:t>
            </a:r>
          </a:p>
        </p:txBody>
      </p:sp>
      <p:sp>
        <p:nvSpPr>
          <p:cNvPr id="3" name="Місце для зображення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uk-UA"/>
              <a:t>Зразок тексту</a:t>
            </a:r>
          </a:p>
        </p:txBody>
      </p:sp>
      <p:sp>
        <p:nvSpPr>
          <p:cNvPr id="5" name="Місце для дати 4"/>
          <p:cNvSpPr>
            <a:spLocks noGrp="1"/>
          </p:cNvSpPr>
          <p:nvPr>
            <p:ph type="dt" sz="half" idx="10"/>
          </p:nvPr>
        </p:nvSpPr>
        <p:spPr/>
        <p:txBody>
          <a:bodyPr/>
          <a:lstStyle/>
          <a:p>
            <a:fld id="{C90A66AE-81F5-474A-B74B-EE41E9320F19}" type="datetimeFigureOut">
              <a:rPr lang="uk-UA" smtClean="0"/>
              <a:t>24.04.2026</a:t>
            </a:fld>
            <a:endParaRPr lang="uk-UA"/>
          </a:p>
        </p:txBody>
      </p:sp>
      <p:sp>
        <p:nvSpPr>
          <p:cNvPr id="6" name="Місце для нижнього колонтитула 5"/>
          <p:cNvSpPr>
            <a:spLocks noGrp="1"/>
          </p:cNvSpPr>
          <p:nvPr>
            <p:ph type="ftr" sz="quarter" idx="11"/>
          </p:nvPr>
        </p:nvSpPr>
        <p:spPr/>
        <p:txBody>
          <a:bodyPr/>
          <a:lstStyle/>
          <a:p>
            <a:endParaRPr lang="uk-UA"/>
          </a:p>
        </p:txBody>
      </p:sp>
      <p:sp>
        <p:nvSpPr>
          <p:cNvPr id="7" name="Місце для номера слайда 6"/>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uk-UA"/>
              <a:t>Зразок заголовка</a:t>
            </a:r>
          </a:p>
        </p:txBody>
      </p:sp>
      <p:sp>
        <p:nvSpPr>
          <p:cNvPr id="3" name="Місце для вертикального тексту 2"/>
          <p:cNvSpPr>
            <a:spLocks noGrp="1"/>
          </p:cNvSpPr>
          <p:nvPr>
            <p:ph type="body" orient="vert" idx="1"/>
          </p:nvPr>
        </p:nvSpPr>
        <p:spPr/>
        <p:txBody>
          <a:bodyPr vert="eaVert"/>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p:cNvSpPr>
            <a:spLocks noGrp="1"/>
          </p:cNvSpPr>
          <p:nvPr>
            <p:ph type="dt" sz="half" idx="10"/>
          </p:nvPr>
        </p:nvSpPr>
        <p:spPr/>
        <p:txBody>
          <a:bodyPr/>
          <a:lstStyle/>
          <a:p>
            <a:fld id="{C90A66AE-81F5-474A-B74B-EE41E9320F19}" type="datetimeFigureOut">
              <a:rPr lang="uk-UA" smtClean="0"/>
              <a:t>24.04.2026</a:t>
            </a:fld>
            <a:endParaRPr lang="uk-UA"/>
          </a:p>
        </p:txBody>
      </p:sp>
      <p:sp>
        <p:nvSpPr>
          <p:cNvPr id="5" name="Місце для нижнього колонтитула 4"/>
          <p:cNvSpPr>
            <a:spLocks noGrp="1"/>
          </p:cNvSpPr>
          <p:nvPr>
            <p:ph type="ftr" sz="quarter" idx="11"/>
          </p:nvPr>
        </p:nvSpPr>
        <p:spPr/>
        <p:txBody>
          <a:bodyPr/>
          <a:lstStyle/>
          <a:p>
            <a:endParaRPr lang="uk-UA"/>
          </a:p>
        </p:txBody>
      </p:sp>
      <p:sp>
        <p:nvSpPr>
          <p:cNvPr id="6" name="Місце для номера слайда 5"/>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p:cNvSpPr>
            <a:spLocks noGrp="1"/>
          </p:cNvSpPr>
          <p:nvPr>
            <p:ph type="title" orient="vert"/>
          </p:nvPr>
        </p:nvSpPr>
        <p:spPr>
          <a:xfrm>
            <a:off x="6629400" y="205979"/>
            <a:ext cx="2057400" cy="4388644"/>
          </a:xfrm>
        </p:spPr>
        <p:txBody>
          <a:bodyPr vert="eaVert"/>
          <a:lstStyle/>
          <a:p>
            <a:r>
              <a:rPr lang="uk-UA"/>
              <a:t>Зразок заголовка</a:t>
            </a:r>
          </a:p>
        </p:txBody>
      </p:sp>
      <p:sp>
        <p:nvSpPr>
          <p:cNvPr id="3" name="Місце для вертикального тексту 2"/>
          <p:cNvSpPr>
            <a:spLocks noGrp="1"/>
          </p:cNvSpPr>
          <p:nvPr>
            <p:ph type="body" orient="vert" idx="1"/>
          </p:nvPr>
        </p:nvSpPr>
        <p:spPr>
          <a:xfrm>
            <a:off x="457200" y="205979"/>
            <a:ext cx="6019800" cy="4388644"/>
          </a:xfrm>
        </p:spPr>
        <p:txBody>
          <a:bodyPr vert="eaVert"/>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p:cNvSpPr>
            <a:spLocks noGrp="1"/>
          </p:cNvSpPr>
          <p:nvPr>
            <p:ph type="dt" sz="half" idx="10"/>
          </p:nvPr>
        </p:nvSpPr>
        <p:spPr/>
        <p:txBody>
          <a:bodyPr/>
          <a:lstStyle/>
          <a:p>
            <a:fld id="{C90A66AE-81F5-474A-B74B-EE41E9320F19}" type="datetimeFigureOut">
              <a:rPr lang="uk-UA" smtClean="0"/>
              <a:t>24.04.2026</a:t>
            </a:fld>
            <a:endParaRPr lang="uk-UA"/>
          </a:p>
        </p:txBody>
      </p:sp>
      <p:sp>
        <p:nvSpPr>
          <p:cNvPr id="5" name="Місце для нижнього колонтитула 4"/>
          <p:cNvSpPr>
            <a:spLocks noGrp="1"/>
          </p:cNvSpPr>
          <p:nvPr>
            <p:ph type="ftr" sz="quarter" idx="11"/>
          </p:nvPr>
        </p:nvSpPr>
        <p:spPr/>
        <p:txBody>
          <a:bodyPr/>
          <a:lstStyle/>
          <a:p>
            <a:endParaRPr lang="uk-UA"/>
          </a:p>
        </p:txBody>
      </p:sp>
      <p:sp>
        <p:nvSpPr>
          <p:cNvPr id="6" name="Місце для номера слайда 5"/>
          <p:cNvSpPr>
            <a:spLocks noGrp="1"/>
          </p:cNvSpPr>
          <p:nvPr>
            <p:ph type="sldNum" sz="quarter" idx="12"/>
          </p:nvPr>
        </p:nvSpPr>
        <p:spPr/>
        <p:txBody>
          <a:bodyPr/>
          <a:lstStyle/>
          <a:p>
            <a:fld id="{764F593F-0D5B-4CF0-BEE2-6583C73E7271}" type="slidenum">
              <a:rPr lang="uk-UA" smtClean="0"/>
              <a:t>‹#›</a:t>
            </a:fld>
            <a:endParaRPr lang="uk-UA"/>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alphaModFix amt="61000"/>
            <a:lum/>
          </a:blip>
          <a:srcRect/>
          <a:stretch>
            <a:fillRect/>
          </a:stretch>
        </a:blipFill>
        <a:effectLst/>
      </p:bgPr>
    </p:bg>
    <p:spTree>
      <p:nvGrpSpPr>
        <p:cNvPr id="1" name=""/>
        <p:cNvGrpSpPr/>
        <p:nvPr/>
      </p:nvGrpSpPr>
      <p:grpSpPr>
        <a:xfrm>
          <a:off x="0" y="0"/>
          <a:ext cx="0" cy="0"/>
          <a:chOff x="0" y="0"/>
          <a:chExt cx="0" cy="0"/>
        </a:xfrm>
      </p:grpSpPr>
      <p:sp>
        <p:nvSpPr>
          <p:cNvPr id="2" name="Місце для заголовка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uk-UA"/>
              <a:t>Зразок заголовка</a:t>
            </a:r>
          </a:p>
        </p:txBody>
      </p:sp>
      <p:sp>
        <p:nvSpPr>
          <p:cNvPr id="3" name="Місце для тексту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uk-UA"/>
              <a:t>Зразок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C90A66AE-81F5-474A-B74B-EE41E9320F19}" type="datetimeFigureOut">
              <a:rPr lang="uk-UA" smtClean="0"/>
              <a:t>24.04.2026</a:t>
            </a:fld>
            <a:endParaRPr lang="uk-UA"/>
          </a:p>
        </p:txBody>
      </p:sp>
      <p:sp>
        <p:nvSpPr>
          <p:cNvPr id="5" name="Місце для нижнього колонтитула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764F593F-0D5B-4CF0-BEE2-6583C73E7271}" type="slidenum">
              <a:rPr lang="uk-UA" smtClean="0"/>
              <a:t>‹#›</a:t>
            </a:fld>
            <a:endParaRPr lang="uk-UA"/>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svg"/><Relationship Id="rId10" Type="http://schemas.openxmlformats.org/officeDocument/2006/relationships/image" Target="../media/image12.svg"/><Relationship Id="rId4" Type="http://schemas.openxmlformats.org/officeDocument/2006/relationships/image" Target="../media/image6.png"/><Relationship Id="rId9" Type="http://schemas.openxmlformats.org/officeDocument/2006/relationships/image" Target="../media/image11.svg"/></Relationships>
</file>

<file path=ppt/slides/_rels/slide4.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4.svg"/><Relationship Id="rId4" Type="http://schemas.openxmlformats.org/officeDocument/2006/relationships/image" Target="../media/image13.png"/><Relationship Id="rId9" Type="http://schemas.openxmlformats.org/officeDocument/2006/relationships/image" Target="../media/image13.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10.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oleObject" Target="../embeddings/oleObject5.bin"/><Relationship Id="rId3" Type="http://schemas.openxmlformats.org/officeDocument/2006/relationships/image" Target="../media/image28.png"/><Relationship Id="rId7" Type="http://schemas.openxmlformats.org/officeDocument/2006/relationships/image" Target="../media/image28.wmf"/><Relationship Id="rId12" Type="http://schemas.openxmlformats.org/officeDocument/2006/relationships/image" Target="../media/image30.wmf"/><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oleObject" Target="../embeddings/oleObject2.bin"/><Relationship Id="rId11" Type="http://schemas.openxmlformats.org/officeDocument/2006/relationships/oleObject" Target="../embeddings/oleObject4.bin"/><Relationship Id="rId5" Type="http://schemas.openxmlformats.org/officeDocument/2006/relationships/image" Target="../media/image27.wmf"/><Relationship Id="rId10" Type="http://schemas.openxmlformats.org/officeDocument/2006/relationships/image" Target="../media/image29.wmf"/><Relationship Id="rId4" Type="http://schemas.openxmlformats.org/officeDocument/2006/relationships/oleObject" Target="../embeddings/oleObject1.bin"/><Relationship Id="rId9" Type="http://schemas.openxmlformats.org/officeDocument/2006/relationships/oleObject" Target="../embeddings/oleObject3.bin"/><Relationship Id="rId14" Type="http://schemas.openxmlformats.org/officeDocument/2006/relationships/image" Target="../media/image31.wmf"/></Relationships>
</file>

<file path=ppt/slides/_rels/slide1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3.png"/><Relationship Id="rId7"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80.png"/><Relationship Id="rId7"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s>
</file>

<file path=ppt/slides/_rels/slide1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chart" Target="../charts/chart7.xml"/><Relationship Id="rId5" Type="http://schemas.openxmlformats.org/officeDocument/2006/relationships/chart" Target="../charts/chart6.xml"/><Relationship Id="rId4" Type="http://schemas.openxmlformats.org/officeDocument/2006/relationships/chart" Target="../charts/chart5.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0" y="1363943"/>
            <a:ext cx="9144000" cy="1764196"/>
          </a:xfrm>
        </p:spPr>
        <p:txBody>
          <a:bodyPr>
            <a:noAutofit/>
          </a:bodyPr>
          <a:lstStyle/>
          <a:p>
            <a:r>
              <a:rPr lang="uk-UA" sz="2400" b="1" dirty="0">
                <a:solidFill>
                  <a:srgbClr val="009999"/>
                </a:solidFill>
              </a:rPr>
              <a:t>Розробка групової рекомендаційної системи на основі машинного навчання з підкріпленням</a:t>
            </a:r>
          </a:p>
        </p:txBody>
      </p:sp>
      <p:sp>
        <p:nvSpPr>
          <p:cNvPr id="3" name="Підзаголовок 2"/>
          <p:cNvSpPr>
            <a:spLocks noGrp="1"/>
          </p:cNvSpPr>
          <p:nvPr>
            <p:ph type="subTitle" idx="1"/>
          </p:nvPr>
        </p:nvSpPr>
        <p:spPr>
          <a:xfrm>
            <a:off x="5330461" y="3976639"/>
            <a:ext cx="3667654" cy="1008112"/>
          </a:xfrm>
        </p:spPr>
        <p:txBody>
          <a:bodyPr>
            <a:noAutofit/>
          </a:bodyPr>
          <a:lstStyle/>
          <a:p>
            <a:pPr algn="r"/>
            <a:r>
              <a:rPr lang="uk-UA" sz="1400" b="1" dirty="0">
                <a:solidFill>
                  <a:schemeClr val="tx1"/>
                </a:solidFill>
              </a:rPr>
              <a:t>Науковий керівник:</a:t>
            </a:r>
          </a:p>
          <a:p>
            <a:pPr algn="r"/>
            <a:r>
              <a:rPr lang="uk-UA" sz="1400" dirty="0">
                <a:solidFill>
                  <a:schemeClr val="tx1"/>
                </a:solidFill>
              </a:rPr>
              <a:t> кандидат </a:t>
            </a:r>
            <a:r>
              <a:rPr lang="uk-UA" sz="1400" dirty="0" err="1">
                <a:solidFill>
                  <a:schemeClr val="tx1"/>
                </a:solidFill>
              </a:rPr>
              <a:t>фіз</a:t>
            </a:r>
            <a:r>
              <a:rPr lang="uk-UA" sz="1400" dirty="0">
                <a:solidFill>
                  <a:schemeClr val="tx1"/>
                </a:solidFill>
              </a:rPr>
              <a:t>.-мат. наук, доцент. </a:t>
            </a:r>
          </a:p>
          <a:p>
            <a:pPr algn="r"/>
            <a:r>
              <a:rPr lang="uk-UA" sz="1400" dirty="0" err="1">
                <a:solidFill>
                  <a:schemeClr val="tx1"/>
                </a:solidFill>
              </a:rPr>
              <a:t>Пелюшкевич</a:t>
            </a:r>
            <a:r>
              <a:rPr lang="uk-UA" sz="1400" dirty="0">
                <a:solidFill>
                  <a:schemeClr val="tx1"/>
                </a:solidFill>
              </a:rPr>
              <a:t> Ольга Володимирівна</a:t>
            </a:r>
          </a:p>
        </p:txBody>
      </p:sp>
      <p:sp>
        <p:nvSpPr>
          <p:cNvPr id="4" name="Підзаголовок 2"/>
          <p:cNvSpPr txBox="1">
            <a:spLocks/>
          </p:cNvSpPr>
          <p:nvPr/>
        </p:nvSpPr>
        <p:spPr>
          <a:xfrm>
            <a:off x="2074503" y="4876006"/>
            <a:ext cx="5089785"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uk-UA" sz="1200" dirty="0">
                <a:solidFill>
                  <a:schemeClr val="tx1"/>
                </a:solidFill>
              </a:rPr>
              <a:t>м. Львів - </a:t>
            </a:r>
            <a:r>
              <a:rPr lang="en-US" sz="1200" dirty="0">
                <a:solidFill>
                  <a:schemeClr val="tx1"/>
                </a:solidFill>
              </a:rPr>
              <a:t>2026</a:t>
            </a:r>
            <a:endParaRPr lang="uk-UA" sz="1200" dirty="0">
              <a:solidFill>
                <a:schemeClr val="tx1"/>
              </a:solidFill>
            </a:endParaRPr>
          </a:p>
        </p:txBody>
      </p:sp>
      <p:sp>
        <p:nvSpPr>
          <p:cNvPr id="5" name="TextBox 4">
            <a:extLst>
              <a:ext uri="{FF2B5EF4-FFF2-40B4-BE49-F238E27FC236}">
                <a16:creationId xmlns:a16="http://schemas.microsoft.com/office/drawing/2014/main" id="{3FC1993E-EE9B-4BA9-AA10-98E6B3D208E9}"/>
              </a:ext>
            </a:extLst>
          </p:cNvPr>
          <p:cNvSpPr txBox="1"/>
          <p:nvPr/>
        </p:nvSpPr>
        <p:spPr>
          <a:xfrm>
            <a:off x="1295636" y="123478"/>
            <a:ext cx="6552728" cy="784830"/>
          </a:xfrm>
          <a:prstGeom prst="rect">
            <a:avLst/>
          </a:prstGeom>
          <a:noFill/>
        </p:spPr>
        <p:txBody>
          <a:bodyPr wrap="square" rtlCol="0">
            <a:spAutoFit/>
          </a:bodyPr>
          <a:lstStyle/>
          <a:p>
            <a:pPr algn="ctr"/>
            <a:r>
              <a:rPr lang="uk-UA" sz="1050" b="1" dirty="0">
                <a:effectLst/>
                <a:latin typeface="Times New Roman" panose="02020603050405020304" pitchFamily="18" charset="0"/>
                <a:ea typeface="Times New Roman" panose="02020603050405020304" pitchFamily="18" charset="0"/>
              </a:rPr>
              <a:t>МІНІСТЕРСТВО ОСВІТИ І НАУКИ УКРАЇНИ</a:t>
            </a:r>
            <a:endParaRPr lang="uk-UA" sz="1050" dirty="0">
              <a:effectLst/>
              <a:latin typeface="Times New Roman" panose="02020603050405020304" pitchFamily="18" charset="0"/>
              <a:ea typeface="Times New Roman" panose="02020603050405020304" pitchFamily="18" charset="0"/>
            </a:endParaRPr>
          </a:p>
          <a:p>
            <a:pPr algn="ctr"/>
            <a:r>
              <a:rPr lang="uk-UA" sz="1050" b="1" dirty="0">
                <a:effectLst/>
                <a:latin typeface="Times New Roman" panose="02020603050405020304" pitchFamily="18" charset="0"/>
                <a:ea typeface="Times New Roman" panose="02020603050405020304" pitchFamily="18" charset="0"/>
              </a:rPr>
              <a:t>ЛЬВІВСЬКИЙ НАЦІОНАЛЬНИЙ УНІВЕРСИТЕТ ІМЕНІ ІВАНА ФРАНКА</a:t>
            </a:r>
          </a:p>
          <a:p>
            <a:pPr algn="ctr"/>
            <a:r>
              <a:rPr lang="uk-UA" sz="1200" dirty="0">
                <a:effectLst/>
                <a:latin typeface="Times New Roman" panose="02020603050405020304" pitchFamily="18" charset="0"/>
                <a:ea typeface="Times New Roman" panose="02020603050405020304" pitchFamily="18" charset="0"/>
              </a:rPr>
              <a:t>Факультет прикладної математики та інформатики</a:t>
            </a:r>
            <a:endParaRPr lang="uk-UA" sz="1200" b="1" dirty="0">
              <a:latin typeface="Times New Roman" panose="02020603050405020304" pitchFamily="18" charset="0"/>
              <a:ea typeface="Times New Roman" panose="02020603050405020304" pitchFamily="18" charset="0"/>
            </a:endParaRPr>
          </a:p>
          <a:p>
            <a:pPr algn="ctr"/>
            <a:r>
              <a:rPr lang="uk-UA" sz="1200" dirty="0">
                <a:effectLst/>
                <a:latin typeface="Times New Roman" panose="02020603050405020304" pitchFamily="18" charset="0"/>
                <a:ea typeface="Times New Roman" panose="02020603050405020304" pitchFamily="18" charset="0"/>
              </a:rPr>
              <a:t>Кафедра дискретного аналізу та інформаційних систем</a:t>
            </a:r>
          </a:p>
        </p:txBody>
      </p:sp>
      <p:sp>
        <p:nvSpPr>
          <p:cNvPr id="7" name="Підзаголовок 2">
            <a:extLst>
              <a:ext uri="{FF2B5EF4-FFF2-40B4-BE49-F238E27FC236}">
                <a16:creationId xmlns:a16="http://schemas.microsoft.com/office/drawing/2014/main" id="{A3FB3528-A275-08B0-5576-D8E99B4DA0EC}"/>
              </a:ext>
            </a:extLst>
          </p:cNvPr>
          <p:cNvSpPr txBox="1">
            <a:spLocks/>
          </p:cNvSpPr>
          <p:nvPr/>
        </p:nvSpPr>
        <p:spPr>
          <a:xfrm>
            <a:off x="237391" y="3939902"/>
            <a:ext cx="2469960" cy="1080120"/>
          </a:xfrm>
          <a:prstGeom prst="rect">
            <a:avLst/>
          </a:prstGeom>
        </p:spPr>
        <p:txBody>
          <a:bodyPr vert="horz" lIns="91440" tIns="45720" rIns="91440" bIns="45720" rtlCol="0">
            <a:normAutofit/>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l"/>
            <a:r>
              <a:rPr lang="uk-UA" sz="1400" b="1" dirty="0">
                <a:solidFill>
                  <a:schemeClr val="tx1"/>
                </a:solidFill>
              </a:rPr>
              <a:t>Доповідач:</a:t>
            </a:r>
          </a:p>
          <a:p>
            <a:pPr algn="l"/>
            <a:r>
              <a:rPr lang="uk-UA" sz="1400" dirty="0">
                <a:solidFill>
                  <a:schemeClr val="tx1"/>
                </a:solidFill>
              </a:rPr>
              <a:t>аспірант</a:t>
            </a:r>
          </a:p>
          <a:p>
            <a:pPr algn="l"/>
            <a:r>
              <a:rPr lang="uk-UA" sz="1400" dirty="0">
                <a:solidFill>
                  <a:schemeClr val="tx1"/>
                </a:solidFill>
              </a:rPr>
              <a:t>Романюк Богдан </a:t>
            </a:r>
            <a:r>
              <a:rPr lang="uk-UA" sz="1400" dirty="0" err="1">
                <a:solidFill>
                  <a:schemeClr val="tx1"/>
                </a:solidFill>
              </a:rPr>
              <a:t>Ігорович</a:t>
            </a:r>
            <a:endParaRPr lang="uk-UA" sz="1400" dirty="0">
              <a:solidFill>
                <a:schemeClr val="tx1"/>
              </a:solidFill>
            </a:endParaRPr>
          </a:p>
        </p:txBody>
      </p:sp>
      <p:pic>
        <p:nvPicPr>
          <p:cNvPr id="6146" name="Picture 2" descr="ЛНУ Франка - Академія фінансового моніторингу">
            <a:extLst>
              <a:ext uri="{FF2B5EF4-FFF2-40B4-BE49-F238E27FC236}">
                <a16:creationId xmlns:a16="http://schemas.microsoft.com/office/drawing/2014/main" id="{6D5C4A44-335A-D896-534E-C5652FB6094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57040" y="2668683"/>
            <a:ext cx="1124710" cy="1171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96422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07504" y="435212"/>
            <a:ext cx="2987741" cy="338554"/>
          </a:xfrm>
          <a:prstGeom prst="rect">
            <a:avLst/>
          </a:prstGeom>
          <a:noFill/>
        </p:spPr>
        <p:txBody>
          <a:bodyPr wrap="square" rtlCol="0">
            <a:spAutoFit/>
          </a:bodyPr>
          <a:lstStyle/>
          <a:p>
            <a:r>
              <a:rPr lang="uk-UA" sz="1600" b="1" dirty="0">
                <a:solidFill>
                  <a:srgbClr val="0066CC"/>
                </a:solidFill>
              </a:rPr>
              <a:t>Виклики</a:t>
            </a:r>
          </a:p>
        </p:txBody>
      </p:sp>
      <p:sp>
        <p:nvSpPr>
          <p:cNvPr id="12" name="Заголовок 1"/>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Виклики сучасних групових рекомендаційних систем</a:t>
            </a:r>
          </a:p>
        </p:txBody>
      </p:sp>
      <p:sp>
        <p:nvSpPr>
          <p:cNvPr id="18" name="TextBox 17">
            <a:extLst>
              <a:ext uri="{FF2B5EF4-FFF2-40B4-BE49-F238E27FC236}">
                <a16:creationId xmlns:a16="http://schemas.microsoft.com/office/drawing/2014/main" id="{698E71F2-741D-BE5B-7388-D4B0F6EACCF3}"/>
              </a:ext>
            </a:extLst>
          </p:cNvPr>
          <p:cNvSpPr txBox="1"/>
          <p:nvPr/>
        </p:nvSpPr>
        <p:spPr>
          <a:xfrm>
            <a:off x="4933059" y="415857"/>
            <a:ext cx="4143610" cy="1631216"/>
          </a:xfrm>
          <a:prstGeom prst="rect">
            <a:avLst/>
          </a:prstGeom>
          <a:noFill/>
        </p:spPr>
        <p:txBody>
          <a:bodyPr wrap="square">
            <a:spAutoFit/>
          </a:bodyPr>
          <a:lstStyle/>
          <a:p>
            <a:r>
              <a:rPr lang="uk-UA" sz="1600" b="1" dirty="0">
                <a:solidFill>
                  <a:srgbClr val="0066CC"/>
                </a:solidFill>
              </a:rPr>
              <a:t>Актуальність</a:t>
            </a:r>
            <a:endParaRPr lang="en-US" sz="1600" noProof="0" dirty="0"/>
          </a:p>
          <a:p>
            <a:pPr marL="285750" indent="-285750">
              <a:buFont typeface="Wingdings" panose="05000000000000000000" pitchFamily="2" charset="2"/>
              <a:buChar char="§"/>
            </a:pPr>
            <a:r>
              <a:rPr lang="uk-UA" sz="1400" noProof="0" dirty="0"/>
              <a:t>Зростання обсягів контенту → складність вибору</a:t>
            </a:r>
          </a:p>
          <a:p>
            <a:pPr marL="285750" indent="-285750">
              <a:buFont typeface="Wingdings" panose="05000000000000000000" pitchFamily="2" charset="2"/>
              <a:buChar char="§"/>
            </a:pPr>
            <a:r>
              <a:rPr lang="uk-UA" sz="1400" noProof="0" dirty="0"/>
              <a:t>Класичні моделі не враховують динаміку інтересів групи</a:t>
            </a:r>
          </a:p>
          <a:p>
            <a:pPr marL="285750" indent="-285750">
              <a:buFont typeface="Wingdings" panose="05000000000000000000" pitchFamily="2" charset="2"/>
              <a:buChar char="§"/>
            </a:pPr>
            <a:r>
              <a:rPr lang="uk-UA" sz="1400" noProof="0" dirty="0"/>
              <a:t>Потреба в адаптивних, самонавчальних системах</a:t>
            </a:r>
            <a:endParaRPr lang="uk-UA" sz="1400" b="1" dirty="0">
              <a:solidFill>
                <a:srgbClr val="00B050"/>
              </a:solidFill>
            </a:endParaRPr>
          </a:p>
        </p:txBody>
      </p:sp>
      <p:sp>
        <p:nvSpPr>
          <p:cNvPr id="21" name="TextBox 20">
            <a:extLst>
              <a:ext uri="{FF2B5EF4-FFF2-40B4-BE49-F238E27FC236}">
                <a16:creationId xmlns:a16="http://schemas.microsoft.com/office/drawing/2014/main" id="{0F1BCA95-31DD-FAB1-E90D-1D81112F42F3}"/>
              </a:ext>
            </a:extLst>
          </p:cNvPr>
          <p:cNvSpPr txBox="1"/>
          <p:nvPr/>
        </p:nvSpPr>
        <p:spPr>
          <a:xfrm>
            <a:off x="107504" y="3171671"/>
            <a:ext cx="4176463" cy="1631216"/>
          </a:xfrm>
          <a:prstGeom prst="rect">
            <a:avLst/>
          </a:prstGeom>
          <a:noFill/>
        </p:spPr>
        <p:txBody>
          <a:bodyPr wrap="square">
            <a:spAutoFit/>
          </a:bodyPr>
          <a:lstStyle/>
          <a:p>
            <a:r>
              <a:rPr lang="uk-UA" sz="1600" b="1" dirty="0">
                <a:solidFill>
                  <a:srgbClr val="0070C0"/>
                </a:solidFill>
              </a:rPr>
              <a:t>Переваги навчання з підкріпленням</a:t>
            </a:r>
          </a:p>
          <a:p>
            <a:pPr marL="342900" indent="-342900">
              <a:buFont typeface="Wingdings" panose="05000000000000000000" pitchFamily="2" charset="2"/>
              <a:buChar char="ü"/>
            </a:pPr>
            <a:r>
              <a:rPr lang="uk-UA" sz="1400" dirty="0"/>
              <a:t>Враховує </a:t>
            </a:r>
            <a:r>
              <a:rPr lang="uk-UA" sz="1400" b="1" dirty="0"/>
              <a:t>послідовність поведінки груп користувачів</a:t>
            </a:r>
          </a:p>
          <a:p>
            <a:pPr marL="342900" indent="-342900">
              <a:buFont typeface="Wingdings" panose="05000000000000000000" pitchFamily="2" charset="2"/>
              <a:buChar char="ü"/>
            </a:pPr>
            <a:r>
              <a:rPr lang="uk-UA" sz="1400" dirty="0"/>
              <a:t>Орієнтований на </a:t>
            </a:r>
            <a:r>
              <a:rPr lang="uk-UA" sz="1400" b="1" dirty="0"/>
              <a:t>довготривалу взаємодію</a:t>
            </a:r>
          </a:p>
          <a:p>
            <a:pPr marL="342900" indent="-342900">
              <a:buFont typeface="Wingdings" panose="05000000000000000000" pitchFamily="2" charset="2"/>
              <a:buChar char="ü"/>
            </a:pPr>
            <a:r>
              <a:rPr lang="uk-UA" sz="1400" noProof="0" dirty="0"/>
              <a:t>Набуває</a:t>
            </a:r>
            <a:r>
              <a:rPr lang="ru-RU" sz="1400" dirty="0"/>
              <a:t> </a:t>
            </a:r>
            <a:r>
              <a:rPr lang="uk-UA" sz="1400" noProof="0" dirty="0"/>
              <a:t>активного розвитку в наукових і промислових рішеннях</a:t>
            </a:r>
            <a:endParaRPr lang="ru-RU" sz="1400" dirty="0"/>
          </a:p>
          <a:p>
            <a:pPr marL="342900" indent="-342900">
              <a:buFont typeface="Wingdings" panose="05000000000000000000" pitchFamily="2" charset="2"/>
              <a:buChar char="ü"/>
            </a:pPr>
            <a:r>
              <a:rPr lang="uk-UA" sz="1400" dirty="0"/>
              <a:t>Використовується </a:t>
            </a:r>
            <a:r>
              <a:rPr lang="en-US" sz="1400" dirty="0"/>
              <a:t>Netflix, Google, TikTok, Spotify</a:t>
            </a:r>
            <a:endParaRPr lang="uk-UA" sz="1400" dirty="0"/>
          </a:p>
        </p:txBody>
      </p:sp>
      <p:sp>
        <p:nvSpPr>
          <p:cNvPr id="29" name="TextBox 28">
            <a:extLst>
              <a:ext uri="{FF2B5EF4-FFF2-40B4-BE49-F238E27FC236}">
                <a16:creationId xmlns:a16="http://schemas.microsoft.com/office/drawing/2014/main" id="{6CC4C253-EAD4-DC0B-6C82-12071E184EA6}"/>
              </a:ext>
            </a:extLst>
          </p:cNvPr>
          <p:cNvSpPr txBox="1"/>
          <p:nvPr/>
        </p:nvSpPr>
        <p:spPr>
          <a:xfrm>
            <a:off x="755576" y="904168"/>
            <a:ext cx="4091421" cy="523220"/>
          </a:xfrm>
          <a:prstGeom prst="rect">
            <a:avLst/>
          </a:prstGeom>
          <a:noFill/>
        </p:spPr>
        <p:txBody>
          <a:bodyPr wrap="square">
            <a:spAutoFit/>
          </a:bodyPr>
          <a:lstStyle/>
          <a:p>
            <a:r>
              <a:rPr lang="uk-UA" sz="1400" b="1" dirty="0">
                <a:latin typeface="+mj-lt"/>
              </a:rPr>
              <a:t>Інформаційне перевантаження</a:t>
            </a:r>
          </a:p>
          <a:p>
            <a:r>
              <a:rPr lang="uk-UA" sz="1400" dirty="0">
                <a:latin typeface="+mj-lt"/>
              </a:rPr>
              <a:t>Користувачі потребують фільтрації контенту</a:t>
            </a:r>
          </a:p>
        </p:txBody>
      </p:sp>
      <p:pic>
        <p:nvPicPr>
          <p:cNvPr id="5" name="Picture 4">
            <a:extLst>
              <a:ext uri="{FF2B5EF4-FFF2-40B4-BE49-F238E27FC236}">
                <a16:creationId xmlns:a16="http://schemas.microsoft.com/office/drawing/2014/main" id="{109098F7-8A44-D7BC-FA39-FCC3EE995B7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31212" y="699542"/>
            <a:ext cx="1752801" cy="2629201"/>
          </a:xfrm>
          <a:prstGeom prst="rect">
            <a:avLst/>
          </a:prstGeom>
        </p:spPr>
      </p:pic>
      <p:sp>
        <p:nvSpPr>
          <p:cNvPr id="7" name="TextBox 6">
            <a:extLst>
              <a:ext uri="{FF2B5EF4-FFF2-40B4-BE49-F238E27FC236}">
                <a16:creationId xmlns:a16="http://schemas.microsoft.com/office/drawing/2014/main" id="{0CA35676-0C58-B239-9233-203FEE64320E}"/>
              </a:ext>
            </a:extLst>
          </p:cNvPr>
          <p:cNvSpPr txBox="1"/>
          <p:nvPr/>
        </p:nvSpPr>
        <p:spPr>
          <a:xfrm>
            <a:off x="755576" y="1557790"/>
            <a:ext cx="4091421" cy="738664"/>
          </a:xfrm>
          <a:prstGeom prst="rect">
            <a:avLst/>
          </a:prstGeom>
          <a:noFill/>
        </p:spPr>
        <p:txBody>
          <a:bodyPr wrap="square">
            <a:spAutoFit/>
          </a:bodyPr>
          <a:lstStyle/>
          <a:p>
            <a:r>
              <a:rPr lang="uk-UA" sz="1400" b="1" dirty="0">
                <a:latin typeface="+mj-lt"/>
              </a:rPr>
              <a:t>Груповий контекст</a:t>
            </a:r>
          </a:p>
          <a:p>
            <a:r>
              <a:rPr lang="uk-UA" sz="1400" dirty="0">
                <a:latin typeface="+mj-lt"/>
              </a:rPr>
              <a:t>Рішення приймаються колективно (спільний перегляд, сімейні покупки)</a:t>
            </a:r>
          </a:p>
        </p:txBody>
      </p:sp>
      <p:sp>
        <p:nvSpPr>
          <p:cNvPr id="9" name="TextBox 8">
            <a:extLst>
              <a:ext uri="{FF2B5EF4-FFF2-40B4-BE49-F238E27FC236}">
                <a16:creationId xmlns:a16="http://schemas.microsoft.com/office/drawing/2014/main" id="{F1E620E1-D50B-8A9F-A809-AE833B3ECE1D}"/>
              </a:ext>
            </a:extLst>
          </p:cNvPr>
          <p:cNvSpPr txBox="1"/>
          <p:nvPr/>
        </p:nvSpPr>
        <p:spPr>
          <a:xfrm>
            <a:off x="755576" y="2426856"/>
            <a:ext cx="3947682" cy="738664"/>
          </a:xfrm>
          <a:prstGeom prst="rect">
            <a:avLst/>
          </a:prstGeom>
          <a:noFill/>
        </p:spPr>
        <p:txBody>
          <a:bodyPr wrap="square">
            <a:spAutoFit/>
          </a:bodyPr>
          <a:lstStyle/>
          <a:p>
            <a:r>
              <a:rPr lang="uk-UA" sz="1400" b="1" dirty="0">
                <a:latin typeface="+mj-lt"/>
              </a:rPr>
              <a:t>Конфлікт і динаміка</a:t>
            </a:r>
          </a:p>
          <a:p>
            <a:r>
              <a:rPr lang="uk-UA" sz="1400" dirty="0">
                <a:latin typeface="+mj-lt"/>
              </a:rPr>
              <a:t>Інтереси в групі можуть не співпадати і швидко змінюватися з часом</a:t>
            </a:r>
          </a:p>
        </p:txBody>
      </p:sp>
      <p:pic>
        <p:nvPicPr>
          <p:cNvPr id="15" name="Picture 14">
            <a:extLst>
              <a:ext uri="{FF2B5EF4-FFF2-40B4-BE49-F238E27FC236}">
                <a16:creationId xmlns:a16="http://schemas.microsoft.com/office/drawing/2014/main" id="{0FCD99C5-E362-6AD9-A6CF-B42C67E2840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773398" y="2283229"/>
            <a:ext cx="4044959" cy="2696639"/>
          </a:xfrm>
          <a:prstGeom prst="rect">
            <a:avLst/>
          </a:prstGeom>
        </p:spPr>
      </p:pic>
      <p:sp>
        <p:nvSpPr>
          <p:cNvPr id="2" name="Підзаголовок 2">
            <a:extLst>
              <a:ext uri="{FF2B5EF4-FFF2-40B4-BE49-F238E27FC236}">
                <a16:creationId xmlns:a16="http://schemas.microsoft.com/office/drawing/2014/main" id="{EDBBB390-5221-42CA-B97A-476F8DDEA869}"/>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2</a:t>
            </a:r>
            <a:endParaRPr lang="uk-UA" sz="1200" dirty="0">
              <a:solidFill>
                <a:schemeClr val="tx1"/>
              </a:solidFill>
            </a:endParaRPr>
          </a:p>
        </p:txBody>
      </p:sp>
    </p:spTree>
    <p:extLst>
      <p:ext uri="{BB962C8B-B14F-4D97-AF65-F5344CB8AC3E}">
        <p14:creationId xmlns:p14="http://schemas.microsoft.com/office/powerpoint/2010/main" val="15687763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152025-9F55-4851-ABD3-673979C2E21F}"/>
            </a:ext>
          </a:extLst>
        </p:cNvPr>
        <p:cNvGrpSpPr/>
        <p:nvPr/>
      </p:nvGrpSpPr>
      <p:grpSpPr>
        <a:xfrm>
          <a:off x="0" y="0"/>
          <a:ext cx="0" cy="0"/>
          <a:chOff x="0" y="0"/>
          <a:chExt cx="0" cy="0"/>
        </a:xfrm>
      </p:grpSpPr>
      <p:sp>
        <p:nvSpPr>
          <p:cNvPr id="12" name="Заголовок 1">
            <a:extLst>
              <a:ext uri="{FF2B5EF4-FFF2-40B4-BE49-F238E27FC236}">
                <a16:creationId xmlns:a16="http://schemas.microsoft.com/office/drawing/2014/main" id="{8946ED5B-86D2-D60E-0DF8-1F984DA9F595}"/>
              </a:ext>
            </a:extLst>
          </p:cNvPr>
          <p:cNvSpPr txBox="1">
            <a:spLocks/>
          </p:cNvSpPr>
          <p:nvPr/>
        </p:nvSpPr>
        <p:spPr>
          <a:xfrm>
            <a:off x="0" y="2014"/>
            <a:ext cx="9144000" cy="360039"/>
          </a:xfrm>
          <a:prstGeom prst="rect">
            <a:avLst/>
          </a:prstGeom>
        </p:spPr>
        <p:txBody>
          <a:bodyPr vert="horz" lIns="91440" tIns="45720" rIns="91440" bIns="45720" rtlCol="0" anchor="ctr">
            <a:normAutofit lnSpcReduction="1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1800" b="1" dirty="0">
                <a:solidFill>
                  <a:srgbClr val="009999"/>
                </a:solidFill>
              </a:rPr>
              <a:t>Обмеження існуючих підходів</a:t>
            </a:r>
          </a:p>
        </p:txBody>
      </p:sp>
      <p:sp>
        <p:nvSpPr>
          <p:cNvPr id="21" name="TextBox 20">
            <a:extLst>
              <a:ext uri="{FF2B5EF4-FFF2-40B4-BE49-F238E27FC236}">
                <a16:creationId xmlns:a16="http://schemas.microsoft.com/office/drawing/2014/main" id="{768C8050-CD3F-54FC-2FEA-5931D17DDE52}"/>
              </a:ext>
            </a:extLst>
          </p:cNvPr>
          <p:cNvSpPr txBox="1"/>
          <p:nvPr/>
        </p:nvSpPr>
        <p:spPr>
          <a:xfrm>
            <a:off x="155468" y="3147814"/>
            <a:ext cx="5184576" cy="1600438"/>
          </a:xfrm>
          <a:prstGeom prst="rect">
            <a:avLst/>
          </a:prstGeom>
          <a:noFill/>
        </p:spPr>
        <p:txBody>
          <a:bodyPr wrap="square">
            <a:spAutoFit/>
          </a:bodyPr>
          <a:lstStyle/>
          <a:p>
            <a:r>
              <a:rPr lang="uk-UA" sz="1400" b="1" dirty="0">
                <a:solidFill>
                  <a:srgbClr val="0066CC"/>
                </a:solidFill>
              </a:rPr>
              <a:t>Існуючі моделі </a:t>
            </a:r>
            <a:r>
              <a:rPr lang="uk-UA" sz="1400" b="1" dirty="0"/>
              <a:t>для генерування групових рекомендацій фокусуються на статичних профілях, оптимізуючи лише миттєву винагороду. </a:t>
            </a:r>
          </a:p>
          <a:p>
            <a:endParaRPr lang="uk-UA" sz="1400" b="1" dirty="0"/>
          </a:p>
          <a:p>
            <a:r>
              <a:rPr lang="uk-UA" sz="1400" b="1" dirty="0">
                <a:solidFill>
                  <a:srgbClr val="00CC99"/>
                </a:solidFill>
              </a:rPr>
              <a:t>Мета дослідження </a:t>
            </a:r>
            <a:r>
              <a:rPr lang="uk-UA" sz="1400" b="1" dirty="0"/>
              <a:t>– розробка системи, яка одночасно враховує динаміку, довгострокових ефект та історію взаємодії кожного користувача.</a:t>
            </a:r>
            <a:endParaRPr lang="uk-UA" sz="1400" dirty="0"/>
          </a:p>
        </p:txBody>
      </p:sp>
      <p:graphicFrame>
        <p:nvGraphicFramePr>
          <p:cNvPr id="2" name="Table 1">
            <a:extLst>
              <a:ext uri="{FF2B5EF4-FFF2-40B4-BE49-F238E27FC236}">
                <a16:creationId xmlns:a16="http://schemas.microsoft.com/office/drawing/2014/main" id="{0B608457-38DC-8FBC-8F8F-D12309FA41D6}"/>
              </a:ext>
            </a:extLst>
          </p:cNvPr>
          <p:cNvGraphicFramePr>
            <a:graphicFrameLocks noGrp="1"/>
          </p:cNvGraphicFramePr>
          <p:nvPr>
            <p:extLst>
              <p:ext uri="{D42A27DB-BD31-4B8C-83A1-F6EECF244321}">
                <p14:modId xmlns:p14="http://schemas.microsoft.com/office/powerpoint/2010/main" val="735308245"/>
              </p:ext>
            </p:extLst>
          </p:nvPr>
        </p:nvGraphicFramePr>
        <p:xfrm>
          <a:off x="5463315" y="3056642"/>
          <a:ext cx="3408420" cy="1880688"/>
        </p:xfrm>
        <a:graphic>
          <a:graphicData uri="http://schemas.openxmlformats.org/drawingml/2006/table">
            <a:tbl>
              <a:tblPr firstRow="1" bandRow="1">
                <a:tableStyleId>{B301B821-A1FF-4177-AEE7-76D212191A09}</a:tableStyleId>
              </a:tblPr>
              <a:tblGrid>
                <a:gridCol w="783047">
                  <a:extLst>
                    <a:ext uri="{9D8B030D-6E8A-4147-A177-3AD203B41FA5}">
                      <a16:colId xmlns:a16="http://schemas.microsoft.com/office/drawing/2014/main" val="1433380853"/>
                    </a:ext>
                  </a:extLst>
                </a:gridCol>
                <a:gridCol w="859883">
                  <a:extLst>
                    <a:ext uri="{9D8B030D-6E8A-4147-A177-3AD203B41FA5}">
                      <a16:colId xmlns:a16="http://schemas.microsoft.com/office/drawing/2014/main" val="4276972545"/>
                    </a:ext>
                  </a:extLst>
                </a:gridCol>
                <a:gridCol w="901395">
                  <a:extLst>
                    <a:ext uri="{9D8B030D-6E8A-4147-A177-3AD203B41FA5}">
                      <a16:colId xmlns:a16="http://schemas.microsoft.com/office/drawing/2014/main" val="3882066689"/>
                    </a:ext>
                  </a:extLst>
                </a:gridCol>
                <a:gridCol w="864095">
                  <a:extLst>
                    <a:ext uri="{9D8B030D-6E8A-4147-A177-3AD203B41FA5}">
                      <a16:colId xmlns:a16="http://schemas.microsoft.com/office/drawing/2014/main" val="1724770548"/>
                    </a:ext>
                  </a:extLst>
                </a:gridCol>
              </a:tblGrid>
              <a:tr h="511643">
                <a:tc>
                  <a:txBody>
                    <a:bodyPr/>
                    <a:lstStyle/>
                    <a:p>
                      <a:r>
                        <a:rPr lang="uk-UA" sz="1100" dirty="0"/>
                        <a:t>Модель</a:t>
                      </a:r>
                    </a:p>
                  </a:txBody>
                  <a:tcPr/>
                </a:tc>
                <a:tc>
                  <a:txBody>
                    <a:bodyPr/>
                    <a:lstStyle/>
                    <a:p>
                      <a:r>
                        <a:rPr lang="uk-UA" sz="1100" dirty="0"/>
                        <a:t>Динаміка</a:t>
                      </a:r>
                    </a:p>
                  </a:txBody>
                  <a:tcPr/>
                </a:tc>
                <a:tc>
                  <a:txBody>
                    <a:bodyPr/>
                    <a:lstStyle/>
                    <a:p>
                      <a:r>
                        <a:rPr lang="uk-UA" sz="1100" dirty="0" err="1"/>
                        <a:t>Довгост</a:t>
                      </a:r>
                      <a:r>
                        <a:rPr lang="uk-UA" sz="1100" dirty="0"/>
                        <a:t>.</a:t>
                      </a:r>
                    </a:p>
                    <a:p>
                      <a:r>
                        <a:rPr lang="uk-UA" sz="1100" dirty="0"/>
                        <a:t>винагорода</a:t>
                      </a:r>
                    </a:p>
                  </a:txBody>
                  <a:tcPr/>
                </a:tc>
                <a:tc>
                  <a:txBody>
                    <a:bodyPr/>
                    <a:lstStyle/>
                    <a:p>
                      <a:r>
                        <a:rPr lang="uk-UA" sz="1100" dirty="0" err="1"/>
                        <a:t>Врахув</a:t>
                      </a:r>
                      <a:r>
                        <a:rPr lang="uk-UA" sz="1100" dirty="0"/>
                        <a:t>. вподобань</a:t>
                      </a:r>
                    </a:p>
                  </a:txBody>
                  <a:tcPr/>
                </a:tc>
                <a:extLst>
                  <a:ext uri="{0D108BD9-81ED-4DB2-BD59-A6C34878D82A}">
                    <a16:rowId xmlns:a16="http://schemas.microsoft.com/office/drawing/2014/main" val="554857946"/>
                  </a:ext>
                </a:extLst>
              </a:tr>
              <a:tr h="273809">
                <a:tc>
                  <a:txBody>
                    <a:bodyPr/>
                    <a:lstStyle/>
                    <a:p>
                      <a:r>
                        <a:rPr lang="en-US" sz="1100" dirty="0"/>
                        <a:t>MoSAN</a:t>
                      </a:r>
                      <a:endParaRPr lang="uk-UA" sz="1100" dirty="0"/>
                    </a:p>
                  </a:txBody>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extLst>
                  <a:ext uri="{0D108BD9-81ED-4DB2-BD59-A6C34878D82A}">
                    <a16:rowId xmlns:a16="http://schemas.microsoft.com/office/drawing/2014/main" val="816780404"/>
                  </a:ext>
                </a:extLst>
              </a:tr>
              <a:tr h="273809">
                <a:tc>
                  <a:txBody>
                    <a:bodyPr/>
                    <a:lstStyle/>
                    <a:p>
                      <a:r>
                        <a:rPr lang="en-US" sz="1100" dirty="0"/>
                        <a:t>AGREE</a:t>
                      </a:r>
                      <a:endParaRPr lang="uk-UA" sz="1100" dirty="0"/>
                    </a:p>
                  </a:txBody>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extLst>
                  <a:ext uri="{0D108BD9-81ED-4DB2-BD59-A6C34878D82A}">
                    <a16:rowId xmlns:a16="http://schemas.microsoft.com/office/drawing/2014/main" val="849299732"/>
                  </a:ext>
                </a:extLst>
              </a:tr>
              <a:tr h="273809">
                <a:tc>
                  <a:txBody>
                    <a:bodyPr/>
                    <a:lstStyle/>
                    <a:p>
                      <a:r>
                        <a:rPr lang="en-US" sz="1100" dirty="0"/>
                        <a:t>GroupIM</a:t>
                      </a:r>
                      <a:endParaRPr lang="uk-UA" sz="1100" dirty="0"/>
                    </a:p>
                  </a:txBody>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extLst>
                  <a:ext uri="{0D108BD9-81ED-4DB2-BD59-A6C34878D82A}">
                    <a16:rowId xmlns:a16="http://schemas.microsoft.com/office/drawing/2014/main" val="2082503379"/>
                  </a:ext>
                </a:extLst>
              </a:tr>
              <a:tr h="273809">
                <a:tc>
                  <a:txBody>
                    <a:bodyPr/>
                    <a:lstStyle/>
                    <a:p>
                      <a:r>
                        <a:rPr lang="en-US" sz="1100" dirty="0"/>
                        <a:t>DRGR</a:t>
                      </a:r>
                      <a:endParaRPr lang="uk-UA" sz="1100" dirty="0"/>
                    </a:p>
                  </a:txBody>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3">
                        <a:extLst>
                          <a:ext uri="{28A0092B-C50C-407E-A947-70E740481C1C}">
                            <a14:useLocalDpi xmlns:a14="http://schemas.microsoft.com/office/drawing/2010/main" val="0"/>
                          </a:ext>
                        </a:extLst>
                      </a:blip>
                      <a:srcRect/>
                      <a:stretch>
                        <a:fillRect/>
                      </a:stretch>
                    </a:blipFill>
                  </a:tcPr>
                </a:tc>
                <a:extLst>
                  <a:ext uri="{0D108BD9-81ED-4DB2-BD59-A6C34878D82A}">
                    <a16:rowId xmlns:a16="http://schemas.microsoft.com/office/drawing/2014/main" val="1578162798"/>
                  </a:ext>
                </a:extLst>
              </a:tr>
              <a:tr h="273809">
                <a:tc>
                  <a:txBody>
                    <a:bodyPr/>
                    <a:lstStyle/>
                    <a:p>
                      <a:r>
                        <a:rPr lang="uk-UA" sz="1100" dirty="0"/>
                        <a:t>Ціль</a:t>
                      </a:r>
                    </a:p>
                  </a:txBody>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tc>
                  <a:txBody>
                    <a:bodyPr/>
                    <a:lstStyle/>
                    <a:p>
                      <a:endParaRPr lang="uk-UA" sz="1100" dirty="0"/>
                    </a:p>
                  </a:txBody>
                  <a:tcPr>
                    <a:blipFill dpi="0" rotWithShape="1">
                      <a:blip r:embed="rId4">
                        <a:extLst>
                          <a:ext uri="{28A0092B-C50C-407E-A947-70E740481C1C}">
                            <a14:useLocalDpi xmlns:a14="http://schemas.microsoft.com/office/drawing/2010/main" val="0"/>
                          </a:ext>
                        </a:extLst>
                      </a:blip>
                      <a:srcRect/>
                      <a:stretch>
                        <a:fillRect/>
                      </a:stretch>
                    </a:blipFill>
                  </a:tcPr>
                </a:tc>
                <a:extLst>
                  <a:ext uri="{0D108BD9-81ED-4DB2-BD59-A6C34878D82A}">
                    <a16:rowId xmlns:a16="http://schemas.microsoft.com/office/drawing/2014/main" val="3482417032"/>
                  </a:ext>
                </a:extLst>
              </a:tr>
            </a:tbl>
          </a:graphicData>
        </a:graphic>
      </p:graphicFrame>
      <p:sp>
        <p:nvSpPr>
          <p:cNvPr id="3" name="TextBox 2">
            <a:extLst>
              <a:ext uri="{FF2B5EF4-FFF2-40B4-BE49-F238E27FC236}">
                <a16:creationId xmlns:a16="http://schemas.microsoft.com/office/drawing/2014/main" id="{3AB99C8C-9262-C4C0-C743-C126258CC724}"/>
              </a:ext>
            </a:extLst>
          </p:cNvPr>
          <p:cNvSpPr txBox="1"/>
          <p:nvPr/>
        </p:nvSpPr>
        <p:spPr>
          <a:xfrm>
            <a:off x="5580112" y="4884487"/>
            <a:ext cx="3431704" cy="265457"/>
          </a:xfrm>
          <a:prstGeom prst="rect">
            <a:avLst/>
          </a:prstGeom>
          <a:noFill/>
        </p:spPr>
        <p:txBody>
          <a:bodyPr wrap="square">
            <a:spAutoFit/>
          </a:bodyPr>
          <a:lstStyle/>
          <a:p>
            <a:pPr algn="ctr">
              <a:lnSpc>
                <a:spcPct val="107000"/>
              </a:lnSpc>
              <a:spcAft>
                <a:spcPts val="800"/>
              </a:spcAft>
              <a:buNone/>
            </a:pPr>
            <a:r>
              <a:rPr lang="uk-UA" sz="1100" dirty="0">
                <a:solidFill>
                  <a:srgbClr val="000000"/>
                </a:solidFill>
                <a:effectLst/>
                <a:latin typeface="+mj-lt"/>
                <a:ea typeface="Calibri" panose="020F0502020204030204" pitchFamily="34" charset="0"/>
                <a:cs typeface="Times New Roman" panose="02020603050405020304" pitchFamily="18" charset="0"/>
              </a:rPr>
              <a:t>Табл.</a:t>
            </a:r>
            <a:r>
              <a:rPr lang="ru-RU" sz="1100" dirty="0">
                <a:solidFill>
                  <a:srgbClr val="000000"/>
                </a:solidFill>
                <a:effectLst/>
                <a:latin typeface="+mj-lt"/>
                <a:ea typeface="Calibri" panose="020F0502020204030204" pitchFamily="34" charset="0"/>
                <a:cs typeface="Times New Roman" panose="02020603050405020304" pitchFamily="18" charset="0"/>
              </a:rPr>
              <a:t> 1</a:t>
            </a:r>
            <a:r>
              <a:rPr lang="uk-UA" sz="1100" dirty="0">
                <a:latin typeface="+mj-lt"/>
                <a:ea typeface="Calibri" panose="020F0502020204030204" pitchFamily="34" charset="0"/>
                <a:cs typeface="Times New Roman" panose="02020603050405020304" pitchFamily="18" charset="0"/>
              </a:rPr>
              <a:t>. </a:t>
            </a:r>
            <a:r>
              <a:rPr lang="uk-UA" sz="1100" dirty="0">
                <a:solidFill>
                  <a:srgbClr val="000000"/>
                </a:solidFill>
                <a:effectLst/>
                <a:latin typeface="+mj-lt"/>
                <a:ea typeface="Calibri" panose="020F0502020204030204" pitchFamily="34" charset="0"/>
                <a:cs typeface="Times New Roman" panose="02020603050405020304" pitchFamily="18" charset="0"/>
              </a:rPr>
              <a:t>Порівняння </a:t>
            </a:r>
            <a:r>
              <a:rPr lang="uk-UA" sz="1100" dirty="0">
                <a:solidFill>
                  <a:srgbClr val="000000"/>
                </a:solidFill>
                <a:latin typeface="+mj-lt"/>
                <a:ea typeface="Calibri" panose="020F0502020204030204" pitchFamily="34" charset="0"/>
                <a:cs typeface="Times New Roman" panose="02020603050405020304" pitchFamily="18" charset="0"/>
              </a:rPr>
              <a:t>моделей</a:t>
            </a:r>
            <a:endParaRPr lang="uk-UA" sz="1100" dirty="0">
              <a:effectLst/>
              <a:latin typeface="+mj-lt"/>
              <a:ea typeface="Calibri" panose="020F0502020204030204" pitchFamily="34" charset="0"/>
              <a:cs typeface="Times New Roman" panose="02020603050405020304" pitchFamily="18" charset="0"/>
            </a:endParaRPr>
          </a:p>
        </p:txBody>
      </p:sp>
      <p:sp>
        <p:nvSpPr>
          <p:cNvPr id="8" name="Rectangle 7">
            <a:extLst>
              <a:ext uri="{FF2B5EF4-FFF2-40B4-BE49-F238E27FC236}">
                <a16:creationId xmlns:a16="http://schemas.microsoft.com/office/drawing/2014/main" id="{81B1BAE8-AC31-EC39-A38E-1CF8AB10D3F6}"/>
              </a:ext>
            </a:extLst>
          </p:cNvPr>
          <p:cNvSpPr/>
          <p:nvPr/>
        </p:nvSpPr>
        <p:spPr>
          <a:xfrm>
            <a:off x="139751" y="362054"/>
            <a:ext cx="2090972" cy="2592288"/>
          </a:xfrm>
          <a:prstGeom prst="rect">
            <a:avLst/>
          </a:prstGeom>
          <a:gradFill flip="none" rotWithShape="1">
            <a:gsLst>
              <a:gs pos="0">
                <a:srgbClr val="3E84F3"/>
              </a:gs>
              <a:gs pos="16000">
                <a:srgbClr val="3E84F3"/>
              </a:gs>
              <a:gs pos="16000">
                <a:srgbClr val="E9F0FD"/>
              </a:gs>
            </a:gsLst>
            <a:lin ang="5400000" scaled="0"/>
            <a:tileRect/>
          </a:gradFill>
          <a:ln cap="rnd" cmpd="sng">
            <a:solidFill>
              <a:srgbClr val="3E84F3"/>
            </a:solidFill>
            <a:round/>
            <a:extLst>
              <a:ext uri="{C807C97D-BFC1-408E-A445-0C87EB9F89A2}">
                <ask:lineSketchStyleProps xmlns:ask="http://schemas.microsoft.com/office/drawing/2018/sketchyshapes" sd="1219033472">
                  <a:custGeom>
                    <a:avLst/>
                    <a:gdLst>
                      <a:gd name="csX0" fmla="*/ 0 w 2090972"/>
                      <a:gd name="csY0" fmla="*/ 0 h 2592288"/>
                      <a:gd name="csX1" fmla="*/ 2090972 w 2090972"/>
                      <a:gd name="csY1" fmla="*/ 0 h 2592288"/>
                      <a:gd name="csX2" fmla="*/ 2090972 w 2090972"/>
                      <a:gd name="csY2" fmla="*/ 2592288 h 2592288"/>
                      <a:gd name="csX3" fmla="*/ 0 w 2090972"/>
                      <a:gd name="csY3" fmla="*/ 2592288 h 2592288"/>
                      <a:gd name="csX4" fmla="*/ 0 w 2090972"/>
                      <a:gd name="csY4" fmla="*/ 0 h 2592288"/>
                    </a:gdLst>
                    <a:ahLst/>
                    <a:cxnLst>
                      <a:cxn ang="0">
                        <a:pos x="csX0" y="csY0"/>
                      </a:cxn>
                      <a:cxn ang="0">
                        <a:pos x="csX1" y="csY1"/>
                      </a:cxn>
                      <a:cxn ang="0">
                        <a:pos x="csX2" y="csY2"/>
                      </a:cxn>
                      <a:cxn ang="0">
                        <a:pos x="csX3" y="csY3"/>
                      </a:cxn>
                      <a:cxn ang="0">
                        <a:pos x="csX4" y="csY4"/>
                      </a:cxn>
                    </a:cxnLst>
                    <a:rect l="l" t="t" r="r" b="b"/>
                    <a:pathLst>
                      <a:path w="2090972" h="2592288" fill="none" extrusionOk="0">
                        <a:moveTo>
                          <a:pt x="0" y="0"/>
                        </a:moveTo>
                        <a:cubicBezTo>
                          <a:pt x="743204" y="-49533"/>
                          <a:pt x="1454746" y="-14809"/>
                          <a:pt x="2090972" y="0"/>
                        </a:cubicBezTo>
                        <a:cubicBezTo>
                          <a:pt x="2178611" y="1089516"/>
                          <a:pt x="2018293" y="1476090"/>
                          <a:pt x="2090972" y="2592288"/>
                        </a:cubicBezTo>
                        <a:cubicBezTo>
                          <a:pt x="1194948" y="2544057"/>
                          <a:pt x="809259" y="2676743"/>
                          <a:pt x="0" y="2592288"/>
                        </a:cubicBezTo>
                        <a:cubicBezTo>
                          <a:pt x="-38581" y="2326309"/>
                          <a:pt x="63341" y="854299"/>
                          <a:pt x="0" y="0"/>
                        </a:cubicBezTo>
                        <a:close/>
                      </a:path>
                      <a:path w="2090972" h="2592288" stroke="0" extrusionOk="0">
                        <a:moveTo>
                          <a:pt x="0" y="0"/>
                        </a:moveTo>
                        <a:cubicBezTo>
                          <a:pt x="966340" y="118645"/>
                          <a:pt x="1177507" y="116012"/>
                          <a:pt x="2090972" y="0"/>
                        </a:cubicBezTo>
                        <a:cubicBezTo>
                          <a:pt x="1958090" y="1221186"/>
                          <a:pt x="2175923" y="2236294"/>
                          <a:pt x="2090972" y="2592288"/>
                        </a:cubicBezTo>
                        <a:cubicBezTo>
                          <a:pt x="1315320" y="2726888"/>
                          <a:pt x="991263" y="2435092"/>
                          <a:pt x="0" y="2592288"/>
                        </a:cubicBezTo>
                        <a:cubicBezTo>
                          <a:pt x="-20187" y="1742079"/>
                          <a:pt x="-152480" y="364087"/>
                          <a:pt x="0" y="0"/>
                        </a:cubicBezTo>
                        <a:close/>
                      </a:path>
                    </a:pathLst>
                  </a:custGeom>
                  <ask:type>
                    <ask:lineSketchNone/>
                  </ask:type>
                </ask:lineSketchStyleProps>
              </a:ext>
            </a:extLst>
          </a:ln>
          <a:effectLst>
            <a:outerShdw blurRad="50800" dist="38100" dir="2700000" algn="tl" rotWithShape="0">
              <a:prstClr val="black">
                <a:alpha val="7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uk-UA" dirty="0"/>
          </a:p>
        </p:txBody>
      </p:sp>
      <p:sp>
        <p:nvSpPr>
          <p:cNvPr id="16" name="TextBox 15">
            <a:extLst>
              <a:ext uri="{FF2B5EF4-FFF2-40B4-BE49-F238E27FC236}">
                <a16:creationId xmlns:a16="http://schemas.microsoft.com/office/drawing/2014/main" id="{431E2FCA-6164-0C98-9BA2-2B0A96628FE6}"/>
              </a:ext>
            </a:extLst>
          </p:cNvPr>
          <p:cNvSpPr txBox="1"/>
          <p:nvPr/>
        </p:nvSpPr>
        <p:spPr>
          <a:xfrm>
            <a:off x="431745" y="378866"/>
            <a:ext cx="1440160" cy="400110"/>
          </a:xfrm>
          <a:prstGeom prst="rect">
            <a:avLst/>
          </a:prstGeom>
          <a:noFill/>
        </p:spPr>
        <p:txBody>
          <a:bodyPr wrap="square" rtlCol="0">
            <a:spAutoFit/>
          </a:bodyPr>
          <a:lstStyle/>
          <a:p>
            <a:pPr algn="r"/>
            <a:r>
              <a:rPr lang="en-US" sz="2000" b="1" dirty="0">
                <a:solidFill>
                  <a:schemeClr val="bg1"/>
                </a:solidFill>
              </a:rPr>
              <a:t>MoSAN</a:t>
            </a:r>
            <a:endParaRPr lang="uk-UA" sz="2000" b="1" dirty="0">
              <a:solidFill>
                <a:schemeClr val="bg1"/>
              </a:solidFill>
            </a:endParaRPr>
          </a:p>
        </p:txBody>
      </p:sp>
      <p:sp>
        <p:nvSpPr>
          <p:cNvPr id="17" name="Rectangle: Rounded Corners 16">
            <a:extLst>
              <a:ext uri="{FF2B5EF4-FFF2-40B4-BE49-F238E27FC236}">
                <a16:creationId xmlns:a16="http://schemas.microsoft.com/office/drawing/2014/main" id="{A0435068-FDE3-2232-C503-64F0D944FE13}"/>
              </a:ext>
            </a:extLst>
          </p:cNvPr>
          <p:cNvSpPr/>
          <p:nvPr/>
        </p:nvSpPr>
        <p:spPr>
          <a:xfrm>
            <a:off x="181300" y="841851"/>
            <a:ext cx="2016224" cy="982420"/>
          </a:xfrm>
          <a:prstGeom prst="roundRect">
            <a:avLst/>
          </a:prstGeom>
          <a:ln>
            <a:noFill/>
          </a:ln>
        </p:spPr>
        <p:style>
          <a:lnRef idx="2">
            <a:schemeClr val="accent1"/>
          </a:lnRef>
          <a:fillRef idx="1">
            <a:schemeClr val="lt1"/>
          </a:fillRef>
          <a:effectRef idx="0">
            <a:schemeClr val="accent1"/>
          </a:effectRef>
          <a:fontRef idx="minor">
            <a:schemeClr val="dk1"/>
          </a:fontRef>
        </p:style>
        <p:txBody>
          <a:bodyPr bIns="72000" rtlCol="0" anchor="ctr"/>
          <a:lstStyle/>
          <a:p>
            <a:pPr>
              <a:spcBef>
                <a:spcPts val="1200"/>
              </a:spcBef>
            </a:pPr>
            <a:r>
              <a:rPr lang="uk-UA" sz="1050" dirty="0"/>
              <a:t>Ефективно враховує взаємодії між учасниками групи</a:t>
            </a:r>
          </a:p>
          <a:p>
            <a:pPr>
              <a:spcBef>
                <a:spcPts val="600"/>
              </a:spcBef>
            </a:pPr>
            <a:r>
              <a:rPr lang="uk-UA" sz="1050" dirty="0"/>
              <a:t>Дозволяє оцінити відносний внесок кожного користувача</a:t>
            </a:r>
          </a:p>
        </p:txBody>
      </p:sp>
      <p:sp>
        <p:nvSpPr>
          <p:cNvPr id="18" name="Rectangle: Rounded Corners 17">
            <a:extLst>
              <a:ext uri="{FF2B5EF4-FFF2-40B4-BE49-F238E27FC236}">
                <a16:creationId xmlns:a16="http://schemas.microsoft.com/office/drawing/2014/main" id="{3D846F60-73AC-2E64-C70B-F9696A925F48}"/>
              </a:ext>
            </a:extLst>
          </p:cNvPr>
          <p:cNvSpPr/>
          <p:nvPr/>
        </p:nvSpPr>
        <p:spPr>
          <a:xfrm>
            <a:off x="169130" y="1887146"/>
            <a:ext cx="2016224" cy="1018952"/>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spcBef>
                <a:spcPts val="600"/>
              </a:spcBef>
            </a:pPr>
            <a:r>
              <a:rPr lang="uk-UA" sz="1050" dirty="0"/>
              <a:t>Не враховує часову динаміку зміни вподобань</a:t>
            </a:r>
          </a:p>
          <a:p>
            <a:pPr>
              <a:spcBef>
                <a:spcPts val="600"/>
              </a:spcBef>
            </a:pPr>
            <a:r>
              <a:rPr lang="uk-UA" sz="1050" dirty="0"/>
              <a:t>Не моделює послідовних характер взаємодій</a:t>
            </a:r>
          </a:p>
        </p:txBody>
      </p:sp>
      <p:sp>
        <p:nvSpPr>
          <p:cNvPr id="33" name="Rectangle 32">
            <a:extLst>
              <a:ext uri="{FF2B5EF4-FFF2-40B4-BE49-F238E27FC236}">
                <a16:creationId xmlns:a16="http://schemas.microsoft.com/office/drawing/2014/main" id="{5412D34A-D235-A7A7-FAD3-6663F9C7EC49}"/>
              </a:ext>
            </a:extLst>
          </p:cNvPr>
          <p:cNvSpPr/>
          <p:nvPr/>
        </p:nvSpPr>
        <p:spPr>
          <a:xfrm>
            <a:off x="2414500" y="370427"/>
            <a:ext cx="2090972" cy="2592288"/>
          </a:xfrm>
          <a:prstGeom prst="rect">
            <a:avLst/>
          </a:prstGeom>
          <a:gradFill flip="none" rotWithShape="1">
            <a:gsLst>
              <a:gs pos="0">
                <a:srgbClr val="3AB0BB"/>
              </a:gs>
              <a:gs pos="16000">
                <a:srgbClr val="3AB0BB"/>
              </a:gs>
              <a:gs pos="16000">
                <a:srgbClr val="E9F0FD"/>
              </a:gs>
            </a:gsLst>
            <a:lin ang="5400000" scaled="0"/>
            <a:tileRect/>
          </a:gradFill>
          <a:ln cap="rnd" cmpd="sng">
            <a:solidFill>
              <a:srgbClr val="3AB0BB"/>
            </a:solidFill>
            <a:round/>
            <a:extLst>
              <a:ext uri="{C807C97D-BFC1-408E-A445-0C87EB9F89A2}">
                <ask:lineSketchStyleProps xmlns:ask="http://schemas.microsoft.com/office/drawing/2018/sketchyshapes" sd="1219033472">
                  <a:custGeom>
                    <a:avLst/>
                    <a:gdLst>
                      <a:gd name="csX0" fmla="*/ 0 w 2090972"/>
                      <a:gd name="csY0" fmla="*/ 0 h 2592288"/>
                      <a:gd name="csX1" fmla="*/ 2090972 w 2090972"/>
                      <a:gd name="csY1" fmla="*/ 0 h 2592288"/>
                      <a:gd name="csX2" fmla="*/ 2090972 w 2090972"/>
                      <a:gd name="csY2" fmla="*/ 2592288 h 2592288"/>
                      <a:gd name="csX3" fmla="*/ 0 w 2090972"/>
                      <a:gd name="csY3" fmla="*/ 2592288 h 2592288"/>
                      <a:gd name="csX4" fmla="*/ 0 w 2090972"/>
                      <a:gd name="csY4" fmla="*/ 0 h 2592288"/>
                    </a:gdLst>
                    <a:ahLst/>
                    <a:cxnLst>
                      <a:cxn ang="0">
                        <a:pos x="csX0" y="csY0"/>
                      </a:cxn>
                      <a:cxn ang="0">
                        <a:pos x="csX1" y="csY1"/>
                      </a:cxn>
                      <a:cxn ang="0">
                        <a:pos x="csX2" y="csY2"/>
                      </a:cxn>
                      <a:cxn ang="0">
                        <a:pos x="csX3" y="csY3"/>
                      </a:cxn>
                      <a:cxn ang="0">
                        <a:pos x="csX4" y="csY4"/>
                      </a:cxn>
                    </a:cxnLst>
                    <a:rect l="l" t="t" r="r" b="b"/>
                    <a:pathLst>
                      <a:path w="2090972" h="2592288" fill="none" extrusionOk="0">
                        <a:moveTo>
                          <a:pt x="0" y="0"/>
                        </a:moveTo>
                        <a:cubicBezTo>
                          <a:pt x="743204" y="-49533"/>
                          <a:pt x="1454746" y="-14809"/>
                          <a:pt x="2090972" y="0"/>
                        </a:cubicBezTo>
                        <a:cubicBezTo>
                          <a:pt x="2178611" y="1089516"/>
                          <a:pt x="2018293" y="1476090"/>
                          <a:pt x="2090972" y="2592288"/>
                        </a:cubicBezTo>
                        <a:cubicBezTo>
                          <a:pt x="1194948" y="2544057"/>
                          <a:pt x="809259" y="2676743"/>
                          <a:pt x="0" y="2592288"/>
                        </a:cubicBezTo>
                        <a:cubicBezTo>
                          <a:pt x="-38581" y="2326309"/>
                          <a:pt x="63341" y="854299"/>
                          <a:pt x="0" y="0"/>
                        </a:cubicBezTo>
                        <a:close/>
                      </a:path>
                      <a:path w="2090972" h="2592288" stroke="0" extrusionOk="0">
                        <a:moveTo>
                          <a:pt x="0" y="0"/>
                        </a:moveTo>
                        <a:cubicBezTo>
                          <a:pt x="966340" y="118645"/>
                          <a:pt x="1177507" y="116012"/>
                          <a:pt x="2090972" y="0"/>
                        </a:cubicBezTo>
                        <a:cubicBezTo>
                          <a:pt x="1958090" y="1221186"/>
                          <a:pt x="2175923" y="2236294"/>
                          <a:pt x="2090972" y="2592288"/>
                        </a:cubicBezTo>
                        <a:cubicBezTo>
                          <a:pt x="1315320" y="2726888"/>
                          <a:pt x="991263" y="2435092"/>
                          <a:pt x="0" y="2592288"/>
                        </a:cubicBezTo>
                        <a:cubicBezTo>
                          <a:pt x="-20187" y="1742079"/>
                          <a:pt x="-152480" y="364087"/>
                          <a:pt x="0" y="0"/>
                        </a:cubicBezTo>
                        <a:close/>
                      </a:path>
                    </a:pathLst>
                  </a:custGeom>
                  <ask:type>
                    <ask:lineSketchNone/>
                  </ask:type>
                </ask:lineSketchStyleProps>
              </a:ext>
            </a:extLst>
          </a:ln>
          <a:effectLst>
            <a:outerShdw blurRad="50800" dist="38100" dir="2700000" algn="tl" rotWithShape="0">
              <a:prstClr val="black">
                <a:alpha val="7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uk-UA" dirty="0"/>
          </a:p>
        </p:txBody>
      </p:sp>
      <p:sp>
        <p:nvSpPr>
          <p:cNvPr id="34" name="TextBox 33">
            <a:extLst>
              <a:ext uri="{FF2B5EF4-FFF2-40B4-BE49-F238E27FC236}">
                <a16:creationId xmlns:a16="http://schemas.microsoft.com/office/drawing/2014/main" id="{ED6605F2-4FE8-FDEC-31EF-6F895C1CD2D7}"/>
              </a:ext>
            </a:extLst>
          </p:cNvPr>
          <p:cNvSpPr txBox="1"/>
          <p:nvPr/>
        </p:nvSpPr>
        <p:spPr>
          <a:xfrm>
            <a:off x="2722656" y="386781"/>
            <a:ext cx="1361450" cy="400110"/>
          </a:xfrm>
          <a:prstGeom prst="rect">
            <a:avLst/>
          </a:prstGeom>
          <a:noFill/>
        </p:spPr>
        <p:txBody>
          <a:bodyPr wrap="square" rtlCol="0">
            <a:spAutoFit/>
          </a:bodyPr>
          <a:lstStyle/>
          <a:p>
            <a:pPr algn="r"/>
            <a:r>
              <a:rPr lang="en-US" sz="2000" b="1" dirty="0">
                <a:solidFill>
                  <a:schemeClr val="bg1"/>
                </a:solidFill>
              </a:rPr>
              <a:t>AGREE</a:t>
            </a:r>
            <a:endParaRPr lang="uk-UA" sz="2000" b="1" dirty="0">
              <a:solidFill>
                <a:schemeClr val="bg1"/>
              </a:solidFill>
            </a:endParaRPr>
          </a:p>
        </p:txBody>
      </p:sp>
      <p:sp>
        <p:nvSpPr>
          <p:cNvPr id="35" name="Rectangle: Rounded Corners 34">
            <a:extLst>
              <a:ext uri="{FF2B5EF4-FFF2-40B4-BE49-F238E27FC236}">
                <a16:creationId xmlns:a16="http://schemas.microsoft.com/office/drawing/2014/main" id="{850A92CD-04F1-2E19-6F38-8A0A702058F1}"/>
              </a:ext>
            </a:extLst>
          </p:cNvPr>
          <p:cNvSpPr/>
          <p:nvPr/>
        </p:nvSpPr>
        <p:spPr>
          <a:xfrm>
            <a:off x="2456049" y="850224"/>
            <a:ext cx="2016224" cy="982420"/>
          </a:xfrm>
          <a:prstGeom prst="roundRect">
            <a:avLst/>
          </a:prstGeom>
          <a:ln>
            <a:noFill/>
          </a:ln>
        </p:spPr>
        <p:style>
          <a:lnRef idx="2">
            <a:schemeClr val="accent1"/>
          </a:lnRef>
          <a:fillRef idx="1">
            <a:schemeClr val="lt1"/>
          </a:fillRef>
          <a:effectRef idx="0">
            <a:schemeClr val="accent1"/>
          </a:effectRef>
          <a:fontRef idx="minor">
            <a:schemeClr val="dk1"/>
          </a:fontRef>
        </p:style>
        <p:txBody>
          <a:bodyPr bIns="72000" rtlCol="0" anchor="ctr"/>
          <a:lstStyle/>
          <a:p>
            <a:pPr>
              <a:spcBef>
                <a:spcPts val="1200"/>
              </a:spcBef>
            </a:pPr>
            <a:r>
              <a:rPr lang="uk-UA" sz="1050" dirty="0"/>
              <a:t>Гнучке формування групового представлення через механізм уваги</a:t>
            </a:r>
          </a:p>
          <a:p>
            <a:pPr>
              <a:spcBef>
                <a:spcPts val="600"/>
              </a:spcBef>
            </a:pPr>
            <a:r>
              <a:rPr lang="uk-UA" sz="1050" dirty="0"/>
              <a:t>Динамічно визначає внесок кожного учасника групи</a:t>
            </a:r>
          </a:p>
        </p:txBody>
      </p:sp>
      <p:sp>
        <p:nvSpPr>
          <p:cNvPr id="36" name="Rectangle: Rounded Corners 35">
            <a:extLst>
              <a:ext uri="{FF2B5EF4-FFF2-40B4-BE49-F238E27FC236}">
                <a16:creationId xmlns:a16="http://schemas.microsoft.com/office/drawing/2014/main" id="{E171C4A3-AC3D-5D88-935E-2D0E7E8A583C}"/>
              </a:ext>
            </a:extLst>
          </p:cNvPr>
          <p:cNvSpPr/>
          <p:nvPr/>
        </p:nvSpPr>
        <p:spPr>
          <a:xfrm>
            <a:off x="2443879" y="1895519"/>
            <a:ext cx="2016224" cy="1018952"/>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spcBef>
                <a:spcPts val="600"/>
              </a:spcBef>
            </a:pPr>
            <a:r>
              <a:rPr lang="uk-UA" sz="1050" dirty="0"/>
              <a:t>Орієнтована на статичне подання групових уподобань</a:t>
            </a:r>
          </a:p>
          <a:p>
            <a:pPr>
              <a:spcBef>
                <a:spcPts val="600"/>
              </a:spcBef>
            </a:pPr>
            <a:r>
              <a:rPr lang="uk-UA" sz="1050" dirty="0"/>
              <a:t>Не враховує довгостроковий ефект рекомендацій</a:t>
            </a:r>
          </a:p>
        </p:txBody>
      </p:sp>
      <p:sp>
        <p:nvSpPr>
          <p:cNvPr id="42" name="Rectangle 41">
            <a:extLst>
              <a:ext uri="{FF2B5EF4-FFF2-40B4-BE49-F238E27FC236}">
                <a16:creationId xmlns:a16="http://schemas.microsoft.com/office/drawing/2014/main" id="{9127EC53-FA13-FFA0-3766-FBDE18EE8DCF}"/>
              </a:ext>
            </a:extLst>
          </p:cNvPr>
          <p:cNvSpPr/>
          <p:nvPr/>
        </p:nvSpPr>
        <p:spPr>
          <a:xfrm>
            <a:off x="4681131" y="370427"/>
            <a:ext cx="2090972" cy="2592288"/>
          </a:xfrm>
          <a:prstGeom prst="rect">
            <a:avLst/>
          </a:prstGeom>
          <a:gradFill flip="none" rotWithShape="1">
            <a:gsLst>
              <a:gs pos="0">
                <a:srgbClr val="8174E1"/>
              </a:gs>
              <a:gs pos="16000">
                <a:srgbClr val="8174E1"/>
              </a:gs>
              <a:gs pos="16000">
                <a:srgbClr val="E9F0FD"/>
              </a:gs>
            </a:gsLst>
            <a:lin ang="5400000" scaled="0"/>
            <a:tileRect/>
          </a:gradFill>
          <a:ln cap="rnd" cmpd="sng">
            <a:solidFill>
              <a:srgbClr val="8174E1"/>
            </a:solidFill>
            <a:round/>
            <a:extLst>
              <a:ext uri="{C807C97D-BFC1-408E-A445-0C87EB9F89A2}">
                <ask:lineSketchStyleProps xmlns:ask="http://schemas.microsoft.com/office/drawing/2018/sketchyshapes" sd="1219033472">
                  <a:custGeom>
                    <a:avLst/>
                    <a:gdLst>
                      <a:gd name="csX0" fmla="*/ 0 w 2090972"/>
                      <a:gd name="csY0" fmla="*/ 0 h 2592288"/>
                      <a:gd name="csX1" fmla="*/ 2090972 w 2090972"/>
                      <a:gd name="csY1" fmla="*/ 0 h 2592288"/>
                      <a:gd name="csX2" fmla="*/ 2090972 w 2090972"/>
                      <a:gd name="csY2" fmla="*/ 2592288 h 2592288"/>
                      <a:gd name="csX3" fmla="*/ 0 w 2090972"/>
                      <a:gd name="csY3" fmla="*/ 2592288 h 2592288"/>
                      <a:gd name="csX4" fmla="*/ 0 w 2090972"/>
                      <a:gd name="csY4" fmla="*/ 0 h 2592288"/>
                    </a:gdLst>
                    <a:ahLst/>
                    <a:cxnLst>
                      <a:cxn ang="0">
                        <a:pos x="csX0" y="csY0"/>
                      </a:cxn>
                      <a:cxn ang="0">
                        <a:pos x="csX1" y="csY1"/>
                      </a:cxn>
                      <a:cxn ang="0">
                        <a:pos x="csX2" y="csY2"/>
                      </a:cxn>
                      <a:cxn ang="0">
                        <a:pos x="csX3" y="csY3"/>
                      </a:cxn>
                      <a:cxn ang="0">
                        <a:pos x="csX4" y="csY4"/>
                      </a:cxn>
                    </a:cxnLst>
                    <a:rect l="l" t="t" r="r" b="b"/>
                    <a:pathLst>
                      <a:path w="2090972" h="2592288" fill="none" extrusionOk="0">
                        <a:moveTo>
                          <a:pt x="0" y="0"/>
                        </a:moveTo>
                        <a:cubicBezTo>
                          <a:pt x="743204" y="-49533"/>
                          <a:pt x="1454746" y="-14809"/>
                          <a:pt x="2090972" y="0"/>
                        </a:cubicBezTo>
                        <a:cubicBezTo>
                          <a:pt x="2178611" y="1089516"/>
                          <a:pt x="2018293" y="1476090"/>
                          <a:pt x="2090972" y="2592288"/>
                        </a:cubicBezTo>
                        <a:cubicBezTo>
                          <a:pt x="1194948" y="2544057"/>
                          <a:pt x="809259" y="2676743"/>
                          <a:pt x="0" y="2592288"/>
                        </a:cubicBezTo>
                        <a:cubicBezTo>
                          <a:pt x="-38581" y="2326309"/>
                          <a:pt x="63341" y="854299"/>
                          <a:pt x="0" y="0"/>
                        </a:cubicBezTo>
                        <a:close/>
                      </a:path>
                      <a:path w="2090972" h="2592288" stroke="0" extrusionOk="0">
                        <a:moveTo>
                          <a:pt x="0" y="0"/>
                        </a:moveTo>
                        <a:cubicBezTo>
                          <a:pt x="966340" y="118645"/>
                          <a:pt x="1177507" y="116012"/>
                          <a:pt x="2090972" y="0"/>
                        </a:cubicBezTo>
                        <a:cubicBezTo>
                          <a:pt x="1958090" y="1221186"/>
                          <a:pt x="2175923" y="2236294"/>
                          <a:pt x="2090972" y="2592288"/>
                        </a:cubicBezTo>
                        <a:cubicBezTo>
                          <a:pt x="1315320" y="2726888"/>
                          <a:pt x="991263" y="2435092"/>
                          <a:pt x="0" y="2592288"/>
                        </a:cubicBezTo>
                        <a:cubicBezTo>
                          <a:pt x="-20187" y="1742079"/>
                          <a:pt x="-152480" y="364087"/>
                          <a:pt x="0" y="0"/>
                        </a:cubicBezTo>
                        <a:close/>
                      </a:path>
                    </a:pathLst>
                  </a:custGeom>
                  <ask:type>
                    <ask:lineSketchNone/>
                  </ask:type>
                </ask:lineSketchStyleProps>
              </a:ext>
            </a:extLst>
          </a:ln>
          <a:effectLst>
            <a:outerShdw blurRad="50800" dist="38100" dir="2700000" algn="tl" rotWithShape="0">
              <a:prstClr val="black">
                <a:alpha val="7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uk-UA" dirty="0"/>
          </a:p>
        </p:txBody>
      </p:sp>
      <p:sp>
        <p:nvSpPr>
          <p:cNvPr id="43" name="TextBox 42">
            <a:extLst>
              <a:ext uri="{FF2B5EF4-FFF2-40B4-BE49-F238E27FC236}">
                <a16:creationId xmlns:a16="http://schemas.microsoft.com/office/drawing/2014/main" id="{0CBA71B4-44EA-93E8-0473-6BB1F1D6667A}"/>
              </a:ext>
            </a:extLst>
          </p:cNvPr>
          <p:cNvSpPr txBox="1"/>
          <p:nvPr/>
        </p:nvSpPr>
        <p:spPr>
          <a:xfrm>
            <a:off x="4984061" y="378866"/>
            <a:ext cx="1602626" cy="400110"/>
          </a:xfrm>
          <a:prstGeom prst="rect">
            <a:avLst/>
          </a:prstGeom>
          <a:noFill/>
        </p:spPr>
        <p:txBody>
          <a:bodyPr wrap="square" rtlCol="0">
            <a:spAutoFit/>
          </a:bodyPr>
          <a:lstStyle/>
          <a:p>
            <a:pPr algn="r"/>
            <a:r>
              <a:rPr lang="en-US" sz="2000" b="1" dirty="0">
                <a:solidFill>
                  <a:schemeClr val="bg1"/>
                </a:solidFill>
              </a:rPr>
              <a:t>  GroupIM</a:t>
            </a:r>
            <a:endParaRPr lang="uk-UA" sz="2000" b="1" dirty="0">
              <a:solidFill>
                <a:schemeClr val="bg1"/>
              </a:solidFill>
            </a:endParaRPr>
          </a:p>
        </p:txBody>
      </p:sp>
      <p:sp>
        <p:nvSpPr>
          <p:cNvPr id="44" name="Rectangle: Rounded Corners 43">
            <a:extLst>
              <a:ext uri="{FF2B5EF4-FFF2-40B4-BE49-F238E27FC236}">
                <a16:creationId xmlns:a16="http://schemas.microsoft.com/office/drawing/2014/main" id="{46311B15-1EA2-E865-B605-036E291DB4C2}"/>
              </a:ext>
            </a:extLst>
          </p:cNvPr>
          <p:cNvSpPr/>
          <p:nvPr/>
        </p:nvSpPr>
        <p:spPr>
          <a:xfrm>
            <a:off x="4722680" y="850224"/>
            <a:ext cx="2016224" cy="982420"/>
          </a:xfrm>
          <a:prstGeom prst="roundRect">
            <a:avLst/>
          </a:prstGeom>
          <a:ln>
            <a:noFill/>
          </a:ln>
        </p:spPr>
        <p:style>
          <a:lnRef idx="2">
            <a:schemeClr val="accent1"/>
          </a:lnRef>
          <a:fillRef idx="1">
            <a:schemeClr val="lt1"/>
          </a:fillRef>
          <a:effectRef idx="0">
            <a:schemeClr val="accent1"/>
          </a:effectRef>
          <a:fontRef idx="minor">
            <a:schemeClr val="dk1"/>
          </a:fontRef>
        </p:style>
        <p:txBody>
          <a:bodyPr bIns="72000" rtlCol="0" anchor="ctr"/>
          <a:lstStyle/>
          <a:p>
            <a:pPr>
              <a:spcBef>
                <a:spcPts val="1200"/>
              </a:spcBef>
            </a:pPr>
            <a:r>
              <a:rPr lang="uk-UA" sz="1050" dirty="0"/>
              <a:t>Враховує індивідуальні вподобання користувачів</a:t>
            </a:r>
          </a:p>
          <a:p>
            <a:pPr>
              <a:spcBef>
                <a:spcPts val="600"/>
              </a:spcBef>
            </a:pPr>
            <a:r>
              <a:rPr lang="uk-UA" sz="1050" dirty="0"/>
              <a:t>Стійка при нестачі спільних взаємодій</a:t>
            </a:r>
          </a:p>
        </p:txBody>
      </p:sp>
      <p:sp>
        <p:nvSpPr>
          <p:cNvPr id="45" name="Rectangle: Rounded Corners 44">
            <a:extLst>
              <a:ext uri="{FF2B5EF4-FFF2-40B4-BE49-F238E27FC236}">
                <a16:creationId xmlns:a16="http://schemas.microsoft.com/office/drawing/2014/main" id="{28C20461-4E89-A108-DA4D-D35EC5630F89}"/>
              </a:ext>
            </a:extLst>
          </p:cNvPr>
          <p:cNvSpPr/>
          <p:nvPr/>
        </p:nvSpPr>
        <p:spPr>
          <a:xfrm>
            <a:off x="4710510" y="1895519"/>
            <a:ext cx="2016224" cy="1018952"/>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spcBef>
                <a:spcPts val="600"/>
              </a:spcBef>
            </a:pPr>
            <a:r>
              <a:rPr lang="uk-UA" sz="1050" dirty="0"/>
              <a:t>Не моделює часову динаміку групових інтересів</a:t>
            </a:r>
          </a:p>
          <a:p>
            <a:pPr>
              <a:spcBef>
                <a:spcPts val="600"/>
              </a:spcBef>
            </a:pPr>
            <a:r>
              <a:rPr lang="uk-UA" sz="1050" dirty="0"/>
              <a:t>Залежить від налаштування </a:t>
            </a:r>
            <a:r>
              <a:rPr lang="uk-UA" sz="1050" dirty="0" err="1"/>
              <a:t>регуляризаційних</a:t>
            </a:r>
            <a:r>
              <a:rPr lang="uk-UA" sz="1050" dirty="0"/>
              <a:t> параметрів</a:t>
            </a:r>
          </a:p>
        </p:txBody>
      </p:sp>
      <p:sp>
        <p:nvSpPr>
          <p:cNvPr id="51" name="Rectangle 50">
            <a:extLst>
              <a:ext uri="{FF2B5EF4-FFF2-40B4-BE49-F238E27FC236}">
                <a16:creationId xmlns:a16="http://schemas.microsoft.com/office/drawing/2014/main" id="{8111FE96-3E36-AA1B-BA9A-AF9DA4EA26E0}"/>
              </a:ext>
            </a:extLst>
          </p:cNvPr>
          <p:cNvSpPr/>
          <p:nvPr/>
        </p:nvSpPr>
        <p:spPr>
          <a:xfrm>
            <a:off x="6934569" y="369969"/>
            <a:ext cx="2090972" cy="2592288"/>
          </a:xfrm>
          <a:prstGeom prst="rect">
            <a:avLst/>
          </a:prstGeom>
          <a:gradFill flip="none" rotWithShape="1">
            <a:gsLst>
              <a:gs pos="0">
                <a:srgbClr val="FDA041"/>
              </a:gs>
              <a:gs pos="16000">
                <a:srgbClr val="FDA041"/>
              </a:gs>
              <a:gs pos="16000">
                <a:srgbClr val="E9F0FD"/>
              </a:gs>
            </a:gsLst>
            <a:lin ang="5400000" scaled="0"/>
            <a:tileRect/>
          </a:gradFill>
          <a:ln cap="rnd" cmpd="sng">
            <a:solidFill>
              <a:srgbClr val="FDA041"/>
            </a:solidFill>
            <a:round/>
            <a:extLst>
              <a:ext uri="{C807C97D-BFC1-408E-A445-0C87EB9F89A2}">
                <ask:lineSketchStyleProps xmlns:ask="http://schemas.microsoft.com/office/drawing/2018/sketchyshapes" sd="1219033472">
                  <a:custGeom>
                    <a:avLst/>
                    <a:gdLst>
                      <a:gd name="csX0" fmla="*/ 0 w 2090972"/>
                      <a:gd name="csY0" fmla="*/ 0 h 2592288"/>
                      <a:gd name="csX1" fmla="*/ 2090972 w 2090972"/>
                      <a:gd name="csY1" fmla="*/ 0 h 2592288"/>
                      <a:gd name="csX2" fmla="*/ 2090972 w 2090972"/>
                      <a:gd name="csY2" fmla="*/ 2592288 h 2592288"/>
                      <a:gd name="csX3" fmla="*/ 0 w 2090972"/>
                      <a:gd name="csY3" fmla="*/ 2592288 h 2592288"/>
                      <a:gd name="csX4" fmla="*/ 0 w 2090972"/>
                      <a:gd name="csY4" fmla="*/ 0 h 2592288"/>
                    </a:gdLst>
                    <a:ahLst/>
                    <a:cxnLst>
                      <a:cxn ang="0">
                        <a:pos x="csX0" y="csY0"/>
                      </a:cxn>
                      <a:cxn ang="0">
                        <a:pos x="csX1" y="csY1"/>
                      </a:cxn>
                      <a:cxn ang="0">
                        <a:pos x="csX2" y="csY2"/>
                      </a:cxn>
                      <a:cxn ang="0">
                        <a:pos x="csX3" y="csY3"/>
                      </a:cxn>
                      <a:cxn ang="0">
                        <a:pos x="csX4" y="csY4"/>
                      </a:cxn>
                    </a:cxnLst>
                    <a:rect l="l" t="t" r="r" b="b"/>
                    <a:pathLst>
                      <a:path w="2090972" h="2592288" fill="none" extrusionOk="0">
                        <a:moveTo>
                          <a:pt x="0" y="0"/>
                        </a:moveTo>
                        <a:cubicBezTo>
                          <a:pt x="743204" y="-49533"/>
                          <a:pt x="1454746" y="-14809"/>
                          <a:pt x="2090972" y="0"/>
                        </a:cubicBezTo>
                        <a:cubicBezTo>
                          <a:pt x="2178611" y="1089516"/>
                          <a:pt x="2018293" y="1476090"/>
                          <a:pt x="2090972" y="2592288"/>
                        </a:cubicBezTo>
                        <a:cubicBezTo>
                          <a:pt x="1194948" y="2544057"/>
                          <a:pt x="809259" y="2676743"/>
                          <a:pt x="0" y="2592288"/>
                        </a:cubicBezTo>
                        <a:cubicBezTo>
                          <a:pt x="-38581" y="2326309"/>
                          <a:pt x="63341" y="854299"/>
                          <a:pt x="0" y="0"/>
                        </a:cubicBezTo>
                        <a:close/>
                      </a:path>
                      <a:path w="2090972" h="2592288" stroke="0" extrusionOk="0">
                        <a:moveTo>
                          <a:pt x="0" y="0"/>
                        </a:moveTo>
                        <a:cubicBezTo>
                          <a:pt x="966340" y="118645"/>
                          <a:pt x="1177507" y="116012"/>
                          <a:pt x="2090972" y="0"/>
                        </a:cubicBezTo>
                        <a:cubicBezTo>
                          <a:pt x="1958090" y="1221186"/>
                          <a:pt x="2175923" y="2236294"/>
                          <a:pt x="2090972" y="2592288"/>
                        </a:cubicBezTo>
                        <a:cubicBezTo>
                          <a:pt x="1315320" y="2726888"/>
                          <a:pt x="991263" y="2435092"/>
                          <a:pt x="0" y="2592288"/>
                        </a:cubicBezTo>
                        <a:cubicBezTo>
                          <a:pt x="-20187" y="1742079"/>
                          <a:pt x="-152480" y="364087"/>
                          <a:pt x="0" y="0"/>
                        </a:cubicBezTo>
                        <a:close/>
                      </a:path>
                    </a:pathLst>
                  </a:custGeom>
                  <ask:type>
                    <ask:lineSketchNone/>
                  </ask:type>
                </ask:lineSketchStyleProps>
              </a:ext>
            </a:extLst>
          </a:ln>
          <a:effectLst>
            <a:outerShdw blurRad="50800" dist="38100" dir="2700000" algn="tl" rotWithShape="0">
              <a:prstClr val="black">
                <a:alpha val="7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uk-UA" dirty="0"/>
          </a:p>
        </p:txBody>
      </p:sp>
      <p:sp>
        <p:nvSpPr>
          <p:cNvPr id="52" name="TextBox 51">
            <a:extLst>
              <a:ext uri="{FF2B5EF4-FFF2-40B4-BE49-F238E27FC236}">
                <a16:creationId xmlns:a16="http://schemas.microsoft.com/office/drawing/2014/main" id="{48C37228-E828-C62F-57D0-855CF6B66D66}"/>
              </a:ext>
            </a:extLst>
          </p:cNvPr>
          <p:cNvSpPr txBox="1"/>
          <p:nvPr/>
        </p:nvSpPr>
        <p:spPr>
          <a:xfrm>
            <a:off x="7380312" y="378866"/>
            <a:ext cx="1140349" cy="400110"/>
          </a:xfrm>
          <a:prstGeom prst="rect">
            <a:avLst/>
          </a:prstGeom>
          <a:noFill/>
        </p:spPr>
        <p:txBody>
          <a:bodyPr wrap="square" rtlCol="0">
            <a:spAutoFit/>
          </a:bodyPr>
          <a:lstStyle/>
          <a:p>
            <a:pPr algn="r"/>
            <a:r>
              <a:rPr lang="en-US" sz="2000" b="1" dirty="0">
                <a:solidFill>
                  <a:schemeClr val="bg1"/>
                </a:solidFill>
              </a:rPr>
              <a:t>DRGR</a:t>
            </a:r>
            <a:endParaRPr lang="uk-UA" sz="2000" b="1" dirty="0">
              <a:solidFill>
                <a:schemeClr val="bg1"/>
              </a:solidFill>
            </a:endParaRPr>
          </a:p>
        </p:txBody>
      </p:sp>
      <p:sp>
        <p:nvSpPr>
          <p:cNvPr id="53" name="Rectangle: Rounded Corners 52">
            <a:extLst>
              <a:ext uri="{FF2B5EF4-FFF2-40B4-BE49-F238E27FC236}">
                <a16:creationId xmlns:a16="http://schemas.microsoft.com/office/drawing/2014/main" id="{1FB710AA-2537-5DC5-CD8B-53B25DC08C37}"/>
              </a:ext>
            </a:extLst>
          </p:cNvPr>
          <p:cNvSpPr/>
          <p:nvPr/>
        </p:nvSpPr>
        <p:spPr>
          <a:xfrm>
            <a:off x="6976118" y="849766"/>
            <a:ext cx="2016224" cy="982420"/>
          </a:xfrm>
          <a:prstGeom prst="roundRect">
            <a:avLst/>
          </a:prstGeom>
          <a:ln>
            <a:noFill/>
          </a:ln>
        </p:spPr>
        <p:style>
          <a:lnRef idx="2">
            <a:schemeClr val="accent1"/>
          </a:lnRef>
          <a:fillRef idx="1">
            <a:schemeClr val="lt1"/>
          </a:fillRef>
          <a:effectRef idx="0">
            <a:schemeClr val="accent1"/>
          </a:effectRef>
          <a:fontRef idx="minor">
            <a:schemeClr val="dk1"/>
          </a:fontRef>
        </p:style>
        <p:txBody>
          <a:bodyPr bIns="72000" rtlCol="0" anchor="ctr"/>
          <a:lstStyle/>
          <a:p>
            <a:pPr>
              <a:spcBef>
                <a:spcPts val="1200"/>
              </a:spcBef>
            </a:pPr>
            <a:r>
              <a:rPr lang="uk-UA" sz="1050" dirty="0"/>
              <a:t>Використовує машинне навчання з підкріпленням</a:t>
            </a:r>
          </a:p>
          <a:p>
            <a:pPr>
              <a:spcBef>
                <a:spcPts val="600"/>
              </a:spcBef>
            </a:pPr>
            <a:r>
              <a:rPr lang="uk-UA" sz="1050" dirty="0"/>
              <a:t>Враховує послідовність у часі</a:t>
            </a:r>
          </a:p>
          <a:p>
            <a:pPr>
              <a:spcBef>
                <a:spcPts val="600"/>
              </a:spcBef>
            </a:pPr>
            <a:r>
              <a:rPr lang="uk-UA" sz="1050" dirty="0"/>
              <a:t>Моделює довгостроковий ефект рекомендацій у часі</a:t>
            </a:r>
          </a:p>
        </p:txBody>
      </p:sp>
      <p:sp>
        <p:nvSpPr>
          <p:cNvPr id="54" name="Rectangle: Rounded Corners 53">
            <a:extLst>
              <a:ext uri="{FF2B5EF4-FFF2-40B4-BE49-F238E27FC236}">
                <a16:creationId xmlns:a16="http://schemas.microsoft.com/office/drawing/2014/main" id="{054731EB-7A7D-52E9-BF65-55D6A93B2C54}"/>
              </a:ext>
            </a:extLst>
          </p:cNvPr>
          <p:cNvSpPr/>
          <p:nvPr/>
        </p:nvSpPr>
        <p:spPr>
          <a:xfrm>
            <a:off x="6963948" y="1895061"/>
            <a:ext cx="2016224" cy="1018952"/>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spcBef>
                <a:spcPts val="600"/>
              </a:spcBef>
            </a:pPr>
            <a:r>
              <a:rPr lang="uk-UA" sz="1050" dirty="0"/>
              <a:t>Спрощене формування стану групи та представлення користувачів</a:t>
            </a:r>
          </a:p>
          <a:p>
            <a:pPr>
              <a:spcBef>
                <a:spcPts val="600"/>
              </a:spcBef>
            </a:pPr>
            <a:r>
              <a:rPr lang="uk-UA" sz="1050" dirty="0"/>
              <a:t>Залежність від способу підготовки навчальних даних</a:t>
            </a:r>
          </a:p>
        </p:txBody>
      </p:sp>
      <p:pic>
        <p:nvPicPr>
          <p:cNvPr id="87" name="Graphic 86">
            <a:extLst>
              <a:ext uri="{FF2B5EF4-FFF2-40B4-BE49-F238E27FC236}">
                <a16:creationId xmlns:a16="http://schemas.microsoft.com/office/drawing/2014/main" id="{CD9861ED-464C-7821-C2E4-E9E37D55BA8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2730678" y="351999"/>
            <a:ext cx="447389" cy="447389"/>
          </a:xfrm>
          <a:prstGeom prst="rect">
            <a:avLst/>
          </a:prstGeom>
        </p:spPr>
      </p:pic>
      <p:pic>
        <p:nvPicPr>
          <p:cNvPr id="89" name="Graphic 88">
            <a:extLst>
              <a:ext uri="{FF2B5EF4-FFF2-40B4-BE49-F238E27FC236}">
                <a16:creationId xmlns:a16="http://schemas.microsoft.com/office/drawing/2014/main" id="{69D79BB3-55A1-B7BB-07B3-DDCD2E0233E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39147" y="346217"/>
            <a:ext cx="447390" cy="447390"/>
          </a:xfrm>
          <a:prstGeom prst="rect">
            <a:avLst/>
          </a:prstGeom>
        </p:spPr>
      </p:pic>
      <p:pic>
        <p:nvPicPr>
          <p:cNvPr id="93" name="Graphic 92">
            <a:extLst>
              <a:ext uri="{FF2B5EF4-FFF2-40B4-BE49-F238E27FC236}">
                <a16:creationId xmlns:a16="http://schemas.microsoft.com/office/drawing/2014/main" id="{48050BA2-1A0F-B507-DD17-28892649770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84061" y="341105"/>
            <a:ext cx="459256" cy="459256"/>
          </a:xfrm>
          <a:prstGeom prst="rect">
            <a:avLst/>
          </a:prstGeom>
        </p:spPr>
      </p:pic>
      <p:pic>
        <p:nvPicPr>
          <p:cNvPr id="95" name="Graphic 94">
            <a:extLst>
              <a:ext uri="{FF2B5EF4-FFF2-40B4-BE49-F238E27FC236}">
                <a16:creationId xmlns:a16="http://schemas.microsoft.com/office/drawing/2014/main" id="{F35E6FDC-9743-4D7F-9044-BB96C92AF5F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246659" y="347796"/>
            <a:ext cx="459256" cy="459256"/>
          </a:xfrm>
          <a:prstGeom prst="rect">
            <a:avLst/>
          </a:prstGeom>
        </p:spPr>
      </p:pic>
      <p:pic>
        <p:nvPicPr>
          <p:cNvPr id="107" name="Graphic 106">
            <a:extLst>
              <a:ext uri="{FF2B5EF4-FFF2-40B4-BE49-F238E27FC236}">
                <a16:creationId xmlns:a16="http://schemas.microsoft.com/office/drawing/2014/main" id="{5EAEF6FE-3B65-AC4C-6E0D-F0415E880B8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175197" y="2444001"/>
            <a:ext cx="136001" cy="136001"/>
          </a:xfrm>
          <a:prstGeom prst="rect">
            <a:avLst/>
          </a:prstGeom>
        </p:spPr>
      </p:pic>
      <p:pic>
        <p:nvPicPr>
          <p:cNvPr id="108" name="Graphic 107">
            <a:extLst>
              <a:ext uri="{FF2B5EF4-FFF2-40B4-BE49-F238E27FC236}">
                <a16:creationId xmlns:a16="http://schemas.microsoft.com/office/drawing/2014/main" id="{C3CA013E-245D-FADF-0271-DF42CB8A7BD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175196" y="2051845"/>
            <a:ext cx="136001" cy="136001"/>
          </a:xfrm>
          <a:prstGeom prst="rect">
            <a:avLst/>
          </a:prstGeom>
        </p:spPr>
      </p:pic>
      <p:pic>
        <p:nvPicPr>
          <p:cNvPr id="112" name="Graphic 111">
            <a:extLst>
              <a:ext uri="{FF2B5EF4-FFF2-40B4-BE49-F238E27FC236}">
                <a16:creationId xmlns:a16="http://schemas.microsoft.com/office/drawing/2014/main" id="{22FE92FD-A1BE-5A83-8FF5-512DE69593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2443879" y="2435749"/>
            <a:ext cx="136001" cy="136001"/>
          </a:xfrm>
          <a:prstGeom prst="rect">
            <a:avLst/>
          </a:prstGeom>
        </p:spPr>
      </p:pic>
      <p:pic>
        <p:nvPicPr>
          <p:cNvPr id="113" name="Graphic 112">
            <a:extLst>
              <a:ext uri="{FF2B5EF4-FFF2-40B4-BE49-F238E27FC236}">
                <a16:creationId xmlns:a16="http://schemas.microsoft.com/office/drawing/2014/main" id="{9CFD9017-CFB2-9034-28A5-E205636CF10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2443878" y="2043593"/>
            <a:ext cx="136001" cy="136001"/>
          </a:xfrm>
          <a:prstGeom prst="rect">
            <a:avLst/>
          </a:prstGeom>
        </p:spPr>
      </p:pic>
      <p:pic>
        <p:nvPicPr>
          <p:cNvPr id="116" name="Graphic 115">
            <a:extLst>
              <a:ext uri="{FF2B5EF4-FFF2-40B4-BE49-F238E27FC236}">
                <a16:creationId xmlns:a16="http://schemas.microsoft.com/office/drawing/2014/main" id="{D1732364-A92B-91E1-349E-FEF97B5EA1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4722042" y="2435749"/>
            <a:ext cx="136001" cy="136001"/>
          </a:xfrm>
          <a:prstGeom prst="rect">
            <a:avLst/>
          </a:prstGeom>
        </p:spPr>
      </p:pic>
      <p:pic>
        <p:nvPicPr>
          <p:cNvPr id="117" name="Graphic 116">
            <a:extLst>
              <a:ext uri="{FF2B5EF4-FFF2-40B4-BE49-F238E27FC236}">
                <a16:creationId xmlns:a16="http://schemas.microsoft.com/office/drawing/2014/main" id="{1AB82D39-29CE-5C3F-36FC-F92A4EA2DC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4722041" y="2043593"/>
            <a:ext cx="136001" cy="136001"/>
          </a:xfrm>
          <a:prstGeom prst="rect">
            <a:avLst/>
          </a:prstGeom>
        </p:spPr>
      </p:pic>
      <p:pic>
        <p:nvPicPr>
          <p:cNvPr id="118" name="Graphic 117">
            <a:extLst>
              <a:ext uri="{FF2B5EF4-FFF2-40B4-BE49-F238E27FC236}">
                <a16:creationId xmlns:a16="http://schemas.microsoft.com/office/drawing/2014/main" id="{1C855778-B91E-BC0A-A6F1-A22A86D629A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6973641" y="2512001"/>
            <a:ext cx="136001" cy="136001"/>
          </a:xfrm>
          <a:prstGeom prst="rect">
            <a:avLst/>
          </a:prstGeom>
        </p:spPr>
      </p:pic>
      <p:pic>
        <p:nvPicPr>
          <p:cNvPr id="119" name="Graphic 118">
            <a:extLst>
              <a:ext uri="{FF2B5EF4-FFF2-40B4-BE49-F238E27FC236}">
                <a16:creationId xmlns:a16="http://schemas.microsoft.com/office/drawing/2014/main" id="{36601498-164D-E5F7-7D90-CF6B37428AA7}"/>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flipH="1">
            <a:off x="6976118" y="1983844"/>
            <a:ext cx="136001" cy="136001"/>
          </a:xfrm>
          <a:prstGeom prst="rect">
            <a:avLst/>
          </a:prstGeom>
        </p:spPr>
      </p:pic>
      <p:pic>
        <p:nvPicPr>
          <p:cNvPr id="121" name="Graphic 120">
            <a:extLst>
              <a:ext uri="{FF2B5EF4-FFF2-40B4-BE49-F238E27FC236}">
                <a16:creationId xmlns:a16="http://schemas.microsoft.com/office/drawing/2014/main" id="{DB79ECE2-F501-668E-CEF4-3D14620FC7A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712926" y="952148"/>
            <a:ext cx="181607" cy="181607"/>
          </a:xfrm>
          <a:prstGeom prst="rect">
            <a:avLst/>
          </a:prstGeom>
        </p:spPr>
      </p:pic>
      <p:pic>
        <p:nvPicPr>
          <p:cNvPr id="126" name="Graphic 125">
            <a:extLst>
              <a:ext uri="{FF2B5EF4-FFF2-40B4-BE49-F238E27FC236}">
                <a16:creationId xmlns:a16="http://schemas.microsoft.com/office/drawing/2014/main" id="{FDD0F283-9125-5AA1-D218-8EAC883BE00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702530" y="1347614"/>
            <a:ext cx="181607" cy="181607"/>
          </a:xfrm>
          <a:prstGeom prst="rect">
            <a:avLst/>
          </a:prstGeom>
        </p:spPr>
      </p:pic>
      <p:pic>
        <p:nvPicPr>
          <p:cNvPr id="127" name="Graphic 126">
            <a:extLst>
              <a:ext uri="{FF2B5EF4-FFF2-40B4-BE49-F238E27FC236}">
                <a16:creationId xmlns:a16="http://schemas.microsoft.com/office/drawing/2014/main" id="{BDE9C20C-58EA-F5B9-7D06-B4AEB94C213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57159" y="1238079"/>
            <a:ext cx="181607" cy="181607"/>
          </a:xfrm>
          <a:prstGeom prst="rect">
            <a:avLst/>
          </a:prstGeom>
        </p:spPr>
      </p:pic>
      <p:pic>
        <p:nvPicPr>
          <p:cNvPr id="128" name="Graphic 127">
            <a:extLst>
              <a:ext uri="{FF2B5EF4-FFF2-40B4-BE49-F238E27FC236}">
                <a16:creationId xmlns:a16="http://schemas.microsoft.com/office/drawing/2014/main" id="{5B677B29-0C66-F7EC-811F-3ACD624330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54725" y="833486"/>
            <a:ext cx="181607" cy="181607"/>
          </a:xfrm>
          <a:prstGeom prst="rect">
            <a:avLst/>
          </a:prstGeom>
        </p:spPr>
      </p:pic>
      <p:pic>
        <p:nvPicPr>
          <p:cNvPr id="129" name="Graphic 128">
            <a:extLst>
              <a:ext uri="{FF2B5EF4-FFF2-40B4-BE49-F238E27FC236}">
                <a16:creationId xmlns:a16="http://schemas.microsoft.com/office/drawing/2014/main" id="{C4D5E8D1-35FC-B917-0332-25AD59C89D4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54725" y="1469335"/>
            <a:ext cx="181607" cy="181607"/>
          </a:xfrm>
          <a:prstGeom prst="rect">
            <a:avLst/>
          </a:prstGeom>
        </p:spPr>
      </p:pic>
      <p:pic>
        <p:nvPicPr>
          <p:cNvPr id="130" name="Graphic 129">
            <a:extLst>
              <a:ext uri="{FF2B5EF4-FFF2-40B4-BE49-F238E27FC236}">
                <a16:creationId xmlns:a16="http://schemas.microsoft.com/office/drawing/2014/main" id="{65B5169F-4793-6808-4858-0DE91D1F839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41766" y="868808"/>
            <a:ext cx="181607" cy="181607"/>
          </a:xfrm>
          <a:prstGeom prst="rect">
            <a:avLst/>
          </a:prstGeom>
        </p:spPr>
      </p:pic>
      <p:pic>
        <p:nvPicPr>
          <p:cNvPr id="131" name="Graphic 130">
            <a:extLst>
              <a:ext uri="{FF2B5EF4-FFF2-40B4-BE49-F238E27FC236}">
                <a16:creationId xmlns:a16="http://schemas.microsoft.com/office/drawing/2014/main" id="{C1B3D9BC-344F-A108-7D45-E7A3CF9E381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41538" y="1433843"/>
            <a:ext cx="181607" cy="181607"/>
          </a:xfrm>
          <a:prstGeom prst="rect">
            <a:avLst/>
          </a:prstGeom>
        </p:spPr>
      </p:pic>
      <p:pic>
        <p:nvPicPr>
          <p:cNvPr id="132" name="Graphic 131">
            <a:extLst>
              <a:ext uri="{FF2B5EF4-FFF2-40B4-BE49-F238E27FC236}">
                <a16:creationId xmlns:a16="http://schemas.microsoft.com/office/drawing/2014/main" id="{95057B1C-73ED-0A95-98B9-67CA9A74450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60320" y="1340976"/>
            <a:ext cx="181607" cy="181607"/>
          </a:xfrm>
          <a:prstGeom prst="rect">
            <a:avLst/>
          </a:prstGeom>
        </p:spPr>
      </p:pic>
      <p:pic>
        <p:nvPicPr>
          <p:cNvPr id="133" name="Graphic 132">
            <a:extLst>
              <a:ext uri="{FF2B5EF4-FFF2-40B4-BE49-F238E27FC236}">
                <a16:creationId xmlns:a16="http://schemas.microsoft.com/office/drawing/2014/main" id="{039C8ECB-D334-7A69-4A58-F657955081FD}"/>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60319" y="942233"/>
            <a:ext cx="181607" cy="181607"/>
          </a:xfrm>
          <a:prstGeom prst="rect">
            <a:avLst/>
          </a:prstGeom>
        </p:spPr>
      </p:pic>
      <p:sp>
        <p:nvSpPr>
          <p:cNvPr id="4" name="Підзаголовок 2">
            <a:extLst>
              <a:ext uri="{FF2B5EF4-FFF2-40B4-BE49-F238E27FC236}">
                <a16:creationId xmlns:a16="http://schemas.microsoft.com/office/drawing/2014/main" id="{5A75D87A-00DE-0037-E9A5-1234FD09D8FC}"/>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3</a:t>
            </a:r>
            <a:endParaRPr lang="uk-UA" sz="1200" dirty="0">
              <a:solidFill>
                <a:schemeClr val="tx1"/>
              </a:solidFill>
            </a:endParaRPr>
          </a:p>
        </p:txBody>
      </p:sp>
    </p:spTree>
    <p:extLst>
      <p:ext uri="{BB962C8B-B14F-4D97-AF65-F5344CB8AC3E}">
        <p14:creationId xmlns:p14="http://schemas.microsoft.com/office/powerpoint/2010/main" val="259918021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1"/>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Машинне навчання з підкріпленням</a:t>
            </a:r>
          </a:p>
        </p:txBody>
      </p:sp>
      <p:sp>
        <p:nvSpPr>
          <p:cNvPr id="14" name="TextBox 13">
            <a:extLst>
              <a:ext uri="{FF2B5EF4-FFF2-40B4-BE49-F238E27FC236}">
                <a16:creationId xmlns:a16="http://schemas.microsoft.com/office/drawing/2014/main" id="{5FE0664E-D4E3-4E5F-9401-18AE1622CFAE}"/>
              </a:ext>
            </a:extLst>
          </p:cNvPr>
          <p:cNvSpPr txBox="1"/>
          <p:nvPr/>
        </p:nvSpPr>
        <p:spPr>
          <a:xfrm>
            <a:off x="265227" y="3466039"/>
            <a:ext cx="3966438" cy="1708160"/>
          </a:xfrm>
          <a:prstGeom prst="rect">
            <a:avLst/>
          </a:prstGeom>
          <a:noFill/>
        </p:spPr>
        <p:txBody>
          <a:bodyPr wrap="square">
            <a:spAutoFit/>
          </a:bodyPr>
          <a:lstStyle/>
          <a:p>
            <a:r>
              <a:rPr lang="uk-UA" sz="1500" b="1" dirty="0">
                <a:solidFill>
                  <a:srgbClr val="0066CC"/>
                </a:solidFill>
                <a:latin typeface="+mj-lt"/>
                <a:ea typeface="Times New Roman" panose="02020603050405020304" pitchFamily="18" charset="0"/>
              </a:rPr>
              <a:t>Ключові переваги:</a:t>
            </a:r>
          </a:p>
          <a:p>
            <a:pPr marL="285750" indent="-285750">
              <a:buFont typeface="Wingdings" panose="05000000000000000000" pitchFamily="2" charset="2"/>
              <a:buChar char="ü"/>
            </a:pPr>
            <a:r>
              <a:rPr lang="uk-UA" sz="1500" dirty="0">
                <a:effectLst/>
                <a:latin typeface="+mj-lt"/>
                <a:ea typeface="Times New Roman" panose="02020603050405020304" pitchFamily="18" charset="0"/>
              </a:rPr>
              <a:t>Ефективна робота з великими обсягами даних</a:t>
            </a:r>
          </a:p>
          <a:p>
            <a:pPr marL="285750" indent="-285750">
              <a:buFont typeface="Wingdings" panose="05000000000000000000" pitchFamily="2" charset="2"/>
              <a:buChar char="ü"/>
            </a:pPr>
            <a:r>
              <a:rPr lang="uk-UA" sz="1500" dirty="0">
                <a:effectLst/>
                <a:latin typeface="+mj-lt"/>
                <a:ea typeface="Times New Roman" panose="02020603050405020304" pitchFamily="18" charset="0"/>
              </a:rPr>
              <a:t>Адаптивність до змін в середовищі</a:t>
            </a:r>
          </a:p>
          <a:p>
            <a:pPr marL="285750" indent="-285750">
              <a:buFont typeface="Wingdings" panose="05000000000000000000" pitchFamily="2" charset="2"/>
              <a:buChar char="ü"/>
            </a:pPr>
            <a:r>
              <a:rPr lang="uk-UA" sz="1500" dirty="0">
                <a:effectLst/>
                <a:latin typeface="+mj-lt"/>
                <a:ea typeface="Times New Roman" panose="02020603050405020304" pitchFamily="18" charset="0"/>
              </a:rPr>
              <a:t>Орієнтація на довгостроковий результат</a:t>
            </a:r>
            <a:endParaRPr lang="uk-UA" sz="1500" dirty="0">
              <a:latin typeface="+mj-lt"/>
              <a:ea typeface="Times New Roman" panose="02020603050405020304" pitchFamily="18" charset="0"/>
            </a:endParaRPr>
          </a:p>
          <a:p>
            <a:pPr marL="285750" indent="-285750">
              <a:buFont typeface="Wingdings" panose="05000000000000000000" pitchFamily="2" charset="2"/>
              <a:buChar char="q"/>
            </a:pPr>
            <a:endParaRPr lang="uk-UA" sz="1500" dirty="0">
              <a:latin typeface="+mj-lt"/>
            </a:endParaRPr>
          </a:p>
          <a:p>
            <a:pPr marL="285750" indent="-285750">
              <a:buFont typeface="Wingdings" panose="05000000000000000000" pitchFamily="2" charset="2"/>
              <a:buChar char="q"/>
            </a:pPr>
            <a:endParaRPr lang="uk-UA" sz="1500" dirty="0">
              <a:latin typeface="+mj-lt"/>
            </a:endParaRPr>
          </a:p>
        </p:txBody>
      </p:sp>
      <p:sp>
        <p:nvSpPr>
          <p:cNvPr id="8" name="TextBox 7">
            <a:extLst>
              <a:ext uri="{FF2B5EF4-FFF2-40B4-BE49-F238E27FC236}">
                <a16:creationId xmlns:a16="http://schemas.microsoft.com/office/drawing/2014/main" id="{BFD43287-0407-4B58-840C-00679AF5A1EE}"/>
              </a:ext>
            </a:extLst>
          </p:cNvPr>
          <p:cNvSpPr txBox="1"/>
          <p:nvPr/>
        </p:nvSpPr>
        <p:spPr>
          <a:xfrm>
            <a:off x="111503" y="387352"/>
            <a:ext cx="8780977" cy="830997"/>
          </a:xfrm>
          <a:prstGeom prst="rect">
            <a:avLst/>
          </a:prstGeom>
          <a:noFill/>
        </p:spPr>
        <p:txBody>
          <a:bodyPr wrap="square">
            <a:spAutoFit/>
          </a:bodyPr>
          <a:lstStyle/>
          <a:p>
            <a:r>
              <a:rPr lang="uk-UA" sz="1600" dirty="0">
                <a:latin typeface="+mj-lt"/>
              </a:rPr>
              <a:t>Процес </a:t>
            </a:r>
            <a:r>
              <a:rPr lang="uk-UA" sz="1600" b="1" dirty="0">
                <a:solidFill>
                  <a:srgbClr val="00CC99"/>
                </a:solidFill>
                <a:latin typeface="+mj-lt"/>
              </a:rPr>
              <a:t>навчання з підкріпленням </a:t>
            </a:r>
            <a:r>
              <a:rPr lang="uk-UA" sz="1600" dirty="0"/>
              <a:t>формалізується, як </a:t>
            </a:r>
            <a:r>
              <a:rPr lang="uk-UA" sz="1600" b="1" dirty="0">
                <a:solidFill>
                  <a:srgbClr val="00CC99"/>
                </a:solidFill>
              </a:rPr>
              <a:t>процес прийняття рішень Маркова</a:t>
            </a:r>
            <a:r>
              <a:rPr lang="uk-UA" sz="1600" dirty="0"/>
              <a:t>. Система стає агентом, який безпосередньо взаємодії з середовищем, отримуючи винагороду за вдалі рекомендації.</a:t>
            </a:r>
            <a:endParaRPr lang="uk-UA" sz="1600" b="1" dirty="0">
              <a:latin typeface="+mj-lt"/>
            </a:endParaRPr>
          </a:p>
        </p:txBody>
      </p:sp>
      <p:sp>
        <p:nvSpPr>
          <p:cNvPr id="10" name="TextBox 9">
            <a:extLst>
              <a:ext uri="{FF2B5EF4-FFF2-40B4-BE49-F238E27FC236}">
                <a16:creationId xmlns:a16="http://schemas.microsoft.com/office/drawing/2014/main" id="{D03B05B0-4F4C-BA69-8EDB-7870A5B9A4C7}"/>
              </a:ext>
            </a:extLst>
          </p:cNvPr>
          <p:cNvSpPr txBox="1"/>
          <p:nvPr/>
        </p:nvSpPr>
        <p:spPr>
          <a:xfrm>
            <a:off x="215919" y="2813449"/>
            <a:ext cx="3890367" cy="461665"/>
          </a:xfrm>
          <a:prstGeom prst="rect">
            <a:avLst/>
          </a:prstGeom>
          <a:noFill/>
        </p:spPr>
        <p:txBody>
          <a:bodyPr wrap="square" rtlCol="0">
            <a:spAutoFit/>
          </a:bodyPr>
          <a:lstStyle/>
          <a:p>
            <a:pPr algn="ctr"/>
            <a:r>
              <a:rPr lang="uk-UA" sz="1200" dirty="0"/>
              <a:t>Рис. 1. Середовище, представлене як процес прийняття рішень Маркова</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2D44611-5ADF-6CAC-2AC7-8988BBD64558}"/>
                  </a:ext>
                </a:extLst>
              </p:cNvPr>
              <p:cNvSpPr txBox="1"/>
              <p:nvPr/>
            </p:nvSpPr>
            <p:spPr>
              <a:xfrm>
                <a:off x="4447076" y="1231704"/>
                <a:ext cx="4659307" cy="2169825"/>
              </a:xfrm>
              <a:prstGeom prst="rect">
                <a:avLst/>
              </a:prstGeom>
              <a:noFill/>
            </p:spPr>
            <p:txBody>
              <a:bodyPr wrap="square">
                <a:spAutoFit/>
              </a:bodyPr>
              <a:lstStyle/>
              <a:p>
                <a:r>
                  <a:rPr lang="uk-UA" sz="1500" b="1" dirty="0">
                    <a:solidFill>
                      <a:srgbClr val="0066CC"/>
                    </a:solidFill>
                    <a:latin typeface="+mj-lt"/>
                    <a:ea typeface="Times New Roman" panose="02020603050405020304" pitchFamily="18" charset="0"/>
                  </a:rPr>
                  <a:t>Компоненти </a:t>
                </a:r>
                <a:r>
                  <a:rPr lang="en-US" sz="1500" b="1" dirty="0">
                    <a:solidFill>
                      <a:srgbClr val="0066CC"/>
                    </a:solidFill>
                    <a:latin typeface="+mj-lt"/>
                    <a:ea typeface="Times New Roman" panose="02020603050405020304" pitchFamily="18" charset="0"/>
                  </a:rPr>
                  <a:t>RL-</a:t>
                </a:r>
                <a:r>
                  <a:rPr lang="uk-UA" sz="1500" b="1" dirty="0">
                    <a:solidFill>
                      <a:srgbClr val="0066CC"/>
                    </a:solidFill>
                    <a:latin typeface="+mj-lt"/>
                    <a:ea typeface="Times New Roman" panose="02020603050405020304" pitchFamily="18" charset="0"/>
                  </a:rPr>
                  <a:t>середовища:</a:t>
                </a:r>
              </a:p>
              <a:p>
                <a:pPr marL="285750" indent="-285750">
                  <a:buFont typeface="Wingdings" panose="05000000000000000000" pitchFamily="2" charset="2"/>
                  <a:buChar char="q"/>
                </a:pPr>
                <a:r>
                  <a:rPr lang="uk-UA" sz="1500" b="1" dirty="0">
                    <a:effectLst/>
                    <a:latin typeface="+mj-lt"/>
                    <a:ea typeface="Times New Roman" panose="02020603050405020304" pitchFamily="18" charset="0"/>
                  </a:rPr>
                  <a:t>Агент</a:t>
                </a:r>
                <a:r>
                  <a:rPr lang="uk-UA" sz="1500" dirty="0">
                    <a:effectLst/>
                    <a:latin typeface="+mj-lt"/>
                    <a:ea typeface="Times New Roman" panose="02020603050405020304" pitchFamily="18" charset="0"/>
                  </a:rPr>
                  <a:t> – система, що приймає рішення</a:t>
                </a:r>
              </a:p>
              <a:p>
                <a:pPr marL="285750" indent="-285750">
                  <a:buFont typeface="Wingdings" panose="05000000000000000000" pitchFamily="2" charset="2"/>
                  <a:buChar char="q"/>
                </a:pPr>
                <a:r>
                  <a:rPr lang="uk-UA" sz="1500" b="1" dirty="0">
                    <a:latin typeface="+mj-lt"/>
                    <a:ea typeface="Times New Roman" panose="02020603050405020304" pitchFamily="18" charset="0"/>
                  </a:rPr>
                  <a:t>Середовище</a:t>
                </a:r>
                <a:r>
                  <a:rPr lang="uk-UA" sz="1500" dirty="0">
                    <a:latin typeface="+mj-lt"/>
                    <a:ea typeface="Times New Roman" panose="02020603050405020304" pitchFamily="18" charset="0"/>
                  </a:rPr>
                  <a:t> – користувацьке середовище, у якому взаємодії агент та користувач</a:t>
                </a:r>
              </a:p>
              <a:p>
                <a:pPr marL="285750" indent="-285750">
                  <a:buFont typeface="Wingdings" panose="05000000000000000000" pitchFamily="2" charset="2"/>
                  <a:buChar char="q"/>
                </a:pPr>
                <a:r>
                  <a:rPr lang="uk-UA" sz="1500" b="1" dirty="0">
                    <a:latin typeface="+mj-lt"/>
                    <a:ea typeface="Times New Roman" panose="02020603050405020304" pitchFamily="18" charset="0"/>
                  </a:rPr>
                  <a:t>Стан</a:t>
                </a:r>
                <a:r>
                  <a:rPr lang="en-US" sz="1500" dirty="0">
                    <a:latin typeface="+mj-lt"/>
                    <a:ea typeface="Times New Roman" panose="02020603050405020304" pitchFamily="18" charset="0"/>
                  </a:rPr>
                  <a:t> (</a:t>
                </a:r>
                <a14:m>
                  <m:oMath xmlns:m="http://schemas.openxmlformats.org/officeDocument/2006/math">
                    <m:sSub>
                      <m:sSubPr>
                        <m:ctrlPr>
                          <a:rPr lang="en-US" sz="1500" b="0" i="1" smtClean="0">
                            <a:latin typeface="Cambria Math" panose="02040503050406030204" pitchFamily="18" charset="0"/>
                            <a:ea typeface="Times New Roman" panose="02020603050405020304" pitchFamily="18" charset="0"/>
                          </a:rPr>
                        </m:ctrlPr>
                      </m:sSubPr>
                      <m:e>
                        <m:r>
                          <a:rPr lang="en-US" sz="1500" b="0" i="1" smtClean="0">
                            <a:latin typeface="Cambria Math" panose="02040503050406030204" pitchFamily="18" charset="0"/>
                            <a:ea typeface="Times New Roman" panose="02020603050405020304" pitchFamily="18" charset="0"/>
                          </a:rPr>
                          <m:t>𝑠</m:t>
                        </m:r>
                      </m:e>
                      <m:sub>
                        <m:r>
                          <a:rPr lang="en-US" sz="1500" b="0" i="1" smtClean="0">
                            <a:latin typeface="Cambria Math" panose="02040503050406030204" pitchFamily="18" charset="0"/>
                            <a:ea typeface="Times New Roman" panose="02020603050405020304" pitchFamily="18" charset="0"/>
                          </a:rPr>
                          <m:t>𝑡</m:t>
                        </m:r>
                      </m:sub>
                    </m:sSub>
                    <m:r>
                      <a:rPr lang="en-US" sz="1500" b="0" i="1" smtClean="0">
                        <a:latin typeface="Cambria Math" panose="02040503050406030204" pitchFamily="18" charset="0"/>
                        <a:ea typeface="Times New Roman" panose="02020603050405020304" pitchFamily="18" charset="0"/>
                      </a:rPr>
                      <m:t>, </m:t>
                    </m:r>
                    <m:sSub>
                      <m:sSubPr>
                        <m:ctrlPr>
                          <a:rPr lang="en-US" sz="1500" b="0" i="1" smtClean="0">
                            <a:latin typeface="Cambria Math" panose="02040503050406030204" pitchFamily="18" charset="0"/>
                            <a:ea typeface="Times New Roman" panose="02020603050405020304" pitchFamily="18" charset="0"/>
                          </a:rPr>
                        </m:ctrlPr>
                      </m:sSubPr>
                      <m:e>
                        <m:r>
                          <a:rPr lang="en-US" sz="1500" b="0" i="1" smtClean="0">
                            <a:latin typeface="Cambria Math" panose="02040503050406030204" pitchFamily="18" charset="0"/>
                            <a:ea typeface="Times New Roman" panose="02020603050405020304" pitchFamily="18" charset="0"/>
                          </a:rPr>
                          <m:t>𝑠</m:t>
                        </m:r>
                      </m:e>
                      <m:sub>
                        <m:r>
                          <a:rPr lang="en-US" sz="1500" b="0" i="1" smtClean="0">
                            <a:latin typeface="Cambria Math" panose="02040503050406030204" pitchFamily="18" charset="0"/>
                            <a:ea typeface="Times New Roman" panose="02020603050405020304" pitchFamily="18" charset="0"/>
                          </a:rPr>
                          <m:t>𝑡</m:t>
                        </m:r>
                        <m:r>
                          <a:rPr lang="en-US" sz="1500" b="0" i="1" smtClean="0">
                            <a:latin typeface="Cambria Math" panose="02040503050406030204" pitchFamily="18" charset="0"/>
                            <a:ea typeface="Times New Roman" panose="02020603050405020304" pitchFamily="18" charset="0"/>
                          </a:rPr>
                          <m:t>+1</m:t>
                        </m:r>
                      </m:sub>
                    </m:sSub>
                  </m:oMath>
                </a14:m>
                <a:r>
                  <a:rPr lang="en-US" sz="1500" dirty="0">
                    <a:latin typeface="+mj-lt"/>
                    <a:ea typeface="Times New Roman" panose="02020603050405020304" pitchFamily="18" charset="0"/>
                  </a:rPr>
                  <a:t>) </a:t>
                </a:r>
                <a:r>
                  <a:rPr lang="uk-UA" sz="1500" dirty="0">
                    <a:latin typeface="+mj-lt"/>
                    <a:ea typeface="Times New Roman" panose="02020603050405020304" pitchFamily="18" charset="0"/>
                  </a:rPr>
                  <a:t>– опис стану користувача</a:t>
                </a:r>
              </a:p>
              <a:p>
                <a:pPr marL="285750" indent="-285750">
                  <a:buFont typeface="Wingdings" panose="05000000000000000000" pitchFamily="2" charset="2"/>
                  <a:buChar char="q"/>
                </a:pPr>
                <a:r>
                  <a:rPr lang="uk-UA" sz="1500" b="1" dirty="0">
                    <a:latin typeface="+mj-lt"/>
                  </a:rPr>
                  <a:t>Дія</a:t>
                </a:r>
                <a:r>
                  <a:rPr lang="uk-UA" sz="1500" dirty="0">
                    <a:latin typeface="+mj-lt"/>
                  </a:rPr>
                  <a:t>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𝑎</m:t>
                        </m:r>
                      </m:e>
                      <m:sub>
                        <m:r>
                          <a:rPr lang="en-US" sz="1500" b="0" i="1" smtClean="0">
                            <a:latin typeface="Cambria Math" panose="02040503050406030204" pitchFamily="18" charset="0"/>
                          </a:rPr>
                          <m:t>𝑡</m:t>
                        </m:r>
                      </m:sub>
                    </m:sSub>
                  </m:oMath>
                </a14:m>
                <a:r>
                  <a:rPr lang="uk-UA" sz="1500" dirty="0">
                    <a:latin typeface="+mj-lt"/>
                  </a:rPr>
                  <a:t>) – вибір контенту або рекомендації</a:t>
                </a:r>
              </a:p>
              <a:p>
                <a:pPr marL="285750" indent="-285750">
                  <a:buFont typeface="Wingdings" panose="05000000000000000000" pitchFamily="2" charset="2"/>
                  <a:buChar char="q"/>
                </a:pPr>
                <a:r>
                  <a:rPr lang="uk-UA" sz="1500" b="1" dirty="0">
                    <a:latin typeface="+mj-lt"/>
                  </a:rPr>
                  <a:t>Винагорода</a:t>
                </a:r>
                <a:r>
                  <a:rPr lang="uk-UA" sz="1500" dirty="0">
                    <a:latin typeface="+mj-lt"/>
                  </a:rPr>
                  <a:t> (</a:t>
                </a:r>
                <a14:m>
                  <m:oMath xmlns:m="http://schemas.openxmlformats.org/officeDocument/2006/math">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𝑟</m:t>
                        </m:r>
                      </m:e>
                      <m:sub>
                        <m:r>
                          <a:rPr lang="en-US" sz="1500" b="0" i="1" smtClean="0">
                            <a:latin typeface="Cambria Math" panose="02040503050406030204" pitchFamily="18" charset="0"/>
                          </a:rPr>
                          <m:t>𝑡</m:t>
                        </m:r>
                      </m:sub>
                    </m:sSub>
                    <m:r>
                      <a:rPr lang="en-US" sz="1500" b="0" i="1" smtClean="0">
                        <a:latin typeface="Cambria Math" panose="02040503050406030204" pitchFamily="18" charset="0"/>
                      </a:rPr>
                      <m:t>, </m:t>
                    </m:r>
                    <m:sSub>
                      <m:sSubPr>
                        <m:ctrlPr>
                          <a:rPr lang="en-US" sz="1500" b="0" i="1" smtClean="0">
                            <a:latin typeface="Cambria Math" panose="02040503050406030204" pitchFamily="18" charset="0"/>
                          </a:rPr>
                        </m:ctrlPr>
                      </m:sSubPr>
                      <m:e>
                        <m:r>
                          <a:rPr lang="en-US" sz="1500" b="0" i="1" smtClean="0">
                            <a:latin typeface="Cambria Math" panose="02040503050406030204" pitchFamily="18" charset="0"/>
                          </a:rPr>
                          <m:t>𝑟</m:t>
                        </m:r>
                      </m:e>
                      <m:sub>
                        <m:r>
                          <a:rPr lang="en-US" sz="1500" b="0" i="1" smtClean="0">
                            <a:latin typeface="Cambria Math" panose="02040503050406030204" pitchFamily="18" charset="0"/>
                          </a:rPr>
                          <m:t>𝑡</m:t>
                        </m:r>
                        <m:r>
                          <a:rPr lang="en-US" sz="1500" b="0" i="1" smtClean="0">
                            <a:latin typeface="Cambria Math" panose="02040503050406030204" pitchFamily="18" charset="0"/>
                          </a:rPr>
                          <m:t>+1</m:t>
                        </m:r>
                      </m:sub>
                    </m:sSub>
                  </m:oMath>
                </a14:m>
                <a:r>
                  <a:rPr lang="uk-UA" sz="1500" dirty="0">
                    <a:latin typeface="+mj-lt"/>
                  </a:rPr>
                  <a:t>) – реакція користувача (перегляд, </a:t>
                </a:r>
                <a:r>
                  <a:rPr lang="uk-UA" sz="1500" dirty="0" err="1">
                    <a:latin typeface="+mj-lt"/>
                  </a:rPr>
                  <a:t>вподобайка</a:t>
                </a:r>
                <a:r>
                  <a:rPr lang="uk-UA" sz="1500" dirty="0">
                    <a:latin typeface="+mj-lt"/>
                  </a:rPr>
                  <a:t>, оцінка, тощо)</a:t>
                </a:r>
              </a:p>
              <a:p>
                <a:pPr marL="285750" indent="-285750">
                  <a:buFont typeface="Wingdings" panose="05000000000000000000" pitchFamily="2" charset="2"/>
                  <a:buChar char="q"/>
                </a:pPr>
                <a:endParaRPr lang="uk-UA" sz="1500" dirty="0">
                  <a:latin typeface="+mj-lt"/>
                </a:endParaRPr>
              </a:p>
            </p:txBody>
          </p:sp>
        </mc:Choice>
        <mc:Fallback xmlns="">
          <p:sp>
            <p:nvSpPr>
              <p:cNvPr id="3" name="TextBox 2">
                <a:extLst>
                  <a:ext uri="{FF2B5EF4-FFF2-40B4-BE49-F238E27FC236}">
                    <a16:creationId xmlns:a16="http://schemas.microsoft.com/office/drawing/2014/main" id="{A2D44611-5ADF-6CAC-2AC7-8988BBD64558}"/>
                  </a:ext>
                </a:extLst>
              </p:cNvPr>
              <p:cNvSpPr txBox="1">
                <a:spLocks noRot="1" noChangeAspect="1" noMove="1" noResize="1" noEditPoints="1" noAdjustHandles="1" noChangeArrowheads="1" noChangeShapeType="1" noTextEdit="1"/>
              </p:cNvSpPr>
              <p:nvPr/>
            </p:nvSpPr>
            <p:spPr>
              <a:xfrm>
                <a:off x="4447076" y="1231704"/>
                <a:ext cx="4659307" cy="2169825"/>
              </a:xfrm>
              <a:prstGeom prst="rect">
                <a:avLst/>
              </a:prstGeom>
              <a:blipFill>
                <a:blip r:embed="rId3"/>
                <a:stretch>
                  <a:fillRect l="-524" t="-562" r="-1047"/>
                </a:stretch>
              </a:blipFill>
            </p:spPr>
            <p:txBody>
              <a:bodyPr/>
              <a:lstStyle/>
              <a:p>
                <a:r>
                  <a:rPr lang="uk-UA">
                    <a:noFill/>
                  </a:rPr>
                  <a:t> </a:t>
                </a:r>
              </a:p>
            </p:txBody>
          </p:sp>
        </mc:Fallback>
      </mc:AlternateContent>
      <p:sp>
        <p:nvSpPr>
          <p:cNvPr id="6" name="TextBox 5">
            <a:extLst>
              <a:ext uri="{FF2B5EF4-FFF2-40B4-BE49-F238E27FC236}">
                <a16:creationId xmlns:a16="http://schemas.microsoft.com/office/drawing/2014/main" id="{36A1BBDA-FB7D-A92A-C7DF-DB7EEADBB109}"/>
              </a:ext>
            </a:extLst>
          </p:cNvPr>
          <p:cNvSpPr txBox="1"/>
          <p:nvPr/>
        </p:nvSpPr>
        <p:spPr>
          <a:xfrm>
            <a:off x="4466214" y="3329407"/>
            <a:ext cx="4696968" cy="553998"/>
          </a:xfrm>
          <a:prstGeom prst="rect">
            <a:avLst/>
          </a:prstGeom>
          <a:noFill/>
        </p:spPr>
        <p:txBody>
          <a:bodyPr wrap="square">
            <a:spAutoFit/>
          </a:bodyPr>
          <a:lstStyle/>
          <a:p>
            <a:r>
              <a:rPr lang="uk-UA" sz="1500" b="1" dirty="0">
                <a:solidFill>
                  <a:srgbClr val="00B050"/>
                </a:solidFill>
              </a:rPr>
              <a:t>Мета:</a:t>
            </a:r>
            <a:r>
              <a:rPr lang="uk-UA" sz="1500" dirty="0">
                <a:solidFill>
                  <a:srgbClr val="00B050"/>
                </a:solidFill>
              </a:rPr>
              <a:t> </a:t>
            </a:r>
            <a:r>
              <a:rPr lang="uk-UA" sz="1500" dirty="0"/>
              <a:t>максимізація довгострокові задоволеності групи (сукупної винагороди)</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AFADCF85-B5EC-2E16-C165-4BC8963A873C}"/>
                  </a:ext>
                </a:extLst>
              </p:cNvPr>
              <p:cNvSpPr txBox="1"/>
              <p:nvPr/>
            </p:nvSpPr>
            <p:spPr>
              <a:xfrm>
                <a:off x="6230211" y="3894018"/>
                <a:ext cx="1009251" cy="6060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𝑅</m:t>
                      </m:r>
                      <m:r>
                        <a:rPr lang="en-US" sz="1400" b="0" i="1" smtClean="0">
                          <a:latin typeface="Cambria Math" panose="02040503050406030204" pitchFamily="18" charset="0"/>
                        </a:rPr>
                        <m:t>= </m:t>
                      </m:r>
                      <m:nary>
                        <m:naryPr>
                          <m:chr m:val="∑"/>
                          <m:ctrlPr>
                            <a:rPr lang="en-US" sz="1400" b="0" i="1" smtClean="0">
                              <a:latin typeface="Cambria Math" panose="02040503050406030204" pitchFamily="18" charset="0"/>
                            </a:rPr>
                          </m:ctrlPr>
                        </m:naryPr>
                        <m:sub>
                          <m:r>
                            <m:rPr>
                              <m:brk m:alnAt="23"/>
                            </m:rPr>
                            <a:rPr lang="en-US" sz="1400" b="0" i="1" smtClean="0">
                              <a:latin typeface="Cambria Math" panose="02040503050406030204" pitchFamily="18" charset="0"/>
                            </a:rPr>
                            <m:t>𝑡</m:t>
                          </m:r>
                          <m:r>
                            <a:rPr lang="en-US" sz="1400" b="0" i="1" smtClean="0">
                              <a:latin typeface="Cambria Math" panose="02040503050406030204" pitchFamily="18" charset="0"/>
                            </a:rPr>
                            <m:t>=0</m:t>
                          </m:r>
                        </m:sub>
                        <m:sup>
                          <m:r>
                            <a:rPr lang="en-US" sz="1400" b="0" i="1" smtClean="0">
                              <a:latin typeface="Cambria Math" panose="02040503050406030204" pitchFamily="18" charset="0"/>
                            </a:rPr>
                            <m:t>𝑇</m:t>
                          </m:r>
                        </m:sup>
                        <m:e>
                          <m:sSup>
                            <m:sSupPr>
                              <m:ctrlPr>
                                <a:rPr lang="en-US" sz="1400" b="0" i="1" smtClean="0">
                                  <a:latin typeface="Cambria Math" panose="02040503050406030204" pitchFamily="18" charset="0"/>
                                  <a:ea typeface="Cambria Math" panose="02040503050406030204" pitchFamily="18" charset="0"/>
                                </a:rPr>
                              </m:ctrlPr>
                            </m:sSupPr>
                            <m:e>
                              <m:r>
                                <a:rPr lang="en-US" sz="1400" b="0" i="1" smtClean="0">
                                  <a:latin typeface="Cambria Math" panose="02040503050406030204" pitchFamily="18" charset="0"/>
                                  <a:ea typeface="Cambria Math" panose="02040503050406030204" pitchFamily="18" charset="0"/>
                                </a:rPr>
                                <m:t>𝛾</m:t>
                              </m:r>
                            </m:e>
                            <m:sup>
                              <m:r>
                                <a:rPr lang="en-US" sz="1400" b="0" i="1" smtClean="0">
                                  <a:latin typeface="Cambria Math" panose="02040503050406030204" pitchFamily="18" charset="0"/>
                                  <a:ea typeface="Cambria Math" panose="02040503050406030204" pitchFamily="18" charset="0"/>
                                </a:rPr>
                                <m:t>𝑡</m:t>
                              </m:r>
                            </m:sup>
                          </m:sSup>
                          <m:sSub>
                            <m:sSubPr>
                              <m:ctrlPr>
                                <a:rPr lang="en-US" sz="1400" b="0" i="1" smtClean="0">
                                  <a:latin typeface="Cambria Math" panose="02040503050406030204" pitchFamily="18" charset="0"/>
                                  <a:ea typeface="Cambria Math" panose="02040503050406030204" pitchFamily="18" charset="0"/>
                                </a:rPr>
                              </m:ctrlPr>
                            </m:sSubPr>
                            <m:e>
                              <m:r>
                                <a:rPr lang="en-US" sz="1400" b="0" i="1" smtClean="0">
                                  <a:latin typeface="Cambria Math" panose="02040503050406030204" pitchFamily="18" charset="0"/>
                                  <a:ea typeface="Cambria Math" panose="02040503050406030204" pitchFamily="18" charset="0"/>
                                </a:rPr>
                                <m:t>𝑟</m:t>
                              </m:r>
                            </m:e>
                            <m:sub>
                              <m:r>
                                <a:rPr lang="en-US" sz="1400" b="0" i="1" smtClean="0">
                                  <a:latin typeface="Cambria Math" panose="02040503050406030204" pitchFamily="18" charset="0"/>
                                  <a:ea typeface="Cambria Math" panose="02040503050406030204" pitchFamily="18" charset="0"/>
                                </a:rPr>
                                <m:t>𝑡</m:t>
                              </m:r>
                            </m:sub>
                          </m:sSub>
                        </m:e>
                      </m:nary>
                    </m:oMath>
                  </m:oMathPara>
                </a14:m>
                <a:endParaRPr lang="uk-UA" sz="1400" dirty="0"/>
              </a:p>
            </p:txBody>
          </p:sp>
        </mc:Choice>
        <mc:Fallback xmlns="">
          <p:sp>
            <p:nvSpPr>
              <p:cNvPr id="12" name="TextBox 11">
                <a:extLst>
                  <a:ext uri="{FF2B5EF4-FFF2-40B4-BE49-F238E27FC236}">
                    <a16:creationId xmlns:a16="http://schemas.microsoft.com/office/drawing/2014/main" id="{AFADCF85-B5EC-2E16-C165-4BC8963A873C}"/>
                  </a:ext>
                </a:extLst>
              </p:cNvPr>
              <p:cNvSpPr txBox="1">
                <a:spLocks noRot="1" noChangeAspect="1" noMove="1" noResize="1" noEditPoints="1" noAdjustHandles="1" noChangeArrowheads="1" noChangeShapeType="1" noTextEdit="1"/>
              </p:cNvSpPr>
              <p:nvPr/>
            </p:nvSpPr>
            <p:spPr>
              <a:xfrm>
                <a:off x="6230211" y="3894018"/>
                <a:ext cx="1009251" cy="606000"/>
              </a:xfrm>
              <a:prstGeom prst="rect">
                <a:avLst/>
              </a:prstGeom>
              <a:blipFill>
                <a:blip r:embed="rId4"/>
                <a:stretch>
                  <a:fillRect/>
                </a:stretch>
              </a:blipFill>
            </p:spPr>
            <p:txBody>
              <a:bodyPr/>
              <a:lstStyle/>
              <a:p>
                <a:r>
                  <a:rPr lang="uk-UA">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7E88DD9-6E33-D053-284A-801D45AB3334}"/>
                  </a:ext>
                </a:extLst>
              </p:cNvPr>
              <p:cNvSpPr txBox="1"/>
              <p:nvPr/>
            </p:nvSpPr>
            <p:spPr>
              <a:xfrm>
                <a:off x="4376358" y="4500018"/>
                <a:ext cx="4730025" cy="553998"/>
              </a:xfrm>
              <a:prstGeom prst="rect">
                <a:avLst/>
              </a:prstGeom>
              <a:noFill/>
            </p:spPr>
            <p:txBody>
              <a:bodyPr wrap="square">
                <a:spAutoFit/>
              </a:bodyPr>
              <a:lstStyle/>
              <a:p>
                <a:pPr algn="ctr"/>
                <a:r>
                  <a:rPr lang="uk-UA" sz="1500" dirty="0"/>
                  <a:t>де </a:t>
                </a:r>
                <a14:m>
                  <m:oMath xmlns:m="http://schemas.openxmlformats.org/officeDocument/2006/math">
                    <m:r>
                      <a:rPr lang="en-US" sz="1500" i="1">
                        <a:latin typeface="Cambria Math" panose="02040503050406030204" pitchFamily="18" charset="0"/>
                        <a:ea typeface="Cambria Math" panose="02040503050406030204" pitchFamily="18" charset="0"/>
                      </a:rPr>
                      <m:t>𝛾</m:t>
                    </m:r>
                  </m:oMath>
                </a14:m>
                <a:r>
                  <a:rPr lang="uk-UA" sz="1500" dirty="0"/>
                  <a:t> – коефіцієнт знижки (вага впливу короткострокових і довгострокових дій)</a:t>
                </a:r>
              </a:p>
            </p:txBody>
          </p:sp>
        </mc:Choice>
        <mc:Fallback xmlns="">
          <p:sp>
            <p:nvSpPr>
              <p:cNvPr id="16" name="TextBox 15">
                <a:extLst>
                  <a:ext uri="{FF2B5EF4-FFF2-40B4-BE49-F238E27FC236}">
                    <a16:creationId xmlns:a16="http://schemas.microsoft.com/office/drawing/2014/main" id="{17E88DD9-6E33-D053-284A-801D45AB3334}"/>
                  </a:ext>
                </a:extLst>
              </p:cNvPr>
              <p:cNvSpPr txBox="1">
                <a:spLocks noRot="1" noChangeAspect="1" noMove="1" noResize="1" noEditPoints="1" noAdjustHandles="1" noChangeArrowheads="1" noChangeShapeType="1" noTextEdit="1"/>
              </p:cNvSpPr>
              <p:nvPr/>
            </p:nvSpPr>
            <p:spPr>
              <a:xfrm>
                <a:off x="4376358" y="4500018"/>
                <a:ext cx="4730025" cy="553998"/>
              </a:xfrm>
              <a:prstGeom prst="rect">
                <a:avLst/>
              </a:prstGeom>
              <a:blipFill>
                <a:blip r:embed="rId5"/>
                <a:stretch>
                  <a:fillRect t="-2198" b="-12088"/>
                </a:stretch>
              </a:blipFill>
            </p:spPr>
            <p:txBody>
              <a:bodyPr/>
              <a:lstStyle/>
              <a:p>
                <a:r>
                  <a:rPr lang="uk-UA">
                    <a:noFill/>
                  </a:rPr>
                  <a:t> </a:t>
                </a:r>
              </a:p>
            </p:txBody>
          </p:sp>
        </mc:Fallback>
      </mc:AlternateContent>
      <p:sp>
        <p:nvSpPr>
          <p:cNvPr id="2" name="Rectangle: Rounded Corners 1">
            <a:extLst>
              <a:ext uri="{FF2B5EF4-FFF2-40B4-BE49-F238E27FC236}">
                <a16:creationId xmlns:a16="http://schemas.microsoft.com/office/drawing/2014/main" id="{6ADF42BA-8B97-9DE6-E8C9-02EDA27E0F9B}"/>
              </a:ext>
            </a:extLst>
          </p:cNvPr>
          <p:cNvSpPr/>
          <p:nvPr/>
        </p:nvSpPr>
        <p:spPr>
          <a:xfrm>
            <a:off x="75478" y="1403675"/>
            <a:ext cx="1403897" cy="1297338"/>
          </a:xfrm>
          <a:prstGeom prst="roundRect">
            <a:avLst/>
          </a:prstGeom>
          <a:gradFill flip="none" rotWithShape="1">
            <a:gsLst>
              <a:gs pos="0">
                <a:srgbClr val="E9F0FD"/>
              </a:gs>
              <a:gs pos="73000">
                <a:srgbClr val="E9F0FD"/>
              </a:gs>
            </a:gsLst>
            <a:lin ang="5400000" scaled="0"/>
            <a:tileRect/>
          </a:gradFill>
          <a:ln cap="rnd" cmpd="sng">
            <a:solidFill>
              <a:srgbClr val="3E84F3"/>
            </a:solidFill>
            <a:round/>
            <a:extLst>
              <a:ext uri="{C807C97D-BFC1-408E-A445-0C87EB9F89A2}">
                <ask:lineSketchStyleProps xmlns:ask="http://schemas.microsoft.com/office/drawing/2018/sketchyshapes" sd="1219033472">
                  <a:custGeom>
                    <a:avLst/>
                    <a:gdLst>
                      <a:gd name="csX0" fmla="*/ 0 w 2090972"/>
                      <a:gd name="csY0" fmla="*/ 0 h 2592288"/>
                      <a:gd name="csX1" fmla="*/ 2090972 w 2090972"/>
                      <a:gd name="csY1" fmla="*/ 0 h 2592288"/>
                      <a:gd name="csX2" fmla="*/ 2090972 w 2090972"/>
                      <a:gd name="csY2" fmla="*/ 2592288 h 2592288"/>
                      <a:gd name="csX3" fmla="*/ 0 w 2090972"/>
                      <a:gd name="csY3" fmla="*/ 2592288 h 2592288"/>
                      <a:gd name="csX4" fmla="*/ 0 w 2090972"/>
                      <a:gd name="csY4" fmla="*/ 0 h 2592288"/>
                    </a:gdLst>
                    <a:ahLst/>
                    <a:cxnLst>
                      <a:cxn ang="0">
                        <a:pos x="csX0" y="csY0"/>
                      </a:cxn>
                      <a:cxn ang="0">
                        <a:pos x="csX1" y="csY1"/>
                      </a:cxn>
                      <a:cxn ang="0">
                        <a:pos x="csX2" y="csY2"/>
                      </a:cxn>
                      <a:cxn ang="0">
                        <a:pos x="csX3" y="csY3"/>
                      </a:cxn>
                      <a:cxn ang="0">
                        <a:pos x="csX4" y="csY4"/>
                      </a:cxn>
                    </a:cxnLst>
                    <a:rect l="l" t="t" r="r" b="b"/>
                    <a:pathLst>
                      <a:path w="2090972" h="2592288" fill="none" extrusionOk="0">
                        <a:moveTo>
                          <a:pt x="0" y="0"/>
                        </a:moveTo>
                        <a:cubicBezTo>
                          <a:pt x="743204" y="-49533"/>
                          <a:pt x="1454746" y="-14809"/>
                          <a:pt x="2090972" y="0"/>
                        </a:cubicBezTo>
                        <a:cubicBezTo>
                          <a:pt x="2178611" y="1089516"/>
                          <a:pt x="2018293" y="1476090"/>
                          <a:pt x="2090972" y="2592288"/>
                        </a:cubicBezTo>
                        <a:cubicBezTo>
                          <a:pt x="1194948" y="2544057"/>
                          <a:pt x="809259" y="2676743"/>
                          <a:pt x="0" y="2592288"/>
                        </a:cubicBezTo>
                        <a:cubicBezTo>
                          <a:pt x="-38581" y="2326309"/>
                          <a:pt x="63341" y="854299"/>
                          <a:pt x="0" y="0"/>
                        </a:cubicBezTo>
                        <a:close/>
                      </a:path>
                      <a:path w="2090972" h="2592288" stroke="0" extrusionOk="0">
                        <a:moveTo>
                          <a:pt x="0" y="0"/>
                        </a:moveTo>
                        <a:cubicBezTo>
                          <a:pt x="966340" y="118645"/>
                          <a:pt x="1177507" y="116012"/>
                          <a:pt x="2090972" y="0"/>
                        </a:cubicBezTo>
                        <a:cubicBezTo>
                          <a:pt x="1958090" y="1221186"/>
                          <a:pt x="2175923" y="2236294"/>
                          <a:pt x="2090972" y="2592288"/>
                        </a:cubicBezTo>
                        <a:cubicBezTo>
                          <a:pt x="1315320" y="2726888"/>
                          <a:pt x="991263" y="2435092"/>
                          <a:pt x="0" y="2592288"/>
                        </a:cubicBezTo>
                        <a:cubicBezTo>
                          <a:pt x="-20187" y="1742079"/>
                          <a:pt x="-152480" y="364087"/>
                          <a:pt x="0" y="0"/>
                        </a:cubicBezTo>
                        <a:close/>
                      </a:path>
                    </a:pathLst>
                  </a:custGeom>
                  <ask:type>
                    <ask:lineSketchNone/>
                  </ask:type>
                </ask:lineSketchStyleProps>
              </a:ext>
            </a:extLst>
          </a:ln>
          <a:effectLst>
            <a:outerShdw blurRad="50800" dist="38100" dir="2700000" algn="tl" rotWithShape="0">
              <a:prstClr val="black">
                <a:alpha val="7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uk-UA" sz="1200" b="1" dirty="0">
              <a:solidFill>
                <a:schemeClr val="tx1"/>
              </a:solidFill>
            </a:endParaRPr>
          </a:p>
          <a:p>
            <a:pPr algn="ctr"/>
            <a:r>
              <a:rPr lang="uk-UA" sz="1200" b="1" dirty="0">
                <a:solidFill>
                  <a:schemeClr val="tx1"/>
                </a:solidFill>
              </a:rPr>
              <a:t>Агент</a:t>
            </a:r>
          </a:p>
          <a:p>
            <a:pPr algn="ctr"/>
            <a:r>
              <a:rPr lang="uk-UA" sz="1200" dirty="0">
                <a:solidFill>
                  <a:schemeClr val="tx1"/>
                </a:solidFill>
              </a:rPr>
              <a:t>Рекомендаційна система, що вчиться</a:t>
            </a:r>
          </a:p>
        </p:txBody>
      </p:sp>
      <p:sp>
        <p:nvSpPr>
          <p:cNvPr id="5" name="Rectangle: Rounded Corners 4">
            <a:extLst>
              <a:ext uri="{FF2B5EF4-FFF2-40B4-BE49-F238E27FC236}">
                <a16:creationId xmlns:a16="http://schemas.microsoft.com/office/drawing/2014/main" id="{675E2E34-09E2-1138-B6E3-58182DC7411F}"/>
              </a:ext>
            </a:extLst>
          </p:cNvPr>
          <p:cNvSpPr/>
          <p:nvPr/>
        </p:nvSpPr>
        <p:spPr>
          <a:xfrm>
            <a:off x="2972461" y="1412121"/>
            <a:ext cx="1403897" cy="1297338"/>
          </a:xfrm>
          <a:prstGeom prst="roundRect">
            <a:avLst/>
          </a:prstGeom>
          <a:gradFill flip="none" rotWithShape="1">
            <a:gsLst>
              <a:gs pos="0">
                <a:srgbClr val="E9F0FD"/>
              </a:gs>
              <a:gs pos="73000">
                <a:srgbClr val="E9F0FD"/>
              </a:gs>
            </a:gsLst>
            <a:lin ang="5400000" scaled="0"/>
            <a:tileRect/>
          </a:gradFill>
          <a:ln cap="rnd" cmpd="sng">
            <a:solidFill>
              <a:srgbClr val="3E84F3"/>
            </a:solidFill>
            <a:round/>
            <a:extLst>
              <a:ext uri="{C807C97D-BFC1-408E-A445-0C87EB9F89A2}">
                <ask:lineSketchStyleProps xmlns:ask="http://schemas.microsoft.com/office/drawing/2018/sketchyshapes" sd="1219033472">
                  <a:custGeom>
                    <a:avLst/>
                    <a:gdLst>
                      <a:gd name="csX0" fmla="*/ 0 w 2090972"/>
                      <a:gd name="csY0" fmla="*/ 0 h 2592288"/>
                      <a:gd name="csX1" fmla="*/ 2090972 w 2090972"/>
                      <a:gd name="csY1" fmla="*/ 0 h 2592288"/>
                      <a:gd name="csX2" fmla="*/ 2090972 w 2090972"/>
                      <a:gd name="csY2" fmla="*/ 2592288 h 2592288"/>
                      <a:gd name="csX3" fmla="*/ 0 w 2090972"/>
                      <a:gd name="csY3" fmla="*/ 2592288 h 2592288"/>
                      <a:gd name="csX4" fmla="*/ 0 w 2090972"/>
                      <a:gd name="csY4" fmla="*/ 0 h 2592288"/>
                    </a:gdLst>
                    <a:ahLst/>
                    <a:cxnLst>
                      <a:cxn ang="0">
                        <a:pos x="csX0" y="csY0"/>
                      </a:cxn>
                      <a:cxn ang="0">
                        <a:pos x="csX1" y="csY1"/>
                      </a:cxn>
                      <a:cxn ang="0">
                        <a:pos x="csX2" y="csY2"/>
                      </a:cxn>
                      <a:cxn ang="0">
                        <a:pos x="csX3" y="csY3"/>
                      </a:cxn>
                      <a:cxn ang="0">
                        <a:pos x="csX4" y="csY4"/>
                      </a:cxn>
                    </a:cxnLst>
                    <a:rect l="l" t="t" r="r" b="b"/>
                    <a:pathLst>
                      <a:path w="2090972" h="2592288" fill="none" extrusionOk="0">
                        <a:moveTo>
                          <a:pt x="0" y="0"/>
                        </a:moveTo>
                        <a:cubicBezTo>
                          <a:pt x="743204" y="-49533"/>
                          <a:pt x="1454746" y="-14809"/>
                          <a:pt x="2090972" y="0"/>
                        </a:cubicBezTo>
                        <a:cubicBezTo>
                          <a:pt x="2178611" y="1089516"/>
                          <a:pt x="2018293" y="1476090"/>
                          <a:pt x="2090972" y="2592288"/>
                        </a:cubicBezTo>
                        <a:cubicBezTo>
                          <a:pt x="1194948" y="2544057"/>
                          <a:pt x="809259" y="2676743"/>
                          <a:pt x="0" y="2592288"/>
                        </a:cubicBezTo>
                        <a:cubicBezTo>
                          <a:pt x="-38581" y="2326309"/>
                          <a:pt x="63341" y="854299"/>
                          <a:pt x="0" y="0"/>
                        </a:cubicBezTo>
                        <a:close/>
                      </a:path>
                      <a:path w="2090972" h="2592288" stroke="0" extrusionOk="0">
                        <a:moveTo>
                          <a:pt x="0" y="0"/>
                        </a:moveTo>
                        <a:cubicBezTo>
                          <a:pt x="966340" y="118645"/>
                          <a:pt x="1177507" y="116012"/>
                          <a:pt x="2090972" y="0"/>
                        </a:cubicBezTo>
                        <a:cubicBezTo>
                          <a:pt x="1958090" y="1221186"/>
                          <a:pt x="2175923" y="2236294"/>
                          <a:pt x="2090972" y="2592288"/>
                        </a:cubicBezTo>
                        <a:cubicBezTo>
                          <a:pt x="1315320" y="2726888"/>
                          <a:pt x="991263" y="2435092"/>
                          <a:pt x="0" y="2592288"/>
                        </a:cubicBezTo>
                        <a:cubicBezTo>
                          <a:pt x="-20187" y="1742079"/>
                          <a:pt x="-152480" y="364087"/>
                          <a:pt x="0" y="0"/>
                        </a:cubicBezTo>
                        <a:close/>
                      </a:path>
                    </a:pathLst>
                  </a:custGeom>
                  <ask:type>
                    <ask:lineSketchNone/>
                  </ask:type>
                </ask:lineSketchStyleProps>
              </a:ext>
            </a:extLst>
          </a:ln>
          <a:effectLst>
            <a:outerShdw blurRad="50800" dist="38100" dir="2700000" algn="tl" rotWithShape="0">
              <a:prstClr val="black">
                <a:alpha val="7000"/>
              </a:prstClr>
            </a:outerShdw>
          </a:effectLst>
        </p:spPr>
        <p:style>
          <a:lnRef idx="0">
            <a:scrgbClr r="0" g="0" b="0"/>
          </a:lnRef>
          <a:fillRef idx="0">
            <a:scrgbClr r="0" g="0" b="0"/>
          </a:fillRef>
          <a:effectRef idx="0">
            <a:scrgbClr r="0" g="0" b="0"/>
          </a:effectRef>
          <a:fontRef idx="minor">
            <a:schemeClr val="lt1"/>
          </a:fontRef>
        </p:style>
        <p:txBody>
          <a:bodyPr rtlCol="0" anchor="ctr"/>
          <a:lstStyle/>
          <a:p>
            <a:pPr algn="ctr"/>
            <a:endParaRPr lang="uk-UA" sz="1200" b="1" dirty="0">
              <a:solidFill>
                <a:schemeClr val="tx1"/>
              </a:solidFill>
            </a:endParaRPr>
          </a:p>
          <a:p>
            <a:pPr algn="ctr"/>
            <a:r>
              <a:rPr lang="uk-UA" sz="1200" b="1" dirty="0">
                <a:solidFill>
                  <a:schemeClr val="tx1"/>
                </a:solidFill>
              </a:rPr>
              <a:t>Середовище</a:t>
            </a:r>
          </a:p>
          <a:p>
            <a:pPr algn="ctr"/>
            <a:r>
              <a:rPr lang="uk-UA" sz="1200" dirty="0">
                <a:solidFill>
                  <a:schemeClr val="tx1"/>
                </a:solidFill>
              </a:rPr>
              <a:t>Групи користувачів та їхня історія</a:t>
            </a:r>
          </a:p>
        </p:txBody>
      </p:sp>
      <p:sp>
        <p:nvSpPr>
          <p:cNvPr id="7" name="Arrow: Right 6">
            <a:extLst>
              <a:ext uri="{FF2B5EF4-FFF2-40B4-BE49-F238E27FC236}">
                <a16:creationId xmlns:a16="http://schemas.microsoft.com/office/drawing/2014/main" id="{872AAD97-7E71-B4E4-0423-690116D76ABD}"/>
              </a:ext>
            </a:extLst>
          </p:cNvPr>
          <p:cNvSpPr/>
          <p:nvPr/>
        </p:nvSpPr>
        <p:spPr>
          <a:xfrm>
            <a:off x="1550299" y="1554229"/>
            <a:ext cx="1356616" cy="191157"/>
          </a:xfrm>
          <a:prstGeom prst="rightArrow">
            <a:avLst/>
          </a:prstGeom>
          <a:solidFill>
            <a:srgbClr val="E9F0FD"/>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uk-UA"/>
          </a:p>
        </p:txBody>
      </p:sp>
      <p:sp>
        <p:nvSpPr>
          <p:cNvPr id="11" name="Arrow: Right 10">
            <a:extLst>
              <a:ext uri="{FF2B5EF4-FFF2-40B4-BE49-F238E27FC236}">
                <a16:creationId xmlns:a16="http://schemas.microsoft.com/office/drawing/2014/main" id="{BEDA9C55-EA9F-F2EB-5065-4DEC41C35668}"/>
              </a:ext>
            </a:extLst>
          </p:cNvPr>
          <p:cNvSpPr/>
          <p:nvPr/>
        </p:nvSpPr>
        <p:spPr>
          <a:xfrm flipH="1" flipV="1">
            <a:off x="1545126" y="2048324"/>
            <a:ext cx="1356615" cy="192227"/>
          </a:xfrm>
          <a:prstGeom prst="rightArrow">
            <a:avLst/>
          </a:prstGeom>
          <a:solidFill>
            <a:schemeClr val="accent5">
              <a:lumMod val="40000"/>
              <a:lumOff val="6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uk-UA"/>
          </a:p>
        </p:txBody>
      </p:sp>
      <p:sp>
        <p:nvSpPr>
          <p:cNvPr id="13" name="Arrow: Right 12">
            <a:extLst>
              <a:ext uri="{FF2B5EF4-FFF2-40B4-BE49-F238E27FC236}">
                <a16:creationId xmlns:a16="http://schemas.microsoft.com/office/drawing/2014/main" id="{7ECF5429-1AE7-804D-F53E-4459015FE841}"/>
              </a:ext>
            </a:extLst>
          </p:cNvPr>
          <p:cNvSpPr/>
          <p:nvPr/>
        </p:nvSpPr>
        <p:spPr>
          <a:xfrm flipH="1" flipV="1">
            <a:off x="1545126" y="2461429"/>
            <a:ext cx="1356616" cy="201445"/>
          </a:xfrm>
          <a:prstGeom prst="rightArrow">
            <a:avLst/>
          </a:prstGeom>
          <a:solidFill>
            <a:schemeClr val="accent5">
              <a:lumMod val="40000"/>
              <a:lumOff val="6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endParaRPr lang="uk-UA"/>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2FE1992-DB03-8824-95C2-81D74B05A1EE}"/>
                  </a:ext>
                </a:extLst>
              </p:cNvPr>
              <p:cNvSpPr txBox="1"/>
              <p:nvPr/>
            </p:nvSpPr>
            <p:spPr>
              <a:xfrm>
                <a:off x="1437061" y="1318570"/>
                <a:ext cx="1622771" cy="276999"/>
              </a:xfrm>
              <a:prstGeom prst="rect">
                <a:avLst/>
              </a:prstGeom>
              <a:noFill/>
            </p:spPr>
            <p:txBody>
              <a:bodyPr wrap="square">
                <a:spAutoFit/>
              </a:bodyPr>
              <a:lstStyle/>
              <a:p>
                <a:pPr algn="ctr"/>
                <a:r>
                  <a:rPr lang="uk-UA" sz="1200" b="1" dirty="0">
                    <a:latin typeface="+mj-lt"/>
                  </a:rPr>
                  <a:t>Дія</a:t>
                </a:r>
                <a:r>
                  <a:rPr lang="uk-UA" sz="1200" dirty="0">
                    <a:latin typeface="+mj-lt"/>
                  </a:rPr>
                  <a:t> (Рекомендація</a:t>
                </a:r>
                <a14:m>
                  <m:oMath xmlns:m="http://schemas.openxmlformats.org/officeDocument/2006/math">
                    <m:sSub>
                      <m:sSubPr>
                        <m:ctrlPr>
                          <a:rPr lang="en-US" sz="1200" b="0" i="1" smtClean="0">
                            <a:latin typeface="Cambria Math" panose="02040503050406030204" pitchFamily="18" charset="0"/>
                          </a:rPr>
                        </m:ctrlPr>
                      </m:sSubPr>
                      <m:e>
                        <m:r>
                          <a:rPr lang="uk-UA" sz="1200" b="0" i="1" smtClean="0">
                            <a:latin typeface="Cambria Math" panose="02040503050406030204" pitchFamily="18" charset="0"/>
                          </a:rPr>
                          <m:t> </m:t>
                        </m:r>
                        <m:r>
                          <a:rPr lang="en-US" sz="1200" b="0" i="1" smtClean="0">
                            <a:latin typeface="Cambria Math" panose="02040503050406030204" pitchFamily="18" charset="0"/>
                          </a:rPr>
                          <m:t>𝑎</m:t>
                        </m:r>
                      </m:e>
                      <m:sub>
                        <m:r>
                          <a:rPr lang="en-US" sz="1200" b="0" i="1" smtClean="0">
                            <a:latin typeface="Cambria Math" panose="02040503050406030204" pitchFamily="18" charset="0"/>
                          </a:rPr>
                          <m:t>𝑡</m:t>
                        </m:r>
                      </m:sub>
                    </m:sSub>
                  </m:oMath>
                </a14:m>
                <a:r>
                  <a:rPr lang="uk-UA" sz="1200" dirty="0">
                    <a:latin typeface="+mj-lt"/>
                  </a:rPr>
                  <a:t>) </a:t>
                </a:r>
                <a:endParaRPr lang="uk-UA" sz="1200" dirty="0"/>
              </a:p>
            </p:txBody>
          </p:sp>
        </mc:Choice>
        <mc:Fallback xmlns="">
          <p:sp>
            <p:nvSpPr>
              <p:cNvPr id="17" name="TextBox 16">
                <a:extLst>
                  <a:ext uri="{FF2B5EF4-FFF2-40B4-BE49-F238E27FC236}">
                    <a16:creationId xmlns:a16="http://schemas.microsoft.com/office/drawing/2014/main" id="{D2FE1992-DB03-8824-95C2-81D74B05A1EE}"/>
                  </a:ext>
                </a:extLst>
              </p:cNvPr>
              <p:cNvSpPr txBox="1">
                <a:spLocks noRot="1" noChangeAspect="1" noMove="1" noResize="1" noEditPoints="1" noAdjustHandles="1" noChangeArrowheads="1" noChangeShapeType="1" noTextEdit="1"/>
              </p:cNvSpPr>
              <p:nvPr/>
            </p:nvSpPr>
            <p:spPr>
              <a:xfrm>
                <a:off x="1437061" y="1318570"/>
                <a:ext cx="1622771" cy="276999"/>
              </a:xfrm>
              <a:prstGeom prst="rect">
                <a:avLst/>
              </a:prstGeom>
              <a:blipFill>
                <a:blip r:embed="rId6"/>
                <a:stretch>
                  <a:fillRect l="-376" r="-1880" b="-15217"/>
                </a:stretch>
              </a:blipFill>
            </p:spPr>
            <p:txBody>
              <a:bodyPr/>
              <a:lstStyle/>
              <a:p>
                <a:r>
                  <a:rPr lang="uk-UA">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D9878B33-94D9-F180-A476-8BDDE702FD68}"/>
                  </a:ext>
                </a:extLst>
              </p:cNvPr>
              <p:cNvSpPr txBox="1"/>
              <p:nvPr/>
            </p:nvSpPr>
            <p:spPr>
              <a:xfrm>
                <a:off x="1475090" y="1849555"/>
                <a:ext cx="1492880" cy="276999"/>
              </a:xfrm>
              <a:prstGeom prst="rect">
                <a:avLst/>
              </a:prstGeom>
              <a:noFill/>
            </p:spPr>
            <p:txBody>
              <a:bodyPr wrap="square">
                <a:spAutoFit/>
              </a:bodyPr>
              <a:lstStyle/>
              <a:p>
                <a:pPr algn="ctr"/>
                <a:r>
                  <a:rPr lang="uk-UA" sz="1200" b="1" dirty="0">
                    <a:latin typeface="+mj-lt"/>
                    <a:ea typeface="Times New Roman" panose="02020603050405020304" pitchFamily="18" charset="0"/>
                  </a:rPr>
                  <a:t>Стан</a:t>
                </a:r>
                <a:r>
                  <a:rPr lang="en-US" sz="1200" dirty="0">
                    <a:latin typeface="+mj-lt"/>
                    <a:ea typeface="Times New Roman" panose="02020603050405020304" pitchFamily="18" charset="0"/>
                  </a:rPr>
                  <a:t> </a:t>
                </a:r>
                <a14:m>
                  <m:oMath xmlns:m="http://schemas.openxmlformats.org/officeDocument/2006/math">
                    <m:sSub>
                      <m:sSubPr>
                        <m:ctrlPr>
                          <a:rPr lang="en-US" sz="1200" b="0" i="1" smtClean="0">
                            <a:latin typeface="Cambria Math" panose="02040503050406030204" pitchFamily="18" charset="0"/>
                            <a:ea typeface="Times New Roman" panose="02020603050405020304" pitchFamily="18" charset="0"/>
                          </a:rPr>
                        </m:ctrlPr>
                      </m:sSubPr>
                      <m:e>
                        <m:r>
                          <a:rPr lang="en-US" sz="1200" b="0" i="1" smtClean="0">
                            <a:latin typeface="Cambria Math" panose="02040503050406030204" pitchFamily="18" charset="0"/>
                            <a:ea typeface="Times New Roman" panose="02020603050405020304" pitchFamily="18" charset="0"/>
                          </a:rPr>
                          <m:t>𝑠</m:t>
                        </m:r>
                      </m:e>
                      <m:sub>
                        <m:r>
                          <a:rPr lang="en-US" sz="1200" b="0" i="1" smtClean="0">
                            <a:latin typeface="Cambria Math" panose="02040503050406030204" pitchFamily="18" charset="0"/>
                            <a:ea typeface="Times New Roman" panose="02020603050405020304" pitchFamily="18" charset="0"/>
                          </a:rPr>
                          <m:t>𝑡</m:t>
                        </m:r>
                      </m:sub>
                    </m:sSub>
                  </m:oMath>
                </a14:m>
                <a:endParaRPr lang="uk-UA" sz="1200" dirty="0"/>
              </a:p>
            </p:txBody>
          </p:sp>
        </mc:Choice>
        <mc:Fallback xmlns="">
          <p:sp>
            <p:nvSpPr>
              <p:cNvPr id="19" name="TextBox 18">
                <a:extLst>
                  <a:ext uri="{FF2B5EF4-FFF2-40B4-BE49-F238E27FC236}">
                    <a16:creationId xmlns:a16="http://schemas.microsoft.com/office/drawing/2014/main" id="{D9878B33-94D9-F180-A476-8BDDE702FD68}"/>
                  </a:ext>
                </a:extLst>
              </p:cNvPr>
              <p:cNvSpPr txBox="1">
                <a:spLocks noRot="1" noChangeAspect="1" noMove="1" noResize="1" noEditPoints="1" noAdjustHandles="1" noChangeArrowheads="1" noChangeShapeType="1" noTextEdit="1"/>
              </p:cNvSpPr>
              <p:nvPr/>
            </p:nvSpPr>
            <p:spPr>
              <a:xfrm>
                <a:off x="1475090" y="1849555"/>
                <a:ext cx="1492880" cy="276999"/>
              </a:xfrm>
              <a:prstGeom prst="rect">
                <a:avLst/>
              </a:prstGeom>
              <a:blipFill>
                <a:blip r:embed="rId7"/>
                <a:stretch>
                  <a:fillRect b="-15217"/>
                </a:stretch>
              </a:blipFill>
            </p:spPr>
            <p:txBody>
              <a:bodyPr/>
              <a:lstStyle/>
              <a:p>
                <a:r>
                  <a:rPr lang="uk-UA">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F8487EC-FAB2-1DFD-CDB1-4D5EB91ABBCB}"/>
                  </a:ext>
                </a:extLst>
              </p:cNvPr>
              <p:cNvSpPr txBox="1"/>
              <p:nvPr/>
            </p:nvSpPr>
            <p:spPr>
              <a:xfrm>
                <a:off x="1479581" y="2263909"/>
                <a:ext cx="1492880" cy="261610"/>
              </a:xfrm>
              <a:prstGeom prst="rect">
                <a:avLst/>
              </a:prstGeom>
              <a:noFill/>
            </p:spPr>
            <p:txBody>
              <a:bodyPr wrap="square">
                <a:spAutoFit/>
              </a:bodyPr>
              <a:lstStyle/>
              <a:p>
                <a:pPr algn="ctr"/>
                <a:r>
                  <a:rPr lang="uk-UA" sz="1100" b="1" dirty="0">
                    <a:latin typeface="+mj-lt"/>
                  </a:rPr>
                  <a:t>Винагорода</a:t>
                </a:r>
                <a:r>
                  <a:rPr lang="uk-UA" sz="1100" dirty="0">
                    <a:latin typeface="+mj-lt"/>
                  </a:rPr>
                  <a:t> </a:t>
                </a:r>
                <a14:m>
                  <m:oMath xmlns:m="http://schemas.openxmlformats.org/officeDocument/2006/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𝑟</m:t>
                        </m:r>
                      </m:e>
                      <m:sub>
                        <m:r>
                          <a:rPr lang="en-US" sz="1100" b="0" i="1" smtClean="0">
                            <a:latin typeface="Cambria Math" panose="02040503050406030204" pitchFamily="18" charset="0"/>
                          </a:rPr>
                          <m:t>𝑡</m:t>
                        </m:r>
                      </m:sub>
                    </m:sSub>
                  </m:oMath>
                </a14:m>
                <a:endParaRPr lang="uk-UA" sz="1100" dirty="0"/>
              </a:p>
            </p:txBody>
          </p:sp>
        </mc:Choice>
        <mc:Fallback xmlns="">
          <p:sp>
            <p:nvSpPr>
              <p:cNvPr id="21" name="TextBox 20">
                <a:extLst>
                  <a:ext uri="{FF2B5EF4-FFF2-40B4-BE49-F238E27FC236}">
                    <a16:creationId xmlns:a16="http://schemas.microsoft.com/office/drawing/2014/main" id="{4F8487EC-FAB2-1DFD-CDB1-4D5EB91ABBCB}"/>
                  </a:ext>
                </a:extLst>
              </p:cNvPr>
              <p:cNvSpPr txBox="1">
                <a:spLocks noRot="1" noChangeAspect="1" noMove="1" noResize="1" noEditPoints="1" noAdjustHandles="1" noChangeArrowheads="1" noChangeShapeType="1" noTextEdit="1"/>
              </p:cNvSpPr>
              <p:nvPr/>
            </p:nvSpPr>
            <p:spPr>
              <a:xfrm>
                <a:off x="1479581" y="2263909"/>
                <a:ext cx="1492880" cy="261610"/>
              </a:xfrm>
              <a:prstGeom prst="rect">
                <a:avLst/>
              </a:prstGeom>
              <a:blipFill>
                <a:blip r:embed="rId8"/>
                <a:stretch>
                  <a:fillRect b="-16279"/>
                </a:stretch>
              </a:blipFill>
            </p:spPr>
            <p:txBody>
              <a:bodyPr/>
              <a:lstStyle/>
              <a:p>
                <a:r>
                  <a:rPr lang="uk-UA">
                    <a:noFill/>
                  </a:rPr>
                  <a:t> </a:t>
                </a:r>
              </a:p>
            </p:txBody>
          </p:sp>
        </mc:Fallback>
      </mc:AlternateContent>
      <p:pic>
        <p:nvPicPr>
          <p:cNvPr id="23" name="Graphic 22">
            <a:extLst>
              <a:ext uri="{FF2B5EF4-FFF2-40B4-BE49-F238E27FC236}">
                <a16:creationId xmlns:a16="http://schemas.microsoft.com/office/drawing/2014/main" id="{A967A4E9-4F3D-BEC5-E139-A587638DD7F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65772" y="1426559"/>
            <a:ext cx="405828" cy="405828"/>
          </a:xfrm>
          <a:prstGeom prst="rect">
            <a:avLst/>
          </a:prstGeom>
        </p:spPr>
      </p:pic>
      <p:pic>
        <p:nvPicPr>
          <p:cNvPr id="25" name="Graphic 24">
            <a:extLst>
              <a:ext uri="{FF2B5EF4-FFF2-40B4-BE49-F238E27FC236}">
                <a16:creationId xmlns:a16="http://schemas.microsoft.com/office/drawing/2014/main" id="{73FE1AD2-1E4D-115B-F5D7-53D256A0A7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465519" y="1420583"/>
            <a:ext cx="417780" cy="417780"/>
          </a:xfrm>
          <a:prstGeom prst="rect">
            <a:avLst/>
          </a:prstGeom>
        </p:spPr>
      </p:pic>
      <p:sp>
        <p:nvSpPr>
          <p:cNvPr id="4" name="Підзаголовок 2">
            <a:extLst>
              <a:ext uri="{FF2B5EF4-FFF2-40B4-BE49-F238E27FC236}">
                <a16:creationId xmlns:a16="http://schemas.microsoft.com/office/drawing/2014/main" id="{FFDC8617-18FB-3B63-DBAA-2A313AB031D3}"/>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4</a:t>
            </a:r>
            <a:endParaRPr lang="uk-UA" sz="1200" dirty="0">
              <a:solidFill>
                <a:schemeClr val="tx1"/>
              </a:solidFill>
            </a:endParaRPr>
          </a:p>
        </p:txBody>
      </p:sp>
    </p:spTree>
    <p:extLst>
      <p:ext uri="{BB962C8B-B14F-4D97-AF65-F5344CB8AC3E}">
        <p14:creationId xmlns:p14="http://schemas.microsoft.com/office/powerpoint/2010/main" val="1022904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a:extLst>
              <a:ext uri="{FF2B5EF4-FFF2-40B4-BE49-F238E27FC236}">
                <a16:creationId xmlns:a16="http://schemas.microsoft.com/office/drawing/2014/main" id="{6A76896E-7E20-5E64-80DB-C597ECD59560}"/>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Постановка задачі</a:t>
            </a:r>
          </a:p>
        </p:txBody>
      </p:sp>
      <p:sp>
        <p:nvSpPr>
          <p:cNvPr id="3" name="TextBox 2">
            <a:extLst>
              <a:ext uri="{FF2B5EF4-FFF2-40B4-BE49-F238E27FC236}">
                <a16:creationId xmlns:a16="http://schemas.microsoft.com/office/drawing/2014/main" id="{C684FE60-1649-7EE5-5BCB-F738AE0D0639}"/>
              </a:ext>
            </a:extLst>
          </p:cNvPr>
          <p:cNvSpPr txBox="1"/>
          <p:nvPr/>
        </p:nvSpPr>
        <p:spPr>
          <a:xfrm>
            <a:off x="143509" y="386462"/>
            <a:ext cx="8676964" cy="784830"/>
          </a:xfrm>
          <a:prstGeom prst="rect">
            <a:avLst/>
          </a:prstGeom>
          <a:noFill/>
        </p:spPr>
        <p:txBody>
          <a:bodyPr wrap="square">
            <a:spAutoFit/>
          </a:bodyPr>
          <a:lstStyle/>
          <a:p>
            <a:r>
              <a:rPr lang="uk-UA" sz="1500" b="1" kern="0" dirty="0">
                <a:solidFill>
                  <a:srgbClr val="00CC99"/>
                </a:solidFill>
                <a:effectLst/>
                <a:latin typeface="+mj-lt"/>
                <a:ea typeface="Calibri" panose="020F0502020204030204" pitchFamily="34" charset="0"/>
              </a:rPr>
              <a:t>Метою</a:t>
            </a:r>
            <a:r>
              <a:rPr lang="uk-UA" sz="1500" kern="0" dirty="0">
                <a:effectLst/>
                <a:latin typeface="+mj-lt"/>
                <a:ea typeface="Calibri" panose="020F0502020204030204" pitchFamily="34" charset="0"/>
              </a:rPr>
              <a:t> дослідження </a:t>
            </a:r>
            <a:r>
              <a:rPr lang="uk-UA" sz="1500" dirty="0"/>
              <a:t>є розробка системи групових рекомендацій на основі машинного навчання з підкріпленням, що враховує динаміку вподобань користувачів, індивідуальні особливості членів групи та довгостроковий ефект рекомендацій.</a:t>
            </a:r>
            <a:r>
              <a:rPr lang="uk-UA" sz="1500" kern="0" dirty="0">
                <a:effectLst/>
                <a:latin typeface="+mj-lt"/>
                <a:ea typeface="Calibri" panose="020F0502020204030204" pitchFamily="34" charset="0"/>
              </a:rPr>
              <a:t> </a:t>
            </a:r>
            <a:endParaRPr lang="uk-UA" sz="1500" dirty="0">
              <a:latin typeface="+mj-lt"/>
            </a:endParaRPr>
          </a:p>
        </p:txBody>
      </p:sp>
      <p:sp>
        <p:nvSpPr>
          <p:cNvPr id="8" name="TextBox 7">
            <a:extLst>
              <a:ext uri="{FF2B5EF4-FFF2-40B4-BE49-F238E27FC236}">
                <a16:creationId xmlns:a16="http://schemas.microsoft.com/office/drawing/2014/main" id="{D26E7388-4F87-F47C-9E2A-07C7B28DFB2D}"/>
              </a:ext>
            </a:extLst>
          </p:cNvPr>
          <p:cNvSpPr txBox="1"/>
          <p:nvPr/>
        </p:nvSpPr>
        <p:spPr>
          <a:xfrm>
            <a:off x="151592" y="1254823"/>
            <a:ext cx="5212496" cy="4016484"/>
          </a:xfrm>
          <a:prstGeom prst="rect">
            <a:avLst/>
          </a:prstGeom>
          <a:noFill/>
        </p:spPr>
        <p:txBody>
          <a:bodyPr wrap="square">
            <a:spAutoFit/>
          </a:bodyPr>
          <a:lstStyle/>
          <a:p>
            <a:r>
              <a:rPr lang="uk-UA" sz="1500" b="1" dirty="0">
                <a:solidFill>
                  <a:srgbClr val="0066CC"/>
                </a:solidFill>
                <a:latin typeface="+mj-lt"/>
                <a:ea typeface="Times New Roman" panose="02020603050405020304" pitchFamily="18" charset="0"/>
              </a:rPr>
              <a:t>Поставлені задачі</a:t>
            </a:r>
          </a:p>
          <a:p>
            <a:pPr marL="285750" indent="-285750">
              <a:buFont typeface="Wingdings" panose="05000000000000000000" pitchFamily="2" charset="2"/>
              <a:buChar char="q"/>
            </a:pPr>
            <a:r>
              <a:rPr lang="uk-UA" sz="1500" noProof="0" dirty="0"/>
              <a:t>Підготовка даних та формування груп користувачів </a:t>
            </a:r>
          </a:p>
          <a:p>
            <a:pPr marL="285750" indent="-285750">
              <a:buFont typeface="Wingdings" panose="05000000000000000000" pitchFamily="2" charset="2"/>
              <a:buChar char="q"/>
            </a:pPr>
            <a:r>
              <a:rPr lang="uk-UA" sz="1500" noProof="0" dirty="0"/>
              <a:t>Розробка моделі на основі архітектури </a:t>
            </a:r>
            <a:r>
              <a:rPr lang="uk-UA" sz="1500" b="1" noProof="0" dirty="0"/>
              <a:t>Актор–Критик </a:t>
            </a:r>
          </a:p>
          <a:p>
            <a:pPr marL="285750" indent="-285750">
              <a:buFont typeface="Wingdings" panose="05000000000000000000" pitchFamily="2" charset="2"/>
              <a:buChar char="q"/>
            </a:pPr>
            <a:r>
              <a:rPr lang="uk-UA" sz="1500" noProof="0" dirty="0"/>
              <a:t>Реалізація механізму врахування внеску кожного учасника групи</a:t>
            </a:r>
            <a:r>
              <a:rPr lang="en-US" sz="1500" noProof="0" dirty="0"/>
              <a:t> (</a:t>
            </a:r>
            <a:r>
              <a:rPr lang="uk-UA" sz="1500" b="1" noProof="0" dirty="0"/>
              <a:t>Інтегратор</a:t>
            </a:r>
            <a:r>
              <a:rPr lang="uk-UA" sz="1500" noProof="0" dirty="0"/>
              <a:t>)</a:t>
            </a:r>
          </a:p>
          <a:p>
            <a:pPr marL="285750" indent="-285750">
              <a:buFont typeface="Wingdings" panose="05000000000000000000" pitchFamily="2" charset="2"/>
              <a:buChar char="q"/>
            </a:pPr>
            <a:r>
              <a:rPr lang="uk-UA" sz="1500" dirty="0"/>
              <a:t>Навчання та тестування моделі</a:t>
            </a:r>
            <a:endParaRPr lang="uk-UA" sz="1500" dirty="0">
              <a:latin typeface="+mj-lt"/>
            </a:endParaRPr>
          </a:p>
          <a:p>
            <a:pPr marL="285750" indent="-285750">
              <a:buFont typeface="Wingdings" panose="05000000000000000000" pitchFamily="2" charset="2"/>
              <a:buChar char="q"/>
            </a:pPr>
            <a:r>
              <a:rPr lang="uk-UA" sz="1500" dirty="0">
                <a:latin typeface="+mj-lt"/>
              </a:rPr>
              <a:t>Порівняти ефективність запропонованої моделі із базовим підходом</a:t>
            </a:r>
          </a:p>
          <a:p>
            <a:pPr marL="285750" indent="-285750">
              <a:buFont typeface="Wingdings" panose="05000000000000000000" pitchFamily="2" charset="2"/>
              <a:buChar char="q"/>
            </a:pPr>
            <a:endParaRPr lang="uk-UA" sz="1500" dirty="0">
              <a:latin typeface="+mj-lt"/>
            </a:endParaRPr>
          </a:p>
          <a:p>
            <a:r>
              <a:rPr lang="uk-UA" sz="1500" b="1" dirty="0">
                <a:solidFill>
                  <a:srgbClr val="00CC99"/>
                </a:solidFill>
                <a:latin typeface="+mj-lt"/>
              </a:rPr>
              <a:t>Очікуваний результат</a:t>
            </a:r>
            <a:endParaRPr lang="en-US" sz="1500" b="1" dirty="0">
              <a:solidFill>
                <a:srgbClr val="00CC99"/>
              </a:solidFill>
              <a:latin typeface="+mj-lt"/>
            </a:endParaRPr>
          </a:p>
          <a:p>
            <a:pPr marL="285750" indent="-285750">
              <a:buFont typeface="Wingdings" panose="05000000000000000000" pitchFamily="2" charset="2"/>
              <a:buChar char="Ø"/>
            </a:pPr>
            <a:r>
              <a:rPr lang="uk-UA" sz="1500" dirty="0">
                <a:latin typeface="+mj-lt"/>
              </a:rPr>
              <a:t>Модель, що формує більш релевантні групові рекомендації</a:t>
            </a:r>
          </a:p>
          <a:p>
            <a:pPr marL="285750" indent="-285750">
              <a:buFont typeface="Wingdings" panose="05000000000000000000" pitchFamily="2" charset="2"/>
              <a:buChar char="Ø"/>
            </a:pPr>
            <a:r>
              <a:rPr lang="uk-UA" sz="1500" dirty="0">
                <a:latin typeface="+mj-lt"/>
              </a:rPr>
              <a:t>Підвищення точності та адаптивності системи</a:t>
            </a:r>
          </a:p>
          <a:p>
            <a:pPr marL="285750" indent="-285750">
              <a:buFont typeface="Wingdings" panose="05000000000000000000" pitchFamily="2" charset="2"/>
              <a:buChar char="Ø"/>
            </a:pPr>
            <a:r>
              <a:rPr lang="uk-UA" sz="1500" dirty="0">
                <a:latin typeface="+mj-lt"/>
              </a:rPr>
              <a:t>Врахування довгострокової поведінки користувачів</a:t>
            </a:r>
          </a:p>
          <a:p>
            <a:pPr marL="285750" indent="-285750">
              <a:buFont typeface="Wingdings" panose="05000000000000000000" pitchFamily="2" charset="2"/>
              <a:buChar char="Ø"/>
            </a:pPr>
            <a:r>
              <a:rPr lang="uk-UA" sz="1500" dirty="0">
                <a:latin typeface="+mj-lt"/>
              </a:rPr>
              <a:t>Придатність для використання в сучасних рекомендаційних сервісах</a:t>
            </a:r>
          </a:p>
          <a:p>
            <a:endParaRPr lang="uk-UA" sz="1500" dirty="0">
              <a:latin typeface="+mj-lt"/>
            </a:endParaRPr>
          </a:p>
        </p:txBody>
      </p:sp>
      <p:sp>
        <p:nvSpPr>
          <p:cNvPr id="17" name="Rectangle: Rounded Corners 16">
            <a:extLst>
              <a:ext uri="{FF2B5EF4-FFF2-40B4-BE49-F238E27FC236}">
                <a16:creationId xmlns:a16="http://schemas.microsoft.com/office/drawing/2014/main" id="{C5A3C7A0-F568-1896-D3A1-FDC3F5206EBD}"/>
              </a:ext>
            </a:extLst>
          </p:cNvPr>
          <p:cNvSpPr/>
          <p:nvPr/>
        </p:nvSpPr>
        <p:spPr>
          <a:xfrm>
            <a:off x="5724128" y="1528505"/>
            <a:ext cx="2808312" cy="345387"/>
          </a:xfrm>
          <a:prstGeom prst="roundRect">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uk-UA" sz="1200" b="1" dirty="0">
                <a:solidFill>
                  <a:schemeClr val="tx1"/>
                </a:solidFill>
              </a:rPr>
              <a:t>Врахування впливу користувачів</a:t>
            </a:r>
          </a:p>
        </p:txBody>
      </p:sp>
      <p:sp>
        <p:nvSpPr>
          <p:cNvPr id="19" name="TextBox 18">
            <a:extLst>
              <a:ext uri="{FF2B5EF4-FFF2-40B4-BE49-F238E27FC236}">
                <a16:creationId xmlns:a16="http://schemas.microsoft.com/office/drawing/2014/main" id="{053754B4-29FC-0EC1-A0B0-A551209B66D0}"/>
              </a:ext>
            </a:extLst>
          </p:cNvPr>
          <p:cNvSpPr txBox="1"/>
          <p:nvPr/>
        </p:nvSpPr>
        <p:spPr>
          <a:xfrm>
            <a:off x="5376664" y="1171292"/>
            <a:ext cx="4572000" cy="323165"/>
          </a:xfrm>
          <a:prstGeom prst="rect">
            <a:avLst/>
          </a:prstGeom>
          <a:noFill/>
        </p:spPr>
        <p:txBody>
          <a:bodyPr wrap="square">
            <a:spAutoFit/>
          </a:bodyPr>
          <a:lstStyle/>
          <a:p>
            <a:r>
              <a:rPr lang="uk-UA" sz="1500" b="1" dirty="0">
                <a:solidFill>
                  <a:srgbClr val="0066CC"/>
                </a:solidFill>
                <a:latin typeface="+mj-lt"/>
                <a:ea typeface="Times New Roman" panose="02020603050405020304" pitchFamily="18" charset="0"/>
              </a:rPr>
              <a:t>Ключові аспекти</a:t>
            </a:r>
          </a:p>
        </p:txBody>
      </p:sp>
      <p:sp>
        <p:nvSpPr>
          <p:cNvPr id="20" name="Arrow: Down 19">
            <a:extLst>
              <a:ext uri="{FF2B5EF4-FFF2-40B4-BE49-F238E27FC236}">
                <a16:creationId xmlns:a16="http://schemas.microsoft.com/office/drawing/2014/main" id="{C17B4FEC-3512-C292-EF24-ECD2811641EB}"/>
              </a:ext>
            </a:extLst>
          </p:cNvPr>
          <p:cNvSpPr/>
          <p:nvPr/>
        </p:nvSpPr>
        <p:spPr>
          <a:xfrm>
            <a:off x="7002270" y="1931074"/>
            <a:ext cx="252028" cy="258553"/>
          </a:xfrm>
          <a:prstGeom prst="downArrow">
            <a:avLst/>
          </a:prstGeom>
          <a:solidFill>
            <a:srgbClr val="3E84F3">
              <a:alpha val="50000"/>
            </a:srgbClr>
          </a:solidFill>
          <a:ln>
            <a:solidFill>
              <a:srgbClr val="0066FF"/>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uk-UA"/>
          </a:p>
        </p:txBody>
      </p:sp>
      <p:sp>
        <p:nvSpPr>
          <p:cNvPr id="21" name="Rectangle: Rounded Corners 20">
            <a:extLst>
              <a:ext uri="{FF2B5EF4-FFF2-40B4-BE49-F238E27FC236}">
                <a16:creationId xmlns:a16="http://schemas.microsoft.com/office/drawing/2014/main" id="{6FBF6939-9C74-B715-5C41-CD576823D06F}"/>
              </a:ext>
            </a:extLst>
          </p:cNvPr>
          <p:cNvSpPr/>
          <p:nvPr/>
        </p:nvSpPr>
        <p:spPr>
          <a:xfrm>
            <a:off x="5724128" y="2240291"/>
            <a:ext cx="2808312" cy="345387"/>
          </a:xfrm>
          <a:prstGeom prst="roundRect">
            <a:avLst/>
          </a:prstGeom>
          <a:ln/>
        </p:spPr>
        <p:style>
          <a:lnRef idx="2">
            <a:schemeClr val="accent3"/>
          </a:lnRef>
          <a:fillRef idx="1">
            <a:schemeClr val="lt1"/>
          </a:fillRef>
          <a:effectRef idx="0">
            <a:schemeClr val="accent3"/>
          </a:effectRef>
          <a:fontRef idx="minor">
            <a:schemeClr val="dk1"/>
          </a:fontRef>
        </p:style>
        <p:txBody>
          <a:bodyPr rtlCol="0" anchor="ctr"/>
          <a:lstStyle/>
          <a:p>
            <a:pPr algn="ctr"/>
            <a:r>
              <a:rPr lang="uk-UA" sz="1200" b="1" dirty="0">
                <a:solidFill>
                  <a:schemeClr val="tx1"/>
                </a:solidFill>
              </a:rPr>
              <a:t>Формування стану групи</a:t>
            </a:r>
          </a:p>
        </p:txBody>
      </p:sp>
      <p:sp>
        <p:nvSpPr>
          <p:cNvPr id="22" name="Rectangle: Rounded Corners 21">
            <a:extLst>
              <a:ext uri="{FF2B5EF4-FFF2-40B4-BE49-F238E27FC236}">
                <a16:creationId xmlns:a16="http://schemas.microsoft.com/office/drawing/2014/main" id="{7AF5FFD3-902E-EB95-7F76-42D259051DE9}"/>
              </a:ext>
            </a:extLst>
          </p:cNvPr>
          <p:cNvSpPr/>
          <p:nvPr/>
        </p:nvSpPr>
        <p:spPr>
          <a:xfrm>
            <a:off x="5724128" y="2965113"/>
            <a:ext cx="2808312" cy="412037"/>
          </a:xfrm>
          <a:prstGeom prst="roundRect">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uk-UA" sz="1200" b="1" dirty="0">
                <a:solidFill>
                  <a:schemeClr val="tx1"/>
                </a:solidFill>
              </a:rPr>
              <a:t>Використання машинного навчання з підкріпленням</a:t>
            </a:r>
          </a:p>
        </p:txBody>
      </p:sp>
      <p:sp>
        <p:nvSpPr>
          <p:cNvPr id="23" name="Arrow: Down 22">
            <a:extLst>
              <a:ext uri="{FF2B5EF4-FFF2-40B4-BE49-F238E27FC236}">
                <a16:creationId xmlns:a16="http://schemas.microsoft.com/office/drawing/2014/main" id="{0AB51C2F-E71E-41B4-FC1A-1145A31A44C1}"/>
              </a:ext>
            </a:extLst>
          </p:cNvPr>
          <p:cNvSpPr/>
          <p:nvPr/>
        </p:nvSpPr>
        <p:spPr>
          <a:xfrm>
            <a:off x="7002270" y="2652328"/>
            <a:ext cx="252028" cy="258553"/>
          </a:xfrm>
          <a:prstGeom prst="downArrow">
            <a:avLst/>
          </a:prstGeom>
          <a:solidFill>
            <a:srgbClr val="3E84F3">
              <a:alpha val="50000"/>
            </a:srgbClr>
          </a:solidFill>
          <a:ln>
            <a:solidFill>
              <a:srgbClr val="0066FF"/>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uk-UA"/>
          </a:p>
        </p:txBody>
      </p:sp>
      <p:sp>
        <p:nvSpPr>
          <p:cNvPr id="24" name="Rectangle: Rounded Corners 23">
            <a:extLst>
              <a:ext uri="{FF2B5EF4-FFF2-40B4-BE49-F238E27FC236}">
                <a16:creationId xmlns:a16="http://schemas.microsoft.com/office/drawing/2014/main" id="{60DC7E30-6C17-4355-0C96-A945AB8F3EC3}"/>
              </a:ext>
            </a:extLst>
          </p:cNvPr>
          <p:cNvSpPr/>
          <p:nvPr/>
        </p:nvSpPr>
        <p:spPr>
          <a:xfrm>
            <a:off x="5724128" y="3762663"/>
            <a:ext cx="2808312" cy="345387"/>
          </a:xfrm>
          <a:prstGeom prst="roundRect">
            <a:avLst/>
          </a:prstGeom>
          <a:ln/>
        </p:spPr>
        <p:style>
          <a:lnRef idx="2">
            <a:schemeClr val="accent3"/>
          </a:lnRef>
          <a:fillRef idx="1">
            <a:schemeClr val="lt1"/>
          </a:fillRef>
          <a:effectRef idx="0">
            <a:schemeClr val="accent3"/>
          </a:effectRef>
          <a:fontRef idx="minor">
            <a:schemeClr val="dk1"/>
          </a:fontRef>
        </p:style>
        <p:txBody>
          <a:bodyPr rtlCol="0" anchor="ctr"/>
          <a:lstStyle/>
          <a:p>
            <a:pPr algn="ctr"/>
            <a:r>
              <a:rPr lang="uk-UA" sz="1200" b="1" dirty="0">
                <a:solidFill>
                  <a:schemeClr val="tx1"/>
                </a:solidFill>
              </a:rPr>
              <a:t>Застосування моделі Актор-Критик</a:t>
            </a:r>
          </a:p>
        </p:txBody>
      </p:sp>
      <p:sp>
        <p:nvSpPr>
          <p:cNvPr id="25" name="Arrow: Down 24">
            <a:extLst>
              <a:ext uri="{FF2B5EF4-FFF2-40B4-BE49-F238E27FC236}">
                <a16:creationId xmlns:a16="http://schemas.microsoft.com/office/drawing/2014/main" id="{CC8351D5-63F9-1188-373D-0E301E464A51}"/>
              </a:ext>
            </a:extLst>
          </p:cNvPr>
          <p:cNvSpPr/>
          <p:nvPr/>
        </p:nvSpPr>
        <p:spPr>
          <a:xfrm>
            <a:off x="7002270" y="3449878"/>
            <a:ext cx="252028" cy="258553"/>
          </a:xfrm>
          <a:prstGeom prst="downArrow">
            <a:avLst/>
          </a:prstGeom>
          <a:solidFill>
            <a:srgbClr val="3E84F3">
              <a:alpha val="50000"/>
            </a:srgbClr>
          </a:solidFill>
          <a:ln>
            <a:solidFill>
              <a:srgbClr val="0066FF"/>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uk-UA"/>
          </a:p>
        </p:txBody>
      </p:sp>
      <p:sp>
        <p:nvSpPr>
          <p:cNvPr id="26" name="Rectangle: Rounded Corners 25">
            <a:extLst>
              <a:ext uri="{FF2B5EF4-FFF2-40B4-BE49-F238E27FC236}">
                <a16:creationId xmlns:a16="http://schemas.microsoft.com/office/drawing/2014/main" id="{2C208D54-F2BC-307C-F9DF-B429C3D2DAF3}"/>
              </a:ext>
            </a:extLst>
          </p:cNvPr>
          <p:cNvSpPr/>
          <p:nvPr/>
        </p:nvSpPr>
        <p:spPr>
          <a:xfrm>
            <a:off x="5724128" y="4475235"/>
            <a:ext cx="2808312" cy="345387"/>
          </a:xfrm>
          <a:prstGeom prst="roundRect">
            <a:avLst/>
          </a:prstGeom>
          <a:ln/>
        </p:spPr>
        <p:style>
          <a:lnRef idx="2">
            <a:schemeClr val="accent5"/>
          </a:lnRef>
          <a:fillRef idx="1">
            <a:schemeClr val="lt1"/>
          </a:fillRef>
          <a:effectRef idx="0">
            <a:schemeClr val="accent5"/>
          </a:effectRef>
          <a:fontRef idx="minor">
            <a:schemeClr val="dk1"/>
          </a:fontRef>
        </p:style>
        <p:txBody>
          <a:bodyPr rtlCol="0" anchor="ctr"/>
          <a:lstStyle/>
          <a:p>
            <a:pPr algn="ctr"/>
            <a:r>
              <a:rPr lang="uk-UA" sz="1200" b="1" dirty="0">
                <a:solidFill>
                  <a:schemeClr val="tx1"/>
                </a:solidFill>
              </a:rPr>
              <a:t>Орієнтація на довгостроковий ефект</a:t>
            </a:r>
          </a:p>
        </p:txBody>
      </p:sp>
      <p:sp>
        <p:nvSpPr>
          <p:cNvPr id="27" name="Arrow: Down 26">
            <a:extLst>
              <a:ext uri="{FF2B5EF4-FFF2-40B4-BE49-F238E27FC236}">
                <a16:creationId xmlns:a16="http://schemas.microsoft.com/office/drawing/2014/main" id="{AA934C9C-8C2B-90DB-2369-E405C4681D08}"/>
              </a:ext>
            </a:extLst>
          </p:cNvPr>
          <p:cNvSpPr/>
          <p:nvPr/>
        </p:nvSpPr>
        <p:spPr>
          <a:xfrm>
            <a:off x="7002270" y="4162282"/>
            <a:ext cx="252028" cy="258553"/>
          </a:xfrm>
          <a:prstGeom prst="downArrow">
            <a:avLst/>
          </a:prstGeom>
          <a:solidFill>
            <a:srgbClr val="3E84F3">
              <a:alpha val="50000"/>
            </a:srgbClr>
          </a:solidFill>
          <a:ln>
            <a:solidFill>
              <a:srgbClr val="0066FF"/>
            </a:solidFill>
          </a:ln>
        </p:spPr>
        <p:style>
          <a:lnRef idx="0">
            <a:scrgbClr r="0" g="0" b="0"/>
          </a:lnRef>
          <a:fillRef idx="0">
            <a:scrgbClr r="0" g="0" b="0"/>
          </a:fillRef>
          <a:effectRef idx="0">
            <a:scrgbClr r="0" g="0" b="0"/>
          </a:effectRef>
          <a:fontRef idx="minor">
            <a:schemeClr val="lt1"/>
          </a:fontRef>
        </p:style>
        <p:txBody>
          <a:bodyPr rtlCol="0" anchor="ctr"/>
          <a:lstStyle/>
          <a:p>
            <a:pPr algn="ctr"/>
            <a:endParaRPr lang="uk-UA"/>
          </a:p>
        </p:txBody>
      </p:sp>
      <p:sp>
        <p:nvSpPr>
          <p:cNvPr id="2" name="Підзаголовок 2">
            <a:extLst>
              <a:ext uri="{FF2B5EF4-FFF2-40B4-BE49-F238E27FC236}">
                <a16:creationId xmlns:a16="http://schemas.microsoft.com/office/drawing/2014/main" id="{410CFD41-7D3C-0F14-26CA-54B9FDFB6588}"/>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5</a:t>
            </a:r>
            <a:endParaRPr lang="uk-UA" sz="1200" dirty="0">
              <a:solidFill>
                <a:schemeClr val="tx1"/>
              </a:solidFill>
            </a:endParaRPr>
          </a:p>
        </p:txBody>
      </p:sp>
    </p:spTree>
    <p:extLst>
      <p:ext uri="{BB962C8B-B14F-4D97-AF65-F5344CB8AC3E}">
        <p14:creationId xmlns:p14="http://schemas.microsoft.com/office/powerpoint/2010/main" val="1065486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70AA33-459A-11FF-5622-5055F976C5F8}"/>
            </a:ext>
          </a:extLst>
        </p:cNvPr>
        <p:cNvGrpSpPr/>
        <p:nvPr/>
      </p:nvGrpSpPr>
      <p:grpSpPr>
        <a:xfrm>
          <a:off x="0" y="0"/>
          <a:ext cx="0" cy="0"/>
          <a:chOff x="0" y="0"/>
          <a:chExt cx="0" cy="0"/>
        </a:xfrm>
      </p:grpSpPr>
      <p:sp>
        <p:nvSpPr>
          <p:cNvPr id="4" name="Заголовок 1">
            <a:extLst>
              <a:ext uri="{FF2B5EF4-FFF2-40B4-BE49-F238E27FC236}">
                <a16:creationId xmlns:a16="http://schemas.microsoft.com/office/drawing/2014/main" id="{9FCEA4EB-F9FF-ED61-ADBA-84BC9573E65D}"/>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Набір даних та формування груп користувачів</a:t>
            </a:r>
          </a:p>
        </p:txBody>
      </p:sp>
      <p:sp>
        <p:nvSpPr>
          <p:cNvPr id="3" name="TextBox 2">
            <a:extLst>
              <a:ext uri="{FF2B5EF4-FFF2-40B4-BE49-F238E27FC236}">
                <a16:creationId xmlns:a16="http://schemas.microsoft.com/office/drawing/2014/main" id="{B7EF52D3-08E2-BFC1-83C4-651E422B85B7}"/>
              </a:ext>
            </a:extLst>
          </p:cNvPr>
          <p:cNvSpPr txBox="1"/>
          <p:nvPr/>
        </p:nvSpPr>
        <p:spPr>
          <a:xfrm>
            <a:off x="116869" y="386401"/>
            <a:ext cx="5593836" cy="584775"/>
          </a:xfrm>
          <a:prstGeom prst="rect">
            <a:avLst/>
          </a:prstGeom>
          <a:noFill/>
        </p:spPr>
        <p:txBody>
          <a:bodyPr wrap="square">
            <a:spAutoFit/>
          </a:bodyPr>
          <a:lstStyle/>
          <a:p>
            <a:r>
              <a:rPr lang="uk-UA" sz="1600" kern="0" dirty="0">
                <a:latin typeface="+mj-lt"/>
                <a:ea typeface="Calibri" panose="020F0502020204030204" pitchFamily="34" charset="0"/>
              </a:rPr>
              <a:t>Для навчання та тестування моделі </a:t>
            </a:r>
            <a:r>
              <a:rPr lang="uk-UA" sz="1600" kern="0" noProof="0" dirty="0">
                <a:latin typeface="+mj-lt"/>
                <a:ea typeface="Calibri" panose="020F0502020204030204" pitchFamily="34" charset="0"/>
              </a:rPr>
              <a:t>в</a:t>
            </a:r>
            <a:r>
              <a:rPr lang="uk-UA" sz="1600" noProof="0" dirty="0"/>
              <a:t>икористано набір даних </a:t>
            </a:r>
            <a:r>
              <a:rPr lang="uk-UA" sz="1600" b="1" noProof="0" dirty="0">
                <a:solidFill>
                  <a:schemeClr val="accent6"/>
                </a:solidFill>
              </a:rPr>
              <a:t>MovieLens</a:t>
            </a:r>
            <a:r>
              <a:rPr lang="uk-UA" sz="1600" noProof="0" dirty="0"/>
              <a:t> як джерело взаємодій користувачів з елементами.</a:t>
            </a:r>
            <a:endParaRPr lang="uk-UA" sz="1600" dirty="0">
              <a:latin typeface="+mj-lt"/>
            </a:endParaRPr>
          </a:p>
        </p:txBody>
      </p:sp>
      <p:sp>
        <p:nvSpPr>
          <p:cNvPr id="8" name="TextBox 7">
            <a:extLst>
              <a:ext uri="{FF2B5EF4-FFF2-40B4-BE49-F238E27FC236}">
                <a16:creationId xmlns:a16="http://schemas.microsoft.com/office/drawing/2014/main" id="{5655BB31-C054-B2FC-7AD5-71A4D05FFD42}"/>
              </a:ext>
            </a:extLst>
          </p:cNvPr>
          <p:cNvSpPr txBox="1"/>
          <p:nvPr/>
        </p:nvSpPr>
        <p:spPr>
          <a:xfrm>
            <a:off x="116869" y="1040396"/>
            <a:ext cx="4570200" cy="2031325"/>
          </a:xfrm>
          <a:prstGeom prst="rect">
            <a:avLst/>
          </a:prstGeom>
          <a:noFill/>
        </p:spPr>
        <p:txBody>
          <a:bodyPr wrap="square">
            <a:spAutoFit/>
          </a:bodyPr>
          <a:lstStyle/>
          <a:p>
            <a:r>
              <a:rPr lang="uk-UA" sz="1400" b="1" dirty="0">
                <a:solidFill>
                  <a:srgbClr val="0066CC"/>
                </a:solidFill>
                <a:latin typeface="+mj-lt"/>
                <a:ea typeface="Times New Roman" panose="02020603050405020304" pitchFamily="18" charset="0"/>
              </a:rPr>
              <a:t>Правила побудови груп користувачів</a:t>
            </a:r>
          </a:p>
          <a:p>
            <a:pPr marL="285750" indent="-285750">
              <a:buFont typeface="Wingdings" panose="05000000000000000000" pitchFamily="2" charset="2"/>
              <a:buChar char="q"/>
            </a:pPr>
            <a:r>
              <a:rPr lang="uk-UA" sz="1400" noProof="0" dirty="0"/>
              <a:t>Формується 1000 груп з 2-4 користувачів</a:t>
            </a:r>
          </a:p>
          <a:p>
            <a:pPr marL="285750" indent="-285750">
              <a:buFont typeface="Wingdings" panose="05000000000000000000" pitchFamily="2" charset="2"/>
              <a:buChar char="q"/>
            </a:pPr>
            <a:r>
              <a:rPr lang="uk-UA" sz="1400" dirty="0"/>
              <a:t>Користувачі мають 10 або більше спільних взаємодій</a:t>
            </a:r>
            <a:endParaRPr lang="uk-UA" sz="1400" noProof="0" dirty="0"/>
          </a:p>
          <a:p>
            <a:pPr marL="285750" indent="-285750">
              <a:buFont typeface="Wingdings" panose="05000000000000000000" pitchFamily="2" charset="2"/>
              <a:buChar char="q"/>
            </a:pPr>
            <a:r>
              <a:rPr lang="uk-UA" sz="1400" dirty="0"/>
              <a:t>Якщо всі користувачі групи оцінили фільм оцінкою 4 або більше, тоді групова оцінка дорівнює </a:t>
            </a:r>
            <a:r>
              <a:rPr lang="uk-UA" sz="1400" b="1" dirty="0"/>
              <a:t>1</a:t>
            </a:r>
          </a:p>
          <a:p>
            <a:pPr marL="285750" indent="-285750">
              <a:buFont typeface="Wingdings" panose="05000000000000000000" pitchFamily="2" charset="2"/>
              <a:buChar char="q"/>
            </a:pPr>
            <a:r>
              <a:rPr lang="uk-UA" sz="1400" noProof="0" dirty="0"/>
              <a:t>Якщо половина учасників оцінила менше як на 4, то групова оцінка </a:t>
            </a:r>
            <a:r>
              <a:rPr lang="uk-UA" sz="1400" b="1" noProof="0" dirty="0"/>
              <a:t>0</a:t>
            </a:r>
          </a:p>
          <a:p>
            <a:pPr marL="285750" indent="-285750">
              <a:buFont typeface="Wingdings" panose="05000000000000000000" pitchFamily="2" charset="2"/>
              <a:buChar char="q"/>
            </a:pPr>
            <a:r>
              <a:rPr lang="uk-UA" sz="1400" dirty="0"/>
              <a:t>Інші фільми вважаються відкидаються</a:t>
            </a:r>
            <a:endParaRPr lang="uk-UA" sz="1400" dirty="0">
              <a:latin typeface="+mj-lt"/>
            </a:endParaRPr>
          </a:p>
          <a:p>
            <a:endParaRPr lang="en-US" sz="1400" b="1" dirty="0">
              <a:solidFill>
                <a:srgbClr val="00CC99"/>
              </a:solidFill>
              <a:latin typeface="+mj-lt"/>
            </a:endParaRPr>
          </a:p>
        </p:txBody>
      </p:sp>
      <p:sp>
        <p:nvSpPr>
          <p:cNvPr id="2" name="TextBox 1">
            <a:extLst>
              <a:ext uri="{FF2B5EF4-FFF2-40B4-BE49-F238E27FC236}">
                <a16:creationId xmlns:a16="http://schemas.microsoft.com/office/drawing/2014/main" id="{1FA20787-B92E-BA0E-53B3-508FB461E31F}"/>
              </a:ext>
            </a:extLst>
          </p:cNvPr>
          <p:cNvSpPr txBox="1"/>
          <p:nvPr/>
        </p:nvSpPr>
        <p:spPr>
          <a:xfrm>
            <a:off x="4516256" y="1956463"/>
            <a:ext cx="1548167" cy="646331"/>
          </a:xfrm>
          <a:prstGeom prst="rect">
            <a:avLst/>
          </a:prstGeom>
          <a:noFill/>
        </p:spPr>
        <p:txBody>
          <a:bodyPr wrap="square" rtlCol="0">
            <a:spAutoFit/>
          </a:bodyPr>
          <a:lstStyle/>
          <a:p>
            <a:pPr algn="ctr"/>
            <a:r>
              <a:rPr lang="en-US" sz="1200" b="1" dirty="0">
                <a:solidFill>
                  <a:schemeClr val="accent6"/>
                </a:solidFill>
              </a:rPr>
              <a:t>MovieLens</a:t>
            </a:r>
            <a:r>
              <a:rPr lang="uk-UA" sz="1200" b="1" dirty="0">
                <a:solidFill>
                  <a:schemeClr val="accent6"/>
                </a:solidFill>
              </a:rPr>
              <a:t>: 32 млн. оцінок, 88 тис. фільмів</a:t>
            </a:r>
          </a:p>
        </p:txBody>
      </p:sp>
      <p:pic>
        <p:nvPicPr>
          <p:cNvPr id="10" name="Graphic 9">
            <a:extLst>
              <a:ext uri="{FF2B5EF4-FFF2-40B4-BE49-F238E27FC236}">
                <a16:creationId xmlns:a16="http://schemas.microsoft.com/office/drawing/2014/main" id="{1903203B-BEB6-0CBD-FA92-975B8CED85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52800" y="1352550"/>
            <a:ext cx="2438400" cy="2438400"/>
          </a:xfrm>
          <a:prstGeom prst="rect">
            <a:avLst/>
          </a:prstGeom>
        </p:spPr>
      </p:pic>
      <p:pic>
        <p:nvPicPr>
          <p:cNvPr id="1026" name="Picture 2" descr="Database - Free technology icons">
            <a:extLst>
              <a:ext uri="{FF2B5EF4-FFF2-40B4-BE49-F238E27FC236}">
                <a16:creationId xmlns:a16="http://schemas.microsoft.com/office/drawing/2014/main" id="{745D3D68-1ECD-E127-29F9-51E79BBC3BE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15948" y="1262636"/>
            <a:ext cx="671093" cy="67109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3">
            <a:extLst>
              <a:ext uri="{FF2B5EF4-FFF2-40B4-BE49-F238E27FC236}">
                <a16:creationId xmlns:a16="http://schemas.microsoft.com/office/drawing/2014/main" id="{53807279-7B11-F4C6-EB1B-19150A49F823}"/>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rot="5400000" flipV="1">
            <a:off x="5946882" y="746501"/>
            <a:ext cx="1548167" cy="1548167"/>
          </a:xfrm>
          <a:prstGeom prst="rect">
            <a:avLst/>
          </a:prstGeom>
        </p:spPr>
      </p:pic>
      <p:sp>
        <p:nvSpPr>
          <p:cNvPr id="15" name="Arrow: Right 14">
            <a:extLst>
              <a:ext uri="{FF2B5EF4-FFF2-40B4-BE49-F238E27FC236}">
                <a16:creationId xmlns:a16="http://schemas.microsoft.com/office/drawing/2014/main" id="{3293582B-E49D-A16A-F8B2-62D71F9299C4}"/>
              </a:ext>
            </a:extLst>
          </p:cNvPr>
          <p:cNvSpPr/>
          <p:nvPr/>
        </p:nvSpPr>
        <p:spPr>
          <a:xfrm>
            <a:off x="5659048" y="1357363"/>
            <a:ext cx="648072" cy="323165"/>
          </a:xfrm>
          <a:prstGeom prst="right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uk-UA"/>
          </a:p>
        </p:txBody>
      </p:sp>
      <p:sp>
        <p:nvSpPr>
          <p:cNvPr id="16" name="TextBox 15">
            <a:extLst>
              <a:ext uri="{FF2B5EF4-FFF2-40B4-BE49-F238E27FC236}">
                <a16:creationId xmlns:a16="http://schemas.microsoft.com/office/drawing/2014/main" id="{CB0C3785-EEA4-049D-2751-1CAD877FB391}"/>
              </a:ext>
            </a:extLst>
          </p:cNvPr>
          <p:cNvSpPr txBox="1"/>
          <p:nvPr/>
        </p:nvSpPr>
        <p:spPr>
          <a:xfrm>
            <a:off x="6009992" y="2060892"/>
            <a:ext cx="1656184" cy="646331"/>
          </a:xfrm>
          <a:prstGeom prst="rect">
            <a:avLst/>
          </a:prstGeom>
          <a:noFill/>
        </p:spPr>
        <p:txBody>
          <a:bodyPr wrap="square">
            <a:spAutoFit/>
          </a:bodyPr>
          <a:lstStyle/>
          <a:p>
            <a:pPr algn="ctr"/>
            <a:r>
              <a:rPr lang="uk-UA" sz="1200" b="1" dirty="0">
                <a:solidFill>
                  <a:srgbClr val="0066CC"/>
                </a:solidFill>
                <a:latin typeface="+mj-lt"/>
              </a:rPr>
              <a:t>Вибірка: </a:t>
            </a:r>
            <a:r>
              <a:rPr lang="uk-UA" sz="1200" dirty="0">
                <a:latin typeface="+mj-lt"/>
              </a:rPr>
              <a:t>1000 груп (2-4 користувачі, ≥ 10 взаємодій)</a:t>
            </a:r>
            <a:endParaRPr lang="en-US" sz="1200" dirty="0">
              <a:latin typeface="+mj-lt"/>
            </a:endParaRPr>
          </a:p>
        </p:txBody>
      </p:sp>
      <p:sp>
        <p:nvSpPr>
          <p:cNvPr id="17" name="TextBox 16">
            <a:extLst>
              <a:ext uri="{FF2B5EF4-FFF2-40B4-BE49-F238E27FC236}">
                <a16:creationId xmlns:a16="http://schemas.microsoft.com/office/drawing/2014/main" id="{084CA360-BF13-51FF-9B42-D7FB54F9E627}"/>
              </a:ext>
            </a:extLst>
          </p:cNvPr>
          <p:cNvSpPr txBox="1"/>
          <p:nvPr/>
        </p:nvSpPr>
        <p:spPr>
          <a:xfrm>
            <a:off x="5035622" y="2637878"/>
            <a:ext cx="3890367" cy="276999"/>
          </a:xfrm>
          <a:prstGeom prst="rect">
            <a:avLst/>
          </a:prstGeom>
          <a:noFill/>
        </p:spPr>
        <p:txBody>
          <a:bodyPr wrap="square" rtlCol="0">
            <a:spAutoFit/>
          </a:bodyPr>
          <a:lstStyle/>
          <a:p>
            <a:pPr algn="ctr"/>
            <a:r>
              <a:rPr lang="uk-UA" sz="1200" dirty="0"/>
              <a:t>Рис. 2. Схема формування групових оцінок</a:t>
            </a:r>
          </a:p>
        </p:txBody>
      </p:sp>
      <p:cxnSp>
        <p:nvCxnSpPr>
          <p:cNvPr id="19" name="Connector: Elbow 18">
            <a:extLst>
              <a:ext uri="{FF2B5EF4-FFF2-40B4-BE49-F238E27FC236}">
                <a16:creationId xmlns:a16="http://schemas.microsoft.com/office/drawing/2014/main" id="{5F7996EE-3A4B-442B-8512-92C33666FAEF}"/>
              </a:ext>
            </a:extLst>
          </p:cNvPr>
          <p:cNvCxnSpPr>
            <a:cxnSpLocks/>
            <a:endCxn id="40" idx="1"/>
          </p:cNvCxnSpPr>
          <p:nvPr/>
        </p:nvCxnSpPr>
        <p:spPr>
          <a:xfrm>
            <a:off x="7240857" y="1675950"/>
            <a:ext cx="1156437" cy="379008"/>
          </a:xfrm>
          <a:prstGeom prst="bentConnector3">
            <a:avLst>
              <a:gd name="adj1" fmla="val 20602"/>
            </a:avLst>
          </a:prstGeom>
          <a:ln w="76200">
            <a:tailEnd type="triangle"/>
          </a:ln>
        </p:spPr>
        <p:style>
          <a:lnRef idx="3">
            <a:schemeClr val="accent1"/>
          </a:lnRef>
          <a:fillRef idx="0">
            <a:schemeClr val="accent1"/>
          </a:fillRef>
          <a:effectRef idx="2">
            <a:schemeClr val="accent1"/>
          </a:effectRef>
          <a:fontRef idx="minor">
            <a:schemeClr val="tx1"/>
          </a:fontRef>
        </p:style>
      </p:cxnSp>
      <p:cxnSp>
        <p:nvCxnSpPr>
          <p:cNvPr id="22" name="Connector: Elbow 21">
            <a:extLst>
              <a:ext uri="{FF2B5EF4-FFF2-40B4-BE49-F238E27FC236}">
                <a16:creationId xmlns:a16="http://schemas.microsoft.com/office/drawing/2014/main" id="{3EA94690-966F-32DA-F07F-493811F7D35A}"/>
              </a:ext>
            </a:extLst>
          </p:cNvPr>
          <p:cNvCxnSpPr>
            <a:cxnSpLocks/>
            <a:endCxn id="38" idx="1"/>
          </p:cNvCxnSpPr>
          <p:nvPr/>
        </p:nvCxnSpPr>
        <p:spPr>
          <a:xfrm flipV="1">
            <a:off x="7240857" y="891337"/>
            <a:ext cx="1156437" cy="501738"/>
          </a:xfrm>
          <a:prstGeom prst="bentConnector3">
            <a:avLst>
              <a:gd name="adj1" fmla="val 17561"/>
            </a:avLst>
          </a:prstGeom>
          <a:ln w="76200">
            <a:tailEnd type="triangle"/>
          </a:ln>
        </p:spPr>
        <p:style>
          <a:lnRef idx="3">
            <a:schemeClr val="accent1"/>
          </a:lnRef>
          <a:fillRef idx="0">
            <a:schemeClr val="accent1"/>
          </a:fillRef>
          <a:effectRef idx="2">
            <a:schemeClr val="accent1"/>
          </a:effectRef>
          <a:fontRef idx="minor">
            <a:schemeClr val="tx1"/>
          </a:fontRef>
        </p:style>
      </p:cxnSp>
      <p:cxnSp>
        <p:nvCxnSpPr>
          <p:cNvPr id="32" name="Straight Arrow Connector 31">
            <a:extLst>
              <a:ext uri="{FF2B5EF4-FFF2-40B4-BE49-F238E27FC236}">
                <a16:creationId xmlns:a16="http://schemas.microsoft.com/office/drawing/2014/main" id="{580F4A34-2938-41F6-B234-39B85F1CB1D1}"/>
              </a:ext>
            </a:extLst>
          </p:cNvPr>
          <p:cNvCxnSpPr>
            <a:cxnSpLocks/>
            <a:endCxn id="39" idx="1"/>
          </p:cNvCxnSpPr>
          <p:nvPr/>
        </p:nvCxnSpPr>
        <p:spPr>
          <a:xfrm>
            <a:off x="7240857" y="1529450"/>
            <a:ext cx="1156437" cy="0"/>
          </a:xfrm>
          <a:prstGeom prst="straightConnector1">
            <a:avLst/>
          </a:prstGeom>
          <a:ln w="76200">
            <a:tailEnd type="triangle"/>
          </a:ln>
        </p:spPr>
        <p:style>
          <a:lnRef idx="3">
            <a:schemeClr val="accent1"/>
          </a:lnRef>
          <a:fillRef idx="0">
            <a:schemeClr val="accent1"/>
          </a:fillRef>
          <a:effectRef idx="2">
            <a:schemeClr val="accent1"/>
          </a:effectRef>
          <a:fontRef idx="minor">
            <a:schemeClr val="tx1"/>
          </a:fontRef>
        </p:style>
      </p:cxnSp>
      <p:sp>
        <p:nvSpPr>
          <p:cNvPr id="37" name="TextBox 36">
            <a:extLst>
              <a:ext uri="{FF2B5EF4-FFF2-40B4-BE49-F238E27FC236}">
                <a16:creationId xmlns:a16="http://schemas.microsoft.com/office/drawing/2014/main" id="{2B3191C5-806F-CD44-FA15-03D2C495617E}"/>
              </a:ext>
            </a:extLst>
          </p:cNvPr>
          <p:cNvSpPr txBox="1"/>
          <p:nvPr/>
        </p:nvSpPr>
        <p:spPr>
          <a:xfrm>
            <a:off x="7166859" y="527234"/>
            <a:ext cx="1604542" cy="276999"/>
          </a:xfrm>
          <a:prstGeom prst="rect">
            <a:avLst/>
          </a:prstGeom>
          <a:noFill/>
        </p:spPr>
        <p:txBody>
          <a:bodyPr wrap="square">
            <a:spAutoFit/>
          </a:bodyPr>
          <a:lstStyle/>
          <a:p>
            <a:pPr algn="ctr"/>
            <a:r>
              <a:rPr lang="uk-UA" sz="1200" b="1" dirty="0">
                <a:latin typeface="+mj-lt"/>
              </a:rPr>
              <a:t>Всі оцінки ≥ 4</a:t>
            </a:r>
            <a:endParaRPr lang="en-US" sz="1200" b="1" dirty="0">
              <a:latin typeface="+mj-lt"/>
            </a:endParaRPr>
          </a:p>
        </p:txBody>
      </p:sp>
      <p:sp>
        <p:nvSpPr>
          <p:cNvPr id="38" name="Rectangle 37">
            <a:extLst>
              <a:ext uri="{FF2B5EF4-FFF2-40B4-BE49-F238E27FC236}">
                <a16:creationId xmlns:a16="http://schemas.microsoft.com/office/drawing/2014/main" id="{D055DA3D-109B-D6D7-A66B-90D890A350B0}"/>
              </a:ext>
            </a:extLst>
          </p:cNvPr>
          <p:cNvSpPr/>
          <p:nvPr/>
        </p:nvSpPr>
        <p:spPr>
          <a:xfrm>
            <a:off x="8397294" y="734370"/>
            <a:ext cx="624078" cy="313933"/>
          </a:xfrm>
          <a:prstGeom prst="rect">
            <a:avLst/>
          </a:prstGeom>
          <a:solidFill>
            <a:schemeClr val="accent1"/>
          </a:solidFill>
          <a:ln w="19050">
            <a:solidFill>
              <a:schemeClr val="tx2">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r>
              <a:rPr lang="uk-UA" b="1" dirty="0"/>
              <a:t>1</a:t>
            </a:r>
          </a:p>
        </p:txBody>
      </p:sp>
      <p:sp>
        <p:nvSpPr>
          <p:cNvPr id="39" name="Rectangle 38">
            <a:extLst>
              <a:ext uri="{FF2B5EF4-FFF2-40B4-BE49-F238E27FC236}">
                <a16:creationId xmlns:a16="http://schemas.microsoft.com/office/drawing/2014/main" id="{85902579-1CAA-4431-48EA-78068BF16616}"/>
              </a:ext>
            </a:extLst>
          </p:cNvPr>
          <p:cNvSpPr/>
          <p:nvPr/>
        </p:nvSpPr>
        <p:spPr>
          <a:xfrm>
            <a:off x="8397294" y="1372483"/>
            <a:ext cx="624078" cy="313933"/>
          </a:xfrm>
          <a:prstGeom prst="rect">
            <a:avLst/>
          </a:prstGeom>
          <a:solidFill>
            <a:schemeClr val="accent1"/>
          </a:solidFill>
          <a:ln w="19050">
            <a:solidFill>
              <a:schemeClr val="tx2">
                <a:lumMod val="75000"/>
              </a:schemeClr>
            </a:solidFill>
          </a:ln>
        </p:spPr>
        <p:style>
          <a:lnRef idx="0">
            <a:scrgbClr r="0" g="0" b="0"/>
          </a:lnRef>
          <a:fillRef idx="0">
            <a:scrgbClr r="0" g="0" b="0"/>
          </a:fillRef>
          <a:effectRef idx="0">
            <a:scrgbClr r="0" g="0" b="0"/>
          </a:effectRef>
          <a:fontRef idx="minor">
            <a:schemeClr val="lt1"/>
          </a:fontRef>
        </p:style>
        <p:txBody>
          <a:bodyPr rtlCol="0" anchor="ctr"/>
          <a:lstStyle/>
          <a:p>
            <a:pPr algn="ctr"/>
            <a:r>
              <a:rPr lang="uk-UA" b="1" dirty="0"/>
              <a:t>0</a:t>
            </a:r>
          </a:p>
        </p:txBody>
      </p:sp>
      <p:sp>
        <p:nvSpPr>
          <p:cNvPr id="40" name="Rectangle 39">
            <a:extLst>
              <a:ext uri="{FF2B5EF4-FFF2-40B4-BE49-F238E27FC236}">
                <a16:creationId xmlns:a16="http://schemas.microsoft.com/office/drawing/2014/main" id="{D4C16E0A-0B82-1FA0-034B-60A66306756C}"/>
              </a:ext>
            </a:extLst>
          </p:cNvPr>
          <p:cNvSpPr/>
          <p:nvPr/>
        </p:nvSpPr>
        <p:spPr>
          <a:xfrm>
            <a:off x="8397294" y="1897991"/>
            <a:ext cx="624078" cy="313933"/>
          </a:xfrm>
          <a:prstGeom prst="rect">
            <a:avLst/>
          </a:prstGeom>
          <a:solidFill>
            <a:schemeClr val="tx2">
              <a:lumMod val="40000"/>
              <a:lumOff val="60000"/>
            </a:schemeClr>
          </a:solidFill>
          <a:ln w="19050">
            <a:solidFill>
              <a:schemeClr val="tx2">
                <a:lumMod val="75000"/>
              </a:schemeClr>
            </a:solidFill>
            <a:prstDash val="sysDash"/>
          </a:ln>
        </p:spPr>
        <p:style>
          <a:lnRef idx="0">
            <a:scrgbClr r="0" g="0" b="0"/>
          </a:lnRef>
          <a:fillRef idx="0">
            <a:scrgbClr r="0" g="0" b="0"/>
          </a:fillRef>
          <a:effectRef idx="0">
            <a:scrgbClr r="0" g="0" b="0"/>
          </a:effectRef>
          <a:fontRef idx="minor">
            <a:schemeClr val="lt1"/>
          </a:fontRef>
        </p:style>
        <p:txBody>
          <a:bodyPr rtlCol="0" anchor="ctr"/>
          <a:lstStyle/>
          <a:p>
            <a:pPr algn="ctr"/>
            <a:r>
              <a:rPr lang="uk-UA" b="1" dirty="0"/>
              <a:t>∅</a:t>
            </a:r>
          </a:p>
        </p:txBody>
      </p:sp>
      <p:sp>
        <p:nvSpPr>
          <p:cNvPr id="41" name="TextBox 40">
            <a:extLst>
              <a:ext uri="{FF2B5EF4-FFF2-40B4-BE49-F238E27FC236}">
                <a16:creationId xmlns:a16="http://schemas.microsoft.com/office/drawing/2014/main" id="{BC4A2E9E-11CB-FD62-0A28-0034AF105B20}"/>
              </a:ext>
            </a:extLst>
          </p:cNvPr>
          <p:cNvSpPr txBox="1"/>
          <p:nvPr/>
        </p:nvSpPr>
        <p:spPr>
          <a:xfrm>
            <a:off x="7321197" y="1131276"/>
            <a:ext cx="1491803" cy="276999"/>
          </a:xfrm>
          <a:prstGeom prst="rect">
            <a:avLst/>
          </a:prstGeom>
          <a:noFill/>
        </p:spPr>
        <p:txBody>
          <a:bodyPr wrap="square">
            <a:spAutoFit/>
          </a:bodyPr>
          <a:lstStyle/>
          <a:p>
            <a:pPr algn="ctr"/>
            <a:r>
              <a:rPr lang="uk-UA" sz="1200" b="1" dirty="0">
                <a:latin typeface="+mj-lt"/>
              </a:rPr>
              <a:t>≥ </a:t>
            </a:r>
            <a:r>
              <a:rPr lang="en-US" sz="1200" b="1" dirty="0">
                <a:latin typeface="+mj-lt"/>
              </a:rPr>
              <a:t>50% - </a:t>
            </a:r>
            <a:r>
              <a:rPr lang="uk-UA" sz="1200" b="1" dirty="0">
                <a:latin typeface="+mj-lt"/>
              </a:rPr>
              <a:t>менше 4</a:t>
            </a:r>
            <a:endParaRPr lang="en-US" sz="1200" b="1" dirty="0">
              <a:latin typeface="+mj-lt"/>
            </a:endParaRPr>
          </a:p>
        </p:txBody>
      </p:sp>
      <p:sp>
        <p:nvSpPr>
          <p:cNvPr id="42" name="TextBox 41">
            <a:extLst>
              <a:ext uri="{FF2B5EF4-FFF2-40B4-BE49-F238E27FC236}">
                <a16:creationId xmlns:a16="http://schemas.microsoft.com/office/drawing/2014/main" id="{0C493E77-6AA7-E85F-ACFC-BEEEC89F3679}"/>
              </a:ext>
            </a:extLst>
          </p:cNvPr>
          <p:cNvSpPr txBox="1"/>
          <p:nvPr/>
        </p:nvSpPr>
        <p:spPr>
          <a:xfrm>
            <a:off x="7388266" y="1755695"/>
            <a:ext cx="669377" cy="276999"/>
          </a:xfrm>
          <a:prstGeom prst="rect">
            <a:avLst/>
          </a:prstGeom>
          <a:noFill/>
        </p:spPr>
        <p:txBody>
          <a:bodyPr wrap="square">
            <a:spAutoFit/>
          </a:bodyPr>
          <a:lstStyle/>
          <a:p>
            <a:pPr algn="ctr"/>
            <a:r>
              <a:rPr lang="uk-UA" sz="1200" b="1" dirty="0">
                <a:latin typeface="+mj-lt"/>
              </a:rPr>
              <a:t>Інше</a:t>
            </a:r>
            <a:endParaRPr lang="en-US" sz="1200" b="1" dirty="0">
              <a:latin typeface="+mj-lt"/>
            </a:endParaRPr>
          </a:p>
        </p:txBody>
      </p:sp>
      <p:pic>
        <p:nvPicPr>
          <p:cNvPr id="63" name="Picture 62">
            <a:extLst>
              <a:ext uri="{FF2B5EF4-FFF2-40B4-BE49-F238E27FC236}">
                <a16:creationId xmlns:a16="http://schemas.microsoft.com/office/drawing/2014/main" id="{61CB5A1E-1D85-DF54-8336-73BF9BD1C023}"/>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44663" y="2943796"/>
            <a:ext cx="3518822" cy="1955628"/>
          </a:xfrm>
          <a:prstGeom prst="rect">
            <a:avLst/>
          </a:prstGeom>
        </p:spPr>
      </p:pic>
      <p:sp>
        <p:nvSpPr>
          <p:cNvPr id="1024" name="TextBox 1023">
            <a:extLst>
              <a:ext uri="{FF2B5EF4-FFF2-40B4-BE49-F238E27FC236}">
                <a16:creationId xmlns:a16="http://schemas.microsoft.com/office/drawing/2014/main" id="{55AA24BD-956C-C13C-6F98-122899F3A1D9}"/>
              </a:ext>
            </a:extLst>
          </p:cNvPr>
          <p:cNvSpPr txBox="1"/>
          <p:nvPr/>
        </p:nvSpPr>
        <p:spPr>
          <a:xfrm>
            <a:off x="395536" y="4836621"/>
            <a:ext cx="3890367" cy="276999"/>
          </a:xfrm>
          <a:prstGeom prst="rect">
            <a:avLst/>
          </a:prstGeom>
          <a:noFill/>
        </p:spPr>
        <p:txBody>
          <a:bodyPr wrap="square" rtlCol="0">
            <a:spAutoFit/>
          </a:bodyPr>
          <a:lstStyle/>
          <a:p>
            <a:pPr algn="ctr"/>
            <a:r>
              <a:rPr lang="uk-UA" sz="1200" dirty="0"/>
              <a:t>Рис. 3. Схема побудови груп користувачів</a:t>
            </a:r>
          </a:p>
        </p:txBody>
      </p:sp>
      <p:sp>
        <p:nvSpPr>
          <p:cNvPr id="1025" name="TextBox 1024">
            <a:extLst>
              <a:ext uri="{FF2B5EF4-FFF2-40B4-BE49-F238E27FC236}">
                <a16:creationId xmlns:a16="http://schemas.microsoft.com/office/drawing/2014/main" id="{F06EB1D6-132F-4192-BED0-3BE830F33129}"/>
              </a:ext>
            </a:extLst>
          </p:cNvPr>
          <p:cNvSpPr txBox="1"/>
          <p:nvPr/>
        </p:nvSpPr>
        <p:spPr>
          <a:xfrm>
            <a:off x="5331383" y="4823895"/>
            <a:ext cx="3431704" cy="265457"/>
          </a:xfrm>
          <a:prstGeom prst="rect">
            <a:avLst/>
          </a:prstGeom>
          <a:noFill/>
        </p:spPr>
        <p:txBody>
          <a:bodyPr wrap="square">
            <a:spAutoFit/>
          </a:bodyPr>
          <a:lstStyle/>
          <a:p>
            <a:pPr algn="ctr">
              <a:lnSpc>
                <a:spcPct val="107000"/>
              </a:lnSpc>
              <a:spcAft>
                <a:spcPts val="800"/>
              </a:spcAft>
              <a:buNone/>
            </a:pPr>
            <a:r>
              <a:rPr lang="uk-UA" sz="1100" dirty="0">
                <a:solidFill>
                  <a:srgbClr val="000000"/>
                </a:solidFill>
                <a:effectLst/>
                <a:latin typeface="+mj-lt"/>
                <a:ea typeface="Calibri" panose="020F0502020204030204" pitchFamily="34" charset="0"/>
                <a:cs typeface="Times New Roman" panose="02020603050405020304" pitchFamily="18" charset="0"/>
              </a:rPr>
              <a:t>Табл.</a:t>
            </a:r>
            <a:r>
              <a:rPr lang="ru-RU" sz="1100" dirty="0">
                <a:solidFill>
                  <a:srgbClr val="000000"/>
                </a:solidFill>
                <a:effectLst/>
                <a:latin typeface="+mj-lt"/>
                <a:ea typeface="Calibri" panose="020F0502020204030204" pitchFamily="34" charset="0"/>
                <a:cs typeface="Times New Roman" panose="02020603050405020304" pitchFamily="18" charset="0"/>
              </a:rPr>
              <a:t> 2</a:t>
            </a:r>
            <a:r>
              <a:rPr lang="uk-UA" sz="1100" dirty="0">
                <a:latin typeface="+mj-lt"/>
                <a:ea typeface="Calibri" panose="020F0502020204030204" pitchFamily="34" charset="0"/>
                <a:cs typeface="Times New Roman" panose="02020603050405020304" pitchFamily="18" charset="0"/>
              </a:rPr>
              <a:t>. </a:t>
            </a:r>
            <a:r>
              <a:rPr lang="uk-UA" sz="1100" dirty="0">
                <a:solidFill>
                  <a:srgbClr val="000000"/>
                </a:solidFill>
                <a:effectLst/>
                <a:latin typeface="+mj-lt"/>
                <a:ea typeface="Calibri" panose="020F0502020204030204" pitchFamily="34" charset="0"/>
                <a:cs typeface="Times New Roman" panose="02020603050405020304" pitchFamily="18" charset="0"/>
              </a:rPr>
              <a:t>Статистика сформованого набору груп</a:t>
            </a:r>
            <a:endParaRPr lang="uk-UA" sz="1100" dirty="0">
              <a:effectLst/>
              <a:latin typeface="+mj-lt"/>
              <a:ea typeface="Calibri" panose="020F0502020204030204" pitchFamily="34" charset="0"/>
              <a:cs typeface="Times New Roman" panose="02020603050405020304" pitchFamily="18" charset="0"/>
            </a:endParaRPr>
          </a:p>
        </p:txBody>
      </p:sp>
      <p:graphicFrame>
        <p:nvGraphicFramePr>
          <p:cNvPr id="1027" name="Table 1026">
            <a:extLst>
              <a:ext uri="{FF2B5EF4-FFF2-40B4-BE49-F238E27FC236}">
                <a16:creationId xmlns:a16="http://schemas.microsoft.com/office/drawing/2014/main" id="{9C3AA40A-B458-E6B1-63EC-05381613F3D0}"/>
              </a:ext>
            </a:extLst>
          </p:cNvPr>
          <p:cNvGraphicFramePr>
            <a:graphicFrameLocks noGrp="1"/>
          </p:cNvGraphicFramePr>
          <p:nvPr>
            <p:extLst>
              <p:ext uri="{D42A27DB-BD31-4B8C-83A1-F6EECF244321}">
                <p14:modId xmlns:p14="http://schemas.microsoft.com/office/powerpoint/2010/main" val="1449701255"/>
              </p:ext>
            </p:extLst>
          </p:nvPr>
        </p:nvGraphicFramePr>
        <p:xfrm>
          <a:off x="4640123" y="3143690"/>
          <a:ext cx="4387008" cy="1630680"/>
        </p:xfrm>
        <a:graphic>
          <a:graphicData uri="http://schemas.openxmlformats.org/drawingml/2006/table">
            <a:tbl>
              <a:tblPr firstRow="1" bandRow="1">
                <a:tableStyleId>{5C22544A-7EE6-4342-B048-85BDC9FD1C3A}</a:tableStyleId>
              </a:tblPr>
              <a:tblGrid>
                <a:gridCol w="731168">
                  <a:extLst>
                    <a:ext uri="{9D8B030D-6E8A-4147-A177-3AD203B41FA5}">
                      <a16:colId xmlns:a16="http://schemas.microsoft.com/office/drawing/2014/main" val="1330929238"/>
                    </a:ext>
                  </a:extLst>
                </a:gridCol>
                <a:gridCol w="731168">
                  <a:extLst>
                    <a:ext uri="{9D8B030D-6E8A-4147-A177-3AD203B41FA5}">
                      <a16:colId xmlns:a16="http://schemas.microsoft.com/office/drawing/2014/main" val="3577334805"/>
                    </a:ext>
                  </a:extLst>
                </a:gridCol>
                <a:gridCol w="731168">
                  <a:extLst>
                    <a:ext uri="{9D8B030D-6E8A-4147-A177-3AD203B41FA5}">
                      <a16:colId xmlns:a16="http://schemas.microsoft.com/office/drawing/2014/main" val="1802822465"/>
                    </a:ext>
                  </a:extLst>
                </a:gridCol>
                <a:gridCol w="731168">
                  <a:extLst>
                    <a:ext uri="{9D8B030D-6E8A-4147-A177-3AD203B41FA5}">
                      <a16:colId xmlns:a16="http://schemas.microsoft.com/office/drawing/2014/main" val="2467740973"/>
                    </a:ext>
                  </a:extLst>
                </a:gridCol>
                <a:gridCol w="731168">
                  <a:extLst>
                    <a:ext uri="{9D8B030D-6E8A-4147-A177-3AD203B41FA5}">
                      <a16:colId xmlns:a16="http://schemas.microsoft.com/office/drawing/2014/main" val="1987516428"/>
                    </a:ext>
                  </a:extLst>
                </a:gridCol>
                <a:gridCol w="731168">
                  <a:extLst>
                    <a:ext uri="{9D8B030D-6E8A-4147-A177-3AD203B41FA5}">
                      <a16:colId xmlns:a16="http://schemas.microsoft.com/office/drawing/2014/main" val="3495820282"/>
                    </a:ext>
                  </a:extLst>
                </a:gridCol>
              </a:tblGrid>
              <a:tr h="484645">
                <a:tc>
                  <a:txBody>
                    <a:bodyPr/>
                    <a:lstStyle/>
                    <a:p>
                      <a:r>
                        <a:rPr lang="uk-UA" sz="1100" dirty="0"/>
                        <a:t>Розмір</a:t>
                      </a:r>
                    </a:p>
                  </a:txBody>
                  <a:tcPr/>
                </a:tc>
                <a:tc>
                  <a:txBody>
                    <a:bodyPr/>
                    <a:lstStyle/>
                    <a:p>
                      <a:r>
                        <a:rPr lang="uk-UA" sz="1100" dirty="0"/>
                        <a:t>К-сть груп</a:t>
                      </a:r>
                    </a:p>
                  </a:txBody>
                  <a:tcPr/>
                </a:tc>
                <a:tc>
                  <a:txBody>
                    <a:bodyPr/>
                    <a:lstStyle/>
                    <a:p>
                      <a:r>
                        <a:rPr lang="uk-UA" sz="1100" dirty="0"/>
                        <a:t>К-сть </a:t>
                      </a:r>
                      <a:r>
                        <a:rPr lang="uk-UA" sz="1100" dirty="0" err="1"/>
                        <a:t>корист</a:t>
                      </a:r>
                      <a:r>
                        <a:rPr lang="uk-UA" sz="1100" dirty="0"/>
                        <a:t>.</a:t>
                      </a:r>
                    </a:p>
                  </a:txBody>
                  <a:tcPr/>
                </a:tc>
                <a:tc>
                  <a:txBody>
                    <a:bodyPr/>
                    <a:lstStyle/>
                    <a:p>
                      <a:r>
                        <a:rPr lang="uk-UA" sz="1100" dirty="0"/>
                        <a:t>К-сть елем.</a:t>
                      </a:r>
                    </a:p>
                  </a:txBody>
                  <a:tcPr/>
                </a:tc>
                <a:tc>
                  <a:txBody>
                    <a:bodyPr/>
                    <a:lstStyle/>
                    <a:p>
                      <a:r>
                        <a:rPr lang="uk-UA" sz="1100" dirty="0"/>
                        <a:t>К-сть оцінок</a:t>
                      </a:r>
                    </a:p>
                  </a:txBody>
                  <a:tcPr/>
                </a:tc>
                <a:tc>
                  <a:txBody>
                    <a:bodyPr/>
                    <a:lstStyle/>
                    <a:p>
                      <a:r>
                        <a:rPr lang="uk-UA" sz="1100" dirty="0"/>
                        <a:t>Сер. к-сть оцінок</a:t>
                      </a:r>
                    </a:p>
                  </a:txBody>
                  <a:tcPr/>
                </a:tc>
                <a:extLst>
                  <a:ext uri="{0D108BD9-81ED-4DB2-BD59-A6C34878D82A}">
                    <a16:rowId xmlns:a16="http://schemas.microsoft.com/office/drawing/2014/main" val="3673988103"/>
                  </a:ext>
                </a:extLst>
              </a:tr>
              <a:tr h="211256">
                <a:tc>
                  <a:txBody>
                    <a:bodyPr/>
                    <a:lstStyle/>
                    <a:p>
                      <a:r>
                        <a:rPr lang="uk-UA" sz="1100" b="1" dirty="0"/>
                        <a:t>2</a:t>
                      </a:r>
                    </a:p>
                  </a:txBody>
                  <a:tcPr/>
                </a:tc>
                <a:tc>
                  <a:txBody>
                    <a:bodyPr/>
                    <a:lstStyle/>
                    <a:p>
                      <a:r>
                        <a:rPr lang="uk-UA" sz="1100" dirty="0"/>
                        <a:t>811</a:t>
                      </a:r>
                    </a:p>
                  </a:txBody>
                  <a:tcPr/>
                </a:tc>
                <a:tc>
                  <a:txBody>
                    <a:bodyPr/>
                    <a:lstStyle/>
                    <a:p>
                      <a:r>
                        <a:rPr lang="uk-UA" sz="1100" dirty="0"/>
                        <a:t>1622</a:t>
                      </a:r>
                    </a:p>
                  </a:txBody>
                  <a:tcPr/>
                </a:tc>
                <a:tc>
                  <a:txBody>
                    <a:bodyPr/>
                    <a:lstStyle/>
                    <a:p>
                      <a:r>
                        <a:rPr lang="uk-UA" sz="1100" dirty="0"/>
                        <a:t>1979</a:t>
                      </a:r>
                    </a:p>
                  </a:txBody>
                  <a:tcPr/>
                </a:tc>
                <a:tc>
                  <a:txBody>
                    <a:bodyPr/>
                    <a:lstStyle/>
                    <a:p>
                      <a:r>
                        <a:rPr lang="uk-UA" sz="1100" dirty="0"/>
                        <a:t>23878</a:t>
                      </a:r>
                    </a:p>
                  </a:txBody>
                  <a:tcPr/>
                </a:tc>
                <a:tc>
                  <a:txBody>
                    <a:bodyPr/>
                    <a:lstStyle/>
                    <a:p>
                      <a:r>
                        <a:rPr lang="uk-UA" sz="1100" dirty="0"/>
                        <a:t>29,44</a:t>
                      </a:r>
                    </a:p>
                  </a:txBody>
                  <a:tcPr/>
                </a:tc>
                <a:extLst>
                  <a:ext uri="{0D108BD9-81ED-4DB2-BD59-A6C34878D82A}">
                    <a16:rowId xmlns:a16="http://schemas.microsoft.com/office/drawing/2014/main" val="2441883341"/>
                  </a:ext>
                </a:extLst>
              </a:tr>
              <a:tr h="211256">
                <a:tc>
                  <a:txBody>
                    <a:bodyPr/>
                    <a:lstStyle/>
                    <a:p>
                      <a:r>
                        <a:rPr lang="uk-UA" sz="1100" b="1" dirty="0"/>
                        <a:t>3</a:t>
                      </a:r>
                    </a:p>
                  </a:txBody>
                  <a:tcPr/>
                </a:tc>
                <a:tc>
                  <a:txBody>
                    <a:bodyPr/>
                    <a:lstStyle/>
                    <a:p>
                      <a:r>
                        <a:rPr lang="uk-UA" sz="1100" dirty="0"/>
                        <a:t>164</a:t>
                      </a:r>
                    </a:p>
                  </a:txBody>
                  <a:tcPr/>
                </a:tc>
                <a:tc>
                  <a:txBody>
                    <a:bodyPr/>
                    <a:lstStyle/>
                    <a:p>
                      <a:r>
                        <a:rPr lang="uk-UA" sz="1100" dirty="0"/>
                        <a:t>492</a:t>
                      </a:r>
                    </a:p>
                  </a:txBody>
                  <a:tcPr/>
                </a:tc>
                <a:tc>
                  <a:txBody>
                    <a:bodyPr/>
                    <a:lstStyle/>
                    <a:p>
                      <a:r>
                        <a:rPr lang="uk-UA" sz="1100" dirty="0"/>
                        <a:t>936</a:t>
                      </a:r>
                    </a:p>
                  </a:txBody>
                  <a:tcPr/>
                </a:tc>
                <a:tc>
                  <a:txBody>
                    <a:bodyPr/>
                    <a:lstStyle/>
                    <a:p>
                      <a:r>
                        <a:rPr lang="uk-UA" sz="1100" dirty="0"/>
                        <a:t>4379</a:t>
                      </a:r>
                    </a:p>
                  </a:txBody>
                  <a:tcPr/>
                </a:tc>
                <a:tc>
                  <a:txBody>
                    <a:bodyPr/>
                    <a:lstStyle/>
                    <a:p>
                      <a:r>
                        <a:rPr lang="uk-UA" sz="1100" dirty="0"/>
                        <a:t>26,70</a:t>
                      </a:r>
                    </a:p>
                  </a:txBody>
                  <a:tcPr/>
                </a:tc>
                <a:extLst>
                  <a:ext uri="{0D108BD9-81ED-4DB2-BD59-A6C34878D82A}">
                    <a16:rowId xmlns:a16="http://schemas.microsoft.com/office/drawing/2014/main" val="856397724"/>
                  </a:ext>
                </a:extLst>
              </a:tr>
              <a:tr h="211256">
                <a:tc>
                  <a:txBody>
                    <a:bodyPr/>
                    <a:lstStyle/>
                    <a:p>
                      <a:r>
                        <a:rPr lang="uk-UA" sz="1100" b="1" dirty="0"/>
                        <a:t>4</a:t>
                      </a:r>
                    </a:p>
                  </a:txBody>
                  <a:tcPr/>
                </a:tc>
                <a:tc>
                  <a:txBody>
                    <a:bodyPr/>
                    <a:lstStyle/>
                    <a:p>
                      <a:r>
                        <a:rPr lang="uk-UA" sz="1100" dirty="0"/>
                        <a:t>25</a:t>
                      </a:r>
                    </a:p>
                  </a:txBody>
                  <a:tcPr/>
                </a:tc>
                <a:tc>
                  <a:txBody>
                    <a:bodyPr/>
                    <a:lstStyle/>
                    <a:p>
                      <a:r>
                        <a:rPr lang="uk-UA" sz="1100" dirty="0"/>
                        <a:t>100</a:t>
                      </a:r>
                    </a:p>
                  </a:txBody>
                  <a:tcPr/>
                </a:tc>
                <a:tc>
                  <a:txBody>
                    <a:bodyPr/>
                    <a:lstStyle/>
                    <a:p>
                      <a:r>
                        <a:rPr lang="uk-UA" sz="1100" dirty="0"/>
                        <a:t>388</a:t>
                      </a:r>
                    </a:p>
                  </a:txBody>
                  <a:tcPr/>
                </a:tc>
                <a:tc>
                  <a:txBody>
                    <a:bodyPr/>
                    <a:lstStyle/>
                    <a:p>
                      <a:r>
                        <a:rPr lang="uk-UA" sz="1100" dirty="0"/>
                        <a:t>732</a:t>
                      </a:r>
                    </a:p>
                  </a:txBody>
                  <a:tcPr/>
                </a:tc>
                <a:tc>
                  <a:txBody>
                    <a:bodyPr/>
                    <a:lstStyle/>
                    <a:p>
                      <a:r>
                        <a:rPr lang="uk-UA" sz="1100" dirty="0"/>
                        <a:t>29,28</a:t>
                      </a:r>
                    </a:p>
                  </a:txBody>
                  <a:tcPr/>
                </a:tc>
                <a:extLst>
                  <a:ext uri="{0D108BD9-81ED-4DB2-BD59-A6C34878D82A}">
                    <a16:rowId xmlns:a16="http://schemas.microsoft.com/office/drawing/2014/main" val="4138806129"/>
                  </a:ext>
                </a:extLst>
              </a:tr>
              <a:tr h="211256">
                <a:tc>
                  <a:txBody>
                    <a:bodyPr/>
                    <a:lstStyle/>
                    <a:p>
                      <a:r>
                        <a:rPr lang="uk-UA" sz="1100" b="1" dirty="0"/>
                        <a:t>Усього</a:t>
                      </a:r>
                    </a:p>
                  </a:txBody>
                  <a:tcPr/>
                </a:tc>
                <a:tc>
                  <a:txBody>
                    <a:bodyPr/>
                    <a:lstStyle/>
                    <a:p>
                      <a:r>
                        <a:rPr lang="uk-UA" sz="1100" dirty="0"/>
                        <a:t>1000</a:t>
                      </a:r>
                    </a:p>
                  </a:txBody>
                  <a:tcPr/>
                </a:tc>
                <a:tc>
                  <a:txBody>
                    <a:bodyPr/>
                    <a:lstStyle/>
                    <a:p>
                      <a:r>
                        <a:rPr lang="uk-UA" sz="1100" dirty="0"/>
                        <a:t>2214</a:t>
                      </a:r>
                    </a:p>
                  </a:txBody>
                  <a:tcPr/>
                </a:tc>
                <a:tc>
                  <a:txBody>
                    <a:bodyPr/>
                    <a:lstStyle/>
                    <a:p>
                      <a:r>
                        <a:rPr lang="uk-UA" sz="1100" dirty="0"/>
                        <a:t>2093</a:t>
                      </a:r>
                    </a:p>
                  </a:txBody>
                  <a:tcPr/>
                </a:tc>
                <a:tc>
                  <a:txBody>
                    <a:bodyPr/>
                    <a:lstStyle/>
                    <a:p>
                      <a:r>
                        <a:rPr lang="uk-UA" sz="1100" dirty="0"/>
                        <a:t>28989</a:t>
                      </a:r>
                    </a:p>
                  </a:txBody>
                  <a:tcPr/>
                </a:tc>
                <a:tc>
                  <a:txBody>
                    <a:bodyPr/>
                    <a:lstStyle/>
                    <a:p>
                      <a:r>
                        <a:rPr lang="uk-UA" sz="1100" dirty="0"/>
                        <a:t>28,99</a:t>
                      </a:r>
                    </a:p>
                  </a:txBody>
                  <a:tcPr/>
                </a:tc>
                <a:extLst>
                  <a:ext uri="{0D108BD9-81ED-4DB2-BD59-A6C34878D82A}">
                    <a16:rowId xmlns:a16="http://schemas.microsoft.com/office/drawing/2014/main" val="613301373"/>
                  </a:ext>
                </a:extLst>
              </a:tr>
            </a:tbl>
          </a:graphicData>
        </a:graphic>
      </p:graphicFrame>
      <p:sp>
        <p:nvSpPr>
          <p:cNvPr id="5" name="Підзаголовок 2">
            <a:extLst>
              <a:ext uri="{FF2B5EF4-FFF2-40B4-BE49-F238E27FC236}">
                <a16:creationId xmlns:a16="http://schemas.microsoft.com/office/drawing/2014/main" id="{99638DBF-0DA3-6136-02BF-2A3058B80887}"/>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6</a:t>
            </a:r>
            <a:endParaRPr lang="uk-UA" sz="1200" dirty="0">
              <a:solidFill>
                <a:schemeClr val="tx1"/>
              </a:solidFill>
            </a:endParaRPr>
          </a:p>
        </p:txBody>
      </p:sp>
    </p:spTree>
    <p:extLst>
      <p:ext uri="{BB962C8B-B14F-4D97-AF65-F5344CB8AC3E}">
        <p14:creationId xmlns:p14="http://schemas.microsoft.com/office/powerpoint/2010/main" val="6033541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1"/>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a:solidFill>
                  <a:srgbClr val="009999"/>
                </a:solidFill>
              </a:rPr>
              <a:t>Архітектура нейромереж</a:t>
            </a:r>
            <a:endParaRPr lang="uk-UA" sz="2400" b="1" dirty="0">
              <a:solidFill>
                <a:srgbClr val="009999"/>
              </a:solidFill>
            </a:endParaRPr>
          </a:p>
        </p:txBody>
      </p:sp>
      <p:sp>
        <p:nvSpPr>
          <p:cNvPr id="11" name="TextBox 10">
            <a:extLst>
              <a:ext uri="{FF2B5EF4-FFF2-40B4-BE49-F238E27FC236}">
                <a16:creationId xmlns:a16="http://schemas.microsoft.com/office/drawing/2014/main" id="{EDD46BEA-0430-44DE-800E-85C87539BC12}"/>
              </a:ext>
            </a:extLst>
          </p:cNvPr>
          <p:cNvSpPr txBox="1"/>
          <p:nvPr/>
        </p:nvSpPr>
        <p:spPr>
          <a:xfrm>
            <a:off x="5076056" y="4825281"/>
            <a:ext cx="3960440" cy="276999"/>
          </a:xfrm>
          <a:prstGeom prst="rect">
            <a:avLst/>
          </a:prstGeom>
          <a:noFill/>
        </p:spPr>
        <p:txBody>
          <a:bodyPr wrap="square" rtlCol="0">
            <a:spAutoFit/>
          </a:bodyPr>
          <a:lstStyle/>
          <a:p>
            <a:pPr algn="ctr"/>
            <a:r>
              <a:rPr lang="uk-UA" sz="1200" dirty="0"/>
              <a:t>Рис. 4. Архітектура моделі «Інтегратор-Актор-Критик»</a:t>
            </a:r>
          </a:p>
        </p:txBody>
      </p:sp>
      <p:sp>
        <p:nvSpPr>
          <p:cNvPr id="16" name="Прямокутник 6">
            <a:extLst>
              <a:ext uri="{FF2B5EF4-FFF2-40B4-BE49-F238E27FC236}">
                <a16:creationId xmlns:a16="http://schemas.microsoft.com/office/drawing/2014/main" id="{6CC5A3D9-D6E1-CD09-C320-222811B255F0}"/>
              </a:ext>
            </a:extLst>
          </p:cNvPr>
          <p:cNvSpPr/>
          <p:nvPr/>
        </p:nvSpPr>
        <p:spPr>
          <a:xfrm>
            <a:off x="128101" y="339502"/>
            <a:ext cx="5221776" cy="3539430"/>
          </a:xfrm>
          <a:prstGeom prst="rect">
            <a:avLst/>
          </a:prstGeom>
        </p:spPr>
        <p:txBody>
          <a:bodyPr wrap="square">
            <a:spAutoFit/>
          </a:bodyPr>
          <a:lstStyle/>
          <a:p>
            <a:r>
              <a:rPr lang="uk-UA" sz="1400" b="1" dirty="0">
                <a:solidFill>
                  <a:srgbClr val="00B0F0"/>
                </a:solidFill>
              </a:rPr>
              <a:t>Інтегратор</a:t>
            </a:r>
            <a:endParaRPr lang="ru-RU" sz="1400" b="1" dirty="0">
              <a:solidFill>
                <a:srgbClr val="00B0F0"/>
              </a:solidFill>
            </a:endParaRPr>
          </a:p>
          <a:p>
            <a:pPr marL="285750" indent="-285750">
              <a:buFont typeface="Wingdings" panose="05000000000000000000" pitchFamily="2" charset="2"/>
              <a:buChar char="q"/>
            </a:pPr>
            <a:r>
              <a:rPr lang="uk-UA" sz="1400" dirty="0"/>
              <a:t>формує </a:t>
            </a:r>
            <a:r>
              <a:rPr lang="uk-UA" sz="1400" b="1" dirty="0"/>
              <a:t>вектор стану групи </a:t>
            </a:r>
            <a:r>
              <a:rPr lang="uk-UA" sz="1400" dirty="0"/>
              <a:t>(користувачі + історія)</a:t>
            </a:r>
          </a:p>
          <a:p>
            <a:pPr marL="285750" indent="-285750">
              <a:buFont typeface="Wingdings" panose="05000000000000000000" pitchFamily="2" charset="2"/>
              <a:buChar char="q"/>
            </a:pPr>
            <a:r>
              <a:rPr lang="uk-UA" sz="1400" dirty="0"/>
              <a:t>враховує </a:t>
            </a:r>
            <a:r>
              <a:rPr lang="uk-UA" sz="1400" b="1" dirty="0"/>
              <a:t>внесок кожного учасника</a:t>
            </a:r>
          </a:p>
          <a:p>
            <a:pPr marL="285750" indent="-285750">
              <a:buFont typeface="Wingdings" panose="05000000000000000000" pitchFamily="2" charset="2"/>
              <a:buChar char="q"/>
            </a:pPr>
            <a:r>
              <a:rPr lang="uk-UA" sz="1400" dirty="0"/>
              <a:t>об’єднує індивідуальні вподобання в спільне представлення</a:t>
            </a:r>
          </a:p>
          <a:p>
            <a:pPr marL="285750" indent="-285750">
              <a:buFont typeface="Wingdings" panose="05000000000000000000" pitchFamily="2" charset="2"/>
              <a:buChar char="q"/>
            </a:pPr>
            <a:r>
              <a:rPr lang="uk-UA" sz="1400" b="1" dirty="0"/>
              <a:t>Результат: </a:t>
            </a:r>
            <a:r>
              <a:rPr lang="uk-UA" sz="1400" dirty="0"/>
              <a:t>узагальнене векторне представлення групи</a:t>
            </a:r>
            <a:endParaRPr lang="en-US" sz="1400" dirty="0"/>
          </a:p>
          <a:p>
            <a:endParaRPr lang="ru-RU" sz="1400" dirty="0"/>
          </a:p>
          <a:p>
            <a:r>
              <a:rPr lang="uk-UA" sz="1400" b="1" dirty="0">
                <a:solidFill>
                  <a:srgbClr val="00B0F0"/>
                </a:solidFill>
              </a:rPr>
              <a:t>Актор</a:t>
            </a:r>
          </a:p>
          <a:p>
            <a:pPr marL="285750" indent="-285750">
              <a:buFont typeface="Wingdings" panose="05000000000000000000" pitchFamily="2" charset="2"/>
              <a:buChar char="q"/>
            </a:pPr>
            <a:r>
              <a:rPr lang="uk-UA" sz="1400" dirty="0"/>
              <a:t>формує </a:t>
            </a:r>
            <a:r>
              <a:rPr lang="uk-UA" sz="1400" b="1" dirty="0"/>
              <a:t>рекомендаційну стратегію</a:t>
            </a:r>
          </a:p>
          <a:p>
            <a:pPr marL="285750" indent="-285750">
              <a:buFont typeface="Wingdings" panose="05000000000000000000" pitchFamily="2" charset="2"/>
              <a:buChar char="q"/>
            </a:pPr>
            <a:r>
              <a:rPr lang="uk-UA" sz="1400" dirty="0"/>
              <a:t>генерує вектор наближеної рекомендацій</a:t>
            </a:r>
          </a:p>
          <a:p>
            <a:pPr marL="285750" indent="-285750">
              <a:buFont typeface="Wingdings" panose="05000000000000000000" pitchFamily="2" charset="2"/>
              <a:buChar char="q"/>
            </a:pPr>
            <a:r>
              <a:rPr lang="uk-UA" sz="1400" dirty="0"/>
              <a:t>впливає на формування </a:t>
            </a:r>
            <a:r>
              <a:rPr lang="en-US" sz="1400" dirty="0"/>
              <a:t>top-k </a:t>
            </a:r>
            <a:r>
              <a:rPr lang="uk-UA" sz="1400" dirty="0"/>
              <a:t>найбільш релевантних об’єктів</a:t>
            </a:r>
          </a:p>
          <a:p>
            <a:pPr marL="285750" indent="-285750">
              <a:buFont typeface="Wingdings" panose="05000000000000000000" pitchFamily="2" charset="2"/>
              <a:buChar char="ü"/>
            </a:pPr>
            <a:endParaRPr lang="en-US" sz="1400" b="1" dirty="0">
              <a:solidFill>
                <a:srgbClr val="00CC99"/>
              </a:solidFill>
            </a:endParaRPr>
          </a:p>
          <a:p>
            <a:r>
              <a:rPr lang="uk-UA" sz="1400" b="1" dirty="0">
                <a:solidFill>
                  <a:srgbClr val="00CC99"/>
                </a:solidFill>
              </a:rPr>
              <a:t>Критик</a:t>
            </a:r>
            <a:endParaRPr lang="ru-RU" sz="1400" b="1" dirty="0">
              <a:solidFill>
                <a:srgbClr val="00CC99"/>
              </a:solidFill>
            </a:endParaRPr>
          </a:p>
          <a:p>
            <a:pPr marL="285750" indent="-285750">
              <a:buFont typeface="Wingdings" panose="05000000000000000000" pitchFamily="2" charset="2"/>
              <a:buChar char="q"/>
            </a:pPr>
            <a:r>
              <a:rPr lang="uk-UA" sz="1400" noProof="0" dirty="0"/>
              <a:t>оцінює </a:t>
            </a:r>
            <a:r>
              <a:rPr lang="uk-UA" sz="1400" b="1" noProof="0" dirty="0"/>
              <a:t>якість рекомендації </a:t>
            </a:r>
          </a:p>
          <a:p>
            <a:pPr marL="285750" indent="-285750">
              <a:buFont typeface="Wingdings" panose="05000000000000000000" pitchFamily="2" charset="2"/>
              <a:buChar char="q"/>
            </a:pPr>
            <a:r>
              <a:rPr lang="uk-UA" sz="1400" noProof="0" dirty="0"/>
              <a:t>використовує: стан групи + дію (рекомендацію) </a:t>
            </a:r>
          </a:p>
          <a:p>
            <a:pPr marL="285750" indent="-285750">
              <a:buFont typeface="Wingdings" panose="05000000000000000000" pitchFamily="2" charset="2"/>
              <a:buChar char="q"/>
            </a:pPr>
            <a:r>
              <a:rPr lang="uk-UA" sz="1400" noProof="0" dirty="0"/>
              <a:t>обчислює </a:t>
            </a:r>
            <a:r>
              <a:rPr lang="uk-UA" sz="1400" b="1" noProof="0" dirty="0"/>
              <a:t>Q-значення </a:t>
            </a:r>
          </a:p>
          <a:p>
            <a:pPr marL="285750" indent="-285750">
              <a:buFont typeface="Wingdings" panose="05000000000000000000" pitchFamily="2" charset="2"/>
              <a:buChar char="q"/>
            </a:pPr>
            <a:r>
              <a:rPr lang="uk-UA" sz="1400" noProof="0" dirty="0"/>
              <a:t>відповідає за оновлення стратегії Актора</a:t>
            </a:r>
          </a:p>
        </p:txBody>
      </p:sp>
      <p:pic>
        <p:nvPicPr>
          <p:cNvPr id="3" name="Picture 2">
            <a:extLst>
              <a:ext uri="{FF2B5EF4-FFF2-40B4-BE49-F238E27FC236}">
                <a16:creationId xmlns:a16="http://schemas.microsoft.com/office/drawing/2014/main" id="{CEC5932C-E5B7-D653-2730-AA859925A0E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338870" y="306309"/>
            <a:ext cx="3414065" cy="4530882"/>
          </a:xfrm>
          <a:prstGeom prst="rect">
            <a:avLst/>
          </a:prstGeom>
        </p:spPr>
      </p:pic>
      <p:pic>
        <p:nvPicPr>
          <p:cNvPr id="4" name="Рисунок 16">
            <a:extLst>
              <a:ext uri="{FF2B5EF4-FFF2-40B4-BE49-F238E27FC236}">
                <a16:creationId xmlns:a16="http://schemas.microsoft.com/office/drawing/2014/main" id="{71AAE00F-5E98-2144-A562-90E809E0AC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86464" y="4227934"/>
            <a:ext cx="1085494" cy="542748"/>
          </a:xfrm>
          <a:prstGeom prst="rect">
            <a:avLst/>
          </a:prstGeom>
        </p:spPr>
      </p:pic>
      <p:pic>
        <p:nvPicPr>
          <p:cNvPr id="6" name="Рисунок 20">
            <a:extLst>
              <a:ext uri="{FF2B5EF4-FFF2-40B4-BE49-F238E27FC236}">
                <a16:creationId xmlns:a16="http://schemas.microsoft.com/office/drawing/2014/main" id="{6519F098-2277-6E65-C953-003DEC158F0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78999" y="4230728"/>
            <a:ext cx="936472" cy="589977"/>
          </a:xfrm>
          <a:prstGeom prst="rect">
            <a:avLst/>
          </a:prstGeom>
        </p:spPr>
      </p:pic>
      <p:sp>
        <p:nvSpPr>
          <p:cNvPr id="7" name="TextBox 6">
            <a:extLst>
              <a:ext uri="{FF2B5EF4-FFF2-40B4-BE49-F238E27FC236}">
                <a16:creationId xmlns:a16="http://schemas.microsoft.com/office/drawing/2014/main" id="{A399F722-C963-0F44-DC99-9D8752769E76}"/>
              </a:ext>
            </a:extLst>
          </p:cNvPr>
          <p:cNvSpPr txBox="1"/>
          <p:nvPr/>
        </p:nvSpPr>
        <p:spPr>
          <a:xfrm>
            <a:off x="1851030" y="4753043"/>
            <a:ext cx="2339752" cy="276999"/>
          </a:xfrm>
          <a:prstGeom prst="rect">
            <a:avLst/>
          </a:prstGeom>
          <a:noFill/>
        </p:spPr>
        <p:txBody>
          <a:bodyPr wrap="square" rtlCol="0">
            <a:spAutoFit/>
          </a:bodyPr>
          <a:lstStyle/>
          <a:p>
            <a:pPr algn="ctr"/>
            <a:r>
              <a:rPr lang="uk-UA" sz="1200" dirty="0"/>
              <a:t>Використані технології і пакети</a:t>
            </a:r>
          </a:p>
        </p:txBody>
      </p:sp>
      <p:sp>
        <p:nvSpPr>
          <p:cNvPr id="2" name="Підзаголовок 2">
            <a:extLst>
              <a:ext uri="{FF2B5EF4-FFF2-40B4-BE49-F238E27FC236}">
                <a16:creationId xmlns:a16="http://schemas.microsoft.com/office/drawing/2014/main" id="{17391A5C-A819-4DD4-13B3-949ACD59E64A}"/>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7</a:t>
            </a:r>
            <a:endParaRPr lang="uk-UA" sz="1200" dirty="0">
              <a:solidFill>
                <a:schemeClr val="tx1"/>
              </a:solidFill>
            </a:endParaRPr>
          </a:p>
        </p:txBody>
      </p:sp>
    </p:spTree>
    <p:extLst>
      <p:ext uri="{BB962C8B-B14F-4D97-AF65-F5344CB8AC3E}">
        <p14:creationId xmlns:p14="http://schemas.microsoft.com/office/powerpoint/2010/main" val="282625658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95301-8AAB-52A8-98BF-6CCDF1DEB590}"/>
            </a:ext>
          </a:extLst>
        </p:cNvPr>
        <p:cNvGrpSpPr/>
        <p:nvPr/>
      </p:nvGrpSpPr>
      <p:grpSpPr>
        <a:xfrm>
          <a:off x="0" y="0"/>
          <a:ext cx="0" cy="0"/>
          <a:chOff x="0" y="0"/>
          <a:chExt cx="0" cy="0"/>
        </a:xfrm>
      </p:grpSpPr>
      <p:sp>
        <p:nvSpPr>
          <p:cNvPr id="5" name="Заголовок 1">
            <a:extLst>
              <a:ext uri="{FF2B5EF4-FFF2-40B4-BE49-F238E27FC236}">
                <a16:creationId xmlns:a16="http://schemas.microsoft.com/office/drawing/2014/main" id="{DF67CDA7-8408-4042-C552-7A2F2F6BAFF9}"/>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Механізм Інтегратора</a:t>
            </a:r>
          </a:p>
        </p:txBody>
      </p:sp>
      <p:sp>
        <p:nvSpPr>
          <p:cNvPr id="7" name="TextBox 6">
            <a:extLst>
              <a:ext uri="{FF2B5EF4-FFF2-40B4-BE49-F238E27FC236}">
                <a16:creationId xmlns:a16="http://schemas.microsoft.com/office/drawing/2014/main" id="{B4DEB407-3A88-0CD5-F52F-1CFA578977ED}"/>
              </a:ext>
            </a:extLst>
          </p:cNvPr>
          <p:cNvSpPr txBox="1"/>
          <p:nvPr/>
        </p:nvSpPr>
        <p:spPr>
          <a:xfrm>
            <a:off x="5154887" y="4876249"/>
            <a:ext cx="3960440" cy="276999"/>
          </a:xfrm>
          <a:prstGeom prst="rect">
            <a:avLst/>
          </a:prstGeom>
          <a:noFill/>
        </p:spPr>
        <p:txBody>
          <a:bodyPr wrap="square" rtlCol="0">
            <a:spAutoFit/>
          </a:bodyPr>
          <a:lstStyle/>
          <a:p>
            <a:pPr algn="ctr"/>
            <a:r>
              <a:rPr lang="uk-UA" sz="1200" dirty="0"/>
              <a:t>Рис. 4. Архітектура Інтегратора</a:t>
            </a:r>
          </a:p>
        </p:txBody>
      </p:sp>
      <p:pic>
        <p:nvPicPr>
          <p:cNvPr id="9" name="Picture 8">
            <a:extLst>
              <a:ext uri="{FF2B5EF4-FFF2-40B4-BE49-F238E27FC236}">
                <a16:creationId xmlns:a16="http://schemas.microsoft.com/office/drawing/2014/main" id="{53A37F17-0859-ADBE-8EBB-48E3DF5303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58051" y="2513412"/>
            <a:ext cx="3754112" cy="2362837"/>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E8940E3-44A3-58B7-6D53-683D9F09AAD9}"/>
                  </a:ext>
                </a:extLst>
              </p:cNvPr>
              <p:cNvSpPr txBox="1"/>
              <p:nvPr/>
            </p:nvSpPr>
            <p:spPr>
              <a:xfrm>
                <a:off x="91771" y="421877"/>
                <a:ext cx="4696254" cy="4421531"/>
              </a:xfrm>
              <a:prstGeom prst="rect">
                <a:avLst/>
              </a:prstGeom>
              <a:noFill/>
            </p:spPr>
            <p:txBody>
              <a:bodyPr wrap="square">
                <a:spAutoFit/>
              </a:bodyPr>
              <a:lstStyle/>
              <a:p>
                <a:r>
                  <a:rPr lang="uk-UA" sz="1400" b="1" dirty="0">
                    <a:solidFill>
                      <a:srgbClr val="3E84F3"/>
                    </a:solidFill>
                  </a:rPr>
                  <a:t>Вхідні дані:</a:t>
                </a:r>
                <a:br>
                  <a:rPr lang="uk-UA" sz="1400" dirty="0"/>
                </a:br>
                <a14:m>
                  <m:oMath xmlns:m="http://schemas.openxmlformats.org/officeDocument/2006/math">
                    <m:r>
                      <m:rPr>
                        <m:sty m:val="p"/>
                      </m:rPr>
                      <a:rPr lang="en-US" sz="1400" dirty="0">
                        <a:latin typeface="Cambria Math" panose="02040503050406030204" pitchFamily="18" charset="0"/>
                      </a:rPr>
                      <m:t>g</m:t>
                    </m:r>
                    <m:r>
                      <a:rPr lang="en-US" sz="1400" b="0" i="0"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u</m:t>
                        </m:r>
                      </m:e>
                      <m:sub>
                        <m:r>
                          <a:rPr lang="en-US" sz="1400" b="0" i="0" dirty="0" smtClean="0">
                            <a:latin typeface="Cambria Math" panose="02040503050406030204" pitchFamily="18" charset="0"/>
                          </a:rPr>
                          <m:t>1</m:t>
                        </m:r>
                      </m:sub>
                    </m:sSub>
                    <m:r>
                      <a:rPr lang="en-US" sz="1400" b="0" i="0" dirty="0" smtClean="0">
                        <a:latin typeface="Cambria Math" panose="02040503050406030204" pitchFamily="18" charset="0"/>
                      </a:rPr>
                      <m:t>,  </m:t>
                    </m:r>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u</m:t>
                        </m:r>
                      </m:e>
                      <m:sub>
                        <m:r>
                          <a:rPr lang="en-US" sz="1400" b="0" i="0" dirty="0" smtClean="0">
                            <a:latin typeface="Cambria Math" panose="02040503050406030204" pitchFamily="18" charset="0"/>
                          </a:rPr>
                          <m:t>2</m:t>
                        </m:r>
                      </m:sub>
                    </m:sSub>
                    <m:r>
                      <a:rPr lang="en-US" sz="1400" b="0" i="0" dirty="0" smtClean="0">
                        <a:latin typeface="Cambria Math" panose="02040503050406030204" pitchFamily="18" charset="0"/>
                      </a:rPr>
                      <m:t>,…,  </m:t>
                    </m:r>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u</m:t>
                        </m:r>
                      </m:e>
                      <m:sub>
                        <m:r>
                          <m:rPr>
                            <m:sty m:val="p"/>
                          </m:rPr>
                          <a:rPr lang="en-US" sz="1400" b="0" i="0" dirty="0" smtClean="0">
                            <a:latin typeface="Cambria Math" panose="02040503050406030204" pitchFamily="18" charset="0"/>
                          </a:rPr>
                          <m:t>K</m:t>
                        </m:r>
                      </m:sub>
                    </m:sSub>
                    <m:r>
                      <a:rPr lang="en-US" sz="1400" b="0" i="0" dirty="0" smtClean="0">
                        <a:latin typeface="Cambria Math" panose="02040503050406030204" pitchFamily="18" charset="0"/>
                      </a:rPr>
                      <m:t>}</m:t>
                    </m:r>
                    <m:r>
                      <a:rPr lang="en-US" sz="1400" i="1" dirty="0">
                        <a:latin typeface="Cambria Math" panose="02040503050406030204" pitchFamily="18" charset="0"/>
                      </a:rPr>
                      <m:t> </m:t>
                    </m:r>
                  </m:oMath>
                </a14:m>
                <a:r>
                  <a:rPr lang="en-US" sz="1400" dirty="0"/>
                  <a:t>— </a:t>
                </a:r>
                <a:r>
                  <a:rPr lang="uk-UA" sz="1400" dirty="0"/>
                  <a:t>група користувачів</a:t>
                </a:r>
                <a:br>
                  <a:rPr lang="uk-UA" sz="1400" dirty="0"/>
                </a:br>
                <a14:m>
                  <m:oMath xmlns:m="http://schemas.openxmlformats.org/officeDocument/2006/math">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h</m:t>
                        </m:r>
                      </m:e>
                      <m:sub>
                        <m:r>
                          <m:rPr>
                            <m:sty m:val="p"/>
                          </m:rPr>
                          <a:rPr lang="en-US" sz="1400" b="0" i="0" dirty="0" smtClean="0">
                            <a:latin typeface="Cambria Math" panose="02040503050406030204" pitchFamily="18" charset="0"/>
                          </a:rPr>
                          <m:t>t</m:t>
                        </m:r>
                      </m:sub>
                    </m:sSub>
                    <m:r>
                      <a:rPr lang="en-US" sz="1400" b="0" i="0"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a:rPr lang="en-US" sz="1400" b="0" i="0" dirty="0" smtClean="0">
                            <a:latin typeface="Cambria Math" panose="02040503050406030204" pitchFamily="18" charset="0"/>
                          </a:rPr>
                          <m:t>1</m:t>
                        </m:r>
                      </m:sub>
                    </m:sSub>
                    <m:r>
                      <a:rPr lang="en-US" sz="1400" b="0" i="0"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a:rPr lang="en-US" sz="1400" b="0" i="0" dirty="0" smtClean="0">
                            <a:latin typeface="Cambria Math" panose="02040503050406030204" pitchFamily="18" charset="0"/>
                          </a:rPr>
                          <m:t>2</m:t>
                        </m:r>
                      </m:sub>
                    </m:sSub>
                    <m:r>
                      <a:rPr lang="en-US" sz="1400" b="0" i="0" dirty="0" smtClean="0">
                        <a:latin typeface="Cambria Math" panose="02040503050406030204" pitchFamily="18" charset="0"/>
                      </a:rPr>
                      <m:t>,…, </m:t>
                    </m:r>
                    <m:sSub>
                      <m:sSubPr>
                        <m:ctrlPr>
                          <a:rPr lang="en-US" sz="1400" b="0" i="1"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N</m:t>
                        </m:r>
                      </m:sub>
                    </m:sSub>
                    <m:r>
                      <a:rPr lang="en-US" sz="1400" b="0" i="0" dirty="0" smtClean="0">
                        <a:latin typeface="Cambria Math" panose="02040503050406030204" pitchFamily="18" charset="0"/>
                      </a:rPr>
                      <m:t>]</m:t>
                    </m:r>
                    <m:r>
                      <a:rPr lang="en-US" sz="1400" b="1" i="1" dirty="0">
                        <a:latin typeface="Cambria Math" panose="02040503050406030204" pitchFamily="18" charset="0"/>
                      </a:rPr>
                      <m:t> </m:t>
                    </m:r>
                    <m:r>
                      <a:rPr lang="en-US" sz="1400" i="1" dirty="0">
                        <a:latin typeface="Cambria Math" panose="02040503050406030204" pitchFamily="18" charset="0"/>
                      </a:rPr>
                      <m:t> </m:t>
                    </m:r>
                  </m:oMath>
                </a14:m>
                <a:r>
                  <a:rPr lang="en-US" sz="1400" dirty="0"/>
                  <a:t>— </a:t>
                </a:r>
                <a:r>
                  <a:rPr lang="uk-UA" sz="1400" dirty="0"/>
                  <a:t>історія взаємодій</a:t>
                </a:r>
                <a:endParaRPr lang="en-US" sz="1400" dirty="0"/>
              </a:p>
              <a:p>
                <a:endParaRPr lang="uk-UA" sz="1400" dirty="0"/>
              </a:p>
              <a:p>
                <a:r>
                  <a:rPr lang="uk-UA" sz="1400" b="1" dirty="0">
                    <a:solidFill>
                      <a:srgbClr val="00CC99"/>
                    </a:solidFill>
                    <a:latin typeface="+mj-lt"/>
                  </a:rPr>
                  <a:t>Подання користувачів</a:t>
                </a:r>
              </a:p>
              <a:p>
                <a:r>
                  <a:rPr lang="uk-UA" sz="1400" dirty="0">
                    <a:latin typeface="+mj-lt"/>
                  </a:rPr>
                  <a:t>Кожен користувач </a:t>
                </a:r>
                <a:r>
                  <a:rPr lang="uk-UA" sz="1400" b="1" dirty="0">
                    <a:latin typeface="+mj-lt"/>
                  </a:rPr>
                  <a:t>→</a:t>
                </a:r>
                <a:r>
                  <a:rPr lang="uk-UA" sz="1400" dirty="0">
                    <a:latin typeface="+mj-lt"/>
                  </a:rPr>
                  <a:t> </a:t>
                </a:r>
                <a:r>
                  <a:rPr lang="en-US" sz="1400" dirty="0"/>
                  <a:t>embedding</a:t>
                </a:r>
                <a:r>
                  <a:rPr lang="uk-UA" sz="1400" dirty="0"/>
                  <a:t> (вектор ознак)</a:t>
                </a:r>
              </a:p>
              <a:p>
                <a:r>
                  <a:rPr lang="en-US" sz="1400" b="1" dirty="0">
                    <a:latin typeface="+mj-lt"/>
                  </a:rPr>
                  <a:t>Multi-Head Self-Attention</a:t>
                </a:r>
                <a:r>
                  <a:rPr lang="en-US" sz="1400" dirty="0">
                    <a:latin typeface="+mj-lt"/>
                  </a:rPr>
                  <a:t> </a:t>
                </a:r>
                <a:r>
                  <a:rPr lang="en-US" sz="1400" b="1" dirty="0">
                    <a:latin typeface="+mj-lt"/>
                  </a:rPr>
                  <a:t>→</a:t>
                </a:r>
                <a:r>
                  <a:rPr lang="en-US" sz="1400" dirty="0">
                    <a:latin typeface="+mj-lt"/>
                  </a:rPr>
                  <a:t> </a:t>
                </a:r>
                <a:r>
                  <a:rPr lang="uk-UA" sz="1400" dirty="0">
                    <a:latin typeface="+mj-lt"/>
                  </a:rPr>
                  <a:t>враховується вплив учасників один на одного</a:t>
                </a:r>
              </a:p>
              <a:p>
                <a:r>
                  <a:rPr lang="uk-UA" sz="1400" dirty="0">
                    <a:latin typeface="+mj-lt"/>
                  </a:rPr>
                  <a:t>Об’єднання </a:t>
                </a:r>
                <a:r>
                  <a:rPr lang="uk-UA" sz="1400" b="1" dirty="0">
                    <a:latin typeface="+mj-lt"/>
                  </a:rPr>
                  <a:t>→</a:t>
                </a:r>
                <a:r>
                  <a:rPr lang="uk-UA" sz="1400" dirty="0">
                    <a:latin typeface="+mj-lt"/>
                  </a:rPr>
                  <a:t> отримуємо групове представлення</a:t>
                </a:r>
                <a:endParaRPr lang="en-US" sz="1400" dirty="0">
                  <a:latin typeface="+mj-lt"/>
                </a:endParaRPr>
              </a:p>
              <a:p>
                <a:r>
                  <a:rPr lang="uk-UA" sz="1400" dirty="0">
                    <a:latin typeface="+mj-lt"/>
                  </a:rPr>
                  <a:t>Результат: </a:t>
                </a:r>
                <a14:m>
                  <m:oMath xmlns:m="http://schemas.openxmlformats.org/officeDocument/2006/math">
                    <m:sSub>
                      <m:sSubPr>
                        <m:ctrlPr>
                          <a:rPr lang="en-US" sz="1400" b="0" i="1" noProof="0" dirty="0" smtClean="0">
                            <a:latin typeface="Cambria Math" panose="02040503050406030204" pitchFamily="18" charset="0"/>
                          </a:rPr>
                        </m:ctrlPr>
                      </m:sSubPr>
                      <m:e>
                        <m:r>
                          <m:rPr>
                            <m:sty m:val="p"/>
                          </m:rPr>
                          <a:rPr lang="en-US" sz="1400" b="0" i="0" noProof="0" dirty="0" smtClean="0">
                            <a:latin typeface="Cambria Math" panose="02040503050406030204" pitchFamily="18" charset="0"/>
                          </a:rPr>
                          <m:t>e</m:t>
                        </m:r>
                      </m:e>
                      <m:sub>
                        <m:r>
                          <m:rPr>
                            <m:sty m:val="p"/>
                          </m:rPr>
                          <a:rPr lang="en-US" sz="1400" b="0" i="0" noProof="0" dirty="0" smtClean="0">
                            <a:latin typeface="Cambria Math" panose="02040503050406030204" pitchFamily="18" charset="0"/>
                          </a:rPr>
                          <m:t>g</m:t>
                        </m:r>
                      </m:sub>
                    </m:sSub>
                    <m:r>
                      <a:rPr lang="uk-UA" sz="1400" b="1" i="1" noProof="0" dirty="0" smtClean="0">
                        <a:latin typeface="Cambria Math" panose="02040503050406030204" pitchFamily="18" charset="0"/>
                      </a:rPr>
                      <m:t>∈ </m:t>
                    </m:r>
                    <m:r>
                      <a:rPr lang="uk-UA" sz="1400" b="1" i="1" noProof="0" dirty="0" smtClean="0">
                        <a:latin typeface="Cambria Math" panose="02040503050406030204" pitchFamily="18" charset="0"/>
                        <a:ea typeface="Cambria Math" panose="02040503050406030204" pitchFamily="18" charset="0"/>
                      </a:rPr>
                      <m:t>ℝ</m:t>
                    </m:r>
                    <m:r>
                      <a:rPr lang="uk-UA" sz="1400" b="1" i="1" noProof="0" dirty="0" smtClean="0">
                        <a:latin typeface="Cambria Math" panose="02040503050406030204" pitchFamily="18" charset="0"/>
                      </a:rPr>
                      <m:t>ⁿ</m:t>
                    </m:r>
                    <m:r>
                      <a:rPr lang="uk-UA" sz="1400" i="1" noProof="0" dirty="0" smtClean="0">
                        <a:latin typeface="Cambria Math" panose="02040503050406030204" pitchFamily="18" charset="0"/>
                      </a:rPr>
                      <m:t> </m:t>
                    </m:r>
                  </m:oMath>
                </a14:m>
                <a:r>
                  <a:rPr lang="uk-UA" sz="1400" noProof="0" dirty="0"/>
                  <a:t>— узагальнене представлення групи</a:t>
                </a:r>
                <a:endParaRPr lang="uk-UA" sz="1400" dirty="0">
                  <a:latin typeface="+mj-lt"/>
                </a:endParaRPr>
              </a:p>
              <a:p>
                <a:endParaRPr lang="uk-UA" sz="1400" b="1" dirty="0">
                  <a:solidFill>
                    <a:srgbClr val="00CC99"/>
                  </a:solidFill>
                  <a:latin typeface="+mj-lt"/>
                </a:endParaRPr>
              </a:p>
              <a:p>
                <a:r>
                  <a:rPr lang="uk-UA" sz="1400" b="1" dirty="0">
                    <a:solidFill>
                      <a:srgbClr val="00CC99"/>
                    </a:solidFill>
                    <a:latin typeface="+mj-lt"/>
                  </a:rPr>
                  <a:t>Подання історії</a:t>
                </a:r>
              </a:p>
              <a:p>
                <a:r>
                  <a:rPr lang="uk-UA" sz="1400" dirty="0">
                    <a:latin typeface="+mj-lt"/>
                  </a:rPr>
                  <a:t>Беруться останні </a:t>
                </a:r>
                <a:r>
                  <a:rPr lang="en-US" sz="1400" b="1" dirty="0">
                    <a:latin typeface="+mj-lt"/>
                  </a:rPr>
                  <a:t>N</a:t>
                </a:r>
                <a:r>
                  <a:rPr lang="en-US" sz="1400" dirty="0">
                    <a:latin typeface="+mj-lt"/>
                  </a:rPr>
                  <a:t> </a:t>
                </a:r>
                <a:r>
                  <a:rPr lang="uk-UA" sz="1400" dirty="0">
                    <a:latin typeface="+mj-lt"/>
                  </a:rPr>
                  <a:t>взаємодій</a:t>
                </a:r>
              </a:p>
              <a:p>
                <a:r>
                  <a:rPr lang="uk-UA" sz="1400" dirty="0">
                    <a:latin typeface="+mj-lt"/>
                  </a:rPr>
                  <a:t>Кожен елемент </a:t>
                </a:r>
                <a:r>
                  <a:rPr lang="uk-UA" sz="1400" b="1" dirty="0">
                    <a:latin typeface="+mj-lt"/>
                  </a:rPr>
                  <a:t>→</a:t>
                </a:r>
                <a:r>
                  <a:rPr lang="uk-UA" sz="1400" dirty="0">
                    <a:latin typeface="+mj-lt"/>
                  </a:rPr>
                  <a:t> </a:t>
                </a:r>
                <a:r>
                  <a:rPr lang="en-US" sz="1400" dirty="0">
                    <a:latin typeface="+mj-lt"/>
                  </a:rPr>
                  <a:t>embedding </a:t>
                </a:r>
                <a:r>
                  <a:rPr lang="uk-UA" sz="1400" dirty="0"/>
                  <a:t>(вектор ознак)</a:t>
                </a:r>
                <a:endParaRPr lang="en-US" sz="1400" dirty="0">
                  <a:latin typeface="+mj-lt"/>
                </a:endParaRPr>
              </a:p>
              <a:p>
                <a:r>
                  <a:rPr lang="uk-UA" sz="1400" dirty="0">
                    <a:latin typeface="+mj-lt"/>
                  </a:rPr>
                  <a:t>Об’єднання в один довгий вектор</a:t>
                </a:r>
                <a:r>
                  <a:rPr lang="en-US" sz="1400" dirty="0">
                    <a:latin typeface="+mj-lt"/>
                  </a:rPr>
                  <a:t> </a:t>
                </a:r>
                <a:r>
                  <a:rPr lang="uk-UA" sz="1400" b="1" dirty="0"/>
                  <a:t>→</a:t>
                </a:r>
                <a:r>
                  <a:rPr lang="en-US" sz="1400" b="1" dirty="0"/>
                  <a:t> Flatten</a:t>
                </a:r>
                <a:endParaRPr lang="uk-UA" sz="1400" dirty="0">
                  <a:latin typeface="+mj-lt"/>
                </a:endParaRPr>
              </a:p>
              <a:p>
                <a:r>
                  <a:rPr lang="uk-UA" sz="1400" dirty="0">
                    <a:latin typeface="+mj-lt"/>
                  </a:rPr>
                  <a:t>Результат: </a:t>
                </a:r>
                <a14:m>
                  <m:oMath xmlns:m="http://schemas.openxmlformats.org/officeDocument/2006/math">
                    <m:sSub>
                      <m:sSubPr>
                        <m:ctrlPr>
                          <a:rPr lang="en-US" sz="1400" i="1" dirty="0">
                            <a:latin typeface="Cambria Math" panose="02040503050406030204" pitchFamily="18" charset="0"/>
                          </a:rPr>
                        </m:ctrlPr>
                      </m:sSubPr>
                      <m:e>
                        <m:r>
                          <m:rPr>
                            <m:sty m:val="p"/>
                          </m:rPr>
                          <a:rPr lang="en-US" sz="1400" dirty="0">
                            <a:latin typeface="Cambria Math" panose="02040503050406030204" pitchFamily="18" charset="0"/>
                          </a:rPr>
                          <m:t>e</m:t>
                        </m:r>
                      </m:e>
                      <m:sub>
                        <m:r>
                          <m:rPr>
                            <m:sty m:val="p"/>
                          </m:rPr>
                          <a:rPr lang="en-US" sz="1400" b="0" i="0" dirty="0" smtClean="0">
                            <a:latin typeface="Cambria Math" panose="02040503050406030204" pitchFamily="18" charset="0"/>
                          </a:rPr>
                          <m:t>h</m:t>
                        </m:r>
                      </m:sub>
                    </m:sSub>
                    <m:r>
                      <a:rPr lang="uk-UA" sz="1400" b="1" i="1" dirty="0">
                        <a:latin typeface="Cambria Math" panose="02040503050406030204" pitchFamily="18" charset="0"/>
                      </a:rPr>
                      <m:t>∈ </m:t>
                    </m:r>
                    <m:sSup>
                      <m:sSupPr>
                        <m:ctrlPr>
                          <a:rPr lang="en-US" sz="1400" b="1" i="1" dirty="0" smtClean="0">
                            <a:latin typeface="Cambria Math" panose="02040503050406030204" pitchFamily="18" charset="0"/>
                            <a:ea typeface="Cambria Math" panose="02040503050406030204" pitchFamily="18" charset="0"/>
                          </a:rPr>
                        </m:ctrlPr>
                      </m:sSupPr>
                      <m:e>
                        <m:r>
                          <a:rPr lang="uk-UA" sz="1400" b="1" i="1" dirty="0">
                            <a:latin typeface="Cambria Math" panose="02040503050406030204" pitchFamily="18" charset="0"/>
                            <a:ea typeface="Cambria Math" panose="02040503050406030204" pitchFamily="18" charset="0"/>
                          </a:rPr>
                          <m:t>ℝ</m:t>
                        </m:r>
                      </m:e>
                      <m:sup>
                        <m:r>
                          <a:rPr lang="en-US" sz="1400" b="1" i="1" dirty="0" smtClean="0">
                            <a:latin typeface="Cambria Math" panose="02040503050406030204" pitchFamily="18" charset="0"/>
                            <a:ea typeface="Cambria Math" panose="02040503050406030204" pitchFamily="18" charset="0"/>
                          </a:rPr>
                          <m:t>𝑵𝒏</m:t>
                        </m:r>
                      </m:sup>
                    </m:sSup>
                    <m:r>
                      <a:rPr lang="uk-UA" sz="1400" i="1" dirty="0">
                        <a:latin typeface="Cambria Math" panose="02040503050406030204" pitchFamily="18" charset="0"/>
                      </a:rPr>
                      <m:t> </m:t>
                    </m:r>
                  </m:oMath>
                </a14:m>
                <a:r>
                  <a:rPr lang="en-US" sz="1400" dirty="0">
                    <a:latin typeface="+mj-lt"/>
                  </a:rPr>
                  <a:t>— </a:t>
                </a:r>
                <a:r>
                  <a:rPr lang="uk-UA" sz="1400" dirty="0">
                    <a:latin typeface="+mj-lt"/>
                  </a:rPr>
                  <a:t>представлення історії</a:t>
                </a:r>
              </a:p>
              <a:p>
                <a:endParaRPr lang="uk-UA" sz="1400" b="1" dirty="0">
                  <a:solidFill>
                    <a:srgbClr val="00CC99"/>
                  </a:solidFill>
                  <a:latin typeface="+mj-lt"/>
                </a:endParaRPr>
              </a:p>
              <a:p>
                <a:r>
                  <a:rPr lang="uk-UA" sz="1400" b="1" dirty="0">
                    <a:solidFill>
                      <a:srgbClr val="00CC99"/>
                    </a:solidFill>
                    <a:latin typeface="+mj-lt"/>
                  </a:rPr>
                  <a:t>Формування стану</a:t>
                </a:r>
              </a:p>
              <a:p>
                <a:r>
                  <a:rPr lang="uk-UA" sz="1400" dirty="0">
                    <a:latin typeface="+mj-lt"/>
                  </a:rPr>
                  <a:t>Стан групи є об'єднанням групового та історичного представлення</a:t>
                </a:r>
                <a:r>
                  <a:rPr lang="en-US" sz="1400" dirty="0">
                    <a:latin typeface="+mj-lt"/>
                  </a:rPr>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r>
                      <a:rPr lang="en-US" sz="1400" b="0" i="1" smtClean="0">
                        <a:latin typeface="Cambria Math" panose="02040503050406030204" pitchFamily="18" charset="0"/>
                      </a:rPr>
                      <m:t>𝑐𝑜𝑛𝑐𝑎𝑡</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𝑒</m:t>
                        </m:r>
                      </m:e>
                      <m:sub>
                        <m:r>
                          <a:rPr lang="en-US" sz="1400" b="0" i="1" smtClean="0">
                            <a:latin typeface="Cambria Math" panose="02040503050406030204" pitchFamily="18" charset="0"/>
                          </a:rPr>
                          <m:t>h</m:t>
                        </m:r>
                      </m:sub>
                    </m:sSub>
                    <m:r>
                      <a:rPr lang="en-US" sz="1400" b="0" i="1" smtClean="0">
                        <a:latin typeface="Cambria Math" panose="02040503050406030204" pitchFamily="18" charset="0"/>
                      </a:rPr>
                      <m:t>)</m:t>
                    </m:r>
                    <m:r>
                      <a:rPr lang="uk-UA" sz="1400" b="1" i="1" dirty="0">
                        <a:latin typeface="Cambria Math" panose="02040503050406030204" pitchFamily="18" charset="0"/>
                      </a:rPr>
                      <m:t>∈ </m:t>
                    </m:r>
                    <m:sSup>
                      <m:sSupPr>
                        <m:ctrlPr>
                          <a:rPr lang="en-US" sz="1400" b="1" i="1" dirty="0">
                            <a:latin typeface="Cambria Math" panose="02040503050406030204" pitchFamily="18" charset="0"/>
                            <a:ea typeface="Cambria Math" panose="02040503050406030204" pitchFamily="18" charset="0"/>
                          </a:rPr>
                        </m:ctrlPr>
                      </m:sSupPr>
                      <m:e>
                        <m:r>
                          <a:rPr lang="uk-UA" sz="1400" b="1" i="1" dirty="0">
                            <a:latin typeface="Cambria Math" panose="02040503050406030204" pitchFamily="18" charset="0"/>
                            <a:ea typeface="Cambria Math" panose="02040503050406030204" pitchFamily="18" charset="0"/>
                          </a:rPr>
                          <m:t>ℝ</m:t>
                        </m:r>
                      </m:e>
                      <m:sup>
                        <m:r>
                          <a:rPr lang="en-US" sz="1400" b="1" i="1" dirty="0" smtClean="0">
                            <a:latin typeface="Cambria Math" panose="02040503050406030204" pitchFamily="18" charset="0"/>
                            <a:ea typeface="Cambria Math" panose="02040503050406030204" pitchFamily="18" charset="0"/>
                          </a:rPr>
                          <m:t>𝒏</m:t>
                        </m:r>
                        <m:r>
                          <a:rPr lang="en-US" sz="1400" b="1" i="1" dirty="0" smtClean="0">
                            <a:latin typeface="Cambria Math" panose="02040503050406030204" pitchFamily="18" charset="0"/>
                            <a:ea typeface="Cambria Math" panose="02040503050406030204" pitchFamily="18" charset="0"/>
                          </a:rPr>
                          <m:t>+</m:t>
                        </m:r>
                        <m:r>
                          <a:rPr lang="en-US" sz="1400" b="1" i="1" dirty="0">
                            <a:latin typeface="Cambria Math" panose="02040503050406030204" pitchFamily="18" charset="0"/>
                            <a:ea typeface="Cambria Math" panose="02040503050406030204" pitchFamily="18" charset="0"/>
                          </a:rPr>
                          <m:t>𝑵𝒏</m:t>
                        </m:r>
                      </m:sup>
                    </m:sSup>
                  </m:oMath>
                </a14:m>
                <a:endParaRPr lang="en-US" sz="1400" dirty="0">
                  <a:latin typeface="+mj-lt"/>
                </a:endParaRPr>
              </a:p>
            </p:txBody>
          </p:sp>
        </mc:Choice>
        <mc:Fallback xmlns="">
          <p:sp>
            <p:nvSpPr>
              <p:cNvPr id="10" name="TextBox 9">
                <a:extLst>
                  <a:ext uri="{FF2B5EF4-FFF2-40B4-BE49-F238E27FC236}">
                    <a16:creationId xmlns:a16="http://schemas.microsoft.com/office/drawing/2014/main" id="{3E8940E3-44A3-58B7-6D53-683D9F09AAD9}"/>
                  </a:ext>
                </a:extLst>
              </p:cNvPr>
              <p:cNvSpPr txBox="1">
                <a:spLocks noRot="1" noChangeAspect="1" noMove="1" noResize="1" noEditPoints="1" noAdjustHandles="1" noChangeArrowheads="1" noChangeShapeType="1" noTextEdit="1"/>
              </p:cNvSpPr>
              <p:nvPr/>
            </p:nvSpPr>
            <p:spPr>
              <a:xfrm>
                <a:off x="91771" y="421877"/>
                <a:ext cx="4696254" cy="4421531"/>
              </a:xfrm>
              <a:prstGeom prst="rect">
                <a:avLst/>
              </a:prstGeom>
              <a:blipFill>
                <a:blip r:embed="rId4"/>
                <a:stretch>
                  <a:fillRect l="-390" t="-275" b="-826"/>
                </a:stretch>
              </a:blipFill>
            </p:spPr>
            <p:txBody>
              <a:bodyPr/>
              <a:lstStyle/>
              <a:p>
                <a:r>
                  <a:rPr lang="uk-UA">
                    <a:noFill/>
                  </a:rPr>
                  <a:t> </a:t>
                </a:r>
              </a:p>
            </p:txBody>
          </p:sp>
        </mc:Fallback>
      </mc:AlternateContent>
      <p:sp>
        <p:nvSpPr>
          <p:cNvPr id="13" name="TextBox 12">
            <a:extLst>
              <a:ext uri="{FF2B5EF4-FFF2-40B4-BE49-F238E27FC236}">
                <a16:creationId xmlns:a16="http://schemas.microsoft.com/office/drawing/2014/main" id="{270119A6-213F-E19B-333C-42C1E7BDE3C8}"/>
              </a:ext>
            </a:extLst>
          </p:cNvPr>
          <p:cNvSpPr txBox="1"/>
          <p:nvPr/>
        </p:nvSpPr>
        <p:spPr>
          <a:xfrm>
            <a:off x="4858376" y="418224"/>
            <a:ext cx="4285624" cy="1815882"/>
          </a:xfrm>
          <a:prstGeom prst="rect">
            <a:avLst/>
          </a:prstGeom>
          <a:noFill/>
        </p:spPr>
        <p:txBody>
          <a:bodyPr wrap="square">
            <a:spAutoFit/>
          </a:bodyPr>
          <a:lstStyle/>
          <a:p>
            <a:pPr>
              <a:buNone/>
            </a:pPr>
            <a:r>
              <a:rPr lang="uk-UA" sz="1400" b="1" noProof="0" dirty="0">
                <a:solidFill>
                  <a:srgbClr val="3E84F3"/>
                </a:solidFill>
              </a:rPr>
              <a:t>Ідея мережі Інтегратор</a:t>
            </a:r>
          </a:p>
          <a:p>
            <a:pPr>
              <a:buNone/>
            </a:pPr>
            <a:r>
              <a:rPr lang="uk-UA" sz="1400" noProof="0" dirty="0"/>
              <a:t>Інтегратор формує стан, який одночасно враховує:</a:t>
            </a:r>
          </a:p>
          <a:p>
            <a:pPr marL="285750" indent="-285750">
              <a:buFont typeface="Wingdings" panose="05000000000000000000" pitchFamily="2" charset="2"/>
              <a:buChar char="q"/>
            </a:pPr>
            <a:r>
              <a:rPr lang="uk-UA" sz="1400" b="1" dirty="0"/>
              <a:t>с</a:t>
            </a:r>
            <a:r>
              <a:rPr lang="uk-UA" sz="1400" b="1" noProof="0" dirty="0" err="1"/>
              <a:t>клад</a:t>
            </a:r>
            <a:r>
              <a:rPr lang="uk-UA" sz="1400" b="1" noProof="0" dirty="0"/>
              <a:t> групи і як вони впливають один на одного</a:t>
            </a:r>
            <a:r>
              <a:rPr lang="uk-UA" sz="1400" noProof="0" dirty="0"/>
              <a:t> </a:t>
            </a:r>
          </a:p>
          <a:p>
            <a:pPr marL="285750" indent="-285750">
              <a:buFont typeface="Wingdings" panose="05000000000000000000" pitchFamily="2" charset="2"/>
              <a:buChar char="q"/>
            </a:pPr>
            <a:r>
              <a:rPr lang="uk-UA" sz="1400" b="1" dirty="0"/>
              <a:t>з</a:t>
            </a:r>
            <a:r>
              <a:rPr lang="uk-UA" sz="1400" b="1" noProof="0" dirty="0"/>
              <a:t> якими елементами користувачі взаємодіяли</a:t>
            </a:r>
            <a:endParaRPr lang="uk-UA" sz="1400" noProof="0" dirty="0"/>
          </a:p>
          <a:p>
            <a:pPr>
              <a:buNone/>
            </a:pPr>
            <a:endParaRPr lang="uk-UA" sz="1400" noProof="0" dirty="0"/>
          </a:p>
          <a:p>
            <a:pPr>
              <a:buNone/>
            </a:pPr>
            <a:r>
              <a:rPr lang="uk-UA" sz="1400" noProof="0" dirty="0"/>
              <a:t>Результатом модуля є векторне представлення стану групи, яке використовується для навчання та формування рекомендацій</a:t>
            </a:r>
          </a:p>
        </p:txBody>
      </p:sp>
      <p:sp>
        <p:nvSpPr>
          <p:cNvPr id="2" name="Підзаголовок 2">
            <a:extLst>
              <a:ext uri="{FF2B5EF4-FFF2-40B4-BE49-F238E27FC236}">
                <a16:creationId xmlns:a16="http://schemas.microsoft.com/office/drawing/2014/main" id="{B5952809-3E68-FE1D-F736-D0CE3E4C79B3}"/>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8</a:t>
            </a:r>
            <a:endParaRPr lang="uk-UA" sz="1200" dirty="0">
              <a:solidFill>
                <a:schemeClr val="tx1"/>
              </a:solidFill>
            </a:endParaRPr>
          </a:p>
        </p:txBody>
      </p:sp>
    </p:spTree>
    <p:extLst>
      <p:ext uri="{BB962C8B-B14F-4D97-AF65-F5344CB8AC3E}">
        <p14:creationId xmlns:p14="http://schemas.microsoft.com/office/powerpoint/2010/main" val="22038340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1"/>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Архітектура Актор-Критик</a:t>
            </a:r>
          </a:p>
        </p:txBody>
      </p:sp>
      <p:sp>
        <p:nvSpPr>
          <p:cNvPr id="16" name="TextBox 15">
            <a:extLst>
              <a:ext uri="{FF2B5EF4-FFF2-40B4-BE49-F238E27FC236}">
                <a16:creationId xmlns:a16="http://schemas.microsoft.com/office/drawing/2014/main" id="{FB12D93F-D955-4C0C-B4E0-D7A2E05CB6BD}"/>
              </a:ext>
            </a:extLst>
          </p:cNvPr>
          <p:cNvSpPr txBox="1"/>
          <p:nvPr/>
        </p:nvSpPr>
        <p:spPr>
          <a:xfrm>
            <a:off x="5494847" y="4815030"/>
            <a:ext cx="3347864" cy="276999"/>
          </a:xfrm>
          <a:prstGeom prst="rect">
            <a:avLst/>
          </a:prstGeom>
          <a:noFill/>
        </p:spPr>
        <p:txBody>
          <a:bodyPr wrap="square" rtlCol="0">
            <a:spAutoFit/>
          </a:bodyPr>
          <a:lstStyle/>
          <a:p>
            <a:pPr algn="ctr"/>
            <a:r>
              <a:rPr lang="uk-UA" sz="1200" dirty="0"/>
              <a:t>Рис. 5. Архітектура Актор-Критик</a:t>
            </a:r>
          </a:p>
        </p:txBody>
      </p:sp>
      <p:pic>
        <p:nvPicPr>
          <p:cNvPr id="14" name="Picture 13">
            <a:extLst>
              <a:ext uri="{FF2B5EF4-FFF2-40B4-BE49-F238E27FC236}">
                <a16:creationId xmlns:a16="http://schemas.microsoft.com/office/drawing/2014/main" id="{2A073971-5B47-99CB-196F-7C43266FCA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436096" y="1815580"/>
            <a:ext cx="3465366" cy="3072467"/>
          </a:xfrm>
          <a:prstGeom prst="rect">
            <a:avLst/>
          </a:prstGeom>
        </p:spPr>
      </p:pic>
      <p:sp>
        <p:nvSpPr>
          <p:cNvPr id="17" name="TextBox 16">
            <a:extLst>
              <a:ext uri="{FF2B5EF4-FFF2-40B4-BE49-F238E27FC236}">
                <a16:creationId xmlns:a16="http://schemas.microsoft.com/office/drawing/2014/main" id="{B615BE09-C09E-FE04-9DC6-7B28647A6BAF}"/>
              </a:ext>
            </a:extLst>
          </p:cNvPr>
          <p:cNvSpPr txBox="1"/>
          <p:nvPr/>
        </p:nvSpPr>
        <p:spPr>
          <a:xfrm>
            <a:off x="5436096" y="405495"/>
            <a:ext cx="3707904" cy="1169551"/>
          </a:xfrm>
          <a:prstGeom prst="rect">
            <a:avLst/>
          </a:prstGeom>
          <a:noFill/>
        </p:spPr>
        <p:txBody>
          <a:bodyPr wrap="square">
            <a:spAutoFit/>
          </a:bodyPr>
          <a:lstStyle/>
          <a:p>
            <a:pPr>
              <a:buNone/>
            </a:pPr>
            <a:r>
              <a:rPr lang="uk-UA" sz="1400" b="1" noProof="0" dirty="0">
                <a:solidFill>
                  <a:srgbClr val="3E84F3"/>
                </a:solidFill>
              </a:rPr>
              <a:t>Ідея мере</a:t>
            </a:r>
            <a:r>
              <a:rPr lang="uk-UA" sz="1400" b="1" dirty="0">
                <a:solidFill>
                  <a:srgbClr val="3E84F3"/>
                </a:solidFill>
              </a:rPr>
              <a:t>ж Актор та Критик</a:t>
            </a:r>
            <a:endParaRPr lang="uk-UA" sz="1400" b="1" noProof="0" dirty="0">
              <a:solidFill>
                <a:srgbClr val="3E84F3"/>
              </a:solidFill>
            </a:endParaRPr>
          </a:p>
          <a:p>
            <a:pPr>
              <a:buNone/>
            </a:pPr>
            <a:r>
              <a:rPr lang="uk-UA" sz="1400" b="1" i="1" dirty="0"/>
              <a:t>Актор</a:t>
            </a:r>
            <a:r>
              <a:rPr lang="uk-UA" sz="1400" dirty="0"/>
              <a:t> </a:t>
            </a:r>
            <a:r>
              <a:rPr lang="uk-UA" sz="1400" b="1" dirty="0"/>
              <a:t>→</a:t>
            </a:r>
            <a:r>
              <a:rPr lang="uk-UA" sz="1400" dirty="0"/>
              <a:t> пропонує рекомендацію</a:t>
            </a:r>
          </a:p>
          <a:p>
            <a:pPr>
              <a:buNone/>
            </a:pPr>
            <a:r>
              <a:rPr lang="uk-UA" sz="1400" b="1" i="1" dirty="0"/>
              <a:t>Критик</a:t>
            </a:r>
            <a:r>
              <a:rPr lang="uk-UA" sz="1400" dirty="0"/>
              <a:t> </a:t>
            </a:r>
            <a:r>
              <a:rPr lang="uk-UA" sz="1400" b="1" dirty="0"/>
              <a:t>→ </a:t>
            </a:r>
            <a:r>
              <a:rPr lang="uk-UA" sz="1400" dirty="0"/>
              <a:t>оцінює її якість</a:t>
            </a:r>
          </a:p>
          <a:p>
            <a:pPr>
              <a:buNone/>
            </a:pPr>
            <a:r>
              <a:rPr lang="uk-UA" sz="1400" dirty="0"/>
              <a:t>Модель навчається робити такі рекомендації, які максимізують винагороду</a:t>
            </a:r>
            <a:endParaRPr lang="uk-UA" sz="1400" noProof="0" dirty="0"/>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EE0E3F-4194-271C-4D4B-C37A2AA2FC91}"/>
                  </a:ext>
                </a:extLst>
              </p:cNvPr>
              <p:cNvSpPr txBox="1"/>
              <p:nvPr/>
            </p:nvSpPr>
            <p:spPr>
              <a:xfrm>
                <a:off x="91770" y="421877"/>
                <a:ext cx="5272317" cy="4616648"/>
              </a:xfrm>
              <a:prstGeom prst="rect">
                <a:avLst/>
              </a:prstGeom>
              <a:noFill/>
            </p:spPr>
            <p:txBody>
              <a:bodyPr wrap="square">
                <a:spAutoFit/>
              </a:bodyPr>
              <a:lstStyle/>
              <a:p>
                <a:r>
                  <a:rPr lang="uk-UA" sz="1400" b="1" dirty="0">
                    <a:solidFill>
                      <a:srgbClr val="3E84F3"/>
                    </a:solidFill>
                  </a:rPr>
                  <a:t>Актор (генерація рекомендацій)</a:t>
                </a:r>
                <a:br>
                  <a:rPr lang="uk-UA" sz="1400" dirty="0"/>
                </a:br>
                <a:r>
                  <a:rPr lang="uk-UA" sz="1400" dirty="0"/>
                  <a:t>Вхід</a:t>
                </a:r>
                <a:r>
                  <a:rPr lang="en-US" sz="1400" dirty="0"/>
                  <a:t> – </a:t>
                </a:r>
                <a:r>
                  <a:rPr lang="uk-UA" sz="1400" dirty="0"/>
                  <a:t>стану групи (від Інтегратора)</a:t>
                </a:r>
              </a:p>
              <a:p>
                <a:r>
                  <a:rPr lang="uk-UA" sz="1400" b="1" i="1" dirty="0"/>
                  <a:t>Що робить Актор:</a:t>
                </a:r>
              </a:p>
              <a:p>
                <a:pPr marL="285750" indent="-285750">
                  <a:buFont typeface="Wingdings" panose="05000000000000000000" pitchFamily="2" charset="2"/>
                  <a:buChar char="Ø"/>
                </a:pPr>
                <a:r>
                  <a:rPr lang="uk-UA" sz="1400" dirty="0"/>
                  <a:t>Пропускає стан через кілька нейронних шарів (</a:t>
                </a:r>
                <a:r>
                  <a:rPr lang="en-US" sz="1400" dirty="0" err="1"/>
                  <a:t>ReLU</a:t>
                </a:r>
                <a:r>
                  <a:rPr lang="en-US" sz="1400" dirty="0"/>
                  <a:t>)</a:t>
                </a:r>
              </a:p>
              <a:p>
                <a:pPr marL="285750" indent="-285750">
                  <a:buFont typeface="Wingdings" panose="05000000000000000000" pitchFamily="2" charset="2"/>
                  <a:buChar char="Ø"/>
                </a:pPr>
                <a:r>
                  <a:rPr lang="uk-UA" sz="1400" dirty="0"/>
                  <a:t>Використовує </a:t>
                </a:r>
                <a:r>
                  <a:rPr lang="en-US" sz="1400" dirty="0"/>
                  <a:t>Dropout → </a:t>
                </a:r>
                <a:r>
                  <a:rPr lang="uk-UA" sz="1400" dirty="0"/>
                  <a:t>щоб уникнути перенавчання</a:t>
                </a:r>
              </a:p>
              <a:p>
                <a:pPr marL="285750" indent="-285750">
                  <a:buFont typeface="Wingdings" panose="05000000000000000000" pitchFamily="2" charset="2"/>
                  <a:buChar char="Ø"/>
                </a:pPr>
                <a:r>
                  <a:rPr lang="uk-UA" sz="1400" dirty="0"/>
                  <a:t>На виході формує вектор дії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𝑡</m:t>
                        </m:r>
                      </m:sub>
                    </m:sSub>
                    <m:r>
                      <a:rPr lang="uk-UA" sz="1400" b="1" i="1" dirty="0">
                        <a:latin typeface="Cambria Math" panose="02040503050406030204" pitchFamily="18" charset="0"/>
                      </a:rPr>
                      <m:t>∈ </m:t>
                    </m:r>
                    <m:r>
                      <a:rPr lang="uk-UA" sz="1400" b="1" i="1" dirty="0">
                        <a:latin typeface="Cambria Math" panose="02040503050406030204" pitchFamily="18" charset="0"/>
                        <a:ea typeface="Cambria Math" panose="02040503050406030204" pitchFamily="18" charset="0"/>
                      </a:rPr>
                      <m:t>ℝ</m:t>
                    </m:r>
                    <m:r>
                      <a:rPr lang="uk-UA" sz="1400" b="1" i="1" dirty="0">
                        <a:latin typeface="Cambria Math" panose="02040503050406030204" pitchFamily="18" charset="0"/>
                      </a:rPr>
                      <m:t>ⁿ</m:t>
                    </m:r>
                  </m:oMath>
                </a14:m>
                <a:endParaRPr lang="en-US" sz="1400" dirty="0"/>
              </a:p>
              <a:p>
                <a:pPr marL="285750" indent="-285750">
                  <a:buFont typeface="Wingdings" panose="05000000000000000000" pitchFamily="2" charset="2"/>
                  <a:buChar char="Ø"/>
                </a:pPr>
                <a:endParaRPr lang="en-US" sz="1400" dirty="0"/>
              </a:p>
              <a:p>
                <a:r>
                  <a:rPr lang="uk-UA" sz="1400" b="1" dirty="0">
                    <a:solidFill>
                      <a:srgbClr val="3E84F3"/>
                    </a:solidFill>
                  </a:rPr>
                  <a:t>Критик (оцінка якості)</a:t>
                </a:r>
                <a:endParaRPr lang="en-US" sz="1400" b="1" dirty="0">
                  <a:solidFill>
                    <a:srgbClr val="3E84F3"/>
                  </a:solidFill>
                </a:endParaRPr>
              </a:p>
              <a:p>
                <a:r>
                  <a:rPr lang="uk-UA" sz="1400" dirty="0"/>
                  <a:t>Вхід: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oMath>
                </a14:m>
                <a:r>
                  <a:rPr lang="en-US" sz="1400" dirty="0"/>
                  <a:t> –</a:t>
                </a:r>
                <a:r>
                  <a:rPr lang="uk-UA" sz="1400" dirty="0"/>
                  <a:t> стан групи</a:t>
                </a:r>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𝑡</m:t>
                        </m:r>
                      </m:sub>
                    </m:sSub>
                  </m:oMath>
                </a14:m>
                <a:r>
                  <a:rPr lang="en-US" sz="1400" dirty="0"/>
                  <a:t> –</a:t>
                </a:r>
                <a:r>
                  <a:rPr lang="uk-UA" sz="1400" dirty="0"/>
                  <a:t> дія (рекомендація від Актора)</a:t>
                </a:r>
                <a:endParaRPr lang="en-US" sz="1400" dirty="0"/>
              </a:p>
              <a:p>
                <a:r>
                  <a:rPr lang="uk-UA" sz="1400" b="1" i="1" dirty="0"/>
                  <a:t>Що робить Актор:</a:t>
                </a:r>
              </a:p>
              <a:p>
                <a:pPr marL="285750" indent="-285750">
                  <a:buFont typeface="Wingdings" panose="05000000000000000000" pitchFamily="2" charset="2"/>
                  <a:buChar char="Ø"/>
                </a:pPr>
                <a:r>
                  <a:rPr lang="uk-UA" sz="1400" dirty="0"/>
                  <a:t>Об’єднує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𝑡</m:t>
                        </m:r>
                      </m:sub>
                    </m:sSub>
                  </m:oMath>
                </a14:m>
                <a:r>
                  <a:rPr lang="en-US" sz="1400" dirty="0"/>
                  <a:t> </a:t>
                </a:r>
                <a:r>
                  <a:rPr lang="uk-UA" sz="1400" dirty="0"/>
                  <a:t>і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oMath>
                </a14:m>
                <a:r>
                  <a:rPr lang="en-US" sz="1400" dirty="0"/>
                  <a:t> </a:t>
                </a:r>
              </a:p>
              <a:p>
                <a:pPr marL="285750" indent="-285750">
                  <a:buFont typeface="Wingdings" panose="05000000000000000000" pitchFamily="2" charset="2"/>
                  <a:buChar char="Ø"/>
                </a:pPr>
                <a:r>
                  <a:rPr lang="uk-UA" sz="1400" dirty="0"/>
                  <a:t>Пропускає через кілька нейронних шарів (</a:t>
                </a:r>
                <a:r>
                  <a:rPr lang="en-US" sz="1400" dirty="0" err="1"/>
                  <a:t>ReLU</a:t>
                </a:r>
                <a:r>
                  <a:rPr lang="en-US" sz="1400" dirty="0"/>
                  <a:t>)</a:t>
                </a:r>
              </a:p>
              <a:p>
                <a:pPr marL="285750" indent="-285750">
                  <a:buFont typeface="Wingdings" panose="05000000000000000000" pitchFamily="2" charset="2"/>
                  <a:buChar char="Ø"/>
                </a:pPr>
                <a:r>
                  <a:rPr lang="uk-UA" sz="1400" dirty="0"/>
                  <a:t>Використовує </a:t>
                </a:r>
                <a:r>
                  <a:rPr lang="en-US" sz="1400" dirty="0"/>
                  <a:t>Dropout → </a:t>
                </a:r>
                <a:r>
                  <a:rPr lang="uk-UA" sz="1400" dirty="0"/>
                  <a:t>щоб уникнути перенавчання</a:t>
                </a:r>
              </a:p>
              <a:p>
                <a:pPr marL="285750" indent="-285750">
                  <a:buFont typeface="Wingdings" panose="05000000000000000000" pitchFamily="2" charset="2"/>
                  <a:buChar char="Ø"/>
                </a:pPr>
                <a:r>
                  <a:rPr lang="uk-UA" sz="1400" dirty="0"/>
                  <a:t>Оцінює якість рекомендації</a:t>
                </a:r>
                <a:r>
                  <a:rPr lang="en-US" sz="1400" dirty="0"/>
                  <a:t> </a:t>
                </a:r>
                <a14:m>
                  <m:oMath xmlns:m="http://schemas.openxmlformats.org/officeDocument/2006/math">
                    <m:r>
                      <a:rPr lang="en-US" sz="1400" b="0" i="1" smtClean="0">
                        <a:latin typeface="Cambria Math" panose="02040503050406030204" pitchFamily="18" charset="0"/>
                      </a:rPr>
                      <m:t>𝑄</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𝑎</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oMath>
                </a14:m>
                <a:endParaRPr lang="uk-UA" sz="1400" dirty="0"/>
              </a:p>
              <a:p>
                <a:endParaRPr lang="uk-UA" sz="1400" dirty="0"/>
              </a:p>
              <a:p>
                <a:r>
                  <a:rPr lang="uk-UA" sz="1400" b="1" dirty="0">
                    <a:solidFill>
                      <a:srgbClr val="00CC99"/>
                    </a:solidFill>
                    <a:latin typeface="+mj-lt"/>
                  </a:rPr>
                  <a:t>Як формується рекомендація</a:t>
                </a:r>
              </a:p>
              <a:p>
                <a:r>
                  <a:rPr lang="uk-UA" sz="1400" dirty="0">
                    <a:latin typeface="+mj-lt"/>
                  </a:rPr>
                  <a:t>Порівнюється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𝑎</m:t>
                        </m:r>
                      </m:e>
                      <m:sub>
                        <m:r>
                          <a:rPr lang="en-US" sz="1400" i="1">
                            <a:latin typeface="Cambria Math" panose="02040503050406030204" pitchFamily="18" charset="0"/>
                          </a:rPr>
                          <m:t>𝑡</m:t>
                        </m:r>
                      </m:sub>
                    </m:sSub>
                    <m:r>
                      <a:rPr lang="en-US" sz="1400" i="1">
                        <a:latin typeface="Cambria Math" panose="02040503050406030204" pitchFamily="18" charset="0"/>
                      </a:rPr>
                      <m:t> </m:t>
                    </m:r>
                  </m:oMath>
                </a14:m>
                <a:r>
                  <a:rPr lang="uk-UA" sz="1400" dirty="0">
                    <a:latin typeface="+mj-lt"/>
                  </a:rPr>
                  <a:t>з усіма елементами (фільмами)</a:t>
                </a:r>
              </a:p>
              <a:p>
                <a:r>
                  <a:rPr lang="uk-UA" sz="1400" dirty="0">
                    <a:latin typeface="+mj-lt"/>
                  </a:rPr>
                  <a:t>Обчислюється релевантність (схожість)</a:t>
                </a:r>
              </a:p>
              <a:p>
                <a:r>
                  <a:rPr lang="uk-UA" sz="1400" dirty="0">
                    <a:latin typeface="+mj-lt"/>
                  </a:rPr>
                  <a:t>Сортуємо та вибираємо перші </a:t>
                </a:r>
                <a:r>
                  <a:rPr lang="en-US" sz="1400" i="1" dirty="0">
                    <a:latin typeface="+mj-lt"/>
                  </a:rPr>
                  <a:t>k</a:t>
                </a:r>
                <a:r>
                  <a:rPr lang="en-US" sz="1400" dirty="0">
                    <a:latin typeface="+mj-lt"/>
                  </a:rPr>
                  <a:t> (</a:t>
                </a:r>
                <a:r>
                  <a:rPr lang="en-US" sz="1400" i="1" dirty="0">
                    <a:latin typeface="+mj-lt"/>
                  </a:rPr>
                  <a:t>top-k</a:t>
                </a:r>
                <a:r>
                  <a:rPr lang="en-US" sz="1400" dirty="0">
                    <a:latin typeface="+mj-lt"/>
                  </a:rPr>
                  <a:t>)</a:t>
                </a:r>
              </a:p>
              <a:p>
                <a:endParaRPr lang="uk-UA" sz="1400" dirty="0">
                  <a:latin typeface="+mj-lt"/>
                </a:endParaRPr>
              </a:p>
              <a:p>
                <a:endParaRPr lang="en-US" sz="1400" dirty="0">
                  <a:latin typeface="+mj-lt"/>
                </a:endParaRPr>
              </a:p>
            </p:txBody>
          </p:sp>
        </mc:Choice>
        <mc:Fallback xmlns="">
          <p:sp>
            <p:nvSpPr>
              <p:cNvPr id="22" name="TextBox 21">
                <a:extLst>
                  <a:ext uri="{FF2B5EF4-FFF2-40B4-BE49-F238E27FC236}">
                    <a16:creationId xmlns:a16="http://schemas.microsoft.com/office/drawing/2014/main" id="{16EE0E3F-4194-271C-4D4B-C37A2AA2FC91}"/>
                  </a:ext>
                </a:extLst>
              </p:cNvPr>
              <p:cNvSpPr txBox="1">
                <a:spLocks noRot="1" noChangeAspect="1" noMove="1" noResize="1" noEditPoints="1" noAdjustHandles="1" noChangeArrowheads="1" noChangeShapeType="1" noTextEdit="1"/>
              </p:cNvSpPr>
              <p:nvPr/>
            </p:nvSpPr>
            <p:spPr>
              <a:xfrm>
                <a:off x="91770" y="421877"/>
                <a:ext cx="5272317" cy="4616648"/>
              </a:xfrm>
              <a:prstGeom prst="rect">
                <a:avLst/>
              </a:prstGeom>
              <a:blipFill>
                <a:blip r:embed="rId4"/>
                <a:stretch>
                  <a:fillRect l="-347" t="-264"/>
                </a:stretch>
              </a:blipFill>
            </p:spPr>
            <p:txBody>
              <a:bodyPr/>
              <a:lstStyle/>
              <a:p>
                <a:r>
                  <a:rPr lang="uk-UA">
                    <a:noFill/>
                  </a:rPr>
                  <a:t> </a:t>
                </a:r>
              </a:p>
            </p:txBody>
          </p:sp>
        </mc:Fallback>
      </mc:AlternateContent>
      <p:sp>
        <p:nvSpPr>
          <p:cNvPr id="2" name="Підзаголовок 2">
            <a:extLst>
              <a:ext uri="{FF2B5EF4-FFF2-40B4-BE49-F238E27FC236}">
                <a16:creationId xmlns:a16="http://schemas.microsoft.com/office/drawing/2014/main" id="{4D70DD20-AB9C-27F9-333F-EB30B890CFAD}"/>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9</a:t>
            </a:r>
            <a:endParaRPr lang="uk-UA" sz="1200" dirty="0">
              <a:solidFill>
                <a:schemeClr val="tx1"/>
              </a:solidFill>
            </a:endParaRPr>
          </a:p>
        </p:txBody>
      </p:sp>
    </p:spTree>
    <p:extLst>
      <p:ext uri="{BB962C8B-B14F-4D97-AF65-F5344CB8AC3E}">
        <p14:creationId xmlns:p14="http://schemas.microsoft.com/office/powerpoint/2010/main" val="22557440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550A8-DD4C-7682-F785-F951CA7EE643}"/>
            </a:ext>
          </a:extLst>
        </p:cNvPr>
        <p:cNvGrpSpPr/>
        <p:nvPr/>
      </p:nvGrpSpPr>
      <p:grpSpPr>
        <a:xfrm>
          <a:off x="0" y="0"/>
          <a:ext cx="0" cy="0"/>
          <a:chOff x="0" y="0"/>
          <a:chExt cx="0" cy="0"/>
        </a:xfrm>
      </p:grpSpPr>
      <p:sp>
        <p:nvSpPr>
          <p:cNvPr id="10" name="Заголовок 1">
            <a:extLst>
              <a:ext uri="{FF2B5EF4-FFF2-40B4-BE49-F238E27FC236}">
                <a16:creationId xmlns:a16="http://schemas.microsoft.com/office/drawing/2014/main" id="{EF915AA3-CD0D-A897-A4A7-A587813CF5E3}"/>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Алгоритм навчання</a:t>
            </a:r>
            <a:r>
              <a:rPr lang="en-US" sz="2400" b="1" dirty="0">
                <a:solidFill>
                  <a:srgbClr val="009999"/>
                </a:solidFill>
              </a:rPr>
              <a:t> </a:t>
            </a:r>
            <a:r>
              <a:rPr lang="uk-UA" sz="2400" b="1" dirty="0">
                <a:solidFill>
                  <a:srgbClr val="009999"/>
                </a:solidFill>
              </a:rPr>
              <a:t>моделі Актор-Критик</a:t>
            </a:r>
          </a:p>
        </p:txBody>
      </p:sp>
      <p:sp>
        <p:nvSpPr>
          <p:cNvPr id="14" name="TextBox 13">
            <a:extLst>
              <a:ext uri="{FF2B5EF4-FFF2-40B4-BE49-F238E27FC236}">
                <a16:creationId xmlns:a16="http://schemas.microsoft.com/office/drawing/2014/main" id="{DAEAD3E6-0009-7565-22DE-693ECCC4FB5F}"/>
              </a:ext>
            </a:extLst>
          </p:cNvPr>
          <p:cNvSpPr txBox="1"/>
          <p:nvPr/>
        </p:nvSpPr>
        <p:spPr>
          <a:xfrm>
            <a:off x="84584" y="411510"/>
            <a:ext cx="8964488" cy="1600438"/>
          </a:xfrm>
          <a:prstGeom prst="rect">
            <a:avLst/>
          </a:prstGeom>
          <a:noFill/>
        </p:spPr>
        <p:txBody>
          <a:bodyPr wrap="square">
            <a:spAutoFit/>
          </a:bodyPr>
          <a:lstStyle/>
          <a:p>
            <a:r>
              <a:rPr lang="uk-UA" sz="1400" dirty="0"/>
              <a:t>Навчання відбувається з використанням </a:t>
            </a:r>
            <a:r>
              <a:rPr lang="en-US" sz="1400" b="1" dirty="0"/>
              <a:t>DDPG</a:t>
            </a:r>
            <a:r>
              <a:rPr lang="en-US" sz="1400" dirty="0"/>
              <a:t> (</a:t>
            </a:r>
            <a:r>
              <a:rPr lang="en-US" sz="1400" i="1" dirty="0"/>
              <a:t>Deep Deterministic Policy Gradient)</a:t>
            </a:r>
            <a:r>
              <a:rPr lang="en-US" sz="1400" b="1" dirty="0"/>
              <a:t>.</a:t>
            </a:r>
          </a:p>
          <a:p>
            <a:r>
              <a:rPr lang="uk-UA" sz="1400" dirty="0"/>
              <a:t>Особливість </a:t>
            </a:r>
            <a:r>
              <a:rPr lang="en-US" sz="1400" dirty="0"/>
              <a:t>— </a:t>
            </a:r>
            <a:r>
              <a:rPr lang="uk-UA" sz="1400" dirty="0"/>
              <a:t>використання </a:t>
            </a:r>
            <a:r>
              <a:rPr lang="uk-UA" sz="1400" b="1" dirty="0"/>
              <a:t>двох пар мереж</a:t>
            </a:r>
            <a:r>
              <a:rPr lang="uk-UA" sz="1400" dirty="0"/>
              <a:t>: початкових та цільових. </a:t>
            </a:r>
          </a:p>
          <a:p>
            <a:r>
              <a:rPr lang="uk-UA" sz="1400" dirty="0"/>
              <a:t>Цільові мережі стабілізують навчання завдяки повільному зміщенню цільових </a:t>
            </a:r>
          </a:p>
          <a:p>
            <a:r>
              <a:rPr lang="uk-UA" sz="1400" dirty="0"/>
              <a:t>значень у навчанні з часовою різницею (</a:t>
            </a:r>
            <a:r>
              <a:rPr lang="en-US" sz="1400" b="1" dirty="0"/>
              <a:t>TD</a:t>
            </a:r>
            <a:r>
              <a:rPr lang="ru-RU" sz="1400" b="1" dirty="0"/>
              <a:t>-</a:t>
            </a:r>
            <a:r>
              <a:rPr lang="en-US" sz="1400" b="1" dirty="0"/>
              <a:t>learning</a:t>
            </a:r>
            <a:r>
              <a:rPr lang="uk-UA" sz="1400" dirty="0"/>
              <a:t>)</a:t>
            </a:r>
          </a:p>
          <a:p>
            <a:endParaRPr lang="uk-UA" sz="1400" dirty="0"/>
          </a:p>
          <a:p>
            <a:endParaRPr lang="uk-UA" sz="1400" dirty="0"/>
          </a:p>
          <a:p>
            <a:endParaRPr lang="uk-UA" sz="1400" dirty="0"/>
          </a:p>
        </p:txBody>
      </p:sp>
      <p:sp>
        <p:nvSpPr>
          <p:cNvPr id="8" name="TextBox 7">
            <a:extLst>
              <a:ext uri="{FF2B5EF4-FFF2-40B4-BE49-F238E27FC236}">
                <a16:creationId xmlns:a16="http://schemas.microsoft.com/office/drawing/2014/main" id="{41AE4932-30CA-E21D-0F90-38532BB11689}"/>
              </a:ext>
            </a:extLst>
          </p:cNvPr>
          <p:cNvSpPr txBox="1"/>
          <p:nvPr/>
        </p:nvSpPr>
        <p:spPr>
          <a:xfrm>
            <a:off x="84584" y="1337282"/>
            <a:ext cx="5886400" cy="523220"/>
          </a:xfrm>
          <a:prstGeom prst="rect">
            <a:avLst/>
          </a:prstGeom>
          <a:noFill/>
        </p:spPr>
        <p:txBody>
          <a:bodyPr wrap="square">
            <a:spAutoFit/>
          </a:bodyPr>
          <a:lstStyle/>
          <a:p>
            <a:r>
              <a:rPr lang="uk-UA" sz="1400" kern="0" dirty="0">
                <a:solidFill>
                  <a:srgbClr val="000000"/>
                </a:solidFill>
                <a:effectLst/>
                <a:ea typeface="Calibri" panose="020F0502020204030204" pitchFamily="34" charset="0"/>
              </a:rPr>
              <a:t>Ціллю </a:t>
            </a:r>
            <a:r>
              <a:rPr lang="uk-UA" sz="1400" b="1" kern="0" dirty="0">
                <a:solidFill>
                  <a:srgbClr val="00CC99"/>
                </a:solidFill>
                <a:effectLst/>
                <a:ea typeface="Calibri" panose="020F0502020204030204" pitchFamily="34" charset="0"/>
              </a:rPr>
              <a:t>Критика</a:t>
            </a:r>
            <a:r>
              <a:rPr lang="uk-UA" sz="1400" kern="0" dirty="0">
                <a:solidFill>
                  <a:srgbClr val="000000"/>
                </a:solidFill>
                <a:effectLst/>
                <a:ea typeface="Calibri" panose="020F0502020204030204" pitchFamily="34" charset="0"/>
              </a:rPr>
              <a:t> є мінімізація </a:t>
            </a:r>
            <a:r>
              <a:rPr lang="en-US" sz="1400" kern="0" dirty="0">
                <a:solidFill>
                  <a:srgbClr val="000000"/>
                </a:solidFill>
                <a:effectLst/>
                <a:ea typeface="Calibri" panose="020F0502020204030204" pitchFamily="34" charset="0"/>
              </a:rPr>
              <a:t>MSE </a:t>
            </a:r>
            <a:r>
              <a:rPr lang="uk-UA" sz="1400" kern="0" dirty="0">
                <a:solidFill>
                  <a:srgbClr val="000000"/>
                </a:solidFill>
                <a:effectLst/>
                <a:ea typeface="Calibri" panose="020F0502020204030204" pitchFamily="34" charset="0"/>
              </a:rPr>
              <a:t>між передбаченим Q-значенням та цільовим Q-значенням, обчисленим за допомогою рівняння Беллмана</a:t>
            </a:r>
            <a:endParaRPr lang="uk-UA" sz="1400" dirty="0"/>
          </a:p>
        </p:txBody>
      </p:sp>
      <p:graphicFrame>
        <p:nvGraphicFramePr>
          <p:cNvPr id="9" name="Table 8">
            <a:extLst>
              <a:ext uri="{FF2B5EF4-FFF2-40B4-BE49-F238E27FC236}">
                <a16:creationId xmlns:a16="http://schemas.microsoft.com/office/drawing/2014/main" id="{318708D7-5501-212C-E9CD-FFE0DA1C806D}"/>
              </a:ext>
            </a:extLst>
          </p:cNvPr>
          <p:cNvGraphicFramePr>
            <a:graphicFrameLocks noGrp="1"/>
          </p:cNvGraphicFramePr>
          <p:nvPr>
            <p:extLst>
              <p:ext uri="{D42A27DB-BD31-4B8C-83A1-F6EECF244321}">
                <p14:modId xmlns:p14="http://schemas.microsoft.com/office/powerpoint/2010/main" val="4198158827"/>
              </p:ext>
            </p:extLst>
          </p:nvPr>
        </p:nvGraphicFramePr>
        <p:xfrm>
          <a:off x="6407598" y="927567"/>
          <a:ext cx="2532856" cy="883920"/>
        </p:xfrm>
        <a:graphic>
          <a:graphicData uri="http://schemas.openxmlformats.org/drawingml/2006/table">
            <a:tbl>
              <a:tblPr firstRow="1" bandRow="1">
                <a:tableStyleId>{5C22544A-7EE6-4342-B048-85BDC9FD1C3A}</a:tableStyleId>
              </a:tblPr>
              <a:tblGrid>
                <a:gridCol w="792088">
                  <a:extLst>
                    <a:ext uri="{9D8B030D-6E8A-4147-A177-3AD203B41FA5}">
                      <a16:colId xmlns:a16="http://schemas.microsoft.com/office/drawing/2014/main" val="3221665653"/>
                    </a:ext>
                  </a:extLst>
                </a:gridCol>
                <a:gridCol w="896482">
                  <a:extLst>
                    <a:ext uri="{9D8B030D-6E8A-4147-A177-3AD203B41FA5}">
                      <a16:colId xmlns:a16="http://schemas.microsoft.com/office/drawing/2014/main" val="783292500"/>
                    </a:ext>
                  </a:extLst>
                </a:gridCol>
                <a:gridCol w="844286">
                  <a:extLst>
                    <a:ext uri="{9D8B030D-6E8A-4147-A177-3AD203B41FA5}">
                      <a16:colId xmlns:a16="http://schemas.microsoft.com/office/drawing/2014/main" val="3404798134"/>
                    </a:ext>
                  </a:extLst>
                </a:gridCol>
              </a:tblGrid>
              <a:tr h="200622">
                <a:tc>
                  <a:txBody>
                    <a:bodyPr/>
                    <a:lstStyle/>
                    <a:p>
                      <a:r>
                        <a:rPr lang="uk-UA" sz="1200" dirty="0"/>
                        <a:t>Мережа</a:t>
                      </a:r>
                    </a:p>
                  </a:txBody>
                  <a:tcPr/>
                </a:tc>
                <a:tc>
                  <a:txBody>
                    <a:bodyPr/>
                    <a:lstStyle/>
                    <a:p>
                      <a:r>
                        <a:rPr lang="uk-UA" sz="1200" dirty="0"/>
                        <a:t>Початкова</a:t>
                      </a:r>
                    </a:p>
                  </a:txBody>
                  <a:tcPr/>
                </a:tc>
                <a:tc>
                  <a:txBody>
                    <a:bodyPr/>
                    <a:lstStyle/>
                    <a:p>
                      <a:r>
                        <a:rPr lang="uk-UA" sz="1200" dirty="0"/>
                        <a:t>Цільова</a:t>
                      </a:r>
                    </a:p>
                  </a:txBody>
                  <a:tcPr/>
                </a:tc>
                <a:extLst>
                  <a:ext uri="{0D108BD9-81ED-4DB2-BD59-A6C34878D82A}">
                    <a16:rowId xmlns:a16="http://schemas.microsoft.com/office/drawing/2014/main" val="3707803592"/>
                  </a:ext>
                </a:extLst>
              </a:tr>
              <a:tr h="222914">
                <a:tc>
                  <a:txBody>
                    <a:bodyPr/>
                    <a:lstStyle/>
                    <a:p>
                      <a:r>
                        <a:rPr lang="uk-UA" sz="1200" dirty="0"/>
                        <a:t>Актор</a:t>
                      </a:r>
                    </a:p>
                  </a:txBody>
                  <a:tcPr/>
                </a:tc>
                <a:tc>
                  <a:txBody>
                    <a:bodyPr/>
                    <a:lstStyle/>
                    <a:p>
                      <a:r>
                        <a:rPr lang="en-US" sz="1400" i="1" kern="1200" dirty="0">
                          <a:solidFill>
                            <a:schemeClr val="dk1"/>
                          </a:solidFill>
                          <a:effectLst/>
                          <a:latin typeface="Times New Roman" panose="02020603050405020304" pitchFamily="18" charset="0"/>
                          <a:ea typeface="+mn-ea"/>
                          <a:cs typeface="Times New Roman" panose="02020603050405020304" pitchFamily="18" charset="0"/>
                        </a:rPr>
                        <a:t>π</a:t>
                      </a:r>
                      <a:r>
                        <a:rPr lang="en-US" sz="1400" i="1" kern="1200" baseline="-25000" dirty="0">
                          <a:solidFill>
                            <a:schemeClr val="dk1"/>
                          </a:solidFill>
                          <a:effectLst/>
                          <a:latin typeface="Times New Roman" panose="02020603050405020304" pitchFamily="18" charset="0"/>
                          <a:ea typeface="+mn-ea"/>
                          <a:cs typeface="Times New Roman" panose="02020603050405020304" pitchFamily="18" charset="0"/>
                        </a:rPr>
                        <a:t>θ</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r>
                        <a:rPr lang="en-US" sz="1400" i="1" kern="1200" dirty="0">
                          <a:solidFill>
                            <a:schemeClr val="dk1"/>
                          </a:solidFill>
                          <a:effectLst/>
                          <a:latin typeface="Times New Roman" panose="02020603050405020304" pitchFamily="18" charset="0"/>
                          <a:ea typeface="+mn-ea"/>
                          <a:cs typeface="Times New Roman" panose="02020603050405020304" pitchFamily="18" charset="0"/>
                        </a:rPr>
                        <a:t>s</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endParaRPr lang="uk-UA" sz="14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i="1" kern="1200" dirty="0">
                          <a:solidFill>
                            <a:schemeClr val="dk1"/>
                          </a:solidFill>
                          <a:effectLst/>
                          <a:latin typeface="Times New Roman" panose="02020603050405020304" pitchFamily="18" charset="0"/>
                          <a:ea typeface="+mn-ea"/>
                          <a:cs typeface="Times New Roman" panose="02020603050405020304" pitchFamily="18" charset="0"/>
                        </a:rPr>
                        <a:t>π</a:t>
                      </a:r>
                      <a:r>
                        <a:rPr lang="en-US" sz="1400" i="1" kern="1200" baseline="-25000" dirty="0">
                          <a:solidFill>
                            <a:schemeClr val="dk1"/>
                          </a:solidFill>
                          <a:effectLst/>
                          <a:latin typeface="Times New Roman" panose="02020603050405020304" pitchFamily="18" charset="0"/>
                          <a:ea typeface="+mn-ea"/>
                          <a:cs typeface="Times New Roman" panose="02020603050405020304" pitchFamily="18" charset="0"/>
                        </a:rPr>
                        <a:t>θ</a:t>
                      </a:r>
                      <a:r>
                        <a:rPr lang="ru-RU" sz="1400" i="1" kern="1200" baseline="-25000" dirty="0">
                          <a:solidFill>
                            <a:schemeClr val="dk1"/>
                          </a:solidFill>
                          <a:effectLst/>
                          <a:latin typeface="Times New Roman" panose="02020603050405020304" pitchFamily="18" charset="0"/>
                          <a:ea typeface="+mn-ea"/>
                          <a:cs typeface="Times New Roman" panose="02020603050405020304" pitchFamily="18" charset="0"/>
                        </a:rPr>
                        <a:t>′</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r>
                        <a:rPr lang="en-US" sz="1400" i="1" kern="1200" dirty="0">
                          <a:solidFill>
                            <a:schemeClr val="dk1"/>
                          </a:solidFill>
                          <a:effectLst/>
                          <a:latin typeface="Times New Roman" panose="02020603050405020304" pitchFamily="18" charset="0"/>
                          <a:ea typeface="+mn-ea"/>
                          <a:cs typeface="Times New Roman" panose="02020603050405020304" pitchFamily="18" charset="0"/>
                        </a:rPr>
                        <a:t>s</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endParaRPr lang="uk-UA"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550961762"/>
                  </a:ext>
                </a:extLst>
              </a:tr>
              <a:tr h="222914">
                <a:tc>
                  <a:txBody>
                    <a:bodyPr/>
                    <a:lstStyle/>
                    <a:p>
                      <a:r>
                        <a:rPr lang="uk-UA" sz="1200" dirty="0"/>
                        <a:t>Критик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i="1" kern="1200" dirty="0" err="1">
                          <a:solidFill>
                            <a:schemeClr val="dk1"/>
                          </a:solidFill>
                          <a:effectLst/>
                          <a:latin typeface="Times New Roman" panose="02020603050405020304" pitchFamily="18" charset="0"/>
                          <a:ea typeface="+mn-ea"/>
                          <a:cs typeface="Times New Roman" panose="02020603050405020304" pitchFamily="18" charset="0"/>
                        </a:rPr>
                        <a:t>Q</a:t>
                      </a:r>
                      <a:r>
                        <a:rPr lang="en-US" sz="1400" i="1" kern="1200" baseline="-25000" dirty="0" err="1">
                          <a:solidFill>
                            <a:schemeClr val="dk1"/>
                          </a:solidFill>
                          <a:effectLst/>
                          <a:latin typeface="Times New Roman" panose="02020603050405020304" pitchFamily="18" charset="0"/>
                          <a:ea typeface="+mn-ea"/>
                          <a:cs typeface="Times New Roman" panose="02020603050405020304" pitchFamily="18" charset="0"/>
                        </a:rPr>
                        <a:t>ϕ</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r>
                        <a:rPr lang="en-US" sz="1400" i="1" kern="1200" dirty="0">
                          <a:solidFill>
                            <a:schemeClr val="dk1"/>
                          </a:solidFill>
                          <a:effectLst/>
                          <a:latin typeface="Times New Roman" panose="02020603050405020304" pitchFamily="18" charset="0"/>
                          <a:ea typeface="+mn-ea"/>
                          <a:cs typeface="Times New Roman" panose="02020603050405020304" pitchFamily="18" charset="0"/>
                        </a:rPr>
                        <a:t>s</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r>
                        <a:rPr lang="en-US" sz="1400" i="1" kern="1200" dirty="0">
                          <a:solidFill>
                            <a:schemeClr val="dk1"/>
                          </a:solidFill>
                          <a:effectLst/>
                          <a:latin typeface="Times New Roman" panose="02020603050405020304" pitchFamily="18" charset="0"/>
                          <a:ea typeface="+mn-ea"/>
                          <a:cs typeface="Times New Roman" panose="02020603050405020304" pitchFamily="18" charset="0"/>
                        </a:rPr>
                        <a:t>a</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endParaRPr lang="uk-UA" sz="1400" dirty="0">
                        <a:latin typeface="Times New Roman" panose="02020603050405020304" pitchFamily="18" charset="0"/>
                        <a:cs typeface="Times New Roman" panose="02020603050405020304" pitchFamily="18" charset="0"/>
                      </a:endParaRPr>
                    </a:p>
                  </a:txBody>
                  <a:tcPr/>
                </a:tc>
                <a:tc>
                  <a:txBody>
                    <a:bodyPr/>
                    <a:lstStyle/>
                    <a:p>
                      <a:r>
                        <a:rPr lang="en-US" sz="1400" i="1" kern="1200" dirty="0" err="1">
                          <a:solidFill>
                            <a:schemeClr val="dk1"/>
                          </a:solidFill>
                          <a:effectLst/>
                          <a:latin typeface="Times New Roman" panose="02020603050405020304" pitchFamily="18" charset="0"/>
                          <a:ea typeface="+mn-ea"/>
                          <a:cs typeface="Times New Roman" panose="02020603050405020304" pitchFamily="18" charset="0"/>
                        </a:rPr>
                        <a:t>Q</a:t>
                      </a:r>
                      <a:r>
                        <a:rPr lang="en-US" sz="1400" i="1" kern="1200" baseline="-25000" dirty="0" err="1">
                          <a:solidFill>
                            <a:schemeClr val="dk1"/>
                          </a:solidFill>
                          <a:effectLst/>
                          <a:latin typeface="Times New Roman" panose="02020603050405020304" pitchFamily="18" charset="0"/>
                          <a:ea typeface="+mn-ea"/>
                          <a:cs typeface="Times New Roman" panose="02020603050405020304" pitchFamily="18" charset="0"/>
                        </a:rPr>
                        <a:t>ϕ</a:t>
                      </a:r>
                      <a:r>
                        <a:rPr lang="ru-RU" sz="1400" i="1" kern="1200" baseline="-25000" dirty="0">
                          <a:solidFill>
                            <a:schemeClr val="dk1"/>
                          </a:solidFill>
                          <a:effectLst/>
                          <a:latin typeface="Times New Roman" panose="02020603050405020304" pitchFamily="18" charset="0"/>
                          <a:ea typeface="+mn-ea"/>
                          <a:cs typeface="Times New Roman" panose="02020603050405020304" pitchFamily="18" charset="0"/>
                        </a:rPr>
                        <a:t>′ </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r>
                        <a:rPr lang="en-US" sz="1400" i="1" kern="1200" dirty="0">
                          <a:solidFill>
                            <a:schemeClr val="dk1"/>
                          </a:solidFill>
                          <a:effectLst/>
                          <a:latin typeface="Times New Roman" panose="02020603050405020304" pitchFamily="18" charset="0"/>
                          <a:ea typeface="+mn-ea"/>
                          <a:cs typeface="Times New Roman" panose="02020603050405020304" pitchFamily="18" charset="0"/>
                        </a:rPr>
                        <a:t>s</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r>
                        <a:rPr lang="ru-RU" sz="1400" b="1" i="1" kern="1200" dirty="0">
                          <a:solidFill>
                            <a:schemeClr val="dk1"/>
                          </a:solidFill>
                          <a:effectLst/>
                          <a:latin typeface="Times New Roman" panose="02020603050405020304" pitchFamily="18" charset="0"/>
                          <a:ea typeface="+mn-ea"/>
                          <a:cs typeface="Times New Roman" panose="02020603050405020304" pitchFamily="18" charset="0"/>
                        </a:rPr>
                        <a:t>•</a:t>
                      </a:r>
                      <a:r>
                        <a:rPr lang="ru-RU" sz="1400" i="1" kern="1200" dirty="0">
                          <a:solidFill>
                            <a:schemeClr val="dk1"/>
                          </a:solidFill>
                          <a:effectLst/>
                          <a:latin typeface="Times New Roman" panose="02020603050405020304" pitchFamily="18" charset="0"/>
                          <a:ea typeface="+mn-ea"/>
                          <a:cs typeface="Times New Roman" panose="02020603050405020304" pitchFamily="18" charset="0"/>
                        </a:rPr>
                        <a:t>)</a:t>
                      </a:r>
                      <a:endParaRPr lang="uk-UA" sz="14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385779061"/>
                  </a:ext>
                </a:extLst>
              </a:tr>
            </a:tbl>
          </a:graphicData>
        </a:graphic>
      </p:graphicFrame>
      <p:sp>
        <p:nvSpPr>
          <p:cNvPr id="12" name="TextBox 11">
            <a:extLst>
              <a:ext uri="{FF2B5EF4-FFF2-40B4-BE49-F238E27FC236}">
                <a16:creationId xmlns:a16="http://schemas.microsoft.com/office/drawing/2014/main" id="{AC64CD56-40A1-B548-0DF9-2B2BD870EE85}"/>
              </a:ext>
            </a:extLst>
          </p:cNvPr>
          <p:cNvSpPr txBox="1"/>
          <p:nvPr/>
        </p:nvSpPr>
        <p:spPr>
          <a:xfrm>
            <a:off x="6228184" y="1811487"/>
            <a:ext cx="2915817"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Табл.</a:t>
            </a:r>
            <a:r>
              <a:rPr lang="ru-RU" sz="1200" dirty="0">
                <a:solidFill>
                  <a:srgbClr val="000000"/>
                </a:solidFill>
                <a:effectLst/>
                <a:latin typeface="+mj-lt"/>
                <a:ea typeface="Calibri" panose="020F0502020204030204" pitchFamily="34" charset="0"/>
                <a:cs typeface="Times New Roman" panose="02020603050405020304" pitchFamily="18" charset="0"/>
              </a:rPr>
              <a:t> 3</a:t>
            </a:r>
            <a:r>
              <a:rPr lang="uk-UA" sz="1200" dirty="0">
                <a:latin typeface="+mj-lt"/>
                <a:ea typeface="Calibri" panose="020F0502020204030204" pitchFamily="34" charset="0"/>
                <a:cs typeface="Times New Roman" panose="02020603050405020304" pitchFamily="18" charset="0"/>
              </a:rPr>
              <a:t>. </a:t>
            </a:r>
            <a:r>
              <a:rPr lang="uk-UA" sz="1200" dirty="0">
                <a:solidFill>
                  <a:srgbClr val="000000"/>
                </a:solidFill>
                <a:effectLst/>
                <a:latin typeface="+mj-lt"/>
                <a:ea typeface="Calibri" panose="020F0502020204030204" pitchFamily="34" charset="0"/>
                <a:cs typeface="Times New Roman" panose="02020603050405020304" pitchFamily="18" charset="0"/>
              </a:rPr>
              <a:t>Умовні позначення Актор-Критик</a:t>
            </a:r>
            <a:endParaRPr lang="uk-UA" sz="1200" dirty="0">
              <a:effectLst/>
              <a:latin typeface="+mj-lt"/>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49E1668-6ECC-476D-1C52-511C3F1CDC31}"/>
                  </a:ext>
                </a:extLst>
              </p:cNvPr>
              <p:cNvSpPr txBox="1"/>
              <p:nvPr/>
            </p:nvSpPr>
            <p:spPr>
              <a:xfrm>
                <a:off x="84584" y="2251061"/>
                <a:ext cx="5779840" cy="543162"/>
              </a:xfrm>
              <a:prstGeom prst="rect">
                <a:avLst/>
              </a:prstGeom>
              <a:noFill/>
            </p:spPr>
            <p:txBody>
              <a:bodyPr wrap="square">
                <a:spAutoFit/>
              </a:bodyPr>
              <a:lstStyle/>
              <a:p>
                <a:pPr algn="just">
                  <a:lnSpc>
                    <a:spcPct val="107000"/>
                  </a:lnSpc>
                  <a:spcAft>
                    <a:spcPts val="800"/>
                  </a:spcAft>
                  <a:buNone/>
                </a:pPr>
                <a:r>
                  <a:rPr lang="uk-UA" sz="1400" b="1" dirty="0">
                    <a:solidFill>
                      <a:srgbClr val="00B0F0"/>
                    </a:solidFill>
                    <a:effectLst/>
                    <a:ea typeface="Calibri" panose="020F0502020204030204" pitchFamily="34" charset="0"/>
                    <a:cs typeface="Times New Roman" panose="02020603050405020304" pitchFamily="18" charset="0"/>
                  </a:rPr>
                  <a:t>Актор</a:t>
                </a:r>
                <a:r>
                  <a:rPr lang="uk-UA" sz="1400" dirty="0">
                    <a:solidFill>
                      <a:srgbClr val="000000"/>
                    </a:solidFill>
                    <a:effectLst/>
                    <a:ea typeface="Calibri" panose="020F0502020204030204" pitchFamily="34" charset="0"/>
                    <a:cs typeface="Times New Roman" panose="02020603050405020304" pitchFamily="18" charset="0"/>
                  </a:rPr>
                  <a:t> оптимізується за допомогою градієнта детермінованої стратегії</a:t>
                </a:r>
                <a:r>
                  <a:rPr lang="uk-UA" sz="1400" dirty="0">
                    <a:solidFill>
                      <a:srgbClr val="000000"/>
                    </a:solidFill>
                    <a:ea typeface="Calibri" panose="020F0502020204030204" pitchFamily="34" charset="0"/>
                    <a:cs typeface="Times New Roman" panose="02020603050405020304" pitchFamily="18" charset="0"/>
                  </a:rPr>
                  <a:t>, який для </a:t>
                </a:r>
                <a:r>
                  <a:rPr lang="uk-UA" sz="1400" dirty="0">
                    <a:solidFill>
                      <a:srgbClr val="000000"/>
                    </a:solidFill>
                    <a:effectLst/>
                    <a:ea typeface="Calibri" panose="020F0502020204030204" pitchFamily="34" charset="0"/>
                    <a:cs typeface="Times New Roman" panose="02020603050405020304" pitchFamily="18" charset="0"/>
                  </a:rPr>
                  <a:t>очікуваної винагороди </a:t>
                </a:r>
                <a14:m>
                  <m:oMath xmlns:m="http://schemas.openxmlformats.org/officeDocument/2006/math">
                    <m:r>
                      <a:rPr lang="en-US" sz="1400" i="1" dirty="0"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𝐽</m:t>
                    </m:r>
                    <m:r>
                      <a:rPr lang="ru-RU" sz="1400" i="1" dirty="0"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ru-RU" sz="1400" i="1" dirty="0" smtClean="0">
                        <a:solidFill>
                          <a:srgbClr val="000000"/>
                        </a:solidFill>
                        <a:effectLst/>
                        <a:latin typeface="Cambria Math" panose="02040503050406030204" pitchFamily="18" charset="0"/>
                        <a:ea typeface="Cambria Math" panose="02040503050406030204" pitchFamily="18" charset="0"/>
                        <a:cs typeface="Times New Roman" panose="02020603050405020304" pitchFamily="18" charset="0"/>
                      </a:rPr>
                      <m:t>𝜃</m:t>
                    </m:r>
                    <m:r>
                      <a:rPr lang="ru-RU" sz="1400" i="1" dirty="0"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m:t>
                    </m:r>
                    <m:r>
                      <a:rPr lang="uk-UA" sz="1400" i="1" dirty="0"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uk-UA" sz="1400" dirty="0">
                    <a:solidFill>
                      <a:srgbClr val="000000"/>
                    </a:solidFill>
                    <a:effectLst/>
                    <a:ea typeface="Calibri" panose="020F0502020204030204" pitchFamily="34" charset="0"/>
                    <a:cs typeface="Times New Roman" panose="02020603050405020304" pitchFamily="18" charset="0"/>
                  </a:rPr>
                  <a:t>апроксимується як</a:t>
                </a:r>
                <a:endParaRPr lang="uk-UA" sz="1400" dirty="0">
                  <a:effectLst/>
                  <a:ea typeface="Calibri" panose="020F0502020204030204" pitchFamily="34" charset="0"/>
                  <a:cs typeface="Times New Roman" panose="02020603050405020304" pitchFamily="18" charset="0"/>
                </a:endParaRPr>
              </a:p>
            </p:txBody>
          </p:sp>
        </mc:Choice>
        <mc:Fallback xmlns="">
          <p:sp>
            <p:nvSpPr>
              <p:cNvPr id="15" name="TextBox 14">
                <a:extLst>
                  <a:ext uri="{FF2B5EF4-FFF2-40B4-BE49-F238E27FC236}">
                    <a16:creationId xmlns:a16="http://schemas.microsoft.com/office/drawing/2014/main" id="{849E1668-6ECC-476D-1C52-511C3F1CDC31}"/>
                  </a:ext>
                </a:extLst>
              </p:cNvPr>
              <p:cNvSpPr txBox="1">
                <a:spLocks noRot="1" noChangeAspect="1" noMove="1" noResize="1" noEditPoints="1" noAdjustHandles="1" noChangeArrowheads="1" noChangeShapeType="1" noTextEdit="1"/>
              </p:cNvSpPr>
              <p:nvPr/>
            </p:nvSpPr>
            <p:spPr>
              <a:xfrm>
                <a:off x="84584" y="2251061"/>
                <a:ext cx="5779840" cy="543162"/>
              </a:xfrm>
              <a:prstGeom prst="rect">
                <a:avLst/>
              </a:prstGeom>
              <a:blipFill>
                <a:blip r:embed="rId3"/>
                <a:stretch>
                  <a:fillRect l="-316" r="-316" b="-12360"/>
                </a:stretch>
              </a:blipFill>
            </p:spPr>
            <p:txBody>
              <a:bodyPr/>
              <a:lstStyle/>
              <a:p>
                <a:r>
                  <a:rPr lang="uk-UA">
                    <a:noFill/>
                  </a:rPr>
                  <a:t> </a:t>
                </a:r>
              </a:p>
            </p:txBody>
          </p:sp>
        </mc:Fallback>
      </mc:AlternateContent>
      <p:sp>
        <p:nvSpPr>
          <p:cNvPr id="16" name="Rectangle 2">
            <a:extLst>
              <a:ext uri="{FF2B5EF4-FFF2-40B4-BE49-F238E27FC236}">
                <a16:creationId xmlns:a16="http://schemas.microsoft.com/office/drawing/2014/main" id="{F341DC8D-F200-F478-CAFC-2C961549CB72}"/>
              </a:ext>
            </a:extLst>
          </p:cNvPr>
          <p:cNvSpPr>
            <a:spLocks noChangeArrowheads="1"/>
          </p:cNvSpPr>
          <p:nvPr/>
        </p:nvSpPr>
        <p:spPr bwMode="auto">
          <a:xfrm>
            <a:off x="1259632" y="3110636"/>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uk-UA"/>
          </a:p>
        </p:txBody>
      </p:sp>
      <p:graphicFrame>
        <p:nvGraphicFramePr>
          <p:cNvPr id="17" name="Object 16">
            <a:extLst>
              <a:ext uri="{FF2B5EF4-FFF2-40B4-BE49-F238E27FC236}">
                <a16:creationId xmlns:a16="http://schemas.microsoft.com/office/drawing/2014/main" id="{B58CE068-D929-5454-9DB6-CC6D4214573E}"/>
              </a:ext>
            </a:extLst>
          </p:cNvPr>
          <p:cNvGraphicFramePr>
            <a:graphicFrameLocks noChangeAspect="1"/>
          </p:cNvGraphicFramePr>
          <p:nvPr>
            <p:extLst>
              <p:ext uri="{D42A27DB-BD31-4B8C-83A1-F6EECF244321}">
                <p14:modId xmlns:p14="http://schemas.microsoft.com/office/powerpoint/2010/main" val="201737982"/>
              </p:ext>
            </p:extLst>
          </p:nvPr>
        </p:nvGraphicFramePr>
        <p:xfrm>
          <a:off x="1166124" y="2699173"/>
          <a:ext cx="3124330" cy="333812"/>
        </p:xfrm>
        <a:graphic>
          <a:graphicData uri="http://schemas.openxmlformats.org/presentationml/2006/ole">
            <mc:AlternateContent xmlns:mc="http://schemas.openxmlformats.org/markup-compatibility/2006">
              <mc:Choice xmlns:v="urn:schemas-microsoft-com:vml" Requires="v">
                <p:oleObj name="Equation" r:id="rId4" imgW="2641600" imgH="279400" progId="Equation.DSMT4">
                  <p:embed/>
                </p:oleObj>
              </mc:Choice>
              <mc:Fallback>
                <p:oleObj name="Equation" r:id="rId4" imgW="2641600" imgH="279400" progId="Equation.DSMT4">
                  <p:embed/>
                  <p:pic>
                    <p:nvPicPr>
                      <p:cNvPr id="0" name="Object 1"/>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66124" y="2699173"/>
                        <a:ext cx="3124330" cy="333812"/>
                      </a:xfrm>
                      <a:prstGeom prst="rect">
                        <a:avLst/>
                      </a:prstGeom>
                      <a:noFill/>
                    </p:spPr>
                  </p:pic>
                </p:oleObj>
              </mc:Fallback>
            </mc:AlternateContent>
          </a:graphicData>
        </a:graphic>
      </p:graphicFrame>
      <p:sp>
        <p:nvSpPr>
          <p:cNvPr id="19" name="TextBox 18">
            <a:extLst>
              <a:ext uri="{FF2B5EF4-FFF2-40B4-BE49-F238E27FC236}">
                <a16:creationId xmlns:a16="http://schemas.microsoft.com/office/drawing/2014/main" id="{C2EC3775-0127-9755-606B-E45FA9A9FE08}"/>
              </a:ext>
            </a:extLst>
          </p:cNvPr>
          <p:cNvSpPr txBox="1"/>
          <p:nvPr/>
        </p:nvSpPr>
        <p:spPr>
          <a:xfrm>
            <a:off x="54178" y="2953857"/>
            <a:ext cx="5769950" cy="543162"/>
          </a:xfrm>
          <a:prstGeom prst="rect">
            <a:avLst/>
          </a:prstGeom>
          <a:noFill/>
        </p:spPr>
        <p:txBody>
          <a:bodyPr wrap="square">
            <a:spAutoFit/>
          </a:bodyPr>
          <a:lstStyle/>
          <a:p>
            <a:pPr algn="just">
              <a:lnSpc>
                <a:spcPct val="107000"/>
              </a:lnSpc>
              <a:spcAft>
                <a:spcPts val="800"/>
              </a:spcAft>
              <a:buNone/>
            </a:pPr>
            <a:r>
              <a:rPr lang="uk-UA" sz="1400" dirty="0">
                <a:solidFill>
                  <a:srgbClr val="000000"/>
                </a:solidFill>
                <a:effectLst/>
                <a:ea typeface="Calibri" panose="020F0502020204030204" pitchFamily="34" charset="0"/>
                <a:cs typeface="Times New Roman" panose="02020603050405020304" pitchFamily="18" charset="0"/>
              </a:rPr>
              <a:t>На практиці, функція втрат для мережі </a:t>
            </a:r>
            <a:r>
              <a:rPr lang="uk-UA" sz="1400" b="1" dirty="0">
                <a:solidFill>
                  <a:srgbClr val="00B0F0"/>
                </a:solidFill>
                <a:effectLst/>
                <a:ea typeface="Calibri" panose="020F0502020204030204" pitchFamily="34" charset="0"/>
                <a:cs typeface="Times New Roman" panose="02020603050405020304" pitchFamily="18" charset="0"/>
              </a:rPr>
              <a:t>Актор</a:t>
            </a:r>
            <a:r>
              <a:rPr lang="uk-UA" sz="1400" dirty="0">
                <a:solidFill>
                  <a:srgbClr val="000000"/>
                </a:solidFill>
                <a:effectLst/>
                <a:ea typeface="Calibri" panose="020F0502020204030204" pitchFamily="34" charset="0"/>
                <a:cs typeface="Times New Roman" panose="02020603050405020304" pitchFamily="18" charset="0"/>
              </a:rPr>
              <a:t> визначається як негативне очікуване значення Q-функції з поточною стратегією</a:t>
            </a:r>
            <a:endParaRPr lang="uk-UA" sz="1400" dirty="0">
              <a:effectLst/>
              <a:ea typeface="Calibri" panose="020F0502020204030204" pitchFamily="34" charset="0"/>
              <a:cs typeface="Times New Roman" panose="02020603050405020304" pitchFamily="18" charset="0"/>
            </a:endParaRPr>
          </a:p>
        </p:txBody>
      </p:sp>
      <p:sp>
        <p:nvSpPr>
          <p:cNvPr id="20" name="Rectangle 4">
            <a:extLst>
              <a:ext uri="{FF2B5EF4-FFF2-40B4-BE49-F238E27FC236}">
                <a16:creationId xmlns:a16="http://schemas.microsoft.com/office/drawing/2014/main" id="{532C91FE-603A-FD57-6B46-31B95C4B247F}"/>
              </a:ext>
            </a:extLst>
          </p:cNvPr>
          <p:cNvSpPr>
            <a:spLocks noChangeArrowheads="1"/>
          </p:cNvSpPr>
          <p:nvPr/>
        </p:nvSpPr>
        <p:spPr bwMode="auto">
          <a:xfrm>
            <a:off x="1547664" y="4036409"/>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uk-UA"/>
          </a:p>
        </p:txBody>
      </p:sp>
      <p:graphicFrame>
        <p:nvGraphicFramePr>
          <p:cNvPr id="21" name="Object 20">
            <a:extLst>
              <a:ext uri="{FF2B5EF4-FFF2-40B4-BE49-F238E27FC236}">
                <a16:creationId xmlns:a16="http://schemas.microsoft.com/office/drawing/2014/main" id="{8315A2C0-6368-7A59-6547-C4004CEBE250}"/>
              </a:ext>
            </a:extLst>
          </p:cNvPr>
          <p:cNvGraphicFramePr>
            <a:graphicFrameLocks noChangeAspect="1"/>
          </p:cNvGraphicFramePr>
          <p:nvPr>
            <p:extLst>
              <p:ext uri="{D42A27DB-BD31-4B8C-83A1-F6EECF244321}">
                <p14:modId xmlns:p14="http://schemas.microsoft.com/office/powerpoint/2010/main" val="571234718"/>
              </p:ext>
            </p:extLst>
          </p:nvPr>
        </p:nvGraphicFramePr>
        <p:xfrm>
          <a:off x="1557469" y="3471481"/>
          <a:ext cx="2376256" cy="301436"/>
        </p:xfrm>
        <a:graphic>
          <a:graphicData uri="http://schemas.openxmlformats.org/presentationml/2006/ole">
            <mc:AlternateContent xmlns:mc="http://schemas.openxmlformats.org/markup-compatibility/2006">
              <mc:Choice xmlns:v="urn:schemas-microsoft-com:vml" Requires="v">
                <p:oleObj name="Equation" r:id="rId6" imgW="1930400" imgH="241300" progId="Equation.DSMT4">
                  <p:embed/>
                </p:oleObj>
              </mc:Choice>
              <mc:Fallback>
                <p:oleObj name="Equation" r:id="rId6" imgW="1930400" imgH="241300" progId="Equation.DSMT4">
                  <p:embed/>
                  <p:pic>
                    <p:nvPicPr>
                      <p:cNvPr id="0" name="Object 3"/>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557469" y="3471481"/>
                        <a:ext cx="2376256" cy="301436"/>
                      </a:xfrm>
                      <a:prstGeom prst="rect">
                        <a:avLst/>
                      </a:prstGeom>
                      <a:noFill/>
                    </p:spPr>
                  </p:pic>
                </p:oleObj>
              </mc:Fallback>
            </mc:AlternateContent>
          </a:graphicData>
        </a:graphic>
      </p:graphicFrame>
      <p:graphicFrame>
        <p:nvGraphicFramePr>
          <p:cNvPr id="24" name="Table 23">
            <a:extLst>
              <a:ext uri="{FF2B5EF4-FFF2-40B4-BE49-F238E27FC236}">
                <a16:creationId xmlns:a16="http://schemas.microsoft.com/office/drawing/2014/main" id="{54750499-4679-9458-DF99-39BC4F147ABB}"/>
              </a:ext>
            </a:extLst>
          </p:cNvPr>
          <p:cNvGraphicFramePr>
            <a:graphicFrameLocks noGrp="1"/>
          </p:cNvGraphicFramePr>
          <p:nvPr>
            <p:extLst>
              <p:ext uri="{D42A27DB-BD31-4B8C-83A1-F6EECF244321}">
                <p14:modId xmlns:p14="http://schemas.microsoft.com/office/powerpoint/2010/main" val="958948534"/>
              </p:ext>
            </p:extLst>
          </p:nvPr>
        </p:nvGraphicFramePr>
        <p:xfrm>
          <a:off x="5970984" y="2161710"/>
          <a:ext cx="3173016" cy="2545080"/>
        </p:xfrm>
        <a:graphic>
          <a:graphicData uri="http://schemas.openxmlformats.org/drawingml/2006/table">
            <a:tbl>
              <a:tblPr firstRow="1" bandRow="1">
                <a:tableStyleId>{5C22544A-7EE6-4342-B048-85BDC9FD1C3A}</a:tableStyleId>
              </a:tblPr>
              <a:tblGrid>
                <a:gridCol w="689248">
                  <a:extLst>
                    <a:ext uri="{9D8B030D-6E8A-4147-A177-3AD203B41FA5}">
                      <a16:colId xmlns:a16="http://schemas.microsoft.com/office/drawing/2014/main" val="580219328"/>
                    </a:ext>
                  </a:extLst>
                </a:gridCol>
                <a:gridCol w="2483768">
                  <a:extLst>
                    <a:ext uri="{9D8B030D-6E8A-4147-A177-3AD203B41FA5}">
                      <a16:colId xmlns:a16="http://schemas.microsoft.com/office/drawing/2014/main" val="125679499"/>
                    </a:ext>
                  </a:extLst>
                </a:gridCol>
              </a:tblGrid>
              <a:tr h="165242">
                <a:tc>
                  <a:txBody>
                    <a:bodyPr/>
                    <a:lstStyle/>
                    <a:p>
                      <a:r>
                        <a:rPr lang="uk-UA" sz="1100" dirty="0"/>
                        <a:t>Познач.</a:t>
                      </a:r>
                    </a:p>
                  </a:txBody>
                  <a:tcPr/>
                </a:tc>
                <a:tc>
                  <a:txBody>
                    <a:bodyPr/>
                    <a:lstStyle/>
                    <a:p>
                      <a:r>
                        <a:rPr lang="uk-UA" sz="1100" dirty="0"/>
                        <a:t>Пояснення</a:t>
                      </a:r>
                    </a:p>
                  </a:txBody>
                  <a:tcPr/>
                </a:tc>
                <a:extLst>
                  <a:ext uri="{0D108BD9-81ED-4DB2-BD59-A6C34878D82A}">
                    <a16:rowId xmlns:a16="http://schemas.microsoft.com/office/drawing/2014/main" val="36458157"/>
                  </a:ext>
                </a:extLst>
              </a:tr>
              <a:tr h="165242">
                <a:tc>
                  <a:txBody>
                    <a:bodyPr/>
                    <a:lstStyle/>
                    <a:p>
                      <a:r>
                        <a:rPr lang="en-US" sz="1100" i="1" kern="1200" dirty="0">
                          <a:solidFill>
                            <a:schemeClr val="dk1"/>
                          </a:solidFill>
                          <a:effectLst/>
                          <a:latin typeface="Times New Roman" panose="02020603050405020304" pitchFamily="18" charset="0"/>
                          <a:ea typeface="+mn-ea"/>
                          <a:cs typeface="Times New Roman" panose="02020603050405020304" pitchFamily="18" charset="0"/>
                        </a:rPr>
                        <a:t>r</a:t>
                      </a:r>
                      <a:endParaRPr lang="uk-UA" sz="800" dirty="0">
                        <a:latin typeface="Times New Roman" panose="02020603050405020304" pitchFamily="18" charset="0"/>
                        <a:cs typeface="Times New Roman" panose="02020603050405020304" pitchFamily="18" charset="0"/>
                      </a:endParaRPr>
                    </a:p>
                  </a:txBody>
                  <a:tcPr/>
                </a:tc>
                <a:tc>
                  <a:txBody>
                    <a:bodyPr/>
                    <a:lstStyle/>
                    <a:p>
                      <a:r>
                        <a:rPr lang="uk-UA" sz="1100" kern="1200" dirty="0">
                          <a:solidFill>
                            <a:schemeClr val="dk1"/>
                          </a:solidFill>
                          <a:effectLst/>
                          <a:latin typeface="+mn-lt"/>
                          <a:ea typeface="+mn-ea"/>
                          <a:cs typeface="+mn-cs"/>
                        </a:rPr>
                        <a:t>миттєва винагорода</a:t>
                      </a:r>
                      <a:endParaRPr lang="uk-UA" sz="800" dirty="0"/>
                    </a:p>
                  </a:txBody>
                  <a:tcPr/>
                </a:tc>
                <a:extLst>
                  <a:ext uri="{0D108BD9-81ED-4DB2-BD59-A6C34878D82A}">
                    <a16:rowId xmlns:a16="http://schemas.microsoft.com/office/drawing/2014/main" val="3060663350"/>
                  </a:ext>
                </a:extLst>
              </a:tr>
              <a:tr h="165242">
                <a:tc>
                  <a:txBody>
                    <a:bodyPr/>
                    <a:lstStyle/>
                    <a:p>
                      <a:r>
                        <a:rPr lang="en-US" sz="1200" dirty="0">
                          <a:latin typeface="Times New Roman" panose="02020603050405020304" pitchFamily="18" charset="0"/>
                          <a:cs typeface="Times New Roman" panose="02020603050405020304" pitchFamily="18" charset="0"/>
                        </a:rPr>
                        <a:t>s</a:t>
                      </a:r>
                      <a:r>
                        <a:rPr lang="uk-UA" sz="1200" dirty="0">
                          <a:latin typeface="Times New Roman" panose="02020603050405020304" pitchFamily="18" charset="0"/>
                          <a:cs typeface="Times New Roman" panose="02020603050405020304" pitchFamily="18" charset="0"/>
                        </a:rPr>
                        <a:t> та </a:t>
                      </a:r>
                      <a:r>
                        <a:rPr lang="en-US" sz="1200" i="1" kern="1200" dirty="0">
                          <a:solidFill>
                            <a:schemeClr val="dk1"/>
                          </a:solidFill>
                          <a:effectLst/>
                          <a:latin typeface="Times New Roman" panose="02020603050405020304" pitchFamily="18" charset="0"/>
                          <a:ea typeface="+mn-ea"/>
                          <a:cs typeface="Times New Roman" panose="02020603050405020304" pitchFamily="18" charset="0"/>
                        </a:rPr>
                        <a:t>s</a:t>
                      </a:r>
                      <a:r>
                        <a:rPr lang="ru-RU" sz="1200" i="1" kern="1200" dirty="0">
                          <a:solidFill>
                            <a:schemeClr val="dk1"/>
                          </a:solidFill>
                          <a:effectLst/>
                          <a:latin typeface="Times New Roman" panose="02020603050405020304" pitchFamily="18" charset="0"/>
                          <a:ea typeface="+mn-ea"/>
                          <a:cs typeface="Times New Roman" panose="02020603050405020304" pitchFamily="18" charset="0"/>
                        </a:rPr>
                        <a:t>′</a:t>
                      </a:r>
                      <a:endParaRPr lang="uk-UA" sz="1200" dirty="0">
                        <a:latin typeface="Times New Roman" panose="02020603050405020304" pitchFamily="18" charset="0"/>
                        <a:cs typeface="Times New Roman" panose="02020603050405020304" pitchFamily="18" charset="0"/>
                      </a:endParaRPr>
                    </a:p>
                  </a:txBody>
                  <a:tcPr/>
                </a:tc>
                <a:tc>
                  <a:txBody>
                    <a:bodyPr/>
                    <a:lstStyle/>
                    <a:p>
                      <a:r>
                        <a:rPr lang="uk-UA" sz="1200" dirty="0">
                          <a:latin typeface="+mn-lt"/>
                        </a:rPr>
                        <a:t>початковий та цільовий стани</a:t>
                      </a:r>
                    </a:p>
                  </a:txBody>
                  <a:tcPr/>
                </a:tc>
                <a:extLst>
                  <a:ext uri="{0D108BD9-81ED-4DB2-BD59-A6C34878D82A}">
                    <a16:rowId xmlns:a16="http://schemas.microsoft.com/office/drawing/2014/main" val="843149137"/>
                  </a:ext>
                </a:extLst>
              </a:tr>
              <a:tr h="165242">
                <a:tc>
                  <a:txBody>
                    <a:bodyPr/>
                    <a:lstStyle/>
                    <a:p>
                      <a:r>
                        <a:rPr lang="en-US" sz="1200" dirty="0">
                          <a:latin typeface="Times New Roman" panose="02020603050405020304" pitchFamily="18" charset="0"/>
                          <a:cs typeface="Times New Roman" panose="02020603050405020304" pitchFamily="18" charset="0"/>
                        </a:rPr>
                        <a:t>a</a:t>
                      </a:r>
                      <a:endParaRPr lang="uk-UA" sz="1200" dirty="0">
                        <a:latin typeface="Times New Roman" panose="02020603050405020304" pitchFamily="18" charset="0"/>
                        <a:cs typeface="Times New Roman" panose="02020603050405020304" pitchFamily="18" charset="0"/>
                      </a:endParaRPr>
                    </a:p>
                  </a:txBody>
                  <a:tcPr/>
                </a:tc>
                <a:tc>
                  <a:txBody>
                    <a:bodyPr/>
                    <a:lstStyle/>
                    <a:p>
                      <a:r>
                        <a:rPr lang="uk-UA" sz="1200" dirty="0">
                          <a:latin typeface="+mn-lt"/>
                        </a:rPr>
                        <a:t>дія</a:t>
                      </a:r>
                    </a:p>
                  </a:txBody>
                  <a:tcPr/>
                </a:tc>
                <a:extLst>
                  <a:ext uri="{0D108BD9-81ED-4DB2-BD59-A6C34878D82A}">
                    <a16:rowId xmlns:a16="http://schemas.microsoft.com/office/drawing/2014/main" val="1360943045"/>
                  </a:ext>
                </a:extLst>
              </a:tr>
              <a:tr h="165242">
                <a:tc>
                  <a:txBody>
                    <a:bodyPr/>
                    <a:lstStyle/>
                    <a:p>
                      <a:r>
                        <a:rPr lang="en-US" sz="1100" i="1" kern="1200" dirty="0">
                          <a:solidFill>
                            <a:schemeClr val="dk1"/>
                          </a:solidFill>
                          <a:effectLst/>
                          <a:latin typeface="Times New Roman" panose="02020603050405020304" pitchFamily="18" charset="0"/>
                          <a:ea typeface="+mn-ea"/>
                          <a:cs typeface="Times New Roman" panose="02020603050405020304" pitchFamily="18" charset="0"/>
                        </a:rPr>
                        <a:t>E</a:t>
                      </a:r>
                      <a:endParaRPr lang="uk-UA" sz="800" dirty="0">
                        <a:latin typeface="Times New Roman" panose="02020603050405020304" pitchFamily="18" charset="0"/>
                        <a:cs typeface="Times New Roman" panose="02020603050405020304" pitchFamily="18" charset="0"/>
                      </a:endParaRPr>
                    </a:p>
                  </a:txBody>
                  <a:tcPr/>
                </a:tc>
                <a:tc>
                  <a:txBody>
                    <a:bodyPr/>
                    <a:lstStyle/>
                    <a:p>
                      <a:r>
                        <a:rPr lang="uk-UA" sz="1100" kern="1200" dirty="0">
                          <a:solidFill>
                            <a:schemeClr val="dk1"/>
                          </a:solidFill>
                          <a:effectLst/>
                          <a:latin typeface="+mn-lt"/>
                          <a:ea typeface="+mn-ea"/>
                          <a:cs typeface="+mn-cs"/>
                        </a:rPr>
                        <a:t>середнє значення функції над заданим розподілом</a:t>
                      </a:r>
                      <a:endParaRPr lang="uk-UA" sz="800" dirty="0"/>
                    </a:p>
                  </a:txBody>
                  <a:tcPr/>
                </a:tc>
                <a:extLst>
                  <a:ext uri="{0D108BD9-81ED-4DB2-BD59-A6C34878D82A}">
                    <a16:rowId xmlns:a16="http://schemas.microsoft.com/office/drawing/2014/main" val="4261780111"/>
                  </a:ext>
                </a:extLst>
              </a:tr>
              <a:tr h="165242">
                <a:tc>
                  <a:txBody>
                    <a:bodyPr/>
                    <a:lstStyle/>
                    <a:p>
                      <a:r>
                        <a:rPr lang="en-US" sz="1100" kern="1200" dirty="0">
                          <a:solidFill>
                            <a:schemeClr val="dk1"/>
                          </a:solidFill>
                          <a:effectLst/>
                          <a:latin typeface="Times New Roman" panose="02020603050405020304" pitchFamily="18" charset="0"/>
                          <a:ea typeface="+mn-ea"/>
                          <a:cs typeface="Times New Roman" panose="02020603050405020304" pitchFamily="18" charset="0"/>
                        </a:rPr>
                        <a:t>D</a:t>
                      </a:r>
                      <a:endParaRPr lang="uk-UA" sz="800" dirty="0">
                        <a:latin typeface="Times New Roman" panose="02020603050405020304" pitchFamily="18" charset="0"/>
                        <a:cs typeface="Times New Roman" panose="02020603050405020304" pitchFamily="18" charset="0"/>
                      </a:endParaRPr>
                    </a:p>
                  </a:txBody>
                  <a:tcPr/>
                </a:tc>
                <a:tc>
                  <a:txBody>
                    <a:bodyPr/>
                    <a:lstStyle/>
                    <a:p>
                      <a:r>
                        <a:rPr lang="uk-UA" sz="1100" kern="1200" dirty="0">
                          <a:solidFill>
                            <a:schemeClr val="dk1"/>
                          </a:solidFill>
                          <a:effectLst/>
                          <a:latin typeface="+mn-lt"/>
                          <a:ea typeface="+mn-ea"/>
                          <a:cs typeface="+mn-cs"/>
                        </a:rPr>
                        <a:t>буфер досвіду</a:t>
                      </a:r>
                      <a:endParaRPr lang="uk-UA" sz="800" dirty="0"/>
                    </a:p>
                  </a:txBody>
                  <a:tcPr/>
                </a:tc>
                <a:extLst>
                  <a:ext uri="{0D108BD9-81ED-4DB2-BD59-A6C34878D82A}">
                    <a16:rowId xmlns:a16="http://schemas.microsoft.com/office/drawing/2014/main" val="2814821824"/>
                  </a:ext>
                </a:extLst>
              </a:tr>
              <a:tr h="165242">
                <a:tc>
                  <a:txBody>
                    <a:bodyPr/>
                    <a:lstStyle/>
                    <a:p>
                      <a:r>
                        <a:rPr lang="en-US" sz="1100" i="1" kern="1200" dirty="0">
                          <a:solidFill>
                            <a:schemeClr val="dk1"/>
                          </a:solidFill>
                          <a:effectLst/>
                          <a:latin typeface="Times New Roman" panose="02020603050405020304" pitchFamily="18" charset="0"/>
                          <a:ea typeface="+mn-ea"/>
                          <a:cs typeface="Times New Roman" panose="02020603050405020304" pitchFamily="18" charset="0"/>
                        </a:rPr>
                        <a:t>γ </a:t>
                      </a:r>
                      <a:r>
                        <a:rPr lang="uk-UA" sz="1100" kern="1200" dirty="0">
                          <a:solidFill>
                            <a:schemeClr val="dk1"/>
                          </a:solidFill>
                          <a:effectLst/>
                          <a:latin typeface="Times New Roman" panose="02020603050405020304" pitchFamily="18" charset="0"/>
                          <a:ea typeface="+mn-ea"/>
                          <a:cs typeface="Times New Roman" panose="02020603050405020304" pitchFamily="18" charset="0"/>
                        </a:rPr>
                        <a:t>∈ (0,1]</a:t>
                      </a:r>
                      <a:endParaRPr lang="uk-UA" sz="800" dirty="0">
                        <a:latin typeface="Times New Roman" panose="02020603050405020304" pitchFamily="18" charset="0"/>
                        <a:cs typeface="Times New Roman" panose="02020603050405020304" pitchFamily="18" charset="0"/>
                      </a:endParaRPr>
                    </a:p>
                  </a:txBody>
                  <a:tcPr/>
                </a:tc>
                <a:tc>
                  <a:txBody>
                    <a:bodyPr/>
                    <a:lstStyle/>
                    <a:p>
                      <a:r>
                        <a:rPr lang="uk-UA" sz="1100" kern="1200" dirty="0">
                          <a:solidFill>
                            <a:schemeClr val="dk1"/>
                          </a:solidFill>
                          <a:effectLst/>
                          <a:latin typeface="+mn-lt"/>
                          <a:ea typeface="+mn-ea"/>
                          <a:cs typeface="+mn-cs"/>
                        </a:rPr>
                        <a:t>коефіцієнт знижки</a:t>
                      </a:r>
                      <a:endParaRPr lang="uk-UA" sz="800" dirty="0"/>
                    </a:p>
                  </a:txBody>
                  <a:tcPr/>
                </a:tc>
                <a:extLst>
                  <a:ext uri="{0D108BD9-81ED-4DB2-BD59-A6C34878D82A}">
                    <a16:rowId xmlns:a16="http://schemas.microsoft.com/office/drawing/2014/main" val="3538328465"/>
                  </a:ext>
                </a:extLst>
              </a:tr>
              <a:tr h="165242">
                <a:tc>
                  <a:txBody>
                    <a:bodyPr/>
                    <a:lstStyle/>
                    <a:p>
                      <a:r>
                        <a:rPr lang="ru-RU" sz="1100" i="1" kern="1200" dirty="0">
                          <a:solidFill>
                            <a:schemeClr val="dk1"/>
                          </a:solidFill>
                          <a:effectLst/>
                          <a:latin typeface="Times New Roman" panose="02020603050405020304" pitchFamily="18" charset="0"/>
                          <a:ea typeface="+mn-ea"/>
                          <a:cs typeface="Times New Roman" panose="02020603050405020304" pitchFamily="18" charset="0"/>
                        </a:rPr>
                        <a:t>θ</a:t>
                      </a:r>
                      <a:r>
                        <a:rPr lang="uk-UA" sz="1100" kern="1200" dirty="0">
                          <a:solidFill>
                            <a:schemeClr val="dk1"/>
                          </a:solidFill>
                          <a:effectLst/>
                          <a:latin typeface="Times New Roman" panose="02020603050405020304" pitchFamily="18" charset="0"/>
                          <a:ea typeface="+mn-ea"/>
                          <a:cs typeface="Times New Roman" panose="02020603050405020304" pitchFamily="18" charset="0"/>
                        </a:rPr>
                        <a:t> та </a:t>
                      </a:r>
                      <a:r>
                        <a:rPr lang="ru-RU" sz="1100" i="1" kern="1200" dirty="0">
                          <a:solidFill>
                            <a:schemeClr val="dk1"/>
                          </a:solidFill>
                          <a:effectLst/>
                          <a:latin typeface="Times New Roman" panose="02020603050405020304" pitchFamily="18" charset="0"/>
                          <a:ea typeface="+mn-ea"/>
                          <a:cs typeface="Times New Roman" panose="02020603050405020304" pitchFamily="18" charset="0"/>
                        </a:rPr>
                        <a:t>θ</a:t>
                      </a:r>
                      <a:r>
                        <a:rPr lang="uk-UA" sz="1100" kern="1200" dirty="0">
                          <a:solidFill>
                            <a:schemeClr val="dk1"/>
                          </a:solidFill>
                          <a:effectLst/>
                          <a:latin typeface="Times New Roman" panose="02020603050405020304" pitchFamily="18" charset="0"/>
                          <a:ea typeface="+mn-ea"/>
                          <a:cs typeface="Times New Roman" panose="02020603050405020304" pitchFamily="18" charset="0"/>
                        </a:rPr>
                        <a:t>′ </a:t>
                      </a:r>
                      <a:endParaRPr lang="uk-UA" sz="800" dirty="0">
                        <a:latin typeface="Times New Roman" panose="02020603050405020304" pitchFamily="18" charset="0"/>
                        <a:cs typeface="Times New Roman" panose="02020603050405020304" pitchFamily="18" charset="0"/>
                      </a:endParaRPr>
                    </a:p>
                  </a:txBody>
                  <a:tcPr/>
                </a:tc>
                <a:tc>
                  <a:txBody>
                    <a:bodyPr/>
                    <a:lstStyle/>
                    <a:p>
                      <a:r>
                        <a:rPr lang="uk-UA" sz="1100" dirty="0"/>
                        <a:t>початкові та цільові вектори Актора</a:t>
                      </a:r>
                    </a:p>
                  </a:txBody>
                  <a:tcPr/>
                </a:tc>
                <a:extLst>
                  <a:ext uri="{0D108BD9-81ED-4DB2-BD59-A6C34878D82A}">
                    <a16:rowId xmlns:a16="http://schemas.microsoft.com/office/drawing/2014/main" val="150631259"/>
                  </a:ext>
                </a:extLst>
              </a:tr>
              <a:tr h="165242">
                <a:tc>
                  <a:txBody>
                    <a:bodyPr/>
                    <a:lstStyle/>
                    <a:p>
                      <a:r>
                        <a:rPr lang="ru-RU" sz="1200" i="1" kern="1200" dirty="0">
                          <a:solidFill>
                            <a:schemeClr val="dk1"/>
                          </a:solidFill>
                          <a:effectLst/>
                          <a:latin typeface="Times New Roman" panose="02020603050405020304" pitchFamily="18" charset="0"/>
                          <a:ea typeface="+mn-ea"/>
                          <a:cs typeface="Times New Roman" panose="02020603050405020304" pitchFamily="18" charset="0"/>
                        </a:rPr>
                        <a:t>ϕ </a:t>
                      </a:r>
                      <a:r>
                        <a:rPr lang="uk-UA" sz="1200" kern="1200" dirty="0">
                          <a:solidFill>
                            <a:schemeClr val="dk1"/>
                          </a:solidFill>
                          <a:effectLst/>
                          <a:latin typeface="Times New Roman" panose="02020603050405020304" pitchFamily="18" charset="0"/>
                          <a:ea typeface="+mn-ea"/>
                          <a:cs typeface="Times New Roman" panose="02020603050405020304" pitchFamily="18" charset="0"/>
                        </a:rPr>
                        <a:t>та</a:t>
                      </a:r>
                      <a:r>
                        <a:rPr lang="ru-RU" sz="1200" i="1" kern="1200" dirty="0">
                          <a:solidFill>
                            <a:schemeClr val="dk1"/>
                          </a:solidFill>
                          <a:effectLst/>
                          <a:latin typeface="Times New Roman" panose="02020603050405020304" pitchFamily="18" charset="0"/>
                          <a:ea typeface="+mn-ea"/>
                          <a:cs typeface="Times New Roman" panose="02020603050405020304" pitchFamily="18" charset="0"/>
                        </a:rPr>
                        <a:t> ϕ</a:t>
                      </a:r>
                      <a:r>
                        <a:rPr lang="uk-UA" sz="1200" i="1" kern="1200" dirty="0">
                          <a:solidFill>
                            <a:schemeClr val="dk1"/>
                          </a:solidFill>
                          <a:effectLst/>
                          <a:latin typeface="Times New Roman" panose="02020603050405020304" pitchFamily="18" charset="0"/>
                          <a:ea typeface="+mn-ea"/>
                          <a:cs typeface="Times New Roman" panose="02020603050405020304" pitchFamily="18" charset="0"/>
                        </a:rPr>
                        <a:t>′</a:t>
                      </a:r>
                      <a:endParaRPr lang="uk-UA" sz="500" dirty="0">
                        <a:latin typeface="Times New Roman" panose="02020603050405020304" pitchFamily="18" charset="0"/>
                        <a:cs typeface="Times New Roman" panose="02020603050405020304" pitchFamily="18"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uk-UA" sz="1100" dirty="0"/>
                        <a:t>початкові та цільові вектори Критика</a:t>
                      </a:r>
                    </a:p>
                  </a:txBody>
                  <a:tcPr/>
                </a:tc>
                <a:extLst>
                  <a:ext uri="{0D108BD9-81ED-4DB2-BD59-A6C34878D82A}">
                    <a16:rowId xmlns:a16="http://schemas.microsoft.com/office/drawing/2014/main" val="767765529"/>
                  </a:ext>
                </a:extLst>
              </a:tr>
            </a:tbl>
          </a:graphicData>
        </a:graphic>
      </p:graphicFrame>
      <p:sp>
        <p:nvSpPr>
          <p:cNvPr id="25" name="TextBox 24">
            <a:extLst>
              <a:ext uri="{FF2B5EF4-FFF2-40B4-BE49-F238E27FC236}">
                <a16:creationId xmlns:a16="http://schemas.microsoft.com/office/drawing/2014/main" id="{154C7304-5C7B-F16C-71ED-90193C70E36B}"/>
              </a:ext>
            </a:extLst>
          </p:cNvPr>
          <p:cNvSpPr txBox="1"/>
          <p:nvPr/>
        </p:nvSpPr>
        <p:spPr>
          <a:xfrm>
            <a:off x="6216117" y="4715499"/>
            <a:ext cx="2915817"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Табл.</a:t>
            </a:r>
            <a:r>
              <a:rPr lang="ru-RU" sz="1200" dirty="0">
                <a:solidFill>
                  <a:srgbClr val="000000"/>
                </a:solidFill>
                <a:effectLst/>
                <a:latin typeface="+mj-lt"/>
                <a:ea typeface="Calibri" panose="020F0502020204030204" pitchFamily="34" charset="0"/>
                <a:cs typeface="Times New Roman" panose="02020603050405020304" pitchFamily="18" charset="0"/>
              </a:rPr>
              <a:t> </a:t>
            </a:r>
            <a:r>
              <a:rPr lang="ru-RU" sz="1200" dirty="0">
                <a:solidFill>
                  <a:srgbClr val="000000"/>
                </a:solidFill>
                <a:latin typeface="+mj-lt"/>
                <a:ea typeface="Calibri" panose="020F0502020204030204" pitchFamily="34" charset="0"/>
                <a:cs typeface="Times New Roman" panose="02020603050405020304" pitchFamily="18" charset="0"/>
              </a:rPr>
              <a:t>4</a:t>
            </a:r>
            <a:r>
              <a:rPr lang="uk-UA" sz="1200" dirty="0">
                <a:latin typeface="+mj-lt"/>
                <a:ea typeface="Calibri" panose="020F0502020204030204" pitchFamily="34" charset="0"/>
                <a:cs typeface="Times New Roman" panose="02020603050405020304" pitchFamily="18" charset="0"/>
              </a:rPr>
              <a:t>. </a:t>
            </a:r>
            <a:r>
              <a:rPr lang="uk-UA" sz="1200" dirty="0">
                <a:solidFill>
                  <a:srgbClr val="000000"/>
                </a:solidFill>
                <a:effectLst/>
                <a:latin typeface="+mj-lt"/>
                <a:ea typeface="Calibri" panose="020F0502020204030204" pitchFamily="34" charset="0"/>
                <a:cs typeface="Times New Roman" panose="02020603050405020304" pitchFamily="18" charset="0"/>
              </a:rPr>
              <a:t>Умовні позначення</a:t>
            </a:r>
            <a:endParaRPr lang="uk-UA" sz="1200" dirty="0">
              <a:effectLst/>
              <a:latin typeface="+mj-lt"/>
              <a:ea typeface="Calibri" panose="020F0502020204030204" pitchFamily="34" charset="0"/>
              <a:cs typeface="Times New Roman" panose="02020603050405020304" pitchFamily="18" charset="0"/>
            </a:endParaRPr>
          </a:p>
        </p:txBody>
      </p:sp>
      <p:sp>
        <p:nvSpPr>
          <p:cNvPr id="26" name="TextBox 25">
            <a:extLst>
              <a:ext uri="{FF2B5EF4-FFF2-40B4-BE49-F238E27FC236}">
                <a16:creationId xmlns:a16="http://schemas.microsoft.com/office/drawing/2014/main" id="{CAAF7C3B-35C1-9FEE-583C-28F3751A1C6A}"/>
              </a:ext>
            </a:extLst>
          </p:cNvPr>
          <p:cNvSpPr txBox="1"/>
          <p:nvPr/>
        </p:nvSpPr>
        <p:spPr>
          <a:xfrm>
            <a:off x="5499770" y="1842942"/>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(1)</a:t>
            </a:r>
            <a:endParaRPr lang="uk-UA" sz="1200" dirty="0">
              <a:effectLst/>
              <a:latin typeface="+mj-lt"/>
              <a:ea typeface="Calibri" panose="020F0502020204030204" pitchFamily="34" charset="0"/>
              <a:cs typeface="Times New Roman" panose="02020603050405020304" pitchFamily="18" charset="0"/>
            </a:endParaRPr>
          </a:p>
        </p:txBody>
      </p:sp>
      <p:sp>
        <p:nvSpPr>
          <p:cNvPr id="27" name="TextBox 26">
            <a:extLst>
              <a:ext uri="{FF2B5EF4-FFF2-40B4-BE49-F238E27FC236}">
                <a16:creationId xmlns:a16="http://schemas.microsoft.com/office/drawing/2014/main" id="{61B7CE1F-79D8-EE9C-F895-DA50CC6C03EF}"/>
              </a:ext>
            </a:extLst>
          </p:cNvPr>
          <p:cNvSpPr txBox="1"/>
          <p:nvPr/>
        </p:nvSpPr>
        <p:spPr>
          <a:xfrm>
            <a:off x="5492266" y="2673504"/>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(2)</a:t>
            </a:r>
            <a:endParaRPr lang="uk-UA" sz="1200" dirty="0">
              <a:effectLst/>
              <a:latin typeface="+mj-lt"/>
              <a:ea typeface="Calibri" panose="020F0502020204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A5635DBC-EF79-D452-B85B-D2041FEAC876}"/>
              </a:ext>
            </a:extLst>
          </p:cNvPr>
          <p:cNvSpPr txBox="1"/>
          <p:nvPr/>
        </p:nvSpPr>
        <p:spPr>
          <a:xfrm>
            <a:off x="5476311" y="3421078"/>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(3)</a:t>
            </a:r>
            <a:endParaRPr lang="uk-UA" sz="1200" dirty="0">
              <a:effectLst/>
              <a:latin typeface="+mj-lt"/>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B5FC137-5187-B0AC-130E-15908CFAA877}"/>
                  </a:ext>
                </a:extLst>
              </p:cNvPr>
              <p:cNvSpPr txBox="1"/>
              <p:nvPr/>
            </p:nvSpPr>
            <p:spPr>
              <a:xfrm>
                <a:off x="84584" y="3837592"/>
                <a:ext cx="5747048" cy="523220"/>
              </a:xfrm>
              <a:prstGeom prst="rect">
                <a:avLst/>
              </a:prstGeom>
              <a:noFill/>
            </p:spPr>
            <p:txBody>
              <a:bodyPr wrap="square">
                <a:spAutoFit/>
              </a:bodyPr>
              <a:lstStyle/>
              <a:p>
                <a:r>
                  <a:rPr lang="uk-UA" sz="1400" kern="0" dirty="0">
                    <a:solidFill>
                      <a:srgbClr val="000000"/>
                    </a:solidFill>
                    <a:effectLst/>
                    <a:latin typeface="Times New Roman" panose="02020603050405020304" pitchFamily="18" charset="0"/>
                    <a:ea typeface="Calibri" panose="020F0502020204030204" pitchFamily="34" charset="0"/>
                  </a:rPr>
                  <a:t>Цільові мережі </a:t>
                </a:r>
                <a:r>
                  <a:rPr lang="en-US" sz="1400" i="1" kern="0" dirty="0" err="1">
                    <a:solidFill>
                      <a:srgbClr val="000000"/>
                    </a:solidFill>
                    <a:effectLst/>
                    <a:latin typeface="Times New Roman" panose="02020603050405020304" pitchFamily="18" charset="0"/>
                    <a:ea typeface="Calibri" panose="020F0502020204030204" pitchFamily="34" charset="0"/>
                  </a:rPr>
                  <a:t>Q</a:t>
                </a:r>
                <a:r>
                  <a:rPr lang="en-US" sz="1400" i="1" kern="0" baseline="-25000" dirty="0" err="1">
                    <a:solidFill>
                      <a:srgbClr val="000000"/>
                    </a:solidFill>
                    <a:effectLst/>
                    <a:latin typeface="Times New Roman" panose="02020603050405020304" pitchFamily="18" charset="0"/>
                    <a:ea typeface="Calibri" panose="020F0502020204030204" pitchFamily="34" charset="0"/>
                  </a:rPr>
                  <a:t>ϕ</a:t>
                </a:r>
                <a:r>
                  <a:rPr lang="ru-RU" sz="1400" i="1" kern="0" baseline="-25000" dirty="0">
                    <a:solidFill>
                      <a:srgbClr val="000000"/>
                    </a:solidFill>
                    <a:effectLst/>
                    <a:latin typeface="Times New Roman" panose="02020603050405020304" pitchFamily="18" charset="0"/>
                    <a:ea typeface="Calibri" panose="020F0502020204030204" pitchFamily="34" charset="0"/>
                  </a:rPr>
                  <a:t>′</a:t>
                </a:r>
                <a14:m>
                  <m:oMath xmlns:m="http://schemas.openxmlformats.org/officeDocument/2006/math">
                    <m:r>
                      <a:rPr lang="ru-RU" sz="1400" i="1" ker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 </m:t>
                    </m:r>
                    <m:r>
                      <a:rPr lang="uk-UA" sz="1400" b="0" i="1" kern="0" smtClean="0">
                        <a:solidFill>
                          <a:srgbClr val="000000"/>
                        </a:solidFill>
                        <a:effectLst/>
                        <a:latin typeface="Cambria Math" panose="02040503050406030204" pitchFamily="18" charset="0"/>
                        <a:ea typeface="Calibri" panose="020F0502020204030204" pitchFamily="34" charset="0"/>
                        <a:cs typeface="Times New Roman" panose="02020603050405020304" pitchFamily="18" charset="0"/>
                      </a:rPr>
                      <m:t>(Актор)</m:t>
                    </m:r>
                  </m:oMath>
                </a14:m>
                <a:r>
                  <a:rPr lang="ru-RU" sz="1400" kern="0" dirty="0">
                    <a:solidFill>
                      <a:srgbClr val="000000"/>
                    </a:solidFill>
                    <a:effectLst/>
                    <a:latin typeface="Times New Roman" panose="02020603050405020304" pitchFamily="18" charset="0"/>
                    <a:ea typeface="Calibri" panose="020F0502020204030204" pitchFamily="34" charset="0"/>
                  </a:rPr>
                  <a:t> </a:t>
                </a:r>
                <a:r>
                  <a:rPr lang="uk-UA" sz="1400" kern="0" dirty="0">
                    <a:solidFill>
                      <a:srgbClr val="000000"/>
                    </a:solidFill>
                    <a:effectLst/>
                    <a:latin typeface="Times New Roman" panose="02020603050405020304" pitchFamily="18" charset="0"/>
                    <a:ea typeface="Calibri" panose="020F0502020204030204" pitchFamily="34" charset="0"/>
                  </a:rPr>
                  <a:t>та </a:t>
                </a:r>
                <a:r>
                  <a:rPr lang="en-US" sz="1400" i="1" kern="0" dirty="0">
                    <a:solidFill>
                      <a:srgbClr val="000000"/>
                    </a:solidFill>
                    <a:effectLst/>
                    <a:latin typeface="Times New Roman" panose="02020603050405020304" pitchFamily="18" charset="0"/>
                    <a:ea typeface="Calibri" panose="020F0502020204030204" pitchFamily="34" charset="0"/>
                  </a:rPr>
                  <a:t>π</a:t>
                </a:r>
                <a:r>
                  <a:rPr lang="en-US" sz="1400" i="1" kern="0" baseline="-25000" dirty="0">
                    <a:solidFill>
                      <a:srgbClr val="000000"/>
                    </a:solidFill>
                    <a:effectLst/>
                    <a:latin typeface="Times New Roman" panose="02020603050405020304" pitchFamily="18" charset="0"/>
                    <a:ea typeface="Calibri" panose="020F0502020204030204" pitchFamily="34" charset="0"/>
                  </a:rPr>
                  <a:t>θ</a:t>
                </a:r>
                <a:r>
                  <a:rPr lang="ru-RU" sz="1400" i="1" kern="0" baseline="-25000" dirty="0">
                    <a:solidFill>
                      <a:srgbClr val="000000"/>
                    </a:solidFill>
                    <a:effectLst/>
                    <a:latin typeface="Times New Roman" panose="02020603050405020304" pitchFamily="18" charset="0"/>
                    <a:ea typeface="Calibri" panose="020F0502020204030204" pitchFamily="34" charset="0"/>
                  </a:rPr>
                  <a:t>′</a:t>
                </a:r>
                <a:r>
                  <a:rPr lang="ru-RU" sz="1400" kern="0" dirty="0">
                    <a:solidFill>
                      <a:srgbClr val="000000"/>
                    </a:solidFill>
                    <a:effectLst/>
                    <a:latin typeface="Times New Roman" panose="02020603050405020304" pitchFamily="18" charset="0"/>
                    <a:ea typeface="Calibri" panose="020F0502020204030204" pitchFamily="34" charset="0"/>
                  </a:rPr>
                  <a:t> (Критик) </a:t>
                </a:r>
                <a:r>
                  <a:rPr lang="uk-UA" sz="1400" kern="0" dirty="0">
                    <a:solidFill>
                      <a:srgbClr val="000000"/>
                    </a:solidFill>
                    <a:effectLst/>
                    <a:latin typeface="Times New Roman" panose="02020603050405020304" pitchFamily="18" charset="0"/>
                    <a:ea typeface="Calibri" panose="020F0502020204030204" pitchFamily="34" charset="0"/>
                  </a:rPr>
                  <a:t>оновлюються за схемою м’яких оновлень, що задається як</a:t>
                </a:r>
                <a:endParaRPr lang="uk-UA" sz="1400" dirty="0"/>
              </a:p>
            </p:txBody>
          </p:sp>
        </mc:Choice>
        <mc:Fallback xmlns="">
          <p:sp>
            <p:nvSpPr>
              <p:cNvPr id="2" name="TextBox 1">
                <a:extLst>
                  <a:ext uri="{FF2B5EF4-FFF2-40B4-BE49-F238E27FC236}">
                    <a16:creationId xmlns:a16="http://schemas.microsoft.com/office/drawing/2014/main" id="{0B5FC137-5187-B0AC-130E-15908CFAA877}"/>
                  </a:ext>
                </a:extLst>
              </p:cNvPr>
              <p:cNvSpPr txBox="1">
                <a:spLocks noRot="1" noChangeAspect="1" noMove="1" noResize="1" noEditPoints="1" noAdjustHandles="1" noChangeArrowheads="1" noChangeShapeType="1" noTextEdit="1"/>
              </p:cNvSpPr>
              <p:nvPr/>
            </p:nvSpPr>
            <p:spPr>
              <a:xfrm>
                <a:off x="84584" y="3837592"/>
                <a:ext cx="5747048" cy="523220"/>
              </a:xfrm>
              <a:prstGeom prst="rect">
                <a:avLst/>
              </a:prstGeom>
              <a:blipFill>
                <a:blip r:embed="rId8"/>
                <a:stretch>
                  <a:fillRect l="-318" t="-2353" b="-10588"/>
                </a:stretch>
              </a:blipFill>
            </p:spPr>
            <p:txBody>
              <a:bodyPr/>
              <a:lstStyle/>
              <a:p>
                <a:r>
                  <a:rPr lang="uk-UA">
                    <a:noFill/>
                  </a:rPr>
                  <a:t> </a:t>
                </a:r>
              </a:p>
            </p:txBody>
          </p:sp>
        </mc:Fallback>
      </mc:AlternateContent>
      <p:graphicFrame>
        <p:nvGraphicFramePr>
          <p:cNvPr id="5" name="Object 4">
            <a:extLst>
              <a:ext uri="{FF2B5EF4-FFF2-40B4-BE49-F238E27FC236}">
                <a16:creationId xmlns:a16="http://schemas.microsoft.com/office/drawing/2014/main" id="{98D85BA0-DF35-C4E8-0891-9F4FDC10C6E3}"/>
              </a:ext>
            </a:extLst>
          </p:cNvPr>
          <p:cNvGraphicFramePr>
            <a:graphicFrameLocks noChangeAspect="1"/>
          </p:cNvGraphicFramePr>
          <p:nvPr>
            <p:extLst>
              <p:ext uri="{D42A27DB-BD31-4B8C-83A1-F6EECF244321}">
                <p14:modId xmlns:p14="http://schemas.microsoft.com/office/powerpoint/2010/main" val="1891828294"/>
              </p:ext>
            </p:extLst>
          </p:nvPr>
        </p:nvGraphicFramePr>
        <p:xfrm>
          <a:off x="1396141" y="4464176"/>
          <a:ext cx="2664296" cy="238211"/>
        </p:xfrm>
        <a:graphic>
          <a:graphicData uri="http://schemas.openxmlformats.org/presentationml/2006/ole">
            <mc:AlternateContent xmlns:mc="http://schemas.openxmlformats.org/markup-compatibility/2006">
              <mc:Choice xmlns:v="urn:schemas-microsoft-com:vml" Requires="v">
                <p:oleObj name="Equation" r:id="rId9" imgW="2298700" imgH="203200" progId="Equation.DSMT4">
                  <p:embed/>
                </p:oleObj>
              </mc:Choice>
              <mc:Fallback>
                <p:oleObj name="Equation" r:id="rId9" imgW="2298700" imgH="203200" progId="Equation.DSMT4">
                  <p:embed/>
                  <p:pic>
                    <p:nvPicPr>
                      <p:cNvPr id="5" name="Object 4">
                        <a:extLst>
                          <a:ext uri="{FF2B5EF4-FFF2-40B4-BE49-F238E27FC236}">
                            <a16:creationId xmlns:a16="http://schemas.microsoft.com/office/drawing/2014/main" id="{98D85BA0-DF35-C4E8-0891-9F4FDC10C6E3}"/>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396141" y="4464176"/>
                        <a:ext cx="2664296" cy="238211"/>
                      </a:xfrm>
                      <a:prstGeom prst="rect">
                        <a:avLst/>
                      </a:prstGeom>
                      <a:noFill/>
                    </p:spPr>
                  </p:pic>
                </p:oleObj>
              </mc:Fallback>
            </mc:AlternateContent>
          </a:graphicData>
        </a:graphic>
      </p:graphicFrame>
      <p:sp>
        <p:nvSpPr>
          <p:cNvPr id="6" name="TextBox 5">
            <a:extLst>
              <a:ext uri="{FF2B5EF4-FFF2-40B4-BE49-F238E27FC236}">
                <a16:creationId xmlns:a16="http://schemas.microsoft.com/office/drawing/2014/main" id="{882160E8-8770-61A3-2627-D63C25F70120}"/>
              </a:ext>
            </a:extLst>
          </p:cNvPr>
          <p:cNvSpPr txBox="1"/>
          <p:nvPr/>
        </p:nvSpPr>
        <p:spPr>
          <a:xfrm>
            <a:off x="5448103" y="4427349"/>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(4)</a:t>
            </a:r>
            <a:endParaRPr lang="uk-UA" sz="1200" dirty="0">
              <a:effectLst/>
              <a:latin typeface="+mj-lt"/>
              <a:ea typeface="Calibri" panose="020F0502020204030204" pitchFamily="34" charset="0"/>
              <a:cs typeface="Times New Roman" panose="02020603050405020304" pitchFamily="18" charset="0"/>
            </a:endParaRPr>
          </a:p>
        </p:txBody>
      </p:sp>
      <p:sp>
        <p:nvSpPr>
          <p:cNvPr id="3" name="Rectangle 2">
            <a:extLst>
              <a:ext uri="{FF2B5EF4-FFF2-40B4-BE49-F238E27FC236}">
                <a16:creationId xmlns:a16="http://schemas.microsoft.com/office/drawing/2014/main" id="{523D2808-6039-5A69-CA56-9115BC602545}"/>
              </a:ext>
            </a:extLst>
          </p:cNvPr>
          <p:cNvSpPr>
            <a:spLocks noChangeArrowheads="1"/>
          </p:cNvSpPr>
          <p:nvPr/>
        </p:nvSpPr>
        <p:spPr bwMode="auto">
          <a:xfrm>
            <a:off x="429162" y="1826790"/>
            <a:ext cx="8998114"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uk-UA"/>
          </a:p>
        </p:txBody>
      </p:sp>
      <p:graphicFrame>
        <p:nvGraphicFramePr>
          <p:cNvPr id="4" name="Object 3">
            <a:extLst>
              <a:ext uri="{FF2B5EF4-FFF2-40B4-BE49-F238E27FC236}">
                <a16:creationId xmlns:a16="http://schemas.microsoft.com/office/drawing/2014/main" id="{E57958DE-D001-E328-D3D1-C0ADDB7E4900}"/>
              </a:ext>
            </a:extLst>
          </p:cNvPr>
          <p:cNvGraphicFramePr>
            <a:graphicFrameLocks noChangeAspect="1"/>
          </p:cNvGraphicFramePr>
          <p:nvPr>
            <p:extLst>
              <p:ext uri="{D42A27DB-BD31-4B8C-83A1-F6EECF244321}">
                <p14:modId xmlns:p14="http://schemas.microsoft.com/office/powerpoint/2010/main" val="3571582208"/>
              </p:ext>
            </p:extLst>
          </p:nvPr>
        </p:nvGraphicFramePr>
        <p:xfrm>
          <a:off x="429162" y="1826791"/>
          <a:ext cx="2664296" cy="299266"/>
        </p:xfrm>
        <a:graphic>
          <a:graphicData uri="http://schemas.openxmlformats.org/presentationml/2006/ole">
            <mc:AlternateContent xmlns:mc="http://schemas.openxmlformats.org/markup-compatibility/2006">
              <mc:Choice xmlns:v="urn:schemas-microsoft-com:vml" Requires="v">
                <p:oleObj name="Equation" r:id="rId11" imgW="2298700" imgH="254000" progId="Equation.DSMT4">
                  <p:embed/>
                </p:oleObj>
              </mc:Choice>
              <mc:Fallback>
                <p:oleObj name="Equation" r:id="rId11" imgW="2298700" imgH="254000" progId="Equation.DSMT4">
                  <p:embed/>
                  <p:pic>
                    <p:nvPicPr>
                      <p:cNvPr id="0" name="Object 1"/>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429162" y="1826791"/>
                        <a:ext cx="2664296" cy="299266"/>
                      </a:xfrm>
                      <a:prstGeom prst="rect">
                        <a:avLst/>
                      </a:prstGeom>
                      <a:noFill/>
                    </p:spPr>
                  </p:pic>
                </p:oleObj>
              </mc:Fallback>
            </mc:AlternateContent>
          </a:graphicData>
        </a:graphic>
      </p:graphicFrame>
      <p:sp>
        <p:nvSpPr>
          <p:cNvPr id="7" name="Rectangle 4">
            <a:extLst>
              <a:ext uri="{FF2B5EF4-FFF2-40B4-BE49-F238E27FC236}">
                <a16:creationId xmlns:a16="http://schemas.microsoft.com/office/drawing/2014/main" id="{1AFB7545-14CC-DEF0-CEA7-EB75CC6228A1}"/>
              </a:ext>
            </a:extLst>
          </p:cNvPr>
          <p:cNvSpPr>
            <a:spLocks noChangeArrowheads="1"/>
          </p:cNvSpPr>
          <p:nvPr/>
        </p:nvSpPr>
        <p:spPr bwMode="auto">
          <a:xfrm>
            <a:off x="3198839" y="1839620"/>
            <a:ext cx="10142861"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uk-UA"/>
          </a:p>
        </p:txBody>
      </p:sp>
      <p:graphicFrame>
        <p:nvGraphicFramePr>
          <p:cNvPr id="13" name="Object 12">
            <a:extLst>
              <a:ext uri="{FF2B5EF4-FFF2-40B4-BE49-F238E27FC236}">
                <a16:creationId xmlns:a16="http://schemas.microsoft.com/office/drawing/2014/main" id="{A36F0AB3-B405-574B-58CB-39FAEA082E03}"/>
              </a:ext>
            </a:extLst>
          </p:cNvPr>
          <p:cNvGraphicFramePr>
            <a:graphicFrameLocks noChangeAspect="1"/>
          </p:cNvGraphicFramePr>
          <p:nvPr>
            <p:extLst>
              <p:ext uri="{D42A27DB-BD31-4B8C-83A1-F6EECF244321}">
                <p14:modId xmlns:p14="http://schemas.microsoft.com/office/powerpoint/2010/main" val="3623299070"/>
              </p:ext>
            </p:extLst>
          </p:nvPr>
        </p:nvGraphicFramePr>
        <p:xfrm>
          <a:off x="3198840" y="1839621"/>
          <a:ext cx="1910208" cy="281231"/>
        </p:xfrm>
        <a:graphic>
          <a:graphicData uri="http://schemas.openxmlformats.org/presentationml/2006/ole">
            <mc:AlternateContent xmlns:mc="http://schemas.openxmlformats.org/markup-compatibility/2006">
              <mc:Choice xmlns:v="urn:schemas-microsoft-com:vml" Requires="v">
                <p:oleObj name="Equation" r:id="rId13" imgW="1651000" imgH="241300" progId="Equation.DSMT4">
                  <p:embed/>
                </p:oleObj>
              </mc:Choice>
              <mc:Fallback>
                <p:oleObj name="Equation" r:id="rId13" imgW="1651000" imgH="241300" progId="Equation.DSMT4">
                  <p:embed/>
                  <p:pic>
                    <p:nvPicPr>
                      <p:cNvPr id="0" name="Object 3"/>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3198840" y="1839621"/>
                        <a:ext cx="1910208" cy="281231"/>
                      </a:xfrm>
                      <a:prstGeom prst="rect">
                        <a:avLst/>
                      </a:prstGeom>
                      <a:noFill/>
                    </p:spPr>
                  </p:pic>
                </p:oleObj>
              </mc:Fallback>
            </mc:AlternateContent>
          </a:graphicData>
        </a:graphic>
      </p:graphicFrame>
      <p:sp>
        <p:nvSpPr>
          <p:cNvPr id="11" name="Підзаголовок 2">
            <a:extLst>
              <a:ext uri="{FF2B5EF4-FFF2-40B4-BE49-F238E27FC236}">
                <a16:creationId xmlns:a16="http://schemas.microsoft.com/office/drawing/2014/main" id="{4779D650-EE97-D21E-D7D8-684CB7331EB0}"/>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10</a:t>
            </a:r>
            <a:endParaRPr lang="uk-UA" sz="1200" dirty="0">
              <a:solidFill>
                <a:schemeClr val="tx1"/>
              </a:solidFill>
            </a:endParaRPr>
          </a:p>
        </p:txBody>
      </p:sp>
    </p:spTree>
    <p:extLst>
      <p:ext uri="{BB962C8B-B14F-4D97-AF65-F5344CB8AC3E}">
        <p14:creationId xmlns:p14="http://schemas.microsoft.com/office/powerpoint/2010/main" val="24388387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2010F5-4F4D-8D68-7B4C-172EBD39700B}"/>
            </a:ext>
          </a:extLst>
        </p:cNvPr>
        <p:cNvGrpSpPr/>
        <p:nvPr/>
      </p:nvGrpSpPr>
      <p:grpSpPr>
        <a:xfrm>
          <a:off x="0" y="0"/>
          <a:ext cx="0" cy="0"/>
          <a:chOff x="0" y="0"/>
          <a:chExt cx="0" cy="0"/>
        </a:xfrm>
      </p:grpSpPr>
      <p:sp>
        <p:nvSpPr>
          <p:cNvPr id="10" name="Заголовок 1">
            <a:extLst>
              <a:ext uri="{FF2B5EF4-FFF2-40B4-BE49-F238E27FC236}">
                <a16:creationId xmlns:a16="http://schemas.microsoft.com/office/drawing/2014/main" id="{933C93A2-2426-0078-8E24-B313E41B4483}"/>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Параметри навчальної процедури</a:t>
            </a:r>
          </a:p>
        </p:txBody>
      </p:sp>
      <p:sp>
        <p:nvSpPr>
          <p:cNvPr id="4" name="Rectangle 2">
            <a:extLst>
              <a:ext uri="{FF2B5EF4-FFF2-40B4-BE49-F238E27FC236}">
                <a16:creationId xmlns:a16="http://schemas.microsoft.com/office/drawing/2014/main" id="{8C968952-D813-E43C-ADF5-F5034C2DEC44}"/>
              </a:ext>
            </a:extLst>
          </p:cNvPr>
          <p:cNvSpPr>
            <a:spLocks noChangeArrowheads="1"/>
          </p:cNvSpPr>
          <p:nvPr/>
        </p:nvSpPr>
        <p:spPr bwMode="auto">
          <a:xfrm>
            <a:off x="971600" y="698344"/>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uk-UA"/>
          </a:p>
        </p:txBody>
      </p:sp>
      <p:sp>
        <p:nvSpPr>
          <p:cNvPr id="8" name="TextBox 7">
            <a:extLst>
              <a:ext uri="{FF2B5EF4-FFF2-40B4-BE49-F238E27FC236}">
                <a16:creationId xmlns:a16="http://schemas.microsoft.com/office/drawing/2014/main" id="{8A87D15A-739B-D43E-FB3D-74F93F9BB468}"/>
              </a:ext>
            </a:extLst>
          </p:cNvPr>
          <p:cNvSpPr txBox="1"/>
          <p:nvPr/>
        </p:nvSpPr>
        <p:spPr>
          <a:xfrm>
            <a:off x="194719" y="1896096"/>
            <a:ext cx="6530739" cy="2677656"/>
          </a:xfrm>
          <a:prstGeom prst="rect">
            <a:avLst/>
          </a:prstGeom>
          <a:noFill/>
        </p:spPr>
        <p:txBody>
          <a:bodyPr wrap="square">
            <a:spAutoFit/>
          </a:bodyPr>
          <a:lstStyle/>
          <a:p>
            <a:r>
              <a:rPr lang="uk-UA" sz="1400" kern="0" dirty="0">
                <a:solidFill>
                  <a:srgbClr val="000000"/>
                </a:solidFill>
                <a:effectLst/>
                <a:ea typeface="Calibri" panose="020F0502020204030204" pitchFamily="34" charset="0"/>
              </a:rPr>
              <a:t>Для векторного подання окремих груп, користувачів та історій взаємодій використано вектори розмірності </a:t>
            </a:r>
            <a:r>
              <a:rPr lang="en-US" sz="1400" b="1" i="1" kern="0" dirty="0">
                <a:solidFill>
                  <a:srgbClr val="000000"/>
                </a:solidFill>
                <a:effectLst/>
                <a:ea typeface="Calibri" panose="020F0502020204030204" pitchFamily="34" charset="0"/>
              </a:rPr>
              <a:t>n=64</a:t>
            </a:r>
            <a:r>
              <a:rPr lang="en-US" sz="1400" i="1" kern="0" dirty="0">
                <a:solidFill>
                  <a:srgbClr val="000000"/>
                </a:solidFill>
                <a:effectLst/>
                <a:ea typeface="Calibri" panose="020F0502020204030204" pitchFamily="34" charset="0"/>
              </a:rPr>
              <a:t>.</a:t>
            </a:r>
          </a:p>
          <a:p>
            <a:r>
              <a:rPr lang="uk-UA" sz="1400" kern="0" dirty="0">
                <a:solidFill>
                  <a:srgbClr val="000000"/>
                </a:solidFill>
                <a:effectLst/>
                <a:ea typeface="Calibri" panose="020F0502020204030204" pitchFamily="34" charset="0"/>
              </a:rPr>
              <a:t>Дл</a:t>
            </a:r>
            <a:r>
              <a:rPr lang="uk-UA" sz="1400" kern="0" dirty="0">
                <a:solidFill>
                  <a:srgbClr val="000000"/>
                </a:solidFill>
                <a:ea typeface="Calibri" panose="020F0502020204030204" pitchFamily="34" charset="0"/>
              </a:rPr>
              <a:t>я історії взаємодій беруться останні </a:t>
            </a:r>
            <a:r>
              <a:rPr lang="uk-UA" sz="1400" b="1" kern="0" dirty="0">
                <a:solidFill>
                  <a:srgbClr val="000000"/>
                </a:solidFill>
                <a:ea typeface="Calibri" panose="020F0502020204030204" pitchFamily="34" charset="0"/>
              </a:rPr>
              <a:t>10</a:t>
            </a:r>
            <a:r>
              <a:rPr lang="uk-UA" sz="1400" kern="0" dirty="0">
                <a:solidFill>
                  <a:srgbClr val="000000"/>
                </a:solidFill>
                <a:ea typeface="Calibri" panose="020F0502020204030204" pitchFamily="34" charset="0"/>
              </a:rPr>
              <a:t> елементів.</a:t>
            </a:r>
            <a:endParaRPr lang="uk-UA" sz="1400" kern="0" dirty="0">
              <a:solidFill>
                <a:srgbClr val="000000"/>
              </a:solidFill>
              <a:effectLst/>
              <a:ea typeface="Calibri" panose="020F0502020204030204" pitchFamily="34" charset="0"/>
            </a:endParaRPr>
          </a:p>
          <a:p>
            <a:r>
              <a:rPr lang="uk-UA" sz="1400" kern="0" dirty="0">
                <a:solidFill>
                  <a:srgbClr val="000000"/>
                </a:solidFill>
                <a:effectLst/>
                <a:ea typeface="Calibri" panose="020F0502020204030204" pitchFamily="34" charset="0"/>
              </a:rPr>
              <a:t>Всі три мережі Інтегратор, Актор та Критик оптимізуються з використанням оптимізатора </a:t>
            </a:r>
            <a:r>
              <a:rPr lang="en-US" sz="1400" b="1" kern="0" dirty="0">
                <a:solidFill>
                  <a:srgbClr val="000000"/>
                </a:solidFill>
                <a:effectLst/>
                <a:ea typeface="Calibri" panose="020F0502020204030204" pitchFamily="34" charset="0"/>
              </a:rPr>
              <a:t>Ranger (RAda</a:t>
            </a:r>
            <a:r>
              <a:rPr lang="en-US" sz="1400" b="1" kern="0" dirty="0">
                <a:solidFill>
                  <a:srgbClr val="000000"/>
                </a:solidFill>
                <a:ea typeface="Calibri" panose="020F0502020204030204" pitchFamily="34" charset="0"/>
              </a:rPr>
              <a:t>m + Lookahead)</a:t>
            </a:r>
            <a:r>
              <a:rPr lang="uk-UA" sz="1400" kern="0" dirty="0">
                <a:solidFill>
                  <a:srgbClr val="000000"/>
                </a:solidFill>
                <a:effectLst/>
                <a:ea typeface="Calibri" panose="020F0502020204030204" pitchFamily="34" charset="0"/>
              </a:rPr>
              <a:t>.</a:t>
            </a:r>
          </a:p>
          <a:p>
            <a:r>
              <a:rPr lang="uk-UA" sz="1400" noProof="0" dirty="0"/>
              <a:t>Для побудови середовища взаємодії застосовано пакет </a:t>
            </a:r>
            <a:r>
              <a:rPr lang="en-US" sz="1400" b="1" noProof="0" dirty="0"/>
              <a:t>gymnasium</a:t>
            </a:r>
            <a:r>
              <a:rPr lang="ru-RU" sz="1400" dirty="0"/>
              <a:t>.</a:t>
            </a:r>
            <a:endParaRPr lang="en-US" sz="1400" dirty="0"/>
          </a:p>
          <a:p>
            <a:endParaRPr lang="uk-UA" sz="1400" dirty="0"/>
          </a:p>
          <a:p>
            <a:r>
              <a:rPr lang="uk-UA" sz="1400" b="1" dirty="0">
                <a:solidFill>
                  <a:srgbClr val="3E84F3"/>
                </a:solidFill>
              </a:rPr>
              <a:t>Процедура навчання </a:t>
            </a:r>
            <a:r>
              <a:rPr lang="uk-UA" sz="1400" dirty="0"/>
              <a:t>полягає в ітеративному чергуванні трьох основних етапів: формування дії для поточного стану групи, оцінювання якості цієї дії мережею Критик та коригування параметрів мереж Актор і Критик на основі накопиченого досвіду.</a:t>
            </a:r>
          </a:p>
          <a:p>
            <a:endParaRPr lang="uk-UA" sz="1400" kern="0" dirty="0">
              <a:solidFill>
                <a:srgbClr val="000000"/>
              </a:solidFill>
              <a:ea typeface="Calibri" panose="020F0502020204030204" pitchFamily="34" charset="0"/>
            </a:endParaRPr>
          </a:p>
        </p:txBody>
      </p:sp>
      <p:sp>
        <p:nvSpPr>
          <p:cNvPr id="2" name="TextBox 1">
            <a:extLst>
              <a:ext uri="{FF2B5EF4-FFF2-40B4-BE49-F238E27FC236}">
                <a16:creationId xmlns:a16="http://schemas.microsoft.com/office/drawing/2014/main" id="{D1D20F48-ADB1-A1CF-5360-775A47BBBDB3}"/>
              </a:ext>
            </a:extLst>
          </p:cNvPr>
          <p:cNvSpPr txBox="1"/>
          <p:nvPr/>
        </p:nvSpPr>
        <p:spPr>
          <a:xfrm>
            <a:off x="6798166" y="308139"/>
            <a:ext cx="2345834" cy="1169551"/>
          </a:xfrm>
          <a:prstGeom prst="rect">
            <a:avLst/>
          </a:prstGeom>
          <a:noFill/>
        </p:spPr>
        <p:txBody>
          <a:bodyPr wrap="square">
            <a:spAutoFit/>
          </a:bodyPr>
          <a:lstStyle/>
          <a:p>
            <a:r>
              <a:rPr lang="uk-UA" sz="1400" b="1" dirty="0">
                <a:solidFill>
                  <a:srgbClr val="00CC99"/>
                </a:solidFill>
              </a:rPr>
              <a:t>Апаратне забезпечення</a:t>
            </a:r>
            <a:r>
              <a:rPr lang="en-US" sz="1400" b="1" dirty="0">
                <a:solidFill>
                  <a:srgbClr val="00CC99"/>
                </a:solidFill>
              </a:rPr>
              <a:t>:</a:t>
            </a:r>
            <a:r>
              <a:rPr lang="en-US" sz="1400" b="1" dirty="0">
                <a:solidFill>
                  <a:srgbClr val="FF5050"/>
                </a:solidFill>
              </a:rPr>
              <a:t> </a:t>
            </a:r>
          </a:p>
          <a:p>
            <a:pPr marL="285750" indent="-285750">
              <a:buFont typeface="Wingdings" pitchFamily="2" charset="2"/>
              <a:buChar char="v"/>
            </a:pPr>
            <a:r>
              <a:rPr lang="en-US" sz="1400" dirty="0"/>
              <a:t>CPU - Intel Core </a:t>
            </a:r>
            <a:r>
              <a:rPr lang="en-US" sz="1400" dirty="0" err="1"/>
              <a:t>i</a:t>
            </a:r>
            <a:r>
              <a:rPr lang="uk-UA" sz="1400" dirty="0"/>
              <a:t>7</a:t>
            </a:r>
            <a:r>
              <a:rPr lang="en-US" sz="1400" dirty="0"/>
              <a:t>-</a:t>
            </a:r>
            <a:r>
              <a:rPr lang="uk-UA" sz="1400" dirty="0"/>
              <a:t>9700К</a:t>
            </a:r>
            <a:endParaRPr lang="en-US" sz="1400" dirty="0"/>
          </a:p>
          <a:p>
            <a:pPr marL="285750" indent="-285750">
              <a:buFont typeface="Wingdings" pitchFamily="2" charset="2"/>
              <a:buChar char="v"/>
            </a:pPr>
            <a:r>
              <a:rPr lang="en-US" sz="1400" dirty="0"/>
              <a:t>GPU - Nvidia GTX 1650</a:t>
            </a:r>
          </a:p>
          <a:p>
            <a:pPr marL="285750" indent="-285750">
              <a:buFont typeface="Wingdings" pitchFamily="2" charset="2"/>
              <a:buChar char="v"/>
            </a:pPr>
            <a:r>
              <a:rPr lang="en-US" sz="1400" dirty="0"/>
              <a:t>32 GB RAM</a:t>
            </a:r>
            <a:endParaRPr lang="uk-UA" sz="1400" dirty="0"/>
          </a:p>
          <a:p>
            <a:pPr marL="285750" indent="-285750">
              <a:buFont typeface="Wingdings" pitchFamily="2" charset="2"/>
              <a:buChar char="v"/>
            </a:pPr>
            <a:r>
              <a:rPr lang="en-US" sz="1400" dirty="0"/>
              <a:t>Ubuntu 2</a:t>
            </a:r>
            <a:r>
              <a:rPr lang="uk-UA" sz="1400" dirty="0"/>
              <a:t>4</a:t>
            </a:r>
            <a:r>
              <a:rPr lang="en-US" sz="1400" dirty="0"/>
              <a:t>.04</a:t>
            </a:r>
            <a:endParaRPr lang="uk-UA" sz="1400" dirty="0"/>
          </a:p>
        </p:txBody>
      </p:sp>
      <p:sp>
        <p:nvSpPr>
          <p:cNvPr id="9" name="TextBox 8">
            <a:extLst>
              <a:ext uri="{FF2B5EF4-FFF2-40B4-BE49-F238E27FC236}">
                <a16:creationId xmlns:a16="http://schemas.microsoft.com/office/drawing/2014/main" id="{82F6DDFF-F404-6033-7CD7-7B4936309B2F}"/>
              </a:ext>
            </a:extLst>
          </p:cNvPr>
          <p:cNvSpPr txBox="1"/>
          <p:nvPr/>
        </p:nvSpPr>
        <p:spPr>
          <a:xfrm>
            <a:off x="3635896" y="308139"/>
            <a:ext cx="3240360" cy="1600438"/>
          </a:xfrm>
          <a:prstGeom prst="rect">
            <a:avLst/>
          </a:prstGeom>
          <a:noFill/>
        </p:spPr>
        <p:txBody>
          <a:bodyPr wrap="square" rtlCol="0">
            <a:spAutoFit/>
          </a:bodyPr>
          <a:lstStyle/>
          <a:p>
            <a:r>
              <a:rPr lang="uk-UA" sz="1400" b="1" dirty="0">
                <a:solidFill>
                  <a:srgbClr val="00CC99"/>
                </a:solidFill>
              </a:rPr>
              <a:t>Навчання моделі:</a:t>
            </a:r>
            <a:r>
              <a:rPr lang="en-US" sz="1400" b="1" dirty="0">
                <a:solidFill>
                  <a:srgbClr val="00CC99"/>
                </a:solidFill>
              </a:rPr>
              <a:t> </a:t>
            </a:r>
            <a:endParaRPr lang="uk-UA" sz="1400" b="1" dirty="0">
              <a:solidFill>
                <a:srgbClr val="00CC99"/>
              </a:solidFill>
            </a:endParaRPr>
          </a:p>
          <a:p>
            <a:pPr marL="285750" indent="-285750">
              <a:buFont typeface="Wingdings" pitchFamily="2" charset="2"/>
              <a:buChar char="v"/>
            </a:pPr>
            <a:r>
              <a:rPr lang="uk-UA" sz="1400" dirty="0"/>
              <a:t>50 епох</a:t>
            </a:r>
          </a:p>
          <a:p>
            <a:pPr marL="285750" indent="-285750">
              <a:buFont typeface="Wingdings" pitchFamily="2" charset="2"/>
              <a:buChar char="v"/>
            </a:pPr>
            <a:r>
              <a:rPr lang="en-US" sz="1400" dirty="0"/>
              <a:t>7</a:t>
            </a:r>
            <a:r>
              <a:rPr lang="uk-UA" sz="1400" dirty="0"/>
              <a:t>0%</a:t>
            </a:r>
            <a:r>
              <a:rPr lang="en-US" sz="1400" dirty="0"/>
              <a:t> </a:t>
            </a:r>
            <a:r>
              <a:rPr lang="uk-UA" sz="1400" dirty="0"/>
              <a:t>– </a:t>
            </a:r>
            <a:r>
              <a:rPr lang="uk-UA" sz="1400" b="1" dirty="0"/>
              <a:t>навчальна вибірка</a:t>
            </a:r>
          </a:p>
          <a:p>
            <a:pPr marL="285750" indent="-285750">
              <a:buFont typeface="Wingdings" pitchFamily="2" charset="2"/>
              <a:buChar char="v"/>
            </a:pPr>
            <a:r>
              <a:rPr lang="en-US" sz="1400" dirty="0"/>
              <a:t>3</a:t>
            </a:r>
            <a:r>
              <a:rPr lang="uk-UA" sz="1400" dirty="0"/>
              <a:t>0% – </a:t>
            </a:r>
            <a:r>
              <a:rPr lang="uk-UA" sz="1400" b="1" dirty="0"/>
              <a:t>тестова вибірка </a:t>
            </a:r>
          </a:p>
          <a:p>
            <a:pPr marL="285750" indent="-285750">
              <a:buFont typeface="Wingdings" pitchFamily="2" charset="2"/>
              <a:buChar char="v"/>
            </a:pPr>
            <a:r>
              <a:rPr lang="uk-UA" sz="1400" dirty="0"/>
              <a:t>розділені хронологічно, тестова є новішою</a:t>
            </a:r>
          </a:p>
          <a:p>
            <a:pPr marL="285750" indent="-285750">
              <a:buFont typeface="Wingdings" pitchFamily="2" charset="2"/>
              <a:buChar char="v"/>
            </a:pPr>
            <a:endParaRPr lang="uk-UA" sz="1400" dirty="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B566510-468E-3FF0-EE52-CCF9BE94A6C5}"/>
                  </a:ext>
                </a:extLst>
              </p:cNvPr>
              <p:cNvSpPr txBox="1"/>
              <p:nvPr/>
            </p:nvSpPr>
            <p:spPr>
              <a:xfrm>
                <a:off x="179512" y="308138"/>
                <a:ext cx="3240360" cy="1600438"/>
              </a:xfrm>
              <a:prstGeom prst="rect">
                <a:avLst/>
              </a:prstGeom>
              <a:noFill/>
            </p:spPr>
            <p:txBody>
              <a:bodyPr wrap="square" rtlCol="0">
                <a:spAutoFit/>
              </a:bodyPr>
              <a:lstStyle/>
              <a:p>
                <a:r>
                  <a:rPr lang="uk-UA" sz="1400" b="1" dirty="0">
                    <a:solidFill>
                      <a:srgbClr val="00CC99"/>
                    </a:solidFill>
                  </a:rPr>
                  <a:t>Параметри навчання:</a:t>
                </a:r>
                <a:r>
                  <a:rPr lang="en-US" sz="1400" b="1" dirty="0">
                    <a:solidFill>
                      <a:srgbClr val="00CC99"/>
                    </a:solidFill>
                  </a:rPr>
                  <a:t> </a:t>
                </a:r>
                <a:endParaRPr lang="uk-UA" sz="1400" b="1" dirty="0">
                  <a:solidFill>
                    <a:srgbClr val="00CC99"/>
                  </a:solidFill>
                </a:endParaRPr>
              </a:p>
              <a:p>
                <a:pPr marL="285750" indent="-285750">
                  <a:buFont typeface="Wingdings" pitchFamily="2" charset="2"/>
                  <a:buChar char="v"/>
                </a:pPr>
                <a14:m>
                  <m:oMath xmlns:m="http://schemas.openxmlformats.org/officeDocument/2006/math">
                    <m:r>
                      <a:rPr lang="uk-UA" sz="1400" i="1" smtClean="0">
                        <a:latin typeface="Cambria Math" panose="02040503050406030204" pitchFamily="18" charset="0"/>
                        <a:ea typeface="Cambria Math" panose="02040503050406030204" pitchFamily="18" charset="0"/>
                      </a:rPr>
                      <m:t>𝛾</m:t>
                    </m:r>
                    <m:r>
                      <a:rPr lang="uk-UA" sz="1400" b="0" i="1" smtClean="0">
                        <a:latin typeface="Cambria Math" panose="02040503050406030204" pitchFamily="18" charset="0"/>
                        <a:ea typeface="Cambria Math" panose="02040503050406030204" pitchFamily="18" charset="0"/>
                      </a:rPr>
                      <m:t>=0.95 </m:t>
                    </m:r>
                  </m:oMath>
                </a14:m>
                <a:r>
                  <a:rPr lang="uk-UA" sz="1400" dirty="0"/>
                  <a:t>– </a:t>
                </a:r>
                <a:r>
                  <a:rPr lang="uk-UA" sz="1400" dirty="0">
                    <a:latin typeface="Cambria Math" panose="02040503050406030204" pitchFamily="18" charset="0"/>
                    <a:ea typeface="Cambria Math" panose="02040503050406030204" pitchFamily="18" charset="0"/>
                  </a:rPr>
                  <a:t>коефіціент знижки</a:t>
                </a:r>
              </a:p>
              <a:p>
                <a:pPr marL="285750" indent="-285750">
                  <a:buFont typeface="Wingdings" pitchFamily="2" charset="2"/>
                  <a:buChar char="v"/>
                </a:pPr>
                <a14:m>
                  <m:oMath xmlns:m="http://schemas.openxmlformats.org/officeDocument/2006/math">
                    <m:r>
                      <a:rPr lang="uk-UA" sz="1400" i="1" smtClean="0">
                        <a:latin typeface="Cambria Math" panose="02040503050406030204" pitchFamily="18" charset="0"/>
                        <a:ea typeface="Cambria Math" panose="02040503050406030204" pitchFamily="18" charset="0"/>
                      </a:rPr>
                      <m:t>𝜏</m:t>
                    </m:r>
                    <m:r>
                      <a:rPr lang="uk-UA" sz="1400" b="0" i="1" smtClean="0">
                        <a:latin typeface="Cambria Math" panose="02040503050406030204" pitchFamily="18" charset="0"/>
                        <a:ea typeface="Cambria Math" panose="02040503050406030204" pitchFamily="18" charset="0"/>
                      </a:rPr>
                      <m:t>=</m:t>
                    </m:r>
                    <m:r>
                      <a:rPr lang="uk-UA" sz="1400" i="1">
                        <a:latin typeface="Cambria Math" panose="02040503050406030204" pitchFamily="18" charset="0"/>
                      </a:rPr>
                      <m:t>1</m:t>
                    </m:r>
                    <m:r>
                      <a:rPr lang="uk-UA"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uk-UA" sz="1400" i="1">
                            <a:latin typeface="Cambria Math" panose="02040503050406030204" pitchFamily="18" charset="0"/>
                            <a:ea typeface="Cambria Math" panose="02040503050406030204" pitchFamily="18" charset="0"/>
                          </a:rPr>
                          <m:t>10</m:t>
                        </m:r>
                      </m:e>
                      <m:sup>
                        <m:r>
                          <a:rPr lang="en-US" sz="1400" i="1">
                            <a:latin typeface="Cambria Math" panose="02040503050406030204" pitchFamily="18" charset="0"/>
                            <a:ea typeface="Cambria Math" panose="02040503050406030204" pitchFamily="18" charset="0"/>
                          </a:rPr>
                          <m:t>−3</m:t>
                        </m:r>
                      </m:sup>
                    </m:sSup>
                  </m:oMath>
                </a14:m>
                <a:r>
                  <a:rPr lang="uk-UA" sz="1400" dirty="0"/>
                  <a:t>– м'яке оновлення</a:t>
                </a:r>
              </a:p>
              <a:p>
                <a:pPr marL="285750" indent="-285750">
                  <a:buFont typeface="Wingdings" pitchFamily="2" charset="2"/>
                  <a:buChar char="v"/>
                </a:pPr>
                <a:r>
                  <a:rPr lang="uk-UA" sz="1400" dirty="0"/>
                  <a:t>Швидкість навчання </a:t>
                </a:r>
                <a14:m>
                  <m:oMath xmlns:m="http://schemas.openxmlformats.org/officeDocument/2006/math">
                    <m:r>
                      <a:rPr lang="uk-UA" sz="1400" b="0" i="1" smtClean="0">
                        <a:latin typeface="Cambria Math" panose="02040503050406030204" pitchFamily="18" charset="0"/>
                      </a:rPr>
                      <m:t>1</m:t>
                    </m:r>
                    <m:r>
                      <a:rPr lang="uk-UA" sz="1400" b="0" i="1" smtClean="0">
                        <a:latin typeface="Cambria Math" panose="02040503050406030204" pitchFamily="18" charset="0"/>
                        <a:ea typeface="Cambria Math" panose="02040503050406030204" pitchFamily="18" charset="0"/>
                      </a:rPr>
                      <m:t>∙</m:t>
                    </m:r>
                    <m:sSup>
                      <m:sSupPr>
                        <m:ctrlPr>
                          <a:rPr lang="en-US" sz="1400" b="0" i="1" smtClean="0">
                            <a:latin typeface="Cambria Math" panose="02040503050406030204" pitchFamily="18" charset="0"/>
                            <a:ea typeface="Cambria Math" panose="02040503050406030204" pitchFamily="18" charset="0"/>
                          </a:rPr>
                        </m:ctrlPr>
                      </m:sSupPr>
                      <m:e>
                        <m:r>
                          <a:rPr lang="uk-UA" sz="1400" b="0" i="1" smtClean="0">
                            <a:latin typeface="Cambria Math" panose="02040503050406030204" pitchFamily="18" charset="0"/>
                            <a:ea typeface="Cambria Math" panose="02040503050406030204" pitchFamily="18" charset="0"/>
                          </a:rPr>
                          <m:t>10</m:t>
                        </m:r>
                      </m:e>
                      <m:sup>
                        <m:r>
                          <a:rPr lang="en-US" sz="1400" b="0" i="1" smtClean="0">
                            <a:latin typeface="Cambria Math" panose="02040503050406030204" pitchFamily="18" charset="0"/>
                            <a:ea typeface="Cambria Math" panose="02040503050406030204" pitchFamily="18" charset="0"/>
                          </a:rPr>
                          <m:t>−3</m:t>
                        </m:r>
                      </m:sup>
                    </m:sSup>
                  </m:oMath>
                </a14:m>
                <a:endParaRPr lang="en-US" sz="1400" dirty="0"/>
              </a:p>
              <a:p>
                <a:pPr marL="285750" indent="-285750">
                  <a:buFont typeface="Wingdings" pitchFamily="2" charset="2"/>
                  <a:buChar char="v"/>
                </a:pPr>
                <a:r>
                  <a:rPr lang="uk-UA" sz="1400" dirty="0"/>
                  <a:t>Коефіцієнт регуляризації </a:t>
                </a:r>
                <a14:m>
                  <m:oMath xmlns:m="http://schemas.openxmlformats.org/officeDocument/2006/math">
                    <m:r>
                      <a:rPr lang="uk-UA" sz="1400" i="1">
                        <a:latin typeface="Cambria Math" panose="02040503050406030204" pitchFamily="18" charset="0"/>
                      </a:rPr>
                      <m:t>1</m:t>
                    </m:r>
                    <m:r>
                      <a:rPr lang="uk-UA" sz="1400" i="1">
                        <a:latin typeface="Cambria Math" panose="02040503050406030204" pitchFamily="18" charset="0"/>
                        <a:ea typeface="Cambria Math" panose="02040503050406030204" pitchFamily="18" charset="0"/>
                      </a:rPr>
                      <m:t>∙</m:t>
                    </m:r>
                    <m:sSup>
                      <m:sSupPr>
                        <m:ctrlPr>
                          <a:rPr lang="en-US" sz="1400" i="1">
                            <a:latin typeface="Cambria Math" panose="02040503050406030204" pitchFamily="18" charset="0"/>
                            <a:ea typeface="Cambria Math" panose="02040503050406030204" pitchFamily="18" charset="0"/>
                          </a:rPr>
                        </m:ctrlPr>
                      </m:sSupPr>
                      <m:e>
                        <m:r>
                          <a:rPr lang="uk-UA" sz="1400" i="1">
                            <a:latin typeface="Cambria Math" panose="02040503050406030204" pitchFamily="18" charset="0"/>
                            <a:ea typeface="Cambria Math" panose="02040503050406030204" pitchFamily="18" charset="0"/>
                          </a:rPr>
                          <m:t>10</m:t>
                        </m:r>
                      </m:e>
                      <m:sup>
                        <m:r>
                          <a:rPr lang="en-US" sz="1400" i="1">
                            <a:latin typeface="Cambria Math" panose="02040503050406030204" pitchFamily="18" charset="0"/>
                            <a:ea typeface="Cambria Math" panose="02040503050406030204" pitchFamily="18" charset="0"/>
                          </a:rPr>
                          <m:t>−</m:t>
                        </m:r>
                        <m:r>
                          <a:rPr lang="uk-UA" sz="1400" b="0" i="1" smtClean="0">
                            <a:latin typeface="Cambria Math" panose="02040503050406030204" pitchFamily="18" charset="0"/>
                            <a:ea typeface="Cambria Math" panose="02040503050406030204" pitchFamily="18" charset="0"/>
                          </a:rPr>
                          <m:t>6</m:t>
                        </m:r>
                      </m:sup>
                    </m:sSup>
                  </m:oMath>
                </a14:m>
                <a:endParaRPr lang="uk-UA" sz="1400" dirty="0">
                  <a:ea typeface="Cambria Math" panose="02040503050406030204" pitchFamily="18" charset="0"/>
                </a:endParaRPr>
              </a:p>
              <a:p>
                <a:pPr marL="285750" indent="-285750">
                  <a:buFont typeface="Wingdings" pitchFamily="2" charset="2"/>
                  <a:buChar char="v"/>
                </a:pPr>
                <a:r>
                  <a:rPr lang="en-US" sz="1400" dirty="0"/>
                  <a:t>Dropout = 0.1</a:t>
                </a:r>
                <a:endParaRPr lang="uk-UA" sz="1400" dirty="0"/>
              </a:p>
              <a:p>
                <a:pPr marL="285750" indent="-285750">
                  <a:buFont typeface="Wingdings" pitchFamily="2" charset="2"/>
                  <a:buChar char="v"/>
                </a:pPr>
                <a14:m>
                  <m:oMath xmlns:m="http://schemas.openxmlformats.org/officeDocument/2006/math">
                    <m:r>
                      <a:rPr lang="en-US" sz="1400" b="0" i="1" smtClean="0">
                        <a:latin typeface="Cambria Math" panose="02040503050406030204" pitchFamily="18" charset="0"/>
                      </a:rPr>
                      <m:t>𝑘</m:t>
                    </m:r>
                    <m:r>
                      <a:rPr lang="en-US" sz="1400" b="0" i="1" smtClean="0">
                        <a:latin typeface="Cambria Math" panose="02040503050406030204" pitchFamily="18" charset="0"/>
                        <a:ea typeface="Cambria Math" panose="02040503050406030204" pitchFamily="18" charset="0"/>
                      </a:rPr>
                      <m:t>∈{5, 10, 15, 20}</m:t>
                    </m:r>
                  </m:oMath>
                </a14:m>
                <a:r>
                  <a:rPr lang="en-US" sz="1400" dirty="0"/>
                  <a:t> (top-k)</a:t>
                </a:r>
                <a:endParaRPr lang="uk-UA" sz="1400" dirty="0"/>
              </a:p>
            </p:txBody>
          </p:sp>
        </mc:Choice>
        <mc:Fallback xmlns="">
          <p:sp>
            <p:nvSpPr>
              <p:cNvPr id="11" name="TextBox 10">
                <a:extLst>
                  <a:ext uri="{FF2B5EF4-FFF2-40B4-BE49-F238E27FC236}">
                    <a16:creationId xmlns:a16="http://schemas.microsoft.com/office/drawing/2014/main" id="{DB566510-468E-3FF0-EE52-CCF9BE94A6C5}"/>
                  </a:ext>
                </a:extLst>
              </p:cNvPr>
              <p:cNvSpPr txBox="1">
                <a:spLocks noRot="1" noChangeAspect="1" noMove="1" noResize="1" noEditPoints="1" noAdjustHandles="1" noChangeArrowheads="1" noChangeShapeType="1" noTextEdit="1"/>
              </p:cNvSpPr>
              <p:nvPr/>
            </p:nvSpPr>
            <p:spPr>
              <a:xfrm>
                <a:off x="179512" y="308138"/>
                <a:ext cx="3240360" cy="1600438"/>
              </a:xfrm>
              <a:prstGeom prst="rect">
                <a:avLst/>
              </a:prstGeom>
              <a:blipFill>
                <a:blip r:embed="rId3"/>
                <a:stretch>
                  <a:fillRect l="-564" t="-763" b="-3053"/>
                </a:stretch>
              </a:blipFill>
            </p:spPr>
            <p:txBody>
              <a:bodyPr/>
              <a:lstStyle/>
              <a:p>
                <a:r>
                  <a:rPr lang="uk-UA">
                    <a:noFill/>
                  </a:rPr>
                  <a:t> </a:t>
                </a:r>
              </a:p>
            </p:txBody>
          </p:sp>
        </mc:Fallback>
      </mc:AlternateContent>
      <p:pic>
        <p:nvPicPr>
          <p:cNvPr id="12" name="Рисунок 16">
            <a:extLst>
              <a:ext uri="{FF2B5EF4-FFF2-40B4-BE49-F238E27FC236}">
                <a16:creationId xmlns:a16="http://schemas.microsoft.com/office/drawing/2014/main" id="{12A165AC-375F-B673-B27F-60BC08F2A55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26282" y="4408135"/>
            <a:ext cx="1119210" cy="559606"/>
          </a:xfrm>
          <a:prstGeom prst="rect">
            <a:avLst/>
          </a:prstGeom>
        </p:spPr>
      </p:pic>
      <p:pic>
        <p:nvPicPr>
          <p:cNvPr id="13" name="Рисунок 19">
            <a:extLst>
              <a:ext uri="{FF2B5EF4-FFF2-40B4-BE49-F238E27FC236}">
                <a16:creationId xmlns:a16="http://schemas.microsoft.com/office/drawing/2014/main" id="{DDEC2603-8E88-7552-871E-539684925C1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798765" y="4428653"/>
            <a:ext cx="823127" cy="518570"/>
          </a:xfrm>
          <a:prstGeom prst="rect">
            <a:avLst/>
          </a:prstGeom>
        </p:spPr>
      </p:pic>
      <p:pic>
        <p:nvPicPr>
          <p:cNvPr id="14" name="Рисунок 24">
            <a:extLst>
              <a:ext uri="{FF2B5EF4-FFF2-40B4-BE49-F238E27FC236}">
                <a16:creationId xmlns:a16="http://schemas.microsoft.com/office/drawing/2014/main" id="{80C2EDDD-F866-D5B1-43A7-78D93F35CF4B}"/>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766193" y="4445156"/>
            <a:ext cx="998364" cy="396671"/>
          </a:xfrm>
          <a:prstGeom prst="rect">
            <a:avLst/>
          </a:prstGeom>
        </p:spPr>
      </p:pic>
      <p:sp>
        <p:nvSpPr>
          <p:cNvPr id="15" name="TextBox 14">
            <a:extLst>
              <a:ext uri="{FF2B5EF4-FFF2-40B4-BE49-F238E27FC236}">
                <a16:creationId xmlns:a16="http://schemas.microsoft.com/office/drawing/2014/main" id="{A3E1094C-6D35-EAE7-0A8D-95F516EB78DA}"/>
              </a:ext>
            </a:extLst>
          </p:cNvPr>
          <p:cNvSpPr txBox="1"/>
          <p:nvPr/>
        </p:nvSpPr>
        <p:spPr>
          <a:xfrm>
            <a:off x="207983" y="4534050"/>
            <a:ext cx="3002346" cy="307777"/>
          </a:xfrm>
          <a:prstGeom prst="rect">
            <a:avLst/>
          </a:prstGeom>
          <a:noFill/>
        </p:spPr>
        <p:txBody>
          <a:bodyPr wrap="square">
            <a:spAutoFit/>
          </a:bodyPr>
          <a:lstStyle/>
          <a:p>
            <a:r>
              <a:rPr lang="uk-UA" sz="1400" b="1" dirty="0">
                <a:solidFill>
                  <a:srgbClr val="00CC99"/>
                </a:solidFill>
              </a:rPr>
              <a:t>Використані технології і пакети</a:t>
            </a:r>
            <a:r>
              <a:rPr lang="en-US" sz="1400" b="1" dirty="0">
                <a:solidFill>
                  <a:srgbClr val="00CC99"/>
                </a:solidFill>
              </a:rPr>
              <a:t>:</a:t>
            </a:r>
            <a:r>
              <a:rPr lang="en-US" sz="1400" b="1" dirty="0">
                <a:solidFill>
                  <a:srgbClr val="FF5050"/>
                </a:solidFill>
              </a:rPr>
              <a:t> </a:t>
            </a:r>
          </a:p>
        </p:txBody>
      </p:sp>
      <p:graphicFrame>
        <p:nvGraphicFramePr>
          <p:cNvPr id="21" name="Chart 20">
            <a:extLst>
              <a:ext uri="{FF2B5EF4-FFF2-40B4-BE49-F238E27FC236}">
                <a16:creationId xmlns:a16="http://schemas.microsoft.com/office/drawing/2014/main" id="{258A28B8-6E1E-6EE4-4250-817C37A58395}"/>
              </a:ext>
            </a:extLst>
          </p:cNvPr>
          <p:cNvGraphicFramePr/>
          <p:nvPr>
            <p:extLst>
              <p:ext uri="{D42A27DB-BD31-4B8C-83A1-F6EECF244321}">
                <p14:modId xmlns:p14="http://schemas.microsoft.com/office/powerpoint/2010/main" val="1430499336"/>
              </p:ext>
            </p:extLst>
          </p:nvPr>
        </p:nvGraphicFramePr>
        <p:xfrm>
          <a:off x="6876256" y="1730799"/>
          <a:ext cx="2100064" cy="1804326"/>
        </p:xfrm>
        <a:graphic>
          <a:graphicData uri="http://schemas.openxmlformats.org/drawingml/2006/chart">
            <c:chart xmlns:c="http://schemas.openxmlformats.org/drawingml/2006/chart" xmlns:r="http://schemas.openxmlformats.org/officeDocument/2006/relationships" r:id="rId7"/>
          </a:graphicData>
        </a:graphic>
      </p:graphicFrame>
      <p:pic>
        <p:nvPicPr>
          <p:cNvPr id="4098" name="Picture 2" descr="Scikit-learn — Вікіпедія">
            <a:extLst>
              <a:ext uri="{FF2B5EF4-FFF2-40B4-BE49-F238E27FC236}">
                <a16:creationId xmlns:a16="http://schemas.microsoft.com/office/drawing/2014/main" id="{EEF0BED9-272E-BAD5-C244-9797DDB21320}"/>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4674604" y="4335714"/>
            <a:ext cx="974601" cy="526285"/>
          </a:xfrm>
          <a:prstGeom prst="rect">
            <a:avLst/>
          </a:prstGeom>
          <a:noFill/>
          <a:extLst>
            <a:ext uri="{909E8E84-426E-40DD-AFC4-6F175D3DCCD1}">
              <a14:hiddenFill xmlns:a14="http://schemas.microsoft.com/office/drawing/2010/main">
                <a:solidFill>
                  <a:srgbClr val="FFFFFF"/>
                </a:solidFill>
              </a14:hiddenFill>
            </a:ext>
          </a:extLst>
        </p:spPr>
      </p:pic>
      <p:sp>
        <p:nvSpPr>
          <p:cNvPr id="3" name="Підзаголовок 2">
            <a:extLst>
              <a:ext uri="{FF2B5EF4-FFF2-40B4-BE49-F238E27FC236}">
                <a16:creationId xmlns:a16="http://schemas.microsoft.com/office/drawing/2014/main" id="{501F2C18-8857-F3A6-276F-92F5D78822E9}"/>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11</a:t>
            </a:r>
            <a:endParaRPr lang="uk-UA" sz="1200" dirty="0">
              <a:solidFill>
                <a:schemeClr val="tx1"/>
              </a:solidFill>
            </a:endParaRPr>
          </a:p>
        </p:txBody>
      </p:sp>
    </p:spTree>
    <p:extLst>
      <p:ext uri="{BB962C8B-B14F-4D97-AF65-F5344CB8AC3E}">
        <p14:creationId xmlns:p14="http://schemas.microsoft.com/office/powerpoint/2010/main" val="31098385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A67385-83D4-2723-81FF-114842618A7C}"/>
            </a:ext>
          </a:extLst>
        </p:cNvPr>
        <p:cNvGrpSpPr/>
        <p:nvPr/>
      </p:nvGrpSpPr>
      <p:grpSpPr>
        <a:xfrm>
          <a:off x="0" y="0"/>
          <a:ext cx="0" cy="0"/>
          <a:chOff x="0" y="0"/>
          <a:chExt cx="0" cy="0"/>
        </a:xfrm>
      </p:grpSpPr>
      <p:sp>
        <p:nvSpPr>
          <p:cNvPr id="10" name="Заголовок 1">
            <a:extLst>
              <a:ext uri="{FF2B5EF4-FFF2-40B4-BE49-F238E27FC236}">
                <a16:creationId xmlns:a16="http://schemas.microsoft.com/office/drawing/2014/main" id="{34457074-4F71-6B4E-B4F3-FCC1C5B47FB8}"/>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Метрики для порівняння ефективності</a:t>
            </a:r>
          </a:p>
        </p:txBody>
      </p:sp>
      <p:sp>
        <p:nvSpPr>
          <p:cNvPr id="8" name="TextBox 7">
            <a:extLst>
              <a:ext uri="{FF2B5EF4-FFF2-40B4-BE49-F238E27FC236}">
                <a16:creationId xmlns:a16="http://schemas.microsoft.com/office/drawing/2014/main" id="{9DA2D456-E692-A5FB-62FA-18C1984F6263}"/>
              </a:ext>
            </a:extLst>
          </p:cNvPr>
          <p:cNvSpPr txBox="1"/>
          <p:nvPr/>
        </p:nvSpPr>
        <p:spPr>
          <a:xfrm>
            <a:off x="86653" y="370707"/>
            <a:ext cx="3960440" cy="307777"/>
          </a:xfrm>
          <a:prstGeom prst="rect">
            <a:avLst/>
          </a:prstGeom>
          <a:noFill/>
        </p:spPr>
        <p:txBody>
          <a:bodyPr wrap="square" rtlCol="0">
            <a:spAutoFit/>
          </a:bodyPr>
          <a:lstStyle/>
          <a:p>
            <a:r>
              <a:rPr lang="uk-UA" sz="1400" b="1" dirty="0">
                <a:solidFill>
                  <a:srgbClr val="00CC99"/>
                </a:solidFill>
              </a:rPr>
              <a:t>Використані метрики:</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3F0F9FD-B18B-CBF7-C37A-3D6CF29A175E}"/>
                  </a:ext>
                </a:extLst>
              </p:cNvPr>
              <p:cNvSpPr txBox="1"/>
              <p:nvPr/>
            </p:nvSpPr>
            <p:spPr>
              <a:xfrm>
                <a:off x="2644720" y="611304"/>
                <a:ext cx="3288686" cy="804579"/>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a:spAutoFit/>
              </a:bodyPr>
              <a:lstStyle/>
              <a:p>
                <a:pPr/>
                <a14:m>
                  <m:oMathPara xmlns:m="http://schemas.openxmlformats.org/officeDocument/2006/math">
                    <m:oMathParaPr>
                      <m:jc m:val="left"/>
                    </m:oMathParaPr>
                    <m:oMath xmlns:m="http://schemas.openxmlformats.org/officeDocument/2006/math">
                      <m:r>
                        <a:rPr lang="uk-UA" sz="1400" i="1" smtClean="0">
                          <a:latin typeface="Cambria Math" panose="02040503050406030204" pitchFamily="18" charset="0"/>
                        </a:rPr>
                        <m:t>𝑁𝐷𝐶𝐺</m:t>
                      </m:r>
                      <m:r>
                        <a:rPr lang="uk-UA" sz="1400" i="0">
                          <a:latin typeface="Cambria Math" panose="02040503050406030204" pitchFamily="18" charset="0"/>
                        </a:rPr>
                        <m:t>@</m:t>
                      </m:r>
                      <m:r>
                        <a:rPr lang="uk-UA" sz="1400" i="1">
                          <a:latin typeface="Cambria Math" panose="02040503050406030204" pitchFamily="18" charset="0"/>
                        </a:rPr>
                        <m:t>𝑘</m:t>
                      </m:r>
                      <m:r>
                        <a:rPr lang="uk-UA" sz="1400" i="0">
                          <a:latin typeface="Cambria Math" panose="02040503050406030204" pitchFamily="18" charset="0"/>
                        </a:rPr>
                        <m:t>=</m:t>
                      </m:r>
                      <m:f>
                        <m:fPr>
                          <m:ctrlPr>
                            <a:rPr lang="uk-UA" sz="1400" i="1" smtClean="0">
                              <a:solidFill>
                                <a:schemeClr val="tx1"/>
                              </a:solidFill>
                              <a:latin typeface="Cambria Math" panose="02040503050406030204" pitchFamily="18" charset="0"/>
                            </a:rPr>
                          </m:ctrlPr>
                        </m:fPr>
                        <m:num>
                          <m:nary>
                            <m:naryPr>
                              <m:chr m:val="∑"/>
                              <m:ctrlPr>
                                <a:rPr lang="uk-UA" sz="1400" i="1" smtClean="0">
                                  <a:solidFill>
                                    <a:schemeClr val="tx1"/>
                                  </a:solidFill>
                                  <a:latin typeface="Cambria Math" panose="02040503050406030204" pitchFamily="18" charset="0"/>
                                </a:rPr>
                              </m:ctrlPr>
                            </m:naryPr>
                            <m:sub>
                              <m:r>
                                <m:rPr>
                                  <m:brk m:alnAt="23"/>
                                </m:rPr>
                                <a:rPr lang="en-US" sz="1400" b="0" i="1" smtClean="0">
                                  <a:solidFill>
                                    <a:schemeClr val="tx1"/>
                                  </a:solidFill>
                                  <a:latin typeface="Cambria Math" panose="02040503050406030204" pitchFamily="18" charset="0"/>
                                </a:rPr>
                                <m:t>𝑖</m:t>
                              </m:r>
                              <m:r>
                                <a:rPr lang="en-US" sz="1400" b="0" i="1" smtClean="0">
                                  <a:solidFill>
                                    <a:schemeClr val="tx1"/>
                                  </a:solidFill>
                                  <a:latin typeface="Cambria Math" panose="02040503050406030204" pitchFamily="18" charset="0"/>
                                </a:rPr>
                                <m:t>=1</m:t>
                              </m:r>
                            </m:sub>
                            <m:sup>
                              <m:r>
                                <a:rPr lang="en-US" sz="1400" b="0" i="1" smtClean="0">
                                  <a:solidFill>
                                    <a:schemeClr val="tx1"/>
                                  </a:solidFill>
                                  <a:latin typeface="Cambria Math" panose="02040503050406030204" pitchFamily="18" charset="0"/>
                                </a:rPr>
                                <m:t>𝑘</m:t>
                              </m:r>
                            </m:sup>
                            <m:e>
                              <m:f>
                                <m:fPr>
                                  <m:ctrlPr>
                                    <a:rPr lang="uk-UA" sz="1400" i="1">
                                      <a:solidFill>
                                        <a:schemeClr val="tx1"/>
                                      </a:solidFill>
                                      <a:latin typeface="Cambria Math" panose="02040503050406030204" pitchFamily="18" charset="0"/>
                                    </a:rPr>
                                  </m:ctrlPr>
                                </m:fPr>
                                <m:num>
                                  <m:r>
                                    <a:rPr lang="uk-UA" sz="1400" i="1">
                                      <a:solidFill>
                                        <a:schemeClr val="tx1"/>
                                      </a:solidFill>
                                      <a:latin typeface="Cambria Math" panose="02040503050406030204" pitchFamily="18" charset="0"/>
                                    </a:rPr>
                                    <m:t>𝑟𝑒</m:t>
                                  </m:r>
                                  <m:r>
                                    <a:rPr lang="en-US" sz="1400" b="0" i="1" smtClean="0">
                                      <a:solidFill>
                                        <a:schemeClr val="tx1"/>
                                      </a:solidFill>
                                      <a:latin typeface="Cambria Math" panose="02040503050406030204" pitchFamily="18" charset="0"/>
                                    </a:rPr>
                                    <m:t>𝑙</m:t>
                                  </m:r>
                                  <m:r>
                                    <a:rPr lang="en-US" sz="1400" b="0" i="1" smtClean="0">
                                      <a:solidFill>
                                        <a:schemeClr val="tx1"/>
                                      </a:solidFill>
                                      <a:latin typeface="Cambria Math" panose="02040503050406030204" pitchFamily="18" charset="0"/>
                                    </a:rPr>
                                    <m:t>(</m:t>
                                  </m:r>
                                  <m:r>
                                    <a:rPr lang="en-US" sz="1400" b="0" i="1" smtClean="0">
                                      <a:solidFill>
                                        <a:schemeClr val="tx1"/>
                                      </a:solidFill>
                                      <a:latin typeface="Cambria Math" panose="02040503050406030204" pitchFamily="18" charset="0"/>
                                    </a:rPr>
                                    <m:t>𝑖</m:t>
                                  </m:r>
                                  <m:r>
                                    <a:rPr lang="en-US" sz="1400" b="0" i="1" smtClean="0">
                                      <a:solidFill>
                                        <a:schemeClr val="tx1"/>
                                      </a:solidFill>
                                      <a:latin typeface="Cambria Math" panose="02040503050406030204" pitchFamily="18" charset="0"/>
                                    </a:rPr>
                                    <m:t>)</m:t>
                                  </m:r>
                                </m:num>
                                <m:den>
                                  <m:func>
                                    <m:funcPr>
                                      <m:ctrlPr>
                                        <a:rPr lang="uk-UA" sz="1400" i="1">
                                          <a:solidFill>
                                            <a:schemeClr val="tx1"/>
                                          </a:solidFill>
                                          <a:latin typeface="Cambria Math" panose="02040503050406030204" pitchFamily="18" charset="0"/>
                                        </a:rPr>
                                      </m:ctrlPr>
                                    </m:funcPr>
                                    <m:fName>
                                      <m:sSub>
                                        <m:sSubPr>
                                          <m:ctrlPr>
                                            <a:rPr lang="uk-UA" sz="1400" i="1">
                                              <a:solidFill>
                                                <a:schemeClr val="tx1"/>
                                              </a:solidFill>
                                              <a:latin typeface="Cambria Math" panose="02040503050406030204" pitchFamily="18" charset="0"/>
                                            </a:rPr>
                                          </m:ctrlPr>
                                        </m:sSubPr>
                                        <m:e>
                                          <m:r>
                                            <m:rPr>
                                              <m:sty m:val="p"/>
                                            </m:rPr>
                                            <a:rPr lang="uk-UA" sz="1400">
                                              <a:solidFill>
                                                <a:schemeClr val="tx1"/>
                                              </a:solidFill>
                                              <a:latin typeface="Cambria Math" panose="02040503050406030204" pitchFamily="18" charset="0"/>
                                            </a:rPr>
                                            <m:t>log</m:t>
                                          </m:r>
                                        </m:e>
                                        <m:sub>
                                          <m:r>
                                            <a:rPr lang="uk-UA" sz="1400">
                                              <a:solidFill>
                                                <a:schemeClr val="tx1"/>
                                              </a:solidFill>
                                              <a:latin typeface="Cambria Math" panose="02040503050406030204" pitchFamily="18" charset="0"/>
                                            </a:rPr>
                                            <m:t>2</m:t>
                                          </m:r>
                                        </m:sub>
                                      </m:sSub>
                                    </m:fName>
                                    <m:e>
                                      <m:d>
                                        <m:dPr>
                                          <m:ctrlPr>
                                            <a:rPr lang="uk-UA" sz="1400" i="1">
                                              <a:solidFill>
                                                <a:schemeClr val="tx1"/>
                                              </a:solidFill>
                                              <a:latin typeface="Cambria Math" panose="02040503050406030204" pitchFamily="18" charset="0"/>
                                            </a:rPr>
                                          </m:ctrlPr>
                                        </m:dPr>
                                        <m:e>
                                          <m:r>
                                            <a:rPr lang="uk-UA" sz="1400" i="1">
                                              <a:solidFill>
                                                <a:schemeClr val="tx1"/>
                                              </a:solidFill>
                                              <a:latin typeface="Cambria Math" panose="02040503050406030204" pitchFamily="18" charset="0"/>
                                            </a:rPr>
                                            <m:t>𝑖</m:t>
                                          </m:r>
                                          <m:r>
                                            <a:rPr lang="uk-UA" sz="1400">
                                              <a:solidFill>
                                                <a:schemeClr val="tx1"/>
                                              </a:solidFill>
                                              <a:latin typeface="Cambria Math" panose="02040503050406030204" pitchFamily="18" charset="0"/>
                                            </a:rPr>
                                            <m:t>+1</m:t>
                                          </m:r>
                                        </m:e>
                                      </m:d>
                                    </m:e>
                                  </m:func>
                                </m:den>
                              </m:f>
                            </m:e>
                          </m:nary>
                        </m:num>
                        <m:den>
                          <m:nary>
                            <m:naryPr>
                              <m:chr m:val="∑"/>
                              <m:limLoc m:val="undOvr"/>
                              <m:ctrlPr>
                                <a:rPr lang="uk-UA"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m:rPr>
                                  <m:sty m:val="p"/>
                                </m:rPr>
                                <a:rPr lang="en-US" sz="1400">
                                  <a:latin typeface="Cambria Math" panose="02040503050406030204" pitchFamily="18" charset="0"/>
                                </a:rPr>
                                <m:t>min</m:t>
                              </m:r>
                              <m:r>
                                <a:rPr lang="en-US" sz="1400" i="1">
                                  <a:latin typeface="Cambria Math" panose="02040503050406030204" pitchFamily="18" charset="0"/>
                                </a:rPr>
                                <m:t>(</m:t>
                              </m:r>
                              <m:r>
                                <a:rPr lang="en-US" sz="1400" i="1">
                                  <a:latin typeface="Cambria Math" panose="02040503050406030204" pitchFamily="18" charset="0"/>
                                </a:rPr>
                                <m:t>𝑟𝑒</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𝑙</m:t>
                                  </m:r>
                                </m:e>
                                <m:sub>
                                  <m:r>
                                    <a:rPr lang="en-US" sz="1400" b="0" i="1" smtClean="0">
                                      <a:latin typeface="Cambria Math" panose="02040503050406030204" pitchFamily="18" charset="0"/>
                                    </a:rPr>
                                    <m:t>𝑐𝑜𝑢𝑛𝑡</m:t>
                                  </m:r>
                                </m:sub>
                              </m:sSub>
                              <m:r>
                                <a:rPr lang="en-US" sz="1400" i="1">
                                  <a:latin typeface="Cambria Math" panose="02040503050406030204" pitchFamily="18" charset="0"/>
                                </a:rPr>
                                <m:t>,   </m:t>
                              </m:r>
                              <m:r>
                                <a:rPr lang="en-US" sz="1400" i="1">
                                  <a:latin typeface="Cambria Math" panose="02040503050406030204" pitchFamily="18" charset="0"/>
                                </a:rPr>
                                <m:t>𝑘</m:t>
                              </m:r>
                              <m:r>
                                <a:rPr lang="en-US" sz="1400" i="1">
                                  <a:latin typeface="Cambria Math" panose="02040503050406030204" pitchFamily="18" charset="0"/>
                                </a:rPr>
                                <m:t>)</m:t>
                              </m:r>
                            </m:sup>
                            <m:e>
                              <m:sSubSup>
                                <m:sSubSupPr>
                                  <m:ctrlPr>
                                    <a:rPr lang="en-US" sz="1400" i="1" smtClean="0">
                                      <a:latin typeface="Cambria Math" panose="02040503050406030204" pitchFamily="18" charset="0"/>
                                    </a:rPr>
                                  </m:ctrlPr>
                                </m:sSubSupPr>
                                <m:e>
                                  <m:r>
                                    <a:rPr lang="en-US" sz="1400" b="0" i="1" smtClean="0">
                                      <a:latin typeface="Cambria Math" panose="02040503050406030204" pitchFamily="18" charset="0"/>
                                    </a:rPr>
                                    <m:t>𝑙𝑜𝑔</m:t>
                                  </m:r>
                                </m:e>
                                <m:sub>
                                  <m:r>
                                    <a:rPr lang="en-US" sz="1400" b="0" i="1" smtClean="0">
                                      <a:latin typeface="Cambria Math" panose="02040503050406030204" pitchFamily="18" charset="0"/>
                                    </a:rPr>
                                    <m:t>2</m:t>
                                  </m:r>
                                </m:sub>
                                <m:sup>
                                  <m:r>
                                    <a:rPr lang="en-US" sz="1400" b="0" i="1" smtClean="0">
                                      <a:latin typeface="Cambria Math" panose="02040503050406030204" pitchFamily="18" charset="0"/>
                                    </a:rPr>
                                    <m:t>−1</m:t>
                                  </m:r>
                                </m:sup>
                              </m:sSubSup>
                              <m:r>
                                <a:rPr lang="en-US" sz="1400" b="0" i="1" smtClean="0">
                                  <a:latin typeface="Cambria Math" panose="02040503050406030204" pitchFamily="18" charset="0"/>
                                </a:rPr>
                                <m:t>(</m:t>
                              </m:r>
                              <m:r>
                                <a:rPr lang="en-US" sz="1400" b="0" i="1" smtClean="0">
                                  <a:latin typeface="Cambria Math" panose="02040503050406030204" pitchFamily="18" charset="0"/>
                                </a:rPr>
                                <m:t>𝑖</m:t>
                              </m:r>
                              <m:r>
                                <a:rPr lang="en-US" sz="1400" b="0" i="1" smtClean="0">
                                  <a:latin typeface="Cambria Math" panose="02040503050406030204" pitchFamily="18" charset="0"/>
                                </a:rPr>
                                <m:t>+1)</m:t>
                              </m:r>
                            </m:e>
                          </m:nary>
                        </m:den>
                      </m:f>
                    </m:oMath>
                  </m:oMathPara>
                </a14:m>
                <a:endParaRPr lang="uk-UA" sz="1400" dirty="0"/>
              </a:p>
            </p:txBody>
          </p:sp>
        </mc:Choice>
        <mc:Fallback xmlns="">
          <p:sp>
            <p:nvSpPr>
              <p:cNvPr id="16" name="TextBox 15">
                <a:extLst>
                  <a:ext uri="{FF2B5EF4-FFF2-40B4-BE49-F238E27FC236}">
                    <a16:creationId xmlns:a16="http://schemas.microsoft.com/office/drawing/2014/main" id="{A3F0F9FD-B18B-CBF7-C37A-3D6CF29A175E}"/>
                  </a:ext>
                </a:extLst>
              </p:cNvPr>
              <p:cNvSpPr txBox="1">
                <a:spLocks noRot="1" noChangeAspect="1" noMove="1" noResize="1" noEditPoints="1" noAdjustHandles="1" noChangeArrowheads="1" noChangeShapeType="1" noTextEdit="1"/>
              </p:cNvSpPr>
              <p:nvPr/>
            </p:nvSpPr>
            <p:spPr>
              <a:xfrm>
                <a:off x="2644720" y="611304"/>
                <a:ext cx="3288686" cy="804579"/>
              </a:xfrm>
              <a:prstGeom prst="rect">
                <a:avLst/>
              </a:prstGeom>
              <a:blipFill>
                <a:blip r:embed="rId3"/>
                <a:stretch>
                  <a:fillRect/>
                </a:stretch>
              </a:blipFill>
              <a:ln w="9525" cap="flat" cmpd="sng" algn="ctr">
                <a:solidFill>
                  <a:schemeClr val="dk1"/>
                </a:solidFill>
                <a:prstDash val="solid"/>
                <a:round/>
                <a:headEnd type="none" w="med" len="med"/>
                <a:tailEnd type="none" w="med" len="med"/>
              </a:ln>
            </p:spPr>
            <p:txBody>
              <a:bodyPr/>
              <a:lstStyle/>
              <a:p>
                <a:r>
                  <a:rPr lang="uk-UA">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A8CCD81-C2E6-E749-0A76-AC194E41BAF6}"/>
                  </a:ext>
                </a:extLst>
              </p:cNvPr>
              <p:cNvSpPr txBox="1"/>
              <p:nvPr/>
            </p:nvSpPr>
            <p:spPr>
              <a:xfrm>
                <a:off x="468324" y="1713927"/>
                <a:ext cx="4704202" cy="52322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uk-UA" sz="1400" i="1" smtClean="0">
                          <a:latin typeface="Cambria Math" panose="02040503050406030204" pitchFamily="18" charset="0"/>
                        </a:rPr>
                        <m:t>𝑟</m:t>
                      </m:r>
                      <m:r>
                        <a:rPr lang="en-US" sz="1400" b="0" i="1" smtClean="0">
                          <a:latin typeface="Cambria Math" panose="02040503050406030204" pitchFamily="18" charset="0"/>
                        </a:rPr>
                        <m:t>𝑒𝑙</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𝑖</m:t>
                          </m:r>
                        </m:e>
                      </m:d>
                      <m:r>
                        <a:rPr lang="en-US" sz="1400" b="0" i="1" smtClean="0">
                          <a:latin typeface="Cambria Math" panose="02040503050406030204" pitchFamily="18" charset="0"/>
                        </a:rPr>
                        <m:t>=1 якщо </m:t>
                      </m:r>
                      <m:r>
                        <a:rPr lang="uk-UA" sz="1400" i="1">
                          <a:latin typeface="Cambria Math" panose="02040503050406030204" pitchFamily="18" charset="0"/>
                        </a:rPr>
                        <m:t>𝑖</m:t>
                      </m:r>
                      <m:r>
                        <a:rPr lang="uk-UA" sz="1400" b="0" i="1" smtClean="0">
                          <a:latin typeface="Cambria Math" panose="02040503050406030204" pitchFamily="18" charset="0"/>
                        </a:rPr>
                        <m:t>−ий ел.</m:t>
                      </m:r>
                      <m:r>
                        <a:rPr lang="uk-UA" sz="1400" i="1">
                          <a:latin typeface="Cambria Math" panose="02040503050406030204" pitchFamily="18" charset="0"/>
                        </a:rPr>
                        <m:t> </m:t>
                      </m:r>
                      <m:r>
                        <a:rPr lang="uk-UA" sz="1400" b="0" i="1" smtClean="0">
                          <a:latin typeface="Cambria Math" panose="02040503050406030204" pitchFamily="18" charset="0"/>
                        </a:rPr>
                        <m:t>релевантний,інакше 0</m:t>
                      </m:r>
                    </m:oMath>
                  </m:oMathPara>
                </a14:m>
                <a:endParaRPr lang="uk-UA" sz="1400" b="0" i="1" dirty="0">
                  <a:latin typeface="Cambria Math" panose="02040503050406030204" pitchFamily="18" charset="0"/>
                </a:endParaRPr>
              </a:p>
              <a:p>
                <a:pPr/>
                <a14:m>
                  <m:oMathPara xmlns:m="http://schemas.openxmlformats.org/officeDocument/2006/math">
                    <m:oMathParaPr>
                      <m:jc m:val="center"/>
                    </m:oMathParaPr>
                    <m:oMath xmlns:m="http://schemas.openxmlformats.org/officeDocument/2006/math">
                      <m:r>
                        <a:rPr lang="uk-UA" sz="1400" i="1">
                          <a:latin typeface="Cambria Math" panose="02040503050406030204" pitchFamily="18" charset="0"/>
                        </a:rPr>
                        <m:t>𝑟𝑒</m:t>
                      </m:r>
                      <m:sSub>
                        <m:sSubPr>
                          <m:ctrlPr>
                            <a:rPr lang="en-US" sz="1400" i="1">
                              <a:latin typeface="Cambria Math" panose="02040503050406030204" pitchFamily="18" charset="0"/>
                            </a:rPr>
                          </m:ctrlPr>
                        </m:sSubPr>
                        <m:e>
                          <m:r>
                            <a:rPr lang="en-US" sz="1400" i="1">
                              <a:latin typeface="Cambria Math" panose="02040503050406030204" pitchFamily="18" charset="0"/>
                            </a:rPr>
                            <m:t>𝑙</m:t>
                          </m:r>
                        </m:e>
                        <m:sub>
                          <m:r>
                            <a:rPr lang="en-US" sz="1400" i="1">
                              <a:latin typeface="Cambria Math" panose="02040503050406030204" pitchFamily="18" charset="0"/>
                            </a:rPr>
                            <m:t>𝑐𝑜𝑢𝑛𝑡</m:t>
                          </m:r>
                        </m:sub>
                      </m:sSub>
                      <m:r>
                        <a:rPr lang="uk-UA" sz="1400">
                          <a:latin typeface="Cambria Math" panose="02040503050406030204" pitchFamily="18" charset="0"/>
                        </a:rPr>
                        <m:t>−</m:t>
                      </m:r>
                      <m:r>
                        <a:rPr lang="uk-UA" sz="1400" i="1">
                          <a:latin typeface="Cambria Math" panose="02040503050406030204" pitchFamily="18" charset="0"/>
                        </a:rPr>
                        <m:t>к</m:t>
                      </m:r>
                      <m:r>
                        <a:rPr lang="uk-UA" sz="1400">
                          <a:latin typeface="Cambria Math" panose="02040503050406030204" pitchFamily="18" charset="0"/>
                        </a:rPr>
                        <m:t>ількість релевантних елементів</m:t>
                      </m:r>
                      <m:r>
                        <a:rPr lang="uk-UA" sz="1400" i="1">
                          <a:latin typeface="Cambria Math" panose="02040503050406030204" pitchFamily="18" charset="0"/>
                        </a:rPr>
                        <m:t> </m:t>
                      </m:r>
                    </m:oMath>
                  </m:oMathPara>
                </a14:m>
                <a:endParaRPr lang="uk-UA" sz="1400" i="1" dirty="0"/>
              </a:p>
            </p:txBody>
          </p:sp>
        </mc:Choice>
        <mc:Fallback xmlns="">
          <p:sp>
            <p:nvSpPr>
              <p:cNvPr id="18" name="TextBox 17">
                <a:extLst>
                  <a:ext uri="{FF2B5EF4-FFF2-40B4-BE49-F238E27FC236}">
                    <a16:creationId xmlns:a16="http://schemas.microsoft.com/office/drawing/2014/main" id="{6A8CCD81-C2E6-E749-0A76-AC194E41BAF6}"/>
                  </a:ext>
                </a:extLst>
              </p:cNvPr>
              <p:cNvSpPr txBox="1">
                <a:spLocks noRot="1" noChangeAspect="1" noMove="1" noResize="1" noEditPoints="1" noAdjustHandles="1" noChangeArrowheads="1" noChangeShapeType="1" noTextEdit="1"/>
              </p:cNvSpPr>
              <p:nvPr/>
            </p:nvSpPr>
            <p:spPr>
              <a:xfrm>
                <a:off x="468324" y="1713927"/>
                <a:ext cx="4704202" cy="523220"/>
              </a:xfrm>
              <a:prstGeom prst="rect">
                <a:avLst/>
              </a:prstGeom>
              <a:blipFill>
                <a:blip r:embed="rId4"/>
                <a:stretch>
                  <a:fillRect/>
                </a:stretch>
              </a:blipFill>
            </p:spPr>
            <p:txBody>
              <a:bodyPr/>
              <a:lstStyle/>
              <a:p>
                <a:r>
                  <a:rPr lang="uk-UA">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799FBE2-17EC-E5B2-2170-26536A390674}"/>
                  </a:ext>
                </a:extLst>
              </p:cNvPr>
              <p:cNvSpPr txBox="1"/>
              <p:nvPr/>
            </p:nvSpPr>
            <p:spPr>
              <a:xfrm>
                <a:off x="115071" y="711135"/>
                <a:ext cx="2166793" cy="573170"/>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a:spAutoFit/>
              </a:bodyPr>
              <a:lstStyle/>
              <a:p>
                <a:pPr/>
                <a14:m>
                  <m:oMathPara xmlns:m="http://schemas.openxmlformats.org/officeDocument/2006/math">
                    <m:oMathParaPr>
                      <m:jc m:val="left"/>
                    </m:oMathParaPr>
                    <m:oMath xmlns:m="http://schemas.openxmlformats.org/officeDocument/2006/math">
                      <m:r>
                        <m:rPr>
                          <m:sty m:val="p"/>
                        </m:rPr>
                        <a:rPr lang="en-US" sz="1400" i="1" smtClean="0">
                          <a:solidFill>
                            <a:schemeClr val="tx1"/>
                          </a:solidFill>
                          <a:latin typeface="Cambria Math" panose="02040503050406030204" pitchFamily="18" charset="0"/>
                        </a:rPr>
                        <m:t>R</m:t>
                      </m:r>
                      <m:r>
                        <a:rPr lang="en-US" sz="1400" b="0" i="1" smtClean="0">
                          <a:solidFill>
                            <a:schemeClr val="tx1"/>
                          </a:solidFill>
                          <a:latin typeface="Cambria Math" panose="02040503050406030204" pitchFamily="18" charset="0"/>
                        </a:rPr>
                        <m:t>𝑒𝑐𝑎𝑙𝑙</m:t>
                      </m:r>
                      <m:r>
                        <a:rPr lang="uk-UA" sz="1400" i="0">
                          <a:solidFill>
                            <a:schemeClr val="tx1"/>
                          </a:solidFill>
                          <a:latin typeface="Cambria Math" panose="02040503050406030204" pitchFamily="18" charset="0"/>
                        </a:rPr>
                        <m:t>@</m:t>
                      </m:r>
                      <m:r>
                        <a:rPr lang="uk-UA" sz="1400" i="1">
                          <a:solidFill>
                            <a:schemeClr val="tx1"/>
                          </a:solidFill>
                          <a:latin typeface="Cambria Math" panose="02040503050406030204" pitchFamily="18" charset="0"/>
                        </a:rPr>
                        <m:t>𝑘</m:t>
                      </m:r>
                      <m:r>
                        <a:rPr lang="uk-UA" sz="1400" i="0">
                          <a:solidFill>
                            <a:schemeClr val="tx1"/>
                          </a:solidFill>
                          <a:latin typeface="Cambria Math" panose="02040503050406030204" pitchFamily="18" charset="0"/>
                        </a:rPr>
                        <m:t>=</m:t>
                      </m:r>
                      <m:f>
                        <m:fPr>
                          <m:ctrlPr>
                            <a:rPr lang="uk-UA" sz="1400" i="1">
                              <a:solidFill>
                                <a:schemeClr val="tx1"/>
                              </a:solidFill>
                              <a:latin typeface="Cambria Math" panose="02040503050406030204" pitchFamily="18" charset="0"/>
                            </a:rPr>
                          </m:ctrlPr>
                        </m:fPr>
                        <m:num>
                          <m:nary>
                            <m:naryPr>
                              <m:chr m:val="∑"/>
                              <m:ctrlPr>
                                <a:rPr lang="uk-UA" sz="1400" i="1" smtClean="0">
                                  <a:solidFill>
                                    <a:schemeClr val="tx1"/>
                                  </a:solidFill>
                                  <a:latin typeface="Cambria Math" panose="02040503050406030204" pitchFamily="18" charset="0"/>
                                </a:rPr>
                              </m:ctrlPr>
                            </m:naryPr>
                            <m:sub>
                              <m:r>
                                <m:rPr>
                                  <m:brk m:alnAt="23"/>
                                </m:rPr>
                                <a:rPr lang="en-US" sz="1400" b="0" i="1" smtClean="0">
                                  <a:solidFill>
                                    <a:schemeClr val="tx1"/>
                                  </a:solidFill>
                                  <a:latin typeface="Cambria Math" panose="02040503050406030204" pitchFamily="18" charset="0"/>
                                </a:rPr>
                                <m:t>𝑖</m:t>
                              </m:r>
                              <m:r>
                                <a:rPr lang="en-US" sz="1400" b="0" i="1" smtClean="0">
                                  <a:solidFill>
                                    <a:schemeClr val="tx1"/>
                                  </a:solidFill>
                                  <a:latin typeface="Cambria Math" panose="02040503050406030204" pitchFamily="18" charset="0"/>
                                </a:rPr>
                                <m:t>=1</m:t>
                              </m:r>
                            </m:sub>
                            <m:sup>
                              <m:r>
                                <a:rPr lang="en-US" sz="1400" b="0" i="1" smtClean="0">
                                  <a:solidFill>
                                    <a:schemeClr val="tx1"/>
                                  </a:solidFill>
                                  <a:latin typeface="Cambria Math" panose="02040503050406030204" pitchFamily="18" charset="0"/>
                                </a:rPr>
                                <m:t>𝑘</m:t>
                              </m:r>
                            </m:sup>
                            <m:e>
                              <m:r>
                                <a:rPr lang="en-US" sz="1400" b="0" i="1" smtClean="0">
                                  <a:solidFill>
                                    <a:schemeClr val="tx1"/>
                                  </a:solidFill>
                                  <a:latin typeface="Cambria Math" panose="02040503050406030204" pitchFamily="18" charset="0"/>
                                </a:rPr>
                                <m:t>𝑟𝑒𝑙</m:t>
                              </m:r>
                              <m:r>
                                <a:rPr lang="en-US" sz="1400" b="0" i="1" smtClean="0">
                                  <a:solidFill>
                                    <a:schemeClr val="tx1"/>
                                  </a:solidFill>
                                  <a:latin typeface="Cambria Math" panose="02040503050406030204" pitchFamily="18" charset="0"/>
                                </a:rPr>
                                <m:t>(</m:t>
                              </m:r>
                              <m:r>
                                <a:rPr lang="en-US" sz="1400" b="0" i="1" smtClean="0">
                                  <a:solidFill>
                                    <a:schemeClr val="tx1"/>
                                  </a:solidFill>
                                  <a:latin typeface="Cambria Math" panose="02040503050406030204" pitchFamily="18" charset="0"/>
                                </a:rPr>
                                <m:t>𝑖</m:t>
                              </m:r>
                              <m:r>
                                <a:rPr lang="en-US" sz="1400" b="0" i="1" smtClean="0">
                                  <a:solidFill>
                                    <a:schemeClr val="tx1"/>
                                  </a:solidFill>
                                  <a:latin typeface="Cambria Math" panose="02040503050406030204" pitchFamily="18" charset="0"/>
                                </a:rPr>
                                <m:t>)</m:t>
                              </m:r>
                            </m:e>
                          </m:nary>
                        </m:num>
                        <m:den>
                          <m:r>
                            <a:rPr lang="en-US" sz="1400" b="0" i="1" smtClean="0">
                              <a:solidFill>
                                <a:schemeClr val="tx1"/>
                              </a:solidFill>
                              <a:latin typeface="Cambria Math" panose="02040503050406030204" pitchFamily="18" charset="0"/>
                            </a:rPr>
                            <m:t>𝑟𝑒</m:t>
                          </m:r>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𝑙</m:t>
                              </m:r>
                            </m:e>
                            <m:sub>
                              <m:r>
                                <a:rPr lang="en-US" sz="1400" b="0" i="1" smtClean="0">
                                  <a:solidFill>
                                    <a:schemeClr val="tx1"/>
                                  </a:solidFill>
                                  <a:latin typeface="Cambria Math" panose="02040503050406030204" pitchFamily="18" charset="0"/>
                                </a:rPr>
                                <m:t>𝑐𝑜𝑢𝑛𝑡</m:t>
                              </m:r>
                            </m:sub>
                          </m:sSub>
                        </m:den>
                      </m:f>
                    </m:oMath>
                  </m:oMathPara>
                </a14:m>
                <a:endParaRPr lang="uk-UA" sz="1400" dirty="0">
                  <a:solidFill>
                    <a:schemeClr val="tx1"/>
                  </a:solidFill>
                </a:endParaRPr>
              </a:p>
            </p:txBody>
          </p:sp>
        </mc:Choice>
        <mc:Fallback xmlns="">
          <p:sp>
            <p:nvSpPr>
              <p:cNvPr id="28" name="TextBox 27">
                <a:extLst>
                  <a:ext uri="{FF2B5EF4-FFF2-40B4-BE49-F238E27FC236}">
                    <a16:creationId xmlns:a16="http://schemas.microsoft.com/office/drawing/2014/main" id="{D799FBE2-17EC-E5B2-2170-26536A390674}"/>
                  </a:ext>
                </a:extLst>
              </p:cNvPr>
              <p:cNvSpPr txBox="1">
                <a:spLocks noRot="1" noChangeAspect="1" noMove="1" noResize="1" noEditPoints="1" noAdjustHandles="1" noChangeArrowheads="1" noChangeShapeType="1" noTextEdit="1"/>
              </p:cNvSpPr>
              <p:nvPr/>
            </p:nvSpPr>
            <p:spPr>
              <a:xfrm>
                <a:off x="115071" y="711135"/>
                <a:ext cx="2166793" cy="573170"/>
              </a:xfrm>
              <a:prstGeom prst="rect">
                <a:avLst/>
              </a:prstGeom>
              <a:blipFill>
                <a:blip r:embed="rId5"/>
                <a:stretch>
                  <a:fillRect/>
                </a:stretch>
              </a:blipFill>
              <a:ln w="9525" cap="flat" cmpd="sng" algn="ctr">
                <a:solidFill>
                  <a:schemeClr val="dk1"/>
                </a:solidFill>
                <a:prstDash val="solid"/>
                <a:round/>
                <a:headEnd type="none" w="med" len="med"/>
                <a:tailEnd type="none" w="med" len="med"/>
              </a:ln>
            </p:spPr>
            <p:txBody>
              <a:bodyPr/>
              <a:lstStyle/>
              <a:p>
                <a:r>
                  <a:rPr lang="uk-UA">
                    <a:noFill/>
                  </a:rPr>
                  <a:t> </a:t>
                </a:r>
              </a:p>
            </p:txBody>
          </p:sp>
        </mc:Fallback>
      </mc:AlternateContent>
      <p:sp>
        <p:nvSpPr>
          <p:cNvPr id="4" name="TextBox 3">
            <a:extLst>
              <a:ext uri="{FF2B5EF4-FFF2-40B4-BE49-F238E27FC236}">
                <a16:creationId xmlns:a16="http://schemas.microsoft.com/office/drawing/2014/main" id="{E3DB9EEE-1B4F-DDB9-4D92-D44434F4E3AE}"/>
              </a:ext>
            </a:extLst>
          </p:cNvPr>
          <p:cNvSpPr txBox="1"/>
          <p:nvPr/>
        </p:nvSpPr>
        <p:spPr>
          <a:xfrm>
            <a:off x="6169008" y="2546878"/>
            <a:ext cx="2985971" cy="954107"/>
          </a:xfrm>
          <a:prstGeom prst="rect">
            <a:avLst/>
          </a:prstGeom>
          <a:noFill/>
        </p:spPr>
        <p:txBody>
          <a:bodyPr wrap="square">
            <a:spAutoFit/>
          </a:bodyPr>
          <a:lstStyle/>
          <a:p>
            <a:r>
              <a:rPr lang="uk-UA" sz="1400" kern="0" dirty="0">
                <a:solidFill>
                  <a:srgbClr val="000000"/>
                </a:solidFill>
                <a:effectLst/>
                <a:latin typeface="+mj-lt"/>
                <a:ea typeface="Calibri" panose="020F0502020204030204" pitchFamily="34" charset="0"/>
              </a:rPr>
              <a:t> </a:t>
            </a:r>
            <a:r>
              <a:rPr lang="ru-RU" sz="1400" b="1" dirty="0">
                <a:solidFill>
                  <a:srgbClr val="3E84F3"/>
                </a:solidFill>
              </a:rPr>
              <a:t>Coverage@k </a:t>
            </a:r>
            <a:r>
              <a:rPr lang="uk-UA" sz="1400" noProof="0" dirty="0"/>
              <a:t>оцінює різноманітність використання каталогу, скільки різних фільмів система взагалі використовує.</a:t>
            </a:r>
            <a:endParaRPr lang="uk-UA" sz="1400" dirty="0">
              <a:latin typeface="+mj-lt"/>
            </a:endParaRPr>
          </a:p>
        </p:txBody>
      </p:sp>
      <p:sp>
        <p:nvSpPr>
          <p:cNvPr id="2" name="TextBox 1">
            <a:extLst>
              <a:ext uri="{FF2B5EF4-FFF2-40B4-BE49-F238E27FC236}">
                <a16:creationId xmlns:a16="http://schemas.microsoft.com/office/drawing/2014/main" id="{DF114AFB-6F09-BBBA-5FED-03040A526318}"/>
              </a:ext>
            </a:extLst>
          </p:cNvPr>
          <p:cNvSpPr txBox="1"/>
          <p:nvPr/>
        </p:nvSpPr>
        <p:spPr>
          <a:xfrm>
            <a:off x="936067" y="1359160"/>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(5)</a:t>
            </a:r>
            <a:endParaRPr lang="uk-UA" sz="1200" dirty="0">
              <a:effectLst/>
              <a:latin typeface="+mj-lt"/>
              <a:ea typeface="Calibri" panose="020F0502020204030204" pitchFamily="34" charset="0"/>
              <a:cs typeface="Times New Roman" panose="02020603050405020304" pitchFamily="18" charset="0"/>
            </a:endParaRPr>
          </a:p>
        </p:txBody>
      </p:sp>
      <p:sp>
        <p:nvSpPr>
          <p:cNvPr id="9" name="TextBox 8">
            <a:extLst>
              <a:ext uri="{FF2B5EF4-FFF2-40B4-BE49-F238E27FC236}">
                <a16:creationId xmlns:a16="http://schemas.microsoft.com/office/drawing/2014/main" id="{96B1D6DA-DDF9-5185-4157-CF0F37D8638E}"/>
              </a:ext>
            </a:extLst>
          </p:cNvPr>
          <p:cNvSpPr txBox="1"/>
          <p:nvPr/>
        </p:nvSpPr>
        <p:spPr>
          <a:xfrm>
            <a:off x="4047093" y="1359161"/>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(6)</a:t>
            </a:r>
            <a:endParaRPr lang="uk-UA" sz="1200" dirty="0">
              <a:effectLst/>
              <a:latin typeface="+mj-lt"/>
              <a:ea typeface="Calibri" panose="020F0502020204030204" pitchFamily="34" charset="0"/>
              <a:cs typeface="Times New Roman" panose="02020603050405020304" pitchFamily="18" charset="0"/>
            </a:endParaRPr>
          </a:p>
        </p:txBody>
      </p:sp>
      <p:sp>
        <p:nvSpPr>
          <p:cNvPr id="11" name="TextBox 10">
            <a:extLst>
              <a:ext uri="{FF2B5EF4-FFF2-40B4-BE49-F238E27FC236}">
                <a16:creationId xmlns:a16="http://schemas.microsoft.com/office/drawing/2014/main" id="{F05B75C8-4D37-8F99-88C7-C2EC4F53A70C}"/>
              </a:ext>
            </a:extLst>
          </p:cNvPr>
          <p:cNvSpPr txBox="1"/>
          <p:nvPr/>
        </p:nvSpPr>
        <p:spPr>
          <a:xfrm>
            <a:off x="7406655" y="1354492"/>
            <a:ext cx="355321"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effectLst/>
                <a:latin typeface="+mj-lt"/>
                <a:ea typeface="Calibri" panose="020F0502020204030204" pitchFamily="34" charset="0"/>
                <a:cs typeface="Times New Roman" panose="02020603050405020304" pitchFamily="18" charset="0"/>
              </a:rPr>
              <a:t>(7)</a:t>
            </a:r>
            <a:endParaRPr lang="uk-UA" sz="1200" dirty="0">
              <a:effectLst/>
              <a:latin typeface="+mj-lt"/>
              <a:ea typeface="Calibri" panose="020F0502020204030204" pitchFamily="34" charset="0"/>
              <a:cs typeface="Times New Roman" panose="02020603050405020304" pitchFamily="18" charset="0"/>
            </a:endParaRPr>
          </a:p>
        </p:txBody>
      </p:sp>
      <p:sp>
        <p:nvSpPr>
          <p:cNvPr id="12" name="Rectangle 2">
            <a:extLst>
              <a:ext uri="{FF2B5EF4-FFF2-40B4-BE49-F238E27FC236}">
                <a16:creationId xmlns:a16="http://schemas.microsoft.com/office/drawing/2014/main" id="{57DB3B4F-B160-AA02-8D70-2F5078FAC7B8}"/>
              </a:ext>
            </a:extLst>
          </p:cNvPr>
          <p:cNvSpPr>
            <a:spLocks noChangeArrowheads="1"/>
          </p:cNvSpPr>
          <p:nvPr/>
        </p:nvSpPr>
        <p:spPr bwMode="auto">
          <a:xfrm>
            <a:off x="7708699" y="221547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uk-UA"/>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A57C6929-1EBC-39D4-45DE-6D3EBFE15FA2}"/>
                  </a:ext>
                </a:extLst>
              </p:cNvPr>
              <p:cNvSpPr txBox="1"/>
              <p:nvPr/>
            </p:nvSpPr>
            <p:spPr>
              <a:xfrm>
                <a:off x="6204147" y="712372"/>
                <a:ext cx="2760339" cy="481414"/>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wrap="square">
                <a:spAutoFit/>
              </a:bodyPr>
              <a:lstStyle/>
              <a:p>
                <a:r>
                  <a:rPr lang="en-US" sz="1400" dirty="0"/>
                  <a:t>Coverage</a:t>
                </a:r>
                <a14:m>
                  <m:oMath xmlns:m="http://schemas.openxmlformats.org/officeDocument/2006/math">
                    <m:r>
                      <a:rPr lang="uk-UA" sz="1400" i="0">
                        <a:latin typeface="Cambria Math" panose="02040503050406030204" pitchFamily="18" charset="0"/>
                      </a:rPr>
                      <m:t>@</m:t>
                    </m:r>
                    <m:r>
                      <a:rPr lang="uk-UA" sz="1400" i="1">
                        <a:latin typeface="Cambria Math" panose="02040503050406030204" pitchFamily="18" charset="0"/>
                      </a:rPr>
                      <m:t>𝑘</m:t>
                    </m:r>
                    <m:r>
                      <a:rPr lang="uk-UA" sz="1400" i="0">
                        <a:latin typeface="Cambria Math" panose="02040503050406030204" pitchFamily="18" charset="0"/>
                      </a:rPr>
                      <m:t>=</m:t>
                    </m:r>
                    <m:f>
                      <m:fPr>
                        <m:ctrlPr>
                          <a:rPr lang="uk-UA" sz="1400" i="1" smtClean="0">
                            <a:solidFill>
                              <a:schemeClr val="tx1"/>
                            </a:solidFill>
                            <a:latin typeface="Cambria Math" panose="02040503050406030204" pitchFamily="18" charset="0"/>
                          </a:rPr>
                        </m:ctrlPr>
                      </m:fPr>
                      <m:num>
                        <m:d>
                          <m:dPr>
                            <m:begChr m:val="|"/>
                            <m:endChr m:val="|"/>
                            <m:ctrlPr>
                              <a:rPr lang="uk-UA" sz="1400" i="1" smtClean="0">
                                <a:solidFill>
                                  <a:schemeClr val="tx1"/>
                                </a:solidFill>
                                <a:latin typeface="Cambria Math" panose="02040503050406030204" pitchFamily="18" charset="0"/>
                              </a:rPr>
                            </m:ctrlPr>
                          </m:dPr>
                          <m:e>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ea typeface="Cambria Math" panose="02040503050406030204" pitchFamily="18" charset="0"/>
                                  </a:rPr>
                                  <m:t>∪</m:t>
                                </m:r>
                              </m:e>
                              <m:sub>
                                <m:r>
                                  <a:rPr lang="en-US" sz="1400" b="0" i="1" smtClean="0">
                                    <a:solidFill>
                                      <a:schemeClr val="tx1"/>
                                    </a:solidFill>
                                    <a:latin typeface="Cambria Math" panose="02040503050406030204" pitchFamily="18" charset="0"/>
                                  </a:rPr>
                                  <m:t>𝑔</m:t>
                                </m:r>
                                <m:r>
                                  <a:rPr lang="en-US" sz="1400" b="0" i="1" smtClean="0">
                                    <a:solidFill>
                                      <a:schemeClr val="tx1"/>
                                    </a:solidFill>
                                    <a:latin typeface="Cambria Math" panose="02040503050406030204" pitchFamily="18" charset="0"/>
                                    <a:ea typeface="Cambria Math" panose="02040503050406030204" pitchFamily="18" charset="0"/>
                                  </a:rPr>
                                  <m:t>∈</m:t>
                                </m:r>
                                <m:r>
                                  <a:rPr lang="en-US" sz="1400" b="0" i="1" smtClean="0">
                                    <a:solidFill>
                                      <a:schemeClr val="tx1"/>
                                    </a:solidFill>
                                    <a:latin typeface="Cambria Math" panose="02040503050406030204" pitchFamily="18" charset="0"/>
                                    <a:ea typeface="Cambria Math" panose="02040503050406030204" pitchFamily="18" charset="0"/>
                                  </a:rPr>
                                  <m:t>𝐺</m:t>
                                </m:r>
                              </m:sub>
                            </m:sSub>
                            <m:sSubSup>
                              <m:sSubSupPr>
                                <m:ctrlPr>
                                  <a:rPr lang="en-US" sz="1400" b="0" i="1" smtClean="0">
                                    <a:solidFill>
                                      <a:schemeClr val="tx1"/>
                                    </a:solidFill>
                                    <a:latin typeface="Cambria Math" panose="02040503050406030204" pitchFamily="18" charset="0"/>
                                  </a:rPr>
                                </m:ctrlPr>
                              </m:sSubSupPr>
                              <m:e>
                                <m:r>
                                  <a:rPr lang="en-US" sz="1400" b="0" i="1" smtClean="0">
                                    <a:solidFill>
                                      <a:schemeClr val="tx1"/>
                                    </a:solidFill>
                                    <a:latin typeface="Cambria Math" panose="02040503050406030204" pitchFamily="18" charset="0"/>
                                  </a:rPr>
                                  <m:t>𝑟𝑒𝑐</m:t>
                                </m:r>
                              </m:e>
                              <m:sub>
                                <m:r>
                                  <a:rPr lang="en-US" sz="1400" b="0" i="1" smtClean="0">
                                    <a:solidFill>
                                      <a:schemeClr val="tx1"/>
                                    </a:solidFill>
                                    <a:latin typeface="Cambria Math" panose="02040503050406030204" pitchFamily="18" charset="0"/>
                                  </a:rPr>
                                  <m:t>𝑔</m:t>
                                </m:r>
                              </m:sub>
                              <m:sup>
                                <m:r>
                                  <a:rPr lang="en-US" sz="1400" b="0" i="1" smtClean="0">
                                    <a:solidFill>
                                      <a:schemeClr val="tx1"/>
                                    </a:solidFill>
                                    <a:latin typeface="Cambria Math" panose="02040503050406030204" pitchFamily="18" charset="0"/>
                                  </a:rPr>
                                  <m:t>𝑘</m:t>
                                </m:r>
                              </m:sup>
                            </m:sSubSup>
                          </m:e>
                        </m:d>
                      </m:num>
                      <m:den>
                        <m:r>
                          <a:rPr lang="en-US" sz="1400" b="0" i="1" smtClean="0">
                            <a:solidFill>
                              <a:schemeClr val="tx1"/>
                            </a:solidFill>
                            <a:latin typeface="Cambria Math" panose="02040503050406030204" pitchFamily="18" charset="0"/>
                          </a:rPr>
                          <m:t>|</m:t>
                        </m:r>
                        <m:r>
                          <a:rPr lang="en-US" sz="1400" b="0" i="1" smtClean="0">
                            <a:solidFill>
                              <a:schemeClr val="tx1"/>
                            </a:solidFill>
                            <a:latin typeface="Cambria Math" panose="02040503050406030204" pitchFamily="18" charset="0"/>
                          </a:rPr>
                          <m:t>𝐼</m:t>
                        </m:r>
                        <m:r>
                          <a:rPr lang="en-US" sz="1400" b="0" i="1" smtClean="0">
                            <a:solidFill>
                              <a:schemeClr val="tx1"/>
                            </a:solidFill>
                            <a:latin typeface="Cambria Math" panose="02040503050406030204" pitchFamily="18" charset="0"/>
                          </a:rPr>
                          <m:t>|</m:t>
                        </m:r>
                      </m:den>
                    </m:f>
                  </m:oMath>
                </a14:m>
                <a:endParaRPr lang="uk-UA" sz="1400" dirty="0"/>
              </a:p>
            </p:txBody>
          </p:sp>
        </mc:Choice>
        <mc:Fallback xmlns="">
          <p:sp>
            <p:nvSpPr>
              <p:cNvPr id="14" name="TextBox 13">
                <a:extLst>
                  <a:ext uri="{FF2B5EF4-FFF2-40B4-BE49-F238E27FC236}">
                    <a16:creationId xmlns:a16="http://schemas.microsoft.com/office/drawing/2014/main" id="{A57C6929-1EBC-39D4-45DE-6D3EBFE15FA2}"/>
                  </a:ext>
                </a:extLst>
              </p:cNvPr>
              <p:cNvSpPr txBox="1">
                <a:spLocks noRot="1" noChangeAspect="1" noMove="1" noResize="1" noEditPoints="1" noAdjustHandles="1" noChangeArrowheads="1" noChangeShapeType="1" noTextEdit="1"/>
              </p:cNvSpPr>
              <p:nvPr/>
            </p:nvSpPr>
            <p:spPr>
              <a:xfrm>
                <a:off x="6204147" y="712372"/>
                <a:ext cx="2760339" cy="481414"/>
              </a:xfrm>
              <a:prstGeom prst="rect">
                <a:avLst/>
              </a:prstGeom>
              <a:blipFill>
                <a:blip r:embed="rId6"/>
                <a:stretch>
                  <a:fillRect l="-440"/>
                </a:stretch>
              </a:blipFill>
              <a:ln w="9525" cap="flat" cmpd="sng" algn="ctr">
                <a:solidFill>
                  <a:schemeClr val="dk1"/>
                </a:solidFill>
                <a:prstDash val="solid"/>
                <a:round/>
                <a:headEnd type="none" w="med" len="med"/>
                <a:tailEnd type="none" w="med" len="med"/>
              </a:ln>
            </p:spPr>
            <p:txBody>
              <a:bodyPr/>
              <a:lstStyle/>
              <a:p>
                <a:r>
                  <a:rPr lang="uk-UA">
                    <a:noFill/>
                  </a:rPr>
                  <a:t> </a:t>
                </a:r>
              </a:p>
            </p:txBody>
          </p:sp>
        </mc:Fallback>
      </mc:AlternateContent>
      <p:sp>
        <p:nvSpPr>
          <p:cNvPr id="17" name="TextBox 16">
            <a:extLst>
              <a:ext uri="{FF2B5EF4-FFF2-40B4-BE49-F238E27FC236}">
                <a16:creationId xmlns:a16="http://schemas.microsoft.com/office/drawing/2014/main" id="{2D9F2874-35CF-0A0F-F720-6C57F82E83B1}"/>
              </a:ext>
            </a:extLst>
          </p:cNvPr>
          <p:cNvSpPr txBox="1"/>
          <p:nvPr/>
        </p:nvSpPr>
        <p:spPr>
          <a:xfrm>
            <a:off x="119445" y="2579165"/>
            <a:ext cx="2465208" cy="954107"/>
          </a:xfrm>
          <a:prstGeom prst="rect">
            <a:avLst/>
          </a:prstGeom>
          <a:noFill/>
        </p:spPr>
        <p:txBody>
          <a:bodyPr wrap="square">
            <a:spAutoFit/>
          </a:bodyPr>
          <a:lstStyle/>
          <a:p>
            <a:r>
              <a:rPr lang="uk-UA" sz="1400" b="1" kern="0" dirty="0">
                <a:solidFill>
                  <a:srgbClr val="3E84F3"/>
                </a:solidFill>
                <a:effectLst/>
                <a:latin typeface="+mj-lt"/>
                <a:ea typeface="Calibri" panose="020F0502020204030204" pitchFamily="34" charset="0"/>
              </a:rPr>
              <a:t>Recall@k </a:t>
            </a:r>
            <a:r>
              <a:rPr lang="uk-UA" sz="1400" kern="0" dirty="0">
                <a:solidFill>
                  <a:srgbClr val="000000"/>
                </a:solidFill>
                <a:effectLst/>
                <a:latin typeface="+mj-lt"/>
                <a:ea typeface="Calibri" panose="020F0502020204030204" pitchFamily="34" charset="0"/>
              </a:rPr>
              <a:t>відображає здатність знайти всі релевантні елементи серед топ-</a:t>
            </a:r>
            <a:r>
              <a:rPr lang="uk-UA" sz="1400" i="1" kern="0" dirty="0">
                <a:solidFill>
                  <a:srgbClr val="000000"/>
                </a:solidFill>
                <a:effectLst/>
                <a:latin typeface="+mj-lt"/>
                <a:ea typeface="Calibri" panose="020F0502020204030204" pitchFamily="34" charset="0"/>
              </a:rPr>
              <a:t>k</a:t>
            </a:r>
            <a:r>
              <a:rPr lang="uk-UA" sz="1400" kern="0" dirty="0">
                <a:solidFill>
                  <a:srgbClr val="000000"/>
                </a:solidFill>
                <a:effectLst/>
                <a:latin typeface="+mj-lt"/>
                <a:ea typeface="Calibri" panose="020F0502020204030204" pitchFamily="34" charset="0"/>
              </a:rPr>
              <a:t> результатів</a:t>
            </a:r>
          </a:p>
        </p:txBody>
      </p:sp>
      <p:sp>
        <p:nvSpPr>
          <p:cNvPr id="22" name="TextBox 21">
            <a:extLst>
              <a:ext uri="{FF2B5EF4-FFF2-40B4-BE49-F238E27FC236}">
                <a16:creationId xmlns:a16="http://schemas.microsoft.com/office/drawing/2014/main" id="{7CF6CEFC-B0F2-F010-2B65-DFAD321CFF36}"/>
              </a:ext>
            </a:extLst>
          </p:cNvPr>
          <p:cNvSpPr txBox="1"/>
          <p:nvPr/>
        </p:nvSpPr>
        <p:spPr>
          <a:xfrm>
            <a:off x="2596513" y="2546878"/>
            <a:ext cx="3583464" cy="1384995"/>
          </a:xfrm>
          <a:prstGeom prst="rect">
            <a:avLst/>
          </a:prstGeom>
          <a:noFill/>
        </p:spPr>
        <p:txBody>
          <a:bodyPr wrap="square">
            <a:spAutoFit/>
          </a:bodyPr>
          <a:lstStyle/>
          <a:p>
            <a:r>
              <a:rPr lang="uk-UA" sz="1400" b="1" dirty="0">
                <a:solidFill>
                  <a:srgbClr val="3E84F3"/>
                </a:solidFill>
                <a:latin typeface="+mj-lt"/>
              </a:rPr>
              <a:t>NDCG@k </a:t>
            </a:r>
            <a:r>
              <a:rPr lang="uk-UA" sz="1400" dirty="0">
                <a:latin typeface="+mj-lt"/>
              </a:rPr>
              <a:t>(</a:t>
            </a:r>
            <a:r>
              <a:rPr lang="en-US" sz="1400" dirty="0">
                <a:latin typeface="+mj-lt"/>
              </a:rPr>
              <a:t>Normalized Discounted Cumulative Gain</a:t>
            </a:r>
            <a:r>
              <a:rPr lang="uk-UA" sz="1400" dirty="0">
                <a:latin typeface="+mj-lt"/>
              </a:rPr>
              <a:t>) оцінює якість ранжування рекомендованих елементів, надаючи більшу вагу правильно визначеним елементам, розташованим на вищих позиціях</a:t>
            </a:r>
            <a:endParaRPr lang="uk-UA" sz="1400" dirty="0"/>
          </a:p>
        </p:txBody>
      </p:sp>
      <p:sp>
        <p:nvSpPr>
          <p:cNvPr id="23" name="TextBox 22">
            <a:extLst>
              <a:ext uri="{FF2B5EF4-FFF2-40B4-BE49-F238E27FC236}">
                <a16:creationId xmlns:a16="http://schemas.microsoft.com/office/drawing/2014/main" id="{BA9B2D9F-B0A0-BA3D-7639-92321D361EC8}"/>
              </a:ext>
            </a:extLst>
          </p:cNvPr>
          <p:cNvSpPr txBox="1"/>
          <p:nvPr/>
        </p:nvSpPr>
        <p:spPr>
          <a:xfrm>
            <a:off x="115071" y="4169517"/>
            <a:ext cx="6473153" cy="523220"/>
          </a:xfrm>
          <a:prstGeom prst="rect">
            <a:avLst/>
          </a:prstGeom>
          <a:noFill/>
        </p:spPr>
        <p:txBody>
          <a:bodyPr wrap="square">
            <a:spAutoFit/>
          </a:bodyPr>
          <a:lstStyle/>
          <a:p>
            <a:r>
              <a:rPr lang="uk-UA" sz="1400" noProof="0" dirty="0"/>
              <a:t>Значення всіх трьох метрик лежать у межах </a:t>
            </a:r>
            <a:r>
              <a:rPr lang="uk-UA" sz="1400" b="1" noProof="0" dirty="0">
                <a:solidFill>
                  <a:srgbClr val="00CC99"/>
                </a:solidFill>
              </a:rPr>
              <a:t>[0, 1]</a:t>
            </a:r>
            <a:r>
              <a:rPr lang="uk-UA" sz="1400" noProof="0" dirty="0"/>
              <a:t>, де </a:t>
            </a:r>
            <a:r>
              <a:rPr lang="uk-UA" sz="1400" b="1" noProof="0" dirty="0">
                <a:solidFill>
                  <a:srgbClr val="00CC99"/>
                </a:solidFill>
              </a:rPr>
              <a:t>більше значення відповідає вищій якості рекомендованого набору</a:t>
            </a:r>
            <a:r>
              <a:rPr lang="uk-UA" sz="1400" noProof="0" dirty="0">
                <a:solidFill>
                  <a:srgbClr val="00CC99"/>
                </a:solidFill>
              </a:rPr>
              <a:t>.</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1A23269D-59ED-4C08-C8ED-ED8F5AE23C29}"/>
                  </a:ext>
                </a:extLst>
              </p:cNvPr>
              <p:cNvSpPr txBox="1"/>
              <p:nvPr/>
            </p:nvSpPr>
            <p:spPr>
              <a:xfrm>
                <a:off x="4770879" y="1659979"/>
                <a:ext cx="4372159" cy="549446"/>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Sup>
                        <m:sSubSupPr>
                          <m:ctrlPr>
                            <a:rPr lang="uk-UA" sz="1400" i="1" smtClean="0">
                              <a:latin typeface="Cambria Math" panose="02040503050406030204" pitchFamily="18" charset="0"/>
                            </a:rPr>
                          </m:ctrlPr>
                        </m:sSubSupPr>
                        <m:e>
                          <m:r>
                            <a:rPr lang="en-US" sz="1400" b="0" i="1" smtClean="0">
                              <a:latin typeface="Cambria Math" panose="02040503050406030204" pitchFamily="18" charset="0"/>
                            </a:rPr>
                            <m:t>𝑟𝑒𝑐</m:t>
                          </m:r>
                        </m:e>
                        <m:sub>
                          <m:r>
                            <a:rPr lang="en-US" sz="1400" b="0" i="1" smtClean="0">
                              <a:latin typeface="Cambria Math" panose="02040503050406030204" pitchFamily="18" charset="0"/>
                            </a:rPr>
                            <m:t>𝑔</m:t>
                          </m:r>
                        </m:sub>
                        <m:sup>
                          <m:r>
                            <a:rPr lang="en-US" sz="1400" b="0" i="1" smtClean="0">
                              <a:latin typeface="Cambria Math" panose="02040503050406030204" pitchFamily="18" charset="0"/>
                            </a:rPr>
                            <m:t>𝑘</m:t>
                          </m:r>
                        </m:sup>
                      </m:sSubSup>
                      <m:r>
                        <a:rPr lang="uk-UA" sz="1400" i="0">
                          <a:latin typeface="Cambria Math" panose="02040503050406030204" pitchFamily="18" charset="0"/>
                        </a:rPr>
                        <m:t>−</m:t>
                      </m:r>
                      <m:r>
                        <m:rPr>
                          <m:nor/>
                        </m:rPr>
                        <a:rPr lang="uk-UA" sz="1400"/>
                        <m:t>топ−</m:t>
                      </m:r>
                      <m:r>
                        <m:rPr>
                          <m:sty m:val="p"/>
                        </m:rPr>
                        <a:rPr lang="en-US" sz="1400" b="0" i="0" smtClean="0">
                          <a:latin typeface="Cambria Math" panose="02040503050406030204" pitchFamily="18" charset="0"/>
                        </a:rPr>
                        <m:t>k</m:t>
                      </m:r>
                      <m:r>
                        <m:rPr>
                          <m:nor/>
                        </m:rPr>
                        <a:rPr lang="uk-UA" sz="1400"/>
                        <m:t> рекомендацій для</m:t>
                      </m:r>
                      <m:r>
                        <m:rPr>
                          <m:nor/>
                        </m:rPr>
                        <a:rPr lang="en-US" sz="1400" b="0" i="0" smtClean="0"/>
                        <m:t> </m:t>
                      </m:r>
                      <m:r>
                        <m:rPr>
                          <m:nor/>
                        </m:rPr>
                        <a:rPr lang="uk-UA" sz="1400" b="0" i="0" smtClean="0"/>
                        <m:t>групи </m:t>
                      </m:r>
                      <m:r>
                        <m:rPr>
                          <m:sty m:val="p"/>
                        </m:rPr>
                        <a:rPr lang="en-US" sz="1400" b="0" i="0" smtClean="0">
                          <a:latin typeface="Cambria Math" panose="02040503050406030204" pitchFamily="18" charset="0"/>
                        </a:rPr>
                        <m:t>g</m:t>
                      </m:r>
                    </m:oMath>
                  </m:oMathPara>
                </a14:m>
                <a:endParaRPr lang="en-US" sz="1400" dirty="0"/>
              </a:p>
              <a:p>
                <a:pPr algn="ctr"/>
                <a:r>
                  <a:rPr lang="en-US" sz="1400" dirty="0"/>
                  <a:t>	</a:t>
                </a:r>
                <a14:m>
                  <m:oMath xmlns:m="http://schemas.openxmlformats.org/officeDocument/2006/math">
                    <m:r>
                      <a:rPr lang="en-US" sz="1400" i="1" dirty="0" smtClean="0">
                        <a:latin typeface="Cambria Math" panose="02040503050406030204" pitchFamily="18" charset="0"/>
                      </a:rPr>
                      <m:t>𝐺</m:t>
                    </m:r>
                  </m:oMath>
                </a14:m>
                <a:r>
                  <a:rPr lang="en-US" sz="1400" dirty="0"/>
                  <a:t> – </a:t>
                </a:r>
                <a:r>
                  <a:rPr lang="uk-UA" sz="1400" dirty="0"/>
                  <a:t>множина груп</a:t>
                </a:r>
                <a:r>
                  <a:rPr lang="en-US" sz="1400" dirty="0"/>
                  <a:t>, </a:t>
                </a:r>
                <a14:m>
                  <m:oMath xmlns:m="http://schemas.openxmlformats.org/officeDocument/2006/math">
                    <m:r>
                      <a:rPr lang="en-US" sz="1400" i="1" dirty="0" smtClean="0">
                        <a:latin typeface="Cambria Math" panose="02040503050406030204" pitchFamily="18" charset="0"/>
                      </a:rPr>
                      <m:t>𝐼</m:t>
                    </m:r>
                  </m:oMath>
                </a14:m>
                <a:r>
                  <a:rPr lang="en-US" sz="1400" dirty="0"/>
                  <a:t> –</a:t>
                </a:r>
                <a:r>
                  <a:rPr lang="uk-UA" sz="1400" dirty="0"/>
                  <a:t> набір елементів</a:t>
                </a:r>
                <a:r>
                  <a:rPr lang="en-US" sz="1400" dirty="0"/>
                  <a:t> </a:t>
                </a:r>
                <a:endParaRPr lang="uk-UA" sz="1400" dirty="0"/>
              </a:p>
            </p:txBody>
          </p:sp>
        </mc:Choice>
        <mc:Fallback xmlns="">
          <p:sp>
            <p:nvSpPr>
              <p:cNvPr id="25" name="TextBox 24">
                <a:extLst>
                  <a:ext uri="{FF2B5EF4-FFF2-40B4-BE49-F238E27FC236}">
                    <a16:creationId xmlns:a16="http://schemas.microsoft.com/office/drawing/2014/main" id="{1A23269D-59ED-4C08-C8ED-ED8F5AE23C29}"/>
                  </a:ext>
                </a:extLst>
              </p:cNvPr>
              <p:cNvSpPr txBox="1">
                <a:spLocks noRot="1" noChangeAspect="1" noMove="1" noResize="1" noEditPoints="1" noAdjustHandles="1" noChangeArrowheads="1" noChangeShapeType="1" noTextEdit="1"/>
              </p:cNvSpPr>
              <p:nvPr/>
            </p:nvSpPr>
            <p:spPr>
              <a:xfrm>
                <a:off x="4770879" y="1659979"/>
                <a:ext cx="4372159" cy="549446"/>
              </a:xfrm>
              <a:prstGeom prst="rect">
                <a:avLst/>
              </a:prstGeom>
              <a:blipFill>
                <a:blip r:embed="rId7"/>
                <a:stretch>
                  <a:fillRect b="-12222"/>
                </a:stretch>
              </a:blipFill>
            </p:spPr>
            <p:txBody>
              <a:bodyPr/>
              <a:lstStyle/>
              <a:p>
                <a:r>
                  <a:rPr lang="uk-UA">
                    <a:noFill/>
                  </a:rPr>
                  <a:t> </a:t>
                </a:r>
              </a:p>
            </p:txBody>
          </p:sp>
        </mc:Fallback>
      </mc:AlternateContent>
      <p:pic>
        <p:nvPicPr>
          <p:cNvPr id="32" name="Picture 31">
            <a:extLst>
              <a:ext uri="{FF2B5EF4-FFF2-40B4-BE49-F238E27FC236}">
                <a16:creationId xmlns:a16="http://schemas.microsoft.com/office/drawing/2014/main" id="{CF4C3150-7AA6-88A0-E5F9-07C9EAD9BA5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7022298" y="3239375"/>
            <a:ext cx="1923678" cy="1923678"/>
          </a:xfrm>
          <a:prstGeom prst="rect">
            <a:avLst/>
          </a:prstGeom>
        </p:spPr>
      </p:pic>
      <p:sp>
        <p:nvSpPr>
          <p:cNvPr id="3" name="Підзаголовок 2">
            <a:extLst>
              <a:ext uri="{FF2B5EF4-FFF2-40B4-BE49-F238E27FC236}">
                <a16:creationId xmlns:a16="http://schemas.microsoft.com/office/drawing/2014/main" id="{E0CC317C-79A1-1363-29CA-E2C7930FE279}"/>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12</a:t>
            </a:r>
            <a:endParaRPr lang="uk-UA" sz="1200" dirty="0">
              <a:solidFill>
                <a:schemeClr val="tx1"/>
              </a:solidFill>
            </a:endParaRPr>
          </a:p>
        </p:txBody>
      </p:sp>
    </p:spTree>
    <p:extLst>
      <p:ext uri="{BB962C8B-B14F-4D97-AF65-F5344CB8AC3E}">
        <p14:creationId xmlns:p14="http://schemas.microsoft.com/office/powerpoint/2010/main" val="23559081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44EF04-A96D-4DC0-615B-D86F9D5BE371}"/>
            </a:ext>
          </a:extLst>
        </p:cNvPr>
        <p:cNvGrpSpPr/>
        <p:nvPr/>
      </p:nvGrpSpPr>
      <p:grpSpPr>
        <a:xfrm>
          <a:off x="0" y="0"/>
          <a:ext cx="0" cy="0"/>
          <a:chOff x="0" y="0"/>
          <a:chExt cx="0" cy="0"/>
        </a:xfrm>
      </p:grpSpPr>
      <p:sp>
        <p:nvSpPr>
          <p:cNvPr id="10" name="Заголовок 1">
            <a:extLst>
              <a:ext uri="{FF2B5EF4-FFF2-40B4-BE49-F238E27FC236}">
                <a16:creationId xmlns:a16="http://schemas.microsoft.com/office/drawing/2014/main" id="{5D43F9D2-C2E7-90B2-9424-58E1070B1EC8}"/>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Отримані результати</a:t>
            </a:r>
          </a:p>
        </p:txBody>
      </p:sp>
      <p:sp>
        <p:nvSpPr>
          <p:cNvPr id="12" name="Rectangle 2">
            <a:extLst>
              <a:ext uri="{FF2B5EF4-FFF2-40B4-BE49-F238E27FC236}">
                <a16:creationId xmlns:a16="http://schemas.microsoft.com/office/drawing/2014/main" id="{843EF80C-753F-136B-57EF-15A9065E0B63}"/>
              </a:ext>
            </a:extLst>
          </p:cNvPr>
          <p:cNvSpPr>
            <a:spLocks noChangeArrowheads="1"/>
          </p:cNvSpPr>
          <p:nvPr/>
        </p:nvSpPr>
        <p:spPr bwMode="auto">
          <a:xfrm>
            <a:off x="7708699" y="221547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uk-UA"/>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F8707A9-945C-E717-D6C9-D38B9CE0EDEC}"/>
                  </a:ext>
                </a:extLst>
              </p:cNvPr>
              <p:cNvSpPr txBox="1"/>
              <p:nvPr/>
            </p:nvSpPr>
            <p:spPr>
              <a:xfrm>
                <a:off x="107504" y="411510"/>
                <a:ext cx="8640960" cy="954107"/>
              </a:xfrm>
              <a:prstGeom prst="rect">
                <a:avLst/>
              </a:prstGeom>
              <a:noFill/>
            </p:spPr>
            <p:txBody>
              <a:bodyPr wrap="square">
                <a:spAutoFit/>
              </a:bodyPr>
              <a:lstStyle/>
              <a:p>
                <a:r>
                  <a:rPr lang="uk-UA" sz="1400" b="1" dirty="0">
                    <a:solidFill>
                      <a:srgbClr val="00CC99"/>
                    </a:solidFill>
                  </a:rPr>
                  <a:t>Порівняльний аналіз </a:t>
                </a:r>
                <a:r>
                  <a:rPr lang="uk-UA" sz="1400" dirty="0"/>
                  <a:t>виконано з моделлю </a:t>
                </a:r>
                <a:r>
                  <a:rPr lang="en-US" sz="1400" b="1" dirty="0"/>
                  <a:t>DRGR</a:t>
                </a:r>
                <a:r>
                  <a:rPr lang="en-US" sz="1400" dirty="0"/>
                  <a:t>, </a:t>
                </a:r>
                <a:r>
                  <a:rPr lang="uk-UA" sz="1400" dirty="0"/>
                  <a:t>оскільки обидві моделі базуються на навчанні з підкріпленням. Експерименти проведено на сформованому наборі даних.</a:t>
                </a:r>
                <a:br>
                  <a:rPr lang="uk-UA" sz="1400" dirty="0"/>
                </a:br>
                <a:r>
                  <a:rPr lang="uk-UA" sz="1400" b="1" dirty="0">
                    <a:solidFill>
                      <a:srgbClr val="3E84F3"/>
                    </a:solidFill>
                  </a:rPr>
                  <a:t>Отримані результати </a:t>
                </a:r>
                <a:r>
                  <a:rPr lang="uk-UA" sz="1400" dirty="0"/>
                  <a:t>показали, що запропонована модель перевершує базовий підхід для топ-</a:t>
                </a:r>
                <a:r>
                  <a:rPr lang="en-US" sz="1400" dirty="0"/>
                  <a:t>k </a:t>
                </a:r>
                <a:r>
                  <a:rPr lang="uk-UA" sz="1400" dirty="0"/>
                  <a:t>рекомендацій для </a:t>
                </a:r>
                <a14:m>
                  <m:oMath xmlns:m="http://schemas.openxmlformats.org/officeDocument/2006/math">
                    <m:r>
                      <a:rPr lang="en-US" sz="1400" i="1" dirty="0">
                        <a:latin typeface="Cambria Math" panose="02040503050406030204" pitchFamily="18" charset="0"/>
                      </a:rPr>
                      <m:t>𝑘</m:t>
                    </m:r>
                    <m:r>
                      <a:rPr lang="en-US" sz="1400" i="1" dirty="0">
                        <a:latin typeface="Cambria Math" panose="02040503050406030204" pitchFamily="18" charset="0"/>
                      </a:rPr>
                      <m:t> ∈ </m:t>
                    </m:r>
                    <m:d>
                      <m:dPr>
                        <m:begChr m:val="{"/>
                        <m:endChr m:val="}"/>
                        <m:ctrlPr>
                          <a:rPr lang="en-US" sz="1400" i="1" dirty="0">
                            <a:latin typeface="Cambria Math" panose="02040503050406030204" pitchFamily="18" charset="0"/>
                          </a:rPr>
                        </m:ctrlPr>
                      </m:dPr>
                      <m:e>
                        <m:r>
                          <a:rPr lang="en-US" sz="1400" i="1" dirty="0">
                            <a:latin typeface="Cambria Math" panose="02040503050406030204" pitchFamily="18" charset="0"/>
                          </a:rPr>
                          <m:t>5, 10, 15, 20</m:t>
                        </m:r>
                      </m:e>
                    </m:d>
                  </m:oMath>
                </a14:m>
                <a:r>
                  <a:rPr lang="uk-UA" sz="1400" dirty="0"/>
                  <a:t> в задачах групових рекомендацій.</a:t>
                </a:r>
              </a:p>
            </p:txBody>
          </p:sp>
        </mc:Choice>
        <mc:Fallback xmlns="">
          <p:sp>
            <p:nvSpPr>
              <p:cNvPr id="5" name="TextBox 4">
                <a:extLst>
                  <a:ext uri="{FF2B5EF4-FFF2-40B4-BE49-F238E27FC236}">
                    <a16:creationId xmlns:a16="http://schemas.microsoft.com/office/drawing/2014/main" id="{DF8707A9-945C-E717-D6C9-D38B9CE0EDEC}"/>
                  </a:ext>
                </a:extLst>
              </p:cNvPr>
              <p:cNvSpPr txBox="1">
                <a:spLocks noRot="1" noChangeAspect="1" noMove="1" noResize="1" noEditPoints="1" noAdjustHandles="1" noChangeArrowheads="1" noChangeShapeType="1" noTextEdit="1"/>
              </p:cNvSpPr>
              <p:nvPr/>
            </p:nvSpPr>
            <p:spPr>
              <a:xfrm>
                <a:off x="107504" y="411510"/>
                <a:ext cx="8640960" cy="954107"/>
              </a:xfrm>
              <a:prstGeom prst="rect">
                <a:avLst/>
              </a:prstGeom>
              <a:blipFill>
                <a:blip r:embed="rId3"/>
                <a:stretch>
                  <a:fillRect l="-212" t="-1282" b="-5769"/>
                </a:stretch>
              </a:blipFill>
            </p:spPr>
            <p:txBody>
              <a:bodyPr/>
              <a:lstStyle/>
              <a:p>
                <a:r>
                  <a:rPr lang="uk-UA">
                    <a:noFill/>
                  </a:rPr>
                  <a:t> </a:t>
                </a:r>
              </a:p>
            </p:txBody>
          </p:sp>
        </mc:Fallback>
      </mc:AlternateContent>
      <p:graphicFrame>
        <p:nvGraphicFramePr>
          <p:cNvPr id="19" name="Chart 18">
            <a:extLst>
              <a:ext uri="{FF2B5EF4-FFF2-40B4-BE49-F238E27FC236}">
                <a16:creationId xmlns:a16="http://schemas.microsoft.com/office/drawing/2014/main" id="{BF637456-EC02-8F3D-828F-AB2C6B514CA1}"/>
              </a:ext>
            </a:extLst>
          </p:cNvPr>
          <p:cNvGraphicFramePr/>
          <p:nvPr>
            <p:extLst>
              <p:ext uri="{D42A27DB-BD31-4B8C-83A1-F6EECF244321}">
                <p14:modId xmlns:p14="http://schemas.microsoft.com/office/powerpoint/2010/main" val="190132788"/>
              </p:ext>
            </p:extLst>
          </p:nvPr>
        </p:nvGraphicFramePr>
        <p:xfrm>
          <a:off x="107504" y="1621400"/>
          <a:ext cx="2952328" cy="296711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4" name="Chart 23">
            <a:extLst>
              <a:ext uri="{FF2B5EF4-FFF2-40B4-BE49-F238E27FC236}">
                <a16:creationId xmlns:a16="http://schemas.microsoft.com/office/drawing/2014/main" id="{09B48BF6-1D6F-6A73-979E-A0888780E7A3}"/>
              </a:ext>
            </a:extLst>
          </p:cNvPr>
          <p:cNvGraphicFramePr/>
          <p:nvPr>
            <p:extLst>
              <p:ext uri="{D42A27DB-BD31-4B8C-83A1-F6EECF244321}">
                <p14:modId xmlns:p14="http://schemas.microsoft.com/office/powerpoint/2010/main" val="3579723293"/>
              </p:ext>
            </p:extLst>
          </p:nvPr>
        </p:nvGraphicFramePr>
        <p:xfrm>
          <a:off x="3023828" y="1644270"/>
          <a:ext cx="2952328" cy="296711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6" name="Chart 25">
            <a:extLst>
              <a:ext uri="{FF2B5EF4-FFF2-40B4-BE49-F238E27FC236}">
                <a16:creationId xmlns:a16="http://schemas.microsoft.com/office/drawing/2014/main" id="{36372DE7-4ACC-0EC6-FE1C-BE1E06B45127}"/>
              </a:ext>
            </a:extLst>
          </p:cNvPr>
          <p:cNvGraphicFramePr/>
          <p:nvPr>
            <p:extLst>
              <p:ext uri="{D42A27DB-BD31-4B8C-83A1-F6EECF244321}">
                <p14:modId xmlns:p14="http://schemas.microsoft.com/office/powerpoint/2010/main" val="886428927"/>
              </p:ext>
            </p:extLst>
          </p:nvPr>
        </p:nvGraphicFramePr>
        <p:xfrm>
          <a:off x="6084168" y="1597378"/>
          <a:ext cx="2952328" cy="2967113"/>
        </p:xfrm>
        <a:graphic>
          <a:graphicData uri="http://schemas.openxmlformats.org/drawingml/2006/chart">
            <c:chart xmlns:c="http://schemas.openxmlformats.org/drawingml/2006/chart" xmlns:r="http://schemas.openxmlformats.org/officeDocument/2006/relationships" r:id="rId6"/>
          </a:graphicData>
        </a:graphic>
      </p:graphicFrame>
      <p:sp>
        <p:nvSpPr>
          <p:cNvPr id="27" name="TextBox 26">
            <a:extLst>
              <a:ext uri="{FF2B5EF4-FFF2-40B4-BE49-F238E27FC236}">
                <a16:creationId xmlns:a16="http://schemas.microsoft.com/office/drawing/2014/main" id="{3245AEED-C1E4-2474-57EE-D70F52379C30}"/>
              </a:ext>
            </a:extLst>
          </p:cNvPr>
          <p:cNvSpPr txBox="1"/>
          <p:nvPr/>
        </p:nvSpPr>
        <p:spPr>
          <a:xfrm>
            <a:off x="1075619" y="4660933"/>
            <a:ext cx="6982417"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latin typeface="+mj-lt"/>
                <a:ea typeface="Calibri" panose="020F0502020204030204" pitchFamily="34" charset="0"/>
                <a:cs typeface="Times New Roman" panose="02020603050405020304" pitchFamily="18" charset="0"/>
              </a:rPr>
              <a:t>Діаграма 1-3</a:t>
            </a:r>
            <a:r>
              <a:rPr lang="uk-UA" sz="1200" dirty="0">
                <a:solidFill>
                  <a:srgbClr val="000000"/>
                </a:solidFill>
                <a:effectLst/>
                <a:latin typeface="+mj-lt"/>
                <a:ea typeface="Calibri" panose="020F0502020204030204" pitchFamily="34" charset="0"/>
                <a:cs typeface="Times New Roman" panose="02020603050405020304" pitchFamily="18" charset="0"/>
              </a:rPr>
              <a:t>.</a:t>
            </a:r>
            <a:r>
              <a:rPr lang="ru-RU" sz="1200" dirty="0">
                <a:solidFill>
                  <a:srgbClr val="000000"/>
                </a:solidFill>
                <a:effectLst/>
                <a:latin typeface="+mj-lt"/>
                <a:ea typeface="Calibri" panose="020F0502020204030204" pitchFamily="34" charset="0"/>
                <a:cs typeface="Times New Roman" panose="02020603050405020304" pitchFamily="18" charset="0"/>
              </a:rPr>
              <a:t> </a:t>
            </a:r>
            <a:r>
              <a:rPr lang="uk-UA" sz="1200" dirty="0">
                <a:solidFill>
                  <a:srgbClr val="000000"/>
                </a:solidFill>
                <a:effectLst/>
                <a:latin typeface="+mj-lt"/>
                <a:ea typeface="Calibri" panose="020F0502020204030204" pitchFamily="34" charset="0"/>
                <a:cs typeface="Times New Roman" panose="02020603050405020304" pitchFamily="18" charset="0"/>
              </a:rPr>
              <a:t>Порівняння метрик для рекомендацій на рівні груп</a:t>
            </a:r>
            <a:endParaRPr lang="uk-UA" sz="1200" dirty="0">
              <a:effectLst/>
              <a:latin typeface="+mj-lt"/>
              <a:ea typeface="Calibri" panose="020F0502020204030204" pitchFamily="34" charset="0"/>
              <a:cs typeface="Times New Roman" panose="02020603050405020304" pitchFamily="18" charset="0"/>
            </a:endParaRPr>
          </a:p>
        </p:txBody>
      </p:sp>
      <p:sp>
        <p:nvSpPr>
          <p:cNvPr id="2" name="Підзаголовок 2">
            <a:extLst>
              <a:ext uri="{FF2B5EF4-FFF2-40B4-BE49-F238E27FC236}">
                <a16:creationId xmlns:a16="http://schemas.microsoft.com/office/drawing/2014/main" id="{E1850511-2489-D531-BF1D-63C00EE2079D}"/>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13</a:t>
            </a:r>
            <a:endParaRPr lang="uk-UA" sz="1200" dirty="0">
              <a:solidFill>
                <a:schemeClr val="tx1"/>
              </a:solidFill>
            </a:endParaRPr>
          </a:p>
        </p:txBody>
      </p:sp>
    </p:spTree>
    <p:extLst>
      <p:ext uri="{BB962C8B-B14F-4D97-AF65-F5344CB8AC3E}">
        <p14:creationId xmlns:p14="http://schemas.microsoft.com/office/powerpoint/2010/main" val="30346717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229186-AC49-B330-F951-85E7C01C51A2}"/>
            </a:ext>
          </a:extLst>
        </p:cNvPr>
        <p:cNvGrpSpPr/>
        <p:nvPr/>
      </p:nvGrpSpPr>
      <p:grpSpPr>
        <a:xfrm>
          <a:off x="0" y="0"/>
          <a:ext cx="0" cy="0"/>
          <a:chOff x="0" y="0"/>
          <a:chExt cx="0" cy="0"/>
        </a:xfrm>
      </p:grpSpPr>
      <p:sp>
        <p:nvSpPr>
          <p:cNvPr id="10" name="Заголовок 1">
            <a:extLst>
              <a:ext uri="{FF2B5EF4-FFF2-40B4-BE49-F238E27FC236}">
                <a16:creationId xmlns:a16="http://schemas.microsoft.com/office/drawing/2014/main" id="{7C29F1C5-B3E4-7B79-79B9-6F8CD23D6E32}"/>
              </a:ext>
            </a:extLst>
          </p:cNvPr>
          <p:cNvSpPr txBox="1">
            <a:spLocks/>
          </p:cNvSpPr>
          <p:nvPr/>
        </p:nvSpPr>
        <p:spPr>
          <a:xfrm>
            <a:off x="457200" y="51471"/>
            <a:ext cx="8219256" cy="360039"/>
          </a:xfrm>
          <a:prstGeom prst="rect">
            <a:avLst/>
          </a:prstGeom>
        </p:spPr>
        <p:txBody>
          <a:bodyPr vert="horz" lIns="91440" tIns="45720" rIns="91440" bIns="45720" rtlCol="0" anchor="ctr">
            <a:normAutofit fontScale="850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400" b="1" dirty="0">
                <a:solidFill>
                  <a:srgbClr val="009999"/>
                </a:solidFill>
              </a:rPr>
              <a:t>Отримані результати</a:t>
            </a:r>
          </a:p>
        </p:txBody>
      </p:sp>
      <p:sp>
        <p:nvSpPr>
          <p:cNvPr id="12" name="Rectangle 2">
            <a:extLst>
              <a:ext uri="{FF2B5EF4-FFF2-40B4-BE49-F238E27FC236}">
                <a16:creationId xmlns:a16="http://schemas.microsoft.com/office/drawing/2014/main" id="{951D7D4A-DD5C-9F2D-21AC-E0F248027276}"/>
              </a:ext>
            </a:extLst>
          </p:cNvPr>
          <p:cNvSpPr>
            <a:spLocks noChangeArrowheads="1"/>
          </p:cNvSpPr>
          <p:nvPr/>
        </p:nvSpPr>
        <p:spPr bwMode="auto">
          <a:xfrm>
            <a:off x="7708699" y="221547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uk-UA"/>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F204931-3606-42D6-355A-A83D0B16A5FA}"/>
                  </a:ext>
                </a:extLst>
              </p:cNvPr>
              <p:cNvSpPr txBox="1"/>
              <p:nvPr/>
            </p:nvSpPr>
            <p:spPr>
              <a:xfrm>
                <a:off x="120824" y="556765"/>
                <a:ext cx="8640960" cy="738664"/>
              </a:xfrm>
              <a:prstGeom prst="rect">
                <a:avLst/>
              </a:prstGeom>
              <a:noFill/>
            </p:spPr>
            <p:txBody>
              <a:bodyPr wrap="square">
                <a:spAutoFit/>
              </a:bodyPr>
              <a:lstStyle/>
              <a:p>
                <a:r>
                  <a:rPr lang="uk-UA" sz="1400" b="1" dirty="0">
                    <a:solidFill>
                      <a:srgbClr val="3E84F3"/>
                    </a:solidFill>
                  </a:rPr>
                  <a:t>Отримані результати </a:t>
                </a:r>
                <a:r>
                  <a:rPr lang="uk-UA" sz="1400" dirty="0"/>
                  <a:t>показали, що запропонована модель перевершує базовий підхід для топ-</a:t>
                </a:r>
                <a:r>
                  <a:rPr lang="en-US" sz="1400" dirty="0"/>
                  <a:t>k </a:t>
                </a:r>
                <a:r>
                  <a:rPr lang="uk-UA" sz="1400" dirty="0"/>
                  <a:t>рекомендацій для </a:t>
                </a:r>
                <a14:m>
                  <m:oMath xmlns:m="http://schemas.openxmlformats.org/officeDocument/2006/math">
                    <m:r>
                      <a:rPr lang="en-US" sz="1400" i="1" dirty="0">
                        <a:latin typeface="Cambria Math" panose="02040503050406030204" pitchFamily="18" charset="0"/>
                      </a:rPr>
                      <m:t>𝑘</m:t>
                    </m:r>
                    <m:r>
                      <a:rPr lang="en-US" sz="1400" i="1" dirty="0">
                        <a:latin typeface="Cambria Math" panose="02040503050406030204" pitchFamily="18" charset="0"/>
                      </a:rPr>
                      <m:t> ∈ </m:t>
                    </m:r>
                    <m:d>
                      <m:dPr>
                        <m:begChr m:val="{"/>
                        <m:endChr m:val="}"/>
                        <m:ctrlPr>
                          <a:rPr lang="en-US" sz="1400" i="1" dirty="0">
                            <a:latin typeface="Cambria Math" panose="02040503050406030204" pitchFamily="18" charset="0"/>
                          </a:rPr>
                        </m:ctrlPr>
                      </m:dPr>
                      <m:e>
                        <m:r>
                          <a:rPr lang="en-US" sz="1400" i="1" dirty="0">
                            <a:latin typeface="Cambria Math" panose="02040503050406030204" pitchFamily="18" charset="0"/>
                          </a:rPr>
                          <m:t>5, 10, 15, 20</m:t>
                        </m:r>
                      </m:e>
                    </m:d>
                  </m:oMath>
                </a14:m>
                <a:r>
                  <a:rPr lang="uk-UA" sz="1400" dirty="0"/>
                  <a:t> також і під час генерування рекомендацій для кожного окремого користувача.</a:t>
                </a:r>
              </a:p>
            </p:txBody>
          </p:sp>
        </mc:Choice>
        <mc:Fallback xmlns="">
          <p:sp>
            <p:nvSpPr>
              <p:cNvPr id="5" name="TextBox 4">
                <a:extLst>
                  <a:ext uri="{FF2B5EF4-FFF2-40B4-BE49-F238E27FC236}">
                    <a16:creationId xmlns:a16="http://schemas.microsoft.com/office/drawing/2014/main" id="{AF204931-3606-42D6-355A-A83D0B16A5FA}"/>
                  </a:ext>
                </a:extLst>
              </p:cNvPr>
              <p:cNvSpPr txBox="1">
                <a:spLocks noRot="1" noChangeAspect="1" noMove="1" noResize="1" noEditPoints="1" noAdjustHandles="1" noChangeArrowheads="1" noChangeShapeType="1" noTextEdit="1"/>
              </p:cNvSpPr>
              <p:nvPr/>
            </p:nvSpPr>
            <p:spPr>
              <a:xfrm>
                <a:off x="120824" y="556765"/>
                <a:ext cx="8640960" cy="738664"/>
              </a:xfrm>
              <a:prstGeom prst="rect">
                <a:avLst/>
              </a:prstGeom>
              <a:blipFill>
                <a:blip r:embed="rId3"/>
                <a:stretch>
                  <a:fillRect l="-212" t="-820" b="-7377"/>
                </a:stretch>
              </a:blipFill>
            </p:spPr>
            <p:txBody>
              <a:bodyPr/>
              <a:lstStyle/>
              <a:p>
                <a:r>
                  <a:rPr lang="uk-UA">
                    <a:noFill/>
                  </a:rPr>
                  <a:t> </a:t>
                </a:r>
              </a:p>
            </p:txBody>
          </p:sp>
        </mc:Fallback>
      </mc:AlternateContent>
      <p:graphicFrame>
        <p:nvGraphicFramePr>
          <p:cNvPr id="19" name="Chart 18">
            <a:extLst>
              <a:ext uri="{FF2B5EF4-FFF2-40B4-BE49-F238E27FC236}">
                <a16:creationId xmlns:a16="http://schemas.microsoft.com/office/drawing/2014/main" id="{FE71FABE-85A9-0380-9F6E-FF86AAE0436B}"/>
              </a:ext>
            </a:extLst>
          </p:cNvPr>
          <p:cNvGraphicFramePr/>
          <p:nvPr>
            <p:extLst>
              <p:ext uri="{D42A27DB-BD31-4B8C-83A1-F6EECF244321}">
                <p14:modId xmlns:p14="http://schemas.microsoft.com/office/powerpoint/2010/main" val="292252809"/>
              </p:ext>
            </p:extLst>
          </p:nvPr>
        </p:nvGraphicFramePr>
        <p:xfrm>
          <a:off x="107504" y="1453042"/>
          <a:ext cx="2952328" cy="296711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4" name="Chart 23">
            <a:extLst>
              <a:ext uri="{FF2B5EF4-FFF2-40B4-BE49-F238E27FC236}">
                <a16:creationId xmlns:a16="http://schemas.microsoft.com/office/drawing/2014/main" id="{4F9CC3E9-2A56-1F85-1890-67633F489FD4}"/>
              </a:ext>
            </a:extLst>
          </p:cNvPr>
          <p:cNvGraphicFramePr/>
          <p:nvPr>
            <p:extLst>
              <p:ext uri="{D42A27DB-BD31-4B8C-83A1-F6EECF244321}">
                <p14:modId xmlns:p14="http://schemas.microsoft.com/office/powerpoint/2010/main" val="1411543299"/>
              </p:ext>
            </p:extLst>
          </p:nvPr>
        </p:nvGraphicFramePr>
        <p:xfrm>
          <a:off x="3023828" y="1475912"/>
          <a:ext cx="2952328" cy="296711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26" name="Chart 25">
            <a:extLst>
              <a:ext uri="{FF2B5EF4-FFF2-40B4-BE49-F238E27FC236}">
                <a16:creationId xmlns:a16="http://schemas.microsoft.com/office/drawing/2014/main" id="{3FDF0F23-0196-785D-8419-14FD3D40DCC0}"/>
              </a:ext>
            </a:extLst>
          </p:cNvPr>
          <p:cNvGraphicFramePr/>
          <p:nvPr>
            <p:extLst>
              <p:ext uri="{D42A27DB-BD31-4B8C-83A1-F6EECF244321}">
                <p14:modId xmlns:p14="http://schemas.microsoft.com/office/powerpoint/2010/main" val="91047759"/>
              </p:ext>
            </p:extLst>
          </p:nvPr>
        </p:nvGraphicFramePr>
        <p:xfrm>
          <a:off x="6084168" y="1429020"/>
          <a:ext cx="2952328" cy="2967113"/>
        </p:xfrm>
        <a:graphic>
          <a:graphicData uri="http://schemas.openxmlformats.org/drawingml/2006/chart">
            <c:chart xmlns:c="http://schemas.openxmlformats.org/drawingml/2006/chart" xmlns:r="http://schemas.openxmlformats.org/officeDocument/2006/relationships" r:id="rId6"/>
          </a:graphicData>
        </a:graphic>
      </p:graphicFrame>
      <p:sp>
        <p:nvSpPr>
          <p:cNvPr id="27" name="TextBox 26">
            <a:extLst>
              <a:ext uri="{FF2B5EF4-FFF2-40B4-BE49-F238E27FC236}">
                <a16:creationId xmlns:a16="http://schemas.microsoft.com/office/drawing/2014/main" id="{51BAFF80-B2FF-32FD-BE53-28F0BF7A9910}"/>
              </a:ext>
            </a:extLst>
          </p:cNvPr>
          <p:cNvSpPr txBox="1"/>
          <p:nvPr/>
        </p:nvSpPr>
        <p:spPr>
          <a:xfrm>
            <a:off x="1075619" y="4492575"/>
            <a:ext cx="6982417" cy="281231"/>
          </a:xfrm>
          <a:prstGeom prst="rect">
            <a:avLst/>
          </a:prstGeom>
          <a:noFill/>
        </p:spPr>
        <p:txBody>
          <a:bodyPr wrap="square">
            <a:spAutoFit/>
          </a:bodyPr>
          <a:lstStyle/>
          <a:p>
            <a:pPr algn="ctr">
              <a:lnSpc>
                <a:spcPct val="107000"/>
              </a:lnSpc>
              <a:spcAft>
                <a:spcPts val="800"/>
              </a:spcAft>
              <a:buNone/>
            </a:pPr>
            <a:r>
              <a:rPr lang="uk-UA" sz="1200" dirty="0">
                <a:solidFill>
                  <a:srgbClr val="000000"/>
                </a:solidFill>
                <a:latin typeface="+mj-lt"/>
                <a:ea typeface="Calibri" panose="020F0502020204030204" pitchFamily="34" charset="0"/>
                <a:cs typeface="Times New Roman" panose="02020603050405020304" pitchFamily="18" charset="0"/>
              </a:rPr>
              <a:t>Діаграми 4-6</a:t>
            </a:r>
            <a:r>
              <a:rPr lang="uk-UA" sz="1200" dirty="0">
                <a:solidFill>
                  <a:srgbClr val="000000"/>
                </a:solidFill>
                <a:effectLst/>
                <a:latin typeface="+mj-lt"/>
                <a:ea typeface="Calibri" panose="020F0502020204030204" pitchFamily="34" charset="0"/>
                <a:cs typeface="Times New Roman" panose="02020603050405020304" pitchFamily="18" charset="0"/>
              </a:rPr>
              <a:t>.</a:t>
            </a:r>
            <a:r>
              <a:rPr lang="ru-RU" sz="1200" dirty="0">
                <a:solidFill>
                  <a:srgbClr val="000000"/>
                </a:solidFill>
                <a:effectLst/>
                <a:latin typeface="+mj-lt"/>
                <a:ea typeface="Calibri" panose="020F0502020204030204" pitchFamily="34" charset="0"/>
                <a:cs typeface="Times New Roman" panose="02020603050405020304" pitchFamily="18" charset="0"/>
              </a:rPr>
              <a:t> </a:t>
            </a:r>
            <a:r>
              <a:rPr lang="uk-UA" sz="1200" dirty="0">
                <a:solidFill>
                  <a:srgbClr val="000000"/>
                </a:solidFill>
                <a:effectLst/>
                <a:latin typeface="+mj-lt"/>
                <a:ea typeface="Calibri" panose="020F0502020204030204" pitchFamily="34" charset="0"/>
                <a:cs typeface="Times New Roman" panose="02020603050405020304" pitchFamily="18" charset="0"/>
              </a:rPr>
              <a:t>Порівняння метрик для рекомендацій на рівні окремого користувача</a:t>
            </a:r>
            <a:endParaRPr lang="uk-UA" sz="1200" dirty="0">
              <a:effectLst/>
              <a:latin typeface="+mj-lt"/>
              <a:ea typeface="Calibri" panose="020F0502020204030204" pitchFamily="34" charset="0"/>
              <a:cs typeface="Times New Roman" panose="02020603050405020304" pitchFamily="18" charset="0"/>
            </a:endParaRPr>
          </a:p>
        </p:txBody>
      </p:sp>
      <p:sp>
        <p:nvSpPr>
          <p:cNvPr id="2" name="Підзаголовок 2">
            <a:extLst>
              <a:ext uri="{FF2B5EF4-FFF2-40B4-BE49-F238E27FC236}">
                <a16:creationId xmlns:a16="http://schemas.microsoft.com/office/drawing/2014/main" id="{A5DC6567-014D-5E2D-4259-E9A7547F6684}"/>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14</a:t>
            </a:r>
            <a:endParaRPr lang="uk-UA" sz="1200" dirty="0">
              <a:solidFill>
                <a:schemeClr val="tx1"/>
              </a:solidFill>
            </a:endParaRPr>
          </a:p>
        </p:txBody>
      </p:sp>
    </p:spTree>
    <p:extLst>
      <p:ext uri="{BB962C8B-B14F-4D97-AF65-F5344CB8AC3E}">
        <p14:creationId xmlns:p14="http://schemas.microsoft.com/office/powerpoint/2010/main" val="3063536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1"/>
          <p:cNvSpPr txBox="1">
            <a:spLocks/>
          </p:cNvSpPr>
          <p:nvPr/>
        </p:nvSpPr>
        <p:spPr>
          <a:xfrm>
            <a:off x="457200" y="1"/>
            <a:ext cx="8219256" cy="411510"/>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2000" b="1" dirty="0">
                <a:solidFill>
                  <a:srgbClr val="009999"/>
                </a:solidFill>
              </a:rPr>
              <a:t>Висновки</a:t>
            </a:r>
          </a:p>
        </p:txBody>
      </p:sp>
      <p:sp>
        <p:nvSpPr>
          <p:cNvPr id="6" name="Прямокутник 5"/>
          <p:cNvSpPr/>
          <p:nvPr/>
        </p:nvSpPr>
        <p:spPr>
          <a:xfrm>
            <a:off x="120261" y="339502"/>
            <a:ext cx="8932114" cy="3570208"/>
          </a:xfrm>
          <a:prstGeom prst="rect">
            <a:avLst/>
          </a:prstGeom>
        </p:spPr>
        <p:txBody>
          <a:bodyPr wrap="square">
            <a:spAutoFit/>
          </a:bodyPr>
          <a:lstStyle/>
          <a:p>
            <a:pPr marL="285750" indent="-285750">
              <a:buFont typeface="Wingdings" panose="05000000000000000000" pitchFamily="2" charset="2"/>
              <a:buChar char="ü"/>
            </a:pPr>
            <a:r>
              <a:rPr lang="uk-UA" sz="1400" noProof="0" dirty="0"/>
              <a:t>Підготовлено експериментальний набір даних та сформовано групи користувачів. Описано структуру взаємодій між користувачами, групами та елементами</a:t>
            </a:r>
            <a:r>
              <a:rPr lang="ru-RU" sz="1400" dirty="0"/>
              <a:t>.</a:t>
            </a:r>
            <a:endParaRPr lang="uk-UA" sz="1400" dirty="0"/>
          </a:p>
          <a:p>
            <a:pPr marL="285750" indent="-285750">
              <a:buFont typeface="Wingdings" panose="05000000000000000000" pitchFamily="2" charset="2"/>
              <a:buChar char="ü"/>
            </a:pPr>
            <a:r>
              <a:rPr lang="uk-UA" sz="1400" b="1" noProof="0" dirty="0"/>
              <a:t>Розроблено</a:t>
            </a:r>
            <a:r>
              <a:rPr lang="uk-UA" sz="1400" noProof="0" dirty="0"/>
              <a:t> модель рекомендаційної системи на основі машинного навчання з підкріпленням та архітектури</a:t>
            </a:r>
            <a:br>
              <a:rPr lang="uk-UA" sz="1400" noProof="0" dirty="0"/>
            </a:br>
            <a:r>
              <a:rPr lang="uk-UA" sz="1400" b="1" i="1" noProof="0" dirty="0">
                <a:solidFill>
                  <a:srgbClr val="00CC99"/>
                </a:solidFill>
              </a:rPr>
              <a:t>Інтегратор – Актор – Критик</a:t>
            </a:r>
            <a:r>
              <a:rPr lang="uk-UA" sz="1400" b="1" noProof="0" dirty="0">
                <a:solidFill>
                  <a:srgbClr val="00CC99"/>
                </a:solidFill>
              </a:rPr>
              <a:t>.</a:t>
            </a:r>
            <a:r>
              <a:rPr lang="ru-RU" sz="1400" b="1" dirty="0">
                <a:solidFill>
                  <a:srgbClr val="00CC99"/>
                </a:solidFill>
              </a:rPr>
              <a:t> </a:t>
            </a:r>
          </a:p>
          <a:p>
            <a:pPr marL="285750" indent="-285750">
              <a:buFont typeface="Wingdings" panose="05000000000000000000" pitchFamily="2" charset="2"/>
              <a:buChar char="ü"/>
            </a:pPr>
            <a:r>
              <a:rPr lang="uk-UA" sz="1400" dirty="0"/>
              <a:t>Запропоновану модель було натреновано та провалідовано у симульованому середовищі з використанням відомого набору даних MovieLens</a:t>
            </a:r>
            <a:endParaRPr lang="uk-UA" sz="1400" b="1" noProof="0" dirty="0">
              <a:solidFill>
                <a:srgbClr val="00CC99"/>
              </a:solidFill>
            </a:endParaRPr>
          </a:p>
          <a:p>
            <a:pPr marL="285750" indent="-285750">
              <a:buFont typeface="Wingdings" panose="05000000000000000000" pitchFamily="2" charset="2"/>
              <a:buChar char="ü"/>
            </a:pPr>
            <a:r>
              <a:rPr lang="uk-UA" sz="1400" dirty="0"/>
              <a:t>Проведено порівняльний аналіз запропонованої моделі з моделлю </a:t>
            </a:r>
            <a:r>
              <a:rPr lang="en-US" sz="1400" dirty="0"/>
              <a:t>DRGR </a:t>
            </a:r>
            <a:r>
              <a:rPr lang="uk-UA" sz="1400" dirty="0"/>
              <a:t>за допомогою стандартних метрик оцінювання. Запропонованих</a:t>
            </a:r>
            <a:r>
              <a:rPr lang="uk-UA" sz="1400" noProof="0" dirty="0"/>
              <a:t> підхід показав переваги над базовим, зокрема: </a:t>
            </a:r>
          </a:p>
          <a:p>
            <a:pPr marL="742950" lvl="1" indent="-285750">
              <a:buFont typeface="Wingdings" panose="05000000000000000000" pitchFamily="2" charset="2"/>
              <a:buChar char="ü"/>
            </a:pPr>
            <a:r>
              <a:rPr lang="uk-UA" sz="1400" b="1" dirty="0"/>
              <a:t>краще врахування </a:t>
            </a:r>
            <a:r>
              <a:rPr lang="uk-UA" sz="1400" dirty="0"/>
              <a:t>індивідуальних вподобань користувачів у межах групи</a:t>
            </a:r>
          </a:p>
          <a:p>
            <a:pPr marL="742950" lvl="1" indent="-285750">
              <a:buFont typeface="Wingdings" panose="05000000000000000000" pitchFamily="2" charset="2"/>
              <a:buChar char="ü"/>
            </a:pPr>
            <a:r>
              <a:rPr lang="uk-UA" sz="1400" b="1" dirty="0"/>
              <a:t>урахування впливу кожного учасника </a:t>
            </a:r>
            <a:r>
              <a:rPr lang="uk-UA" sz="1400" dirty="0"/>
              <a:t>на формування групового рішення</a:t>
            </a:r>
          </a:p>
          <a:p>
            <a:pPr marL="742950" lvl="1" indent="-285750">
              <a:buFont typeface="Wingdings" panose="05000000000000000000" pitchFamily="2" charset="2"/>
              <a:buChar char="ü"/>
            </a:pPr>
            <a:r>
              <a:rPr lang="uk-UA" sz="1400" b="1" dirty="0"/>
              <a:t>формування більш релевантних рекомендацій </a:t>
            </a:r>
            <a:r>
              <a:rPr lang="uk-UA" sz="1400" dirty="0"/>
              <a:t>для різних значень </a:t>
            </a:r>
            <a:r>
              <a:rPr lang="en-US" sz="1400" dirty="0"/>
              <a:t>top-k</a:t>
            </a:r>
          </a:p>
          <a:p>
            <a:pPr marL="742950" lvl="1" indent="-285750">
              <a:buFont typeface="Wingdings" panose="05000000000000000000" pitchFamily="2" charset="2"/>
              <a:buChar char="ü"/>
            </a:pPr>
            <a:r>
              <a:rPr lang="uk-UA" sz="1400" dirty="0"/>
              <a:t>покращення показників </a:t>
            </a:r>
            <a:r>
              <a:rPr lang="en-US" sz="1400" b="1" dirty="0"/>
              <a:t>Recall@k, NDCG@k </a:t>
            </a:r>
            <a:r>
              <a:rPr lang="uk-UA" sz="1400" b="1" dirty="0"/>
              <a:t>та </a:t>
            </a:r>
            <a:r>
              <a:rPr lang="en-US" sz="1400" b="1" dirty="0"/>
              <a:t>Coverage@k</a:t>
            </a:r>
            <a:endParaRPr lang="uk-UA" sz="1400" b="1" dirty="0"/>
          </a:p>
          <a:p>
            <a:pPr marL="285750" indent="-285750">
              <a:buFont typeface="Wingdings" panose="05000000000000000000" pitchFamily="2" charset="2"/>
              <a:buChar char="ü"/>
            </a:pPr>
            <a:r>
              <a:rPr lang="uk-UA" sz="1400" noProof="0" dirty="0"/>
              <a:t>Такий підхід є перспективним для використання у системах потокового мультимедіа, електронної комерції, туристичних сервісах, соціальних мережах та інших інформаційних платформах, де рекомендації формуються для груп користувачів і рішення приймаються спільно</a:t>
            </a:r>
            <a:r>
              <a:rPr lang="uk-UA" sz="1400" b="1" noProof="0" dirty="0"/>
              <a:t>.</a:t>
            </a:r>
            <a:endParaRPr lang="uk-UA" sz="1400" dirty="0"/>
          </a:p>
          <a:p>
            <a:pPr marL="285750" indent="-285750">
              <a:buFont typeface="Wingdings" panose="05000000000000000000" pitchFamily="2" charset="2"/>
              <a:buChar char="ü"/>
            </a:pPr>
            <a:endParaRPr lang="ru-RU" sz="1600" dirty="0"/>
          </a:p>
        </p:txBody>
      </p:sp>
      <p:sp>
        <p:nvSpPr>
          <p:cNvPr id="2" name="TextBox 1">
            <a:extLst>
              <a:ext uri="{FF2B5EF4-FFF2-40B4-BE49-F238E27FC236}">
                <a16:creationId xmlns:a16="http://schemas.microsoft.com/office/drawing/2014/main" id="{50945A85-3023-163C-3069-A5AA43B28F3C}"/>
              </a:ext>
            </a:extLst>
          </p:cNvPr>
          <p:cNvSpPr txBox="1"/>
          <p:nvPr/>
        </p:nvSpPr>
        <p:spPr>
          <a:xfrm>
            <a:off x="179512" y="3849891"/>
            <a:ext cx="7940025" cy="954107"/>
          </a:xfrm>
          <a:prstGeom prst="rect">
            <a:avLst/>
          </a:prstGeom>
          <a:noFill/>
        </p:spPr>
        <p:txBody>
          <a:bodyPr wrap="square" rtlCol="0">
            <a:spAutoFit/>
          </a:bodyPr>
          <a:lstStyle/>
          <a:p>
            <a:r>
              <a:rPr lang="uk-UA" sz="1400" b="1" dirty="0">
                <a:solidFill>
                  <a:srgbClr val="00CC99"/>
                </a:solidFill>
              </a:rPr>
              <a:t>Перспективи розвитку проєкту:</a:t>
            </a:r>
          </a:p>
          <a:p>
            <a:pPr marL="285750" indent="-285750">
              <a:buFont typeface="Wingdings" panose="05000000000000000000" pitchFamily="2" charset="2"/>
              <a:buChar char="q"/>
            </a:pPr>
            <a:r>
              <a:rPr lang="uk-UA" sz="1400" dirty="0"/>
              <a:t>Дослідження альтернативних методів агрегації та динамічного формування груп.</a:t>
            </a:r>
          </a:p>
          <a:p>
            <a:pPr marL="285750" indent="-285750">
              <a:buFont typeface="Wingdings" panose="05000000000000000000" pitchFamily="2" charset="2"/>
              <a:buChar char="q"/>
            </a:pPr>
            <a:r>
              <a:rPr lang="uk-UA" sz="1400" dirty="0"/>
              <a:t>Застосування моделі для користувачів із малою кількість індивідуальних даних або недостатньою історичною взаємодією.</a:t>
            </a:r>
          </a:p>
        </p:txBody>
      </p:sp>
      <p:pic>
        <p:nvPicPr>
          <p:cNvPr id="4" name="Picture 3" descr="A blue and white rocket&#10;&#10;AI-generated content may be incorrect.">
            <a:extLst>
              <a:ext uri="{FF2B5EF4-FFF2-40B4-BE49-F238E27FC236}">
                <a16:creationId xmlns:a16="http://schemas.microsoft.com/office/drawing/2014/main" id="{0C207D6B-34B3-84D4-1B76-320E0DFEDA4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67677" y="4011910"/>
            <a:ext cx="998580" cy="998580"/>
          </a:xfrm>
          <a:prstGeom prst="rect">
            <a:avLst/>
          </a:prstGeom>
        </p:spPr>
      </p:pic>
      <p:sp>
        <p:nvSpPr>
          <p:cNvPr id="3" name="Підзаголовок 2">
            <a:extLst>
              <a:ext uri="{FF2B5EF4-FFF2-40B4-BE49-F238E27FC236}">
                <a16:creationId xmlns:a16="http://schemas.microsoft.com/office/drawing/2014/main" id="{5FB5476A-C8ED-E950-A506-602C5F8297B4}"/>
              </a:ext>
            </a:extLst>
          </p:cNvPr>
          <p:cNvSpPr txBox="1">
            <a:spLocks/>
          </p:cNvSpPr>
          <p:nvPr/>
        </p:nvSpPr>
        <p:spPr>
          <a:xfrm>
            <a:off x="8748463" y="4886275"/>
            <a:ext cx="395537" cy="267494"/>
          </a:xfrm>
          <a:prstGeom prst="rect">
            <a:avLst/>
          </a:prstGeom>
        </p:spPr>
        <p:txBody>
          <a:bodyPr vert="horz" lIns="91440" tIns="45720" rIns="91440" bIns="45720" rtlCol="0">
            <a:normAutofit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US" sz="1200" dirty="0">
                <a:solidFill>
                  <a:schemeClr val="tx1"/>
                </a:solidFill>
              </a:rPr>
              <a:t>15</a:t>
            </a:r>
            <a:endParaRPr lang="uk-UA" sz="1200" dirty="0">
              <a:solidFill>
                <a:schemeClr val="tx1"/>
              </a:solidFill>
            </a:endParaRPr>
          </a:p>
        </p:txBody>
      </p:sp>
    </p:spTree>
    <p:extLst>
      <p:ext uri="{BB962C8B-B14F-4D97-AF65-F5344CB8AC3E}">
        <p14:creationId xmlns:p14="http://schemas.microsoft.com/office/powerpoint/2010/main" val="108913989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p:cNvSpPr txBox="1">
            <a:spLocks/>
          </p:cNvSpPr>
          <p:nvPr/>
        </p:nvSpPr>
        <p:spPr>
          <a:xfrm>
            <a:off x="3139207" y="1563638"/>
            <a:ext cx="3348372" cy="1008112"/>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uk-UA" sz="3200" b="1" dirty="0">
                <a:solidFill>
                  <a:srgbClr val="0070C0"/>
                </a:solidFill>
              </a:rPr>
              <a:t>Дякую за увагу!</a:t>
            </a:r>
            <a:endParaRPr lang="uk-UA" sz="3200" dirty="0">
              <a:solidFill>
                <a:srgbClr val="009999"/>
              </a:solidFill>
            </a:endParaRPr>
          </a:p>
        </p:txBody>
      </p:sp>
      <p:sp>
        <p:nvSpPr>
          <p:cNvPr id="3" name="TextBox 2">
            <a:extLst>
              <a:ext uri="{FF2B5EF4-FFF2-40B4-BE49-F238E27FC236}">
                <a16:creationId xmlns:a16="http://schemas.microsoft.com/office/drawing/2014/main" id="{0FD39777-1A80-1D78-CAF6-86D62DA44B4F}"/>
              </a:ext>
            </a:extLst>
          </p:cNvPr>
          <p:cNvSpPr txBox="1"/>
          <p:nvPr/>
        </p:nvSpPr>
        <p:spPr>
          <a:xfrm>
            <a:off x="719572" y="4054301"/>
            <a:ext cx="7992888" cy="923330"/>
          </a:xfrm>
          <a:prstGeom prst="rect">
            <a:avLst/>
          </a:prstGeom>
          <a:noFill/>
        </p:spPr>
        <p:txBody>
          <a:bodyPr wrap="square">
            <a:spAutoFit/>
          </a:bodyPr>
          <a:lstStyle/>
          <a:p>
            <a:pPr algn="ctr"/>
            <a:r>
              <a:rPr lang="uk-UA" i="1" noProof="0" dirty="0"/>
              <a:t>«Завдяки навчанню з підкріпленням ми навчаємо машини долати виклики, які навіть людям важко формалізувати»</a:t>
            </a:r>
          </a:p>
          <a:p>
            <a:pPr algn="r"/>
            <a:r>
              <a:rPr lang="uk-UA" dirty="0">
                <a:solidFill>
                  <a:srgbClr val="0066CC"/>
                </a:solidFill>
                <a:effectLst/>
                <a:latin typeface="Google Sans"/>
              </a:rPr>
              <a:t>©</a:t>
            </a:r>
            <a:r>
              <a:rPr lang="uk-UA" dirty="0" err="1">
                <a:solidFill>
                  <a:srgbClr val="0066CC"/>
                </a:solidFill>
              </a:rPr>
              <a:t>Деміс</a:t>
            </a:r>
            <a:r>
              <a:rPr lang="uk-UA" dirty="0">
                <a:solidFill>
                  <a:srgbClr val="0066CC"/>
                </a:solidFill>
              </a:rPr>
              <a:t> </a:t>
            </a:r>
            <a:r>
              <a:rPr lang="uk-UA" dirty="0" err="1">
                <a:solidFill>
                  <a:srgbClr val="0066CC"/>
                </a:solidFill>
              </a:rPr>
              <a:t>Хассабіс</a:t>
            </a:r>
            <a:r>
              <a:rPr lang="uk-UA" dirty="0">
                <a:solidFill>
                  <a:srgbClr val="0066CC"/>
                </a:solidFill>
              </a:rPr>
              <a:t> (</a:t>
            </a:r>
            <a:r>
              <a:rPr lang="en-US" dirty="0">
                <a:solidFill>
                  <a:srgbClr val="0066CC"/>
                </a:solidFill>
              </a:rPr>
              <a:t>CEO DeepMind)</a:t>
            </a:r>
            <a:endParaRPr lang="uk-UA" noProof="0" dirty="0">
              <a:solidFill>
                <a:srgbClr val="0066CC"/>
              </a:solidFill>
            </a:endParaRPr>
          </a:p>
        </p:txBody>
      </p:sp>
      <p:pic>
        <p:nvPicPr>
          <p:cNvPr id="12" name="Рисунок 11">
            <a:extLst>
              <a:ext uri="{FF2B5EF4-FFF2-40B4-BE49-F238E27FC236}">
                <a16:creationId xmlns:a16="http://schemas.microsoft.com/office/drawing/2014/main" id="{B32F10B8-EF51-B4D1-7A8D-9D625D8927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87823" y="267494"/>
            <a:ext cx="3651139" cy="3669304"/>
          </a:xfrm>
          <a:prstGeom prst="rect">
            <a:avLst/>
          </a:prstGeom>
        </p:spPr>
      </p:pic>
    </p:spTree>
    <p:extLst>
      <p:ext uri="{BB962C8B-B14F-4D97-AF65-F5344CB8AC3E}">
        <p14:creationId xmlns:p14="http://schemas.microsoft.com/office/powerpoint/2010/main" val="2665649893"/>
      </p:ext>
    </p:extLst>
  </p:cSld>
  <p:clrMapOvr>
    <a:masterClrMapping/>
  </p:clrMapOvr>
</p:sld>
</file>

<file path=ppt/theme/theme1.xml><?xml version="1.0" encoding="utf-8"?>
<a:theme xmlns:a="http://schemas.openxmlformats.org/drawingml/2006/main" name="Тема Office">
  <a:themeElements>
    <a:clrScheme name="Стандартна">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Стандартна">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Стандартна">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Стандартна">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6467</TotalTime>
  <Words>3918</Words>
  <Application>Microsoft Office PowerPoint</Application>
  <PresentationFormat>On-screen Show (16:9)</PresentationFormat>
  <Paragraphs>432</Paragraphs>
  <Slides>16</Slides>
  <Notes>15</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16</vt:i4>
      </vt:variant>
    </vt:vector>
  </HeadingPairs>
  <TitlesOfParts>
    <vt:vector size="24" baseType="lpstr">
      <vt:lpstr>Arial</vt:lpstr>
      <vt:lpstr>Calibri</vt:lpstr>
      <vt:lpstr>Cambria Math</vt:lpstr>
      <vt:lpstr>Google Sans</vt:lpstr>
      <vt:lpstr>Times New Roman</vt:lpstr>
      <vt:lpstr>Wingdings</vt:lpstr>
      <vt:lpstr>Тема Office</vt:lpstr>
      <vt:lpstr>Equation</vt:lpstr>
      <vt:lpstr>Розробка групової рекомендаційної системи на основі машинного навчання з підкріпленням</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Романюк, Пелюшкевич - Підвищення ефективності рекомендацій за допомогою децентралізованих агентів і алгоритмів машинного навчання</dc:title>
  <dc:creator>Богдан Романюк</dc:creator>
  <cp:lastModifiedBy>Романюк Богдан</cp:lastModifiedBy>
  <cp:revision>517</cp:revision>
  <dcterms:created xsi:type="dcterms:W3CDTF">2010-02-23T11:30:32Z</dcterms:created>
  <dcterms:modified xsi:type="dcterms:W3CDTF">2026-04-24T09:47:15Z</dcterms:modified>
</cp:coreProperties>
</file>